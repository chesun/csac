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comments/comment2.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3.xml" ContentType="application/vnd.openxmlformats-officedocument.presentationml.comments+xml"/>
  <Override PartName="/ppt/notesSlides/notesSlide8.xml" ContentType="application/vnd.openxmlformats-officedocument.presentationml.notesSlide+xml"/>
  <Override PartName="/ppt/comments/comment4.xml" ContentType="application/vnd.openxmlformats-officedocument.presentationml.comments+xml"/>
  <Override PartName="/ppt/notesSlides/notesSlide9.xml" ContentType="application/vnd.openxmlformats-officedocument.presentationml.notesSlide+xml"/>
  <Override PartName="/ppt/comments/comment5.xml" ContentType="application/vnd.openxmlformats-officedocument.presentationml.comments+xml"/>
  <Override PartName="/ppt/notesSlides/notesSlide10.xml" ContentType="application/vnd.openxmlformats-officedocument.presentationml.notesSlide+xml"/>
  <Override PartName="/ppt/comments/comment6.xml" ContentType="application/vnd.openxmlformats-officedocument.presentationml.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comment7.xml" ContentType="application/vnd.openxmlformats-officedocument.presentationml.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8.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comment9.xml" ContentType="application/vnd.openxmlformats-officedocument.presentationml.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lexandria Hurtt" initials="" lastIdx="4" clrIdx="0"/>
  <p:cmAuthor id="1" name="Baiyu Zhou" initials="" lastIdx="8" clrIdx="1"/>
  <p:cmAuthor id="2" name="Christina Sun" initials="" lastIdx="9" clrIdx="2"/>
  <p:cmAuthor id="3" name="Michal Kurlaender" initials="" lastIdx="1" clrIdx="3"/>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39" d="100"/>
          <a:sy n="139" d="100"/>
        </p:scale>
        <p:origin x="176" y="53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4-03-01T01:13:58.879" idx="1">
    <p:pos x="6000" y="0"/>
    <p:text>I will have this slide updated by Monday and include some context for the studies in the notes too :)</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24-02-29T17:06:24.538" idx="2">
    <p:pos x="6000" y="0"/>
    <p:text>Not sure if this may fit better in another slide or if the slide makes more sense in another place, but I think its important policy context to include</p:text>
  </p:cm>
  <p:cm authorId="1" dt="2024-02-29T17:06:24.538" idx="1">
    <p:pos x="6000" y="0"/>
    <p:text>Second this. Also my economist side of me may want to question the external validity of studying the class of 2023</p:text>
  </p:cm>
  <p:cm authorId="2" dt="2024-03-01T00:30:38.881" idx="1">
    <p:pos x="156" y="561"/>
    <p:text>@mkurlaender@ucdavis.edu
_Assigned to mkurlaender@ucdavis.edu_</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4-02-29T17:14:25.339" idx="2">
    <p:pos x="196" y="725"/>
    <p:text>I may want to use *Bold* for the words validated and large</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4-02-29T22:10:58.396" idx="3">
    <p:pos x="196" y="741"/>
    <p:text>Maybe add the sentence "Policy changes in financial aid application submission" as a sub-point here?</p:text>
  </p:cm>
  <p:cm authorId="3" dt="2024-02-29T22:10:58.396" idx="1">
    <p:pos x="196" y="741"/>
    <p:text>agreed and remove that prior slide</p:text>
  </p:cm>
  <p:cm authorId="0" dt="2024-03-01T00:39:08.605" idx="3">
    <p:pos x="196" y="641"/>
    <p:text>Although the survey response rate was considerably low, the large sample size (over 10,000 students) represents a diverse group of students from many different backgrounds and geographic regions throughout the state. Thus, although the results presented are not statistically generalizable to the broader population, they capture a critical slice of recent California high school graduates.</p:text>
  </p:cm>
  <p:cm authorId="2" dt="2024-03-01T00:40:52.005" idx="2">
    <p:pos x="196" y="641"/>
    <p:text>from the total number of x hs seniors 
@amhurtt@ucdavis.edu
_Reassigned to amhurtt@ucdavis.edu_</p:text>
  </p:cm>
  <p:cm authorId="0" dt="2024-03-01T00:40:52.005" idx="4">
    <p:pos x="196" y="641"/>
    <p:text>n = 10,221 (from csac brief)</p:text>
  </p:cm>
</p:cmLst>
</file>

<file path=ppt/comments/comment5.xml><?xml version="1.0" encoding="utf-8"?>
<p:cmLst xmlns:a="http://schemas.openxmlformats.org/drawingml/2006/main" xmlns:r="http://schemas.openxmlformats.org/officeDocument/2006/relationships" xmlns:p="http://schemas.openxmlformats.org/presentationml/2006/main">
  <p:cm authorId="1" dt="2024-02-29T17:20:22.933" idx="7">
    <p:pos x="196" y="825"/>
    <p:text>Among which 10,221 are HS seniors and 9,230 are college-bound HS seniors</p:text>
  </p:cm>
  <p:cm authorId="1" dt="2024-02-29T18:20:02.978" idx="4">
    <p:pos x="196" y="725"/>
    <p:text>1828</p:text>
  </p:cm>
  <p:cm authorId="1" dt="2024-02-29T18:27:38.113" idx="5">
    <p:pos x="196" y="280"/>
    <p:text>Which sample did you use for the numbers? In general I see different nunbers</p:text>
  </p:cm>
  <p:cm authorId="1" dt="2024-02-29T18:27:38.113" idx="6">
    <p:pos x="196" y="280"/>
    <p:text>See sample section of stata output for how I got my numbers below
Link: https://docs.google.com/document/d/1gkXqZplFoIxtj_gL7Q16Zdc4MC1HzqwIdjZeRw3CKdQ/edit?usp=sharing</p:text>
  </p:cm>
</p:cmLst>
</file>

<file path=ppt/comments/comment6.xml><?xml version="1.0" encoding="utf-8"?>
<p:cmLst xmlns:a="http://schemas.openxmlformats.org/drawingml/2006/main" xmlns:r="http://schemas.openxmlformats.org/officeDocument/2006/relationships" xmlns:p="http://schemas.openxmlformats.org/presentationml/2006/main">
  <p:cm authorId="2" dt="2024-03-01T00:20:08.556" idx="3">
    <p:pos x="196" y="230"/>
    <p:text>add discussion on other large surveys and how they collect these info</p:text>
  </p:cm>
</p:cmLst>
</file>

<file path=ppt/comments/comment7.xml><?xml version="1.0" encoding="utf-8"?>
<p:cmLst xmlns:a="http://schemas.openxmlformats.org/drawingml/2006/main" xmlns:r="http://schemas.openxmlformats.org/officeDocument/2006/relationships" xmlns:p="http://schemas.openxmlformats.org/presentationml/2006/main">
  <p:cm authorId="2" dt="2024-03-01T01:03:14.091" idx="4">
    <p:pos x="666" y="641"/>
    <p:text>change colors</p:text>
  </p:cm>
  <p:cm authorId="2" dt="2024-03-01T01:03:14.091" idx="5">
    <p:pos x="666" y="641"/>
    <p:text>change chart type</p:text>
  </p:cm>
</p:cmLst>
</file>

<file path=ppt/comments/comment8.xml><?xml version="1.0" encoding="utf-8"?>
<p:cmLst xmlns:a="http://schemas.openxmlformats.org/drawingml/2006/main" xmlns:r="http://schemas.openxmlformats.org/officeDocument/2006/relationships" xmlns:p="http://schemas.openxmlformats.org/presentationml/2006/main">
  <p:cm authorId="1" dt="2024-03-01T01:04:30.254" idx="8">
    <p:pos x="196" y="154"/>
    <p:text>Do you mean highest degree hope to complete?</p:text>
  </p:cm>
  <p:cm authorId="2" dt="2024-03-01T01:04:30.254" idx="6">
    <p:pos x="196" y="154"/>
    <p:text>delete this slide?</p:text>
  </p:cm>
</p:cmLst>
</file>

<file path=ppt/comments/comment9.xml><?xml version="1.0" encoding="utf-8"?>
<p:cmLst xmlns:a="http://schemas.openxmlformats.org/drawingml/2006/main" xmlns:r="http://schemas.openxmlformats.org/officeDocument/2006/relationships" xmlns:p="http://schemas.openxmlformats.org/presentationml/2006/main">
  <p:cm authorId="2" dt="2024-03-01T01:04:56.959" idx="8">
    <p:pos x="164" y="191"/>
    <p:text>add longer quotes</p:text>
  </p:cm>
  <p:cm authorId="2" dt="2024-03-01T01:05:08.902" idx="7">
    <p:pos x="164" y="191"/>
    <p:text>format nicely</p:text>
  </p:cm>
  <p:cm authorId="2" dt="2024-03-01T01:05:08.902" idx="9">
    <p:pos x="164" y="191"/>
    <p:text>richer voice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6a47b8284b_2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6a47b8284b_2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26a2af5d452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26a2af5d452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bdf30d9b37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bdf30d9b37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6a5f7404d5_1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26a5f7404d5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6a47b8284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6a47b8284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6a49f1de59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6a49f1de5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6a49f1de59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6a49f1de59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CSAC is the state agency that admins all state financial aid programs</a:t>
            </a:r>
            <a:endParaRPr/>
          </a:p>
          <a:p>
            <a:pPr marL="0" lvl="0" indent="0" algn="l" rtl="0">
              <a:spcBef>
                <a:spcPts val="0"/>
              </a:spcBef>
              <a:spcAft>
                <a:spcPts val="0"/>
              </a:spcAft>
              <a:buNone/>
            </a:pPr>
            <a:r>
              <a:rPr lang="en"/>
              <a:t>Class of 2023 is first cohort under mandated fafsa/cadaa</a:t>
            </a:r>
            <a:endParaRPr/>
          </a:p>
          <a:p>
            <a:pPr marL="0" lvl="0" indent="0" algn="l" rtl="0">
              <a:spcBef>
                <a:spcPts val="0"/>
              </a:spcBef>
              <a:spcAft>
                <a:spcPts val="0"/>
              </a:spcAft>
              <a:buNone/>
            </a:pPr>
            <a:r>
              <a:rPr lang="en"/>
              <a:t>Students more likely to respond when it’s from CSAC, however, they may be less inclined to complete survey when they see non-financial aid related questions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6a49f1de59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6a49f1de59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6a49f1de59_1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6a49f1de59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6a5f7404d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6a5f7404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a2af5d452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6a2af5d45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6a5f7404d5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6a5f7404d5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bdf30d9b37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bdf30d9b3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6a5f7404d5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26a5f7404d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bdf30d9b3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2bdf30d9b3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6a5f7404d5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26a5f7404d5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bdf30d9b37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bdf30d9b3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6a5f7404d5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26a5f7404d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6a5f7404d5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6a5f7404d5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bdf30d9b3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bdf30d9b3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6a2af5d452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26a2af5d452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6a2af5d452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6a2af5d452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6a5f7404d5_1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6a5f7404d5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26a5f7404d5_1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26a5f7404d5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comments" Target="../comments/comment6.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comments" Target="../comments/commen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comments" Target="../comments/comment8.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4180" dirty="0"/>
              <a:t>Challenges and Disparities Faced by LGBTQ+ Students in the Transition to College</a:t>
            </a:r>
            <a:endParaRPr sz="4180" dirty="0"/>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a:bodyPr>
          <a:lstStyle/>
          <a:p>
            <a:pPr marL="0" lvl="0" indent="0" algn="l" rtl="0">
              <a:lnSpc>
                <a:spcPct val="115000"/>
              </a:lnSpc>
              <a:spcBef>
                <a:spcPts val="1200"/>
              </a:spcBef>
              <a:spcAft>
                <a:spcPts val="1200"/>
              </a:spcAft>
              <a:buClr>
                <a:schemeClr val="dk1"/>
              </a:buClr>
              <a:buSzPct val="42307"/>
              <a:buFont typeface="Arial"/>
              <a:buNone/>
            </a:pPr>
            <a:r>
              <a:rPr lang="en" sz="2600" dirty="0">
                <a:solidFill>
                  <a:schemeClr val="dk1"/>
                </a:solidFill>
              </a:rPr>
              <a:t>Survey Evidence from the California High School Class of 2023</a:t>
            </a:r>
            <a:endParaRPr dirty="0"/>
          </a:p>
        </p:txBody>
      </p:sp>
      <p:sp>
        <p:nvSpPr>
          <p:cNvPr id="56" name="Google Shape;56;p13"/>
          <p:cNvSpPr txBox="1"/>
          <p:nvPr/>
        </p:nvSpPr>
        <p:spPr>
          <a:xfrm>
            <a:off x="205200" y="3724875"/>
            <a:ext cx="8733600" cy="1305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800"/>
              </a:spcAft>
              <a:buNone/>
            </a:pPr>
            <a:r>
              <a:rPr lang="en" sz="1300" i="1" dirty="0">
                <a:solidFill>
                  <a:schemeClr val="dk1"/>
                </a:solidFill>
                <a:latin typeface="Calibri"/>
                <a:ea typeface="Calibri"/>
                <a:cs typeface="Calibri"/>
                <a:sym typeface="Calibri"/>
              </a:rPr>
              <a:t>This research was supported by the College Futures Foundation and conducted in partnership with the California Student Aid Commission. </a:t>
            </a:r>
            <a:r>
              <a:rPr lang="en" sz="1300" i="1" dirty="0">
                <a:solidFill>
                  <a:schemeClr val="dk1"/>
                </a:solidFill>
                <a:highlight>
                  <a:srgbClr val="FFFFFF"/>
                </a:highlight>
                <a:latin typeface="Calibri"/>
                <a:ea typeface="Calibri"/>
                <a:cs typeface="Calibri"/>
                <a:sym typeface="Calibri"/>
              </a:rPr>
              <a:t>The authors are also grateful for ongoing support from the Stuart Foundation to the California Education Lab.</a:t>
            </a:r>
            <a:r>
              <a:rPr lang="en" sz="1000" dirty="0">
                <a:solidFill>
                  <a:schemeClr val="dk1"/>
                </a:solidFill>
                <a:highlight>
                  <a:srgbClr val="FFFFFF"/>
                </a:highlight>
                <a:latin typeface="Calibri"/>
                <a:ea typeface="Calibri"/>
                <a:cs typeface="Calibri"/>
                <a:sym typeface="Calibri"/>
              </a:rPr>
              <a:t> </a:t>
            </a:r>
            <a:r>
              <a:rPr lang="en" sz="1300" i="1" dirty="0">
                <a:solidFill>
                  <a:schemeClr val="dk1"/>
                </a:solidFill>
                <a:latin typeface="Calibri"/>
                <a:ea typeface="Calibri"/>
                <a:cs typeface="Calibri"/>
                <a:sym typeface="Calibri"/>
              </a:rPr>
              <a:t>The California Education Lab at the University of California, Davis and Policy Analysis for California Education are also thankful for research dissemination support from the Bill &amp; Melinda Gates Foundation. The findings and conclusions here are those of the authors alone and do not necessarily reflect the positions or policies of the funders or of the California Student Aid Commission.</a:t>
            </a:r>
            <a:endParaRPr sz="1300" i="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Overview</a:t>
            </a:r>
            <a:endParaRPr/>
          </a:p>
        </p:txBody>
      </p:sp>
      <p:sp>
        <p:nvSpPr>
          <p:cNvPr id="62" name="Google Shape;6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dk1"/>
                </a:solidFill>
              </a:rPr>
              <a:t>This project utilizes a large student survey to explore how LGBTQ+ high school students define and express their identities, and the challenges they face in the transition to college.</a:t>
            </a:r>
            <a:endParaRPr dirty="0">
              <a:solidFill>
                <a:schemeClr val="dk1"/>
              </a:solidFill>
            </a:endParaRPr>
          </a:p>
          <a:p>
            <a:pPr marL="457200" lvl="0" indent="-342900" algn="l" rtl="0">
              <a:spcBef>
                <a:spcPts val="1200"/>
              </a:spcBef>
              <a:spcAft>
                <a:spcPts val="0"/>
              </a:spcAft>
              <a:buClr>
                <a:schemeClr val="dk1"/>
              </a:buClr>
              <a:buSzPts val="1800"/>
              <a:buChar char="●"/>
            </a:pPr>
            <a:r>
              <a:rPr lang="en" dirty="0">
                <a:solidFill>
                  <a:schemeClr val="dk1"/>
                </a:solidFill>
              </a:rPr>
              <a:t>Motivation</a:t>
            </a:r>
            <a:endParaRPr dirty="0">
              <a:solidFill>
                <a:schemeClr val="dk1"/>
              </a:solidFill>
            </a:endParaRPr>
          </a:p>
          <a:p>
            <a:pPr marL="457200" lvl="0" indent="-342900" algn="l" rtl="0">
              <a:spcBef>
                <a:spcPts val="0"/>
              </a:spcBef>
              <a:spcAft>
                <a:spcPts val="0"/>
              </a:spcAft>
              <a:buClr>
                <a:schemeClr val="dk1"/>
              </a:buClr>
              <a:buSzPts val="1800"/>
              <a:buChar char="●"/>
            </a:pPr>
            <a:r>
              <a:rPr lang="en" dirty="0">
                <a:solidFill>
                  <a:schemeClr val="dk1"/>
                </a:solidFill>
              </a:rPr>
              <a:t>Methodology</a:t>
            </a:r>
            <a:endParaRPr dirty="0">
              <a:solidFill>
                <a:schemeClr val="dk1"/>
              </a:solidFill>
            </a:endParaRPr>
          </a:p>
          <a:p>
            <a:pPr marL="457200" lvl="0" indent="-342900" algn="l" rtl="0">
              <a:spcBef>
                <a:spcPts val="0"/>
              </a:spcBef>
              <a:spcAft>
                <a:spcPts val="0"/>
              </a:spcAft>
              <a:buClr>
                <a:schemeClr val="dk1"/>
              </a:buClr>
              <a:buSzPts val="1800"/>
              <a:buChar char="●"/>
            </a:pPr>
            <a:r>
              <a:rPr lang="en" dirty="0">
                <a:solidFill>
                  <a:schemeClr val="dk1"/>
                </a:solidFill>
              </a:rPr>
              <a:t>Data</a:t>
            </a:r>
            <a:endParaRPr dirty="0">
              <a:solidFill>
                <a:schemeClr val="dk1"/>
              </a:solidFill>
            </a:endParaRPr>
          </a:p>
          <a:p>
            <a:pPr marL="457200" lvl="0" indent="-342900" algn="l" rtl="0">
              <a:spcBef>
                <a:spcPts val="0"/>
              </a:spcBef>
              <a:spcAft>
                <a:spcPts val="0"/>
              </a:spcAft>
              <a:buClr>
                <a:schemeClr val="dk1"/>
              </a:buClr>
              <a:buSzPts val="1800"/>
              <a:buChar char="●"/>
            </a:pPr>
            <a:r>
              <a:rPr lang="en" dirty="0">
                <a:solidFill>
                  <a:schemeClr val="dk1"/>
                </a:solidFill>
              </a:rPr>
              <a:t>Results</a:t>
            </a:r>
            <a:endParaRPr dirty="0">
              <a:solidFill>
                <a:schemeClr val="dk1"/>
              </a:solidFill>
            </a:endParaRPr>
          </a:p>
          <a:p>
            <a:pPr marL="457200" lvl="0" indent="-342900" algn="l" rtl="0">
              <a:spcBef>
                <a:spcPts val="0"/>
              </a:spcBef>
              <a:spcAft>
                <a:spcPts val="0"/>
              </a:spcAft>
              <a:buClr>
                <a:schemeClr val="dk1"/>
              </a:buClr>
              <a:buSzPts val="1800"/>
              <a:buChar char="●"/>
            </a:pPr>
            <a:r>
              <a:rPr lang="en" dirty="0">
                <a:solidFill>
                  <a:schemeClr val="dk1"/>
                </a:solidFill>
              </a:rPr>
              <a:t>Discussion</a:t>
            </a:r>
            <a:endParaRPr dirty="0">
              <a:solidFill>
                <a:schemeClr val="dk1"/>
              </a:solidFill>
            </a:endParaRPr>
          </a:p>
          <a:p>
            <a:pPr marL="0" lvl="0" indent="0" algn="l" rtl="0">
              <a:spcBef>
                <a:spcPts val="1200"/>
              </a:spcBef>
              <a:spcAft>
                <a:spcPts val="1200"/>
              </a:spcAft>
              <a:buNone/>
            </a:pPr>
            <a:endParaRPr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2468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Motivation</a:t>
            </a:r>
            <a:endParaRPr/>
          </a:p>
        </p:txBody>
      </p:sp>
      <p:sp>
        <p:nvSpPr>
          <p:cNvPr id="68" name="Google Shape;68;p15"/>
          <p:cNvSpPr txBox="1">
            <a:spLocks noGrp="1"/>
          </p:cNvSpPr>
          <p:nvPr>
            <p:ph type="body" idx="1"/>
          </p:nvPr>
        </p:nvSpPr>
        <p:spPr>
          <a:xfrm>
            <a:off x="248275" y="890900"/>
            <a:ext cx="8778600" cy="4054500"/>
          </a:xfrm>
          <a:prstGeom prst="rect">
            <a:avLst/>
          </a:prstGeom>
        </p:spPr>
        <p:txBody>
          <a:bodyPr spcFirstLastPara="1" wrap="square" lIns="91425" tIns="91425" rIns="91425" bIns="91425" anchor="t" anchorCtr="0">
            <a:normAutofit/>
          </a:bodyPr>
          <a:lstStyle/>
          <a:p>
            <a:pPr marL="457200" lvl="0" indent="-241300" algn="l" rtl="0">
              <a:lnSpc>
                <a:spcPct val="115000"/>
              </a:lnSpc>
              <a:spcBef>
                <a:spcPts val="0"/>
              </a:spcBef>
              <a:spcAft>
                <a:spcPts val="0"/>
              </a:spcAft>
              <a:buClr>
                <a:schemeClr val="dk1"/>
              </a:buClr>
              <a:buSzPts val="2000"/>
              <a:buChar char="●"/>
            </a:pPr>
            <a:r>
              <a:rPr lang="en" sz="2000" dirty="0">
                <a:solidFill>
                  <a:schemeClr val="dk1"/>
                </a:solidFill>
              </a:rPr>
              <a:t>The high school to college transition is crucial for young adults (</a:t>
            </a:r>
            <a:r>
              <a:rPr lang="en" sz="2000" dirty="0" err="1">
                <a:solidFill>
                  <a:schemeClr val="dk1"/>
                </a:solidFill>
              </a:rPr>
              <a:t>Luh</a:t>
            </a:r>
            <a:r>
              <a:rPr lang="en" sz="2000" dirty="0">
                <a:solidFill>
                  <a:schemeClr val="dk1"/>
                </a:solidFill>
              </a:rPr>
              <a:t> et al., 2023)</a:t>
            </a:r>
            <a:endParaRPr sz="2000" dirty="0">
              <a:solidFill>
                <a:schemeClr val="dk1"/>
              </a:solidFill>
            </a:endParaRPr>
          </a:p>
          <a:p>
            <a:pPr marL="457200" lvl="0" indent="-241300" algn="l" rtl="0">
              <a:lnSpc>
                <a:spcPct val="115000"/>
              </a:lnSpc>
              <a:spcBef>
                <a:spcPts val="1000"/>
              </a:spcBef>
              <a:spcAft>
                <a:spcPts val="0"/>
              </a:spcAft>
              <a:buClr>
                <a:schemeClr val="dk1"/>
              </a:buClr>
              <a:buSzPts val="2000"/>
              <a:buChar char="●"/>
            </a:pPr>
            <a:r>
              <a:rPr lang="en" sz="2000" dirty="0">
                <a:solidFill>
                  <a:schemeClr val="dk1"/>
                </a:solidFill>
              </a:rPr>
              <a:t>Schools shape students’ perceptions of college and future educational attainment (Lynn et al., 2010; </a:t>
            </a:r>
            <a:r>
              <a:rPr lang="en" sz="2000" dirty="0" err="1">
                <a:solidFill>
                  <a:schemeClr val="dk1"/>
                </a:solidFill>
              </a:rPr>
              <a:t>Uwah</a:t>
            </a:r>
            <a:r>
              <a:rPr lang="en" sz="2000" dirty="0">
                <a:solidFill>
                  <a:schemeClr val="dk1"/>
                </a:solidFill>
              </a:rPr>
              <a:t> et al., 2008)</a:t>
            </a:r>
            <a:endParaRPr sz="2000" dirty="0">
              <a:solidFill>
                <a:schemeClr val="dk1"/>
              </a:solidFill>
            </a:endParaRPr>
          </a:p>
          <a:p>
            <a:pPr marL="457200" lvl="0" indent="-241300" algn="l" rtl="0">
              <a:lnSpc>
                <a:spcPct val="115000"/>
              </a:lnSpc>
              <a:spcBef>
                <a:spcPts val="1000"/>
              </a:spcBef>
              <a:spcAft>
                <a:spcPts val="0"/>
              </a:spcAft>
              <a:buClr>
                <a:schemeClr val="dk1"/>
              </a:buClr>
              <a:buSzPts val="2000"/>
              <a:buChar char="●"/>
            </a:pPr>
            <a:r>
              <a:rPr lang="en" sz="2000" dirty="0">
                <a:solidFill>
                  <a:schemeClr val="dk1"/>
                </a:solidFill>
              </a:rPr>
              <a:t>Existing research documents differences in outcomes among historically underserved groups</a:t>
            </a:r>
            <a:endParaRPr sz="2000" dirty="0">
              <a:solidFill>
                <a:schemeClr val="dk1"/>
              </a:solidFill>
            </a:endParaRPr>
          </a:p>
          <a:p>
            <a:pPr marL="914400" lvl="1" indent="-228600" algn="l" rtl="0">
              <a:lnSpc>
                <a:spcPct val="115000"/>
              </a:lnSpc>
              <a:spcBef>
                <a:spcPts val="1000"/>
              </a:spcBef>
              <a:spcAft>
                <a:spcPts val="0"/>
              </a:spcAft>
              <a:buClr>
                <a:schemeClr val="dk1"/>
              </a:buClr>
              <a:buSzPts val="1800"/>
              <a:buChar char="○"/>
            </a:pPr>
            <a:r>
              <a:rPr lang="en" sz="1800" dirty="0">
                <a:solidFill>
                  <a:schemeClr val="dk1"/>
                </a:solidFill>
              </a:rPr>
              <a:t>Limited evidence regarding LGBTQ+ students</a:t>
            </a:r>
            <a:endParaRPr sz="1800" dirty="0">
              <a:solidFill>
                <a:schemeClr val="dk1"/>
              </a:solidFill>
            </a:endParaRPr>
          </a:p>
          <a:p>
            <a:pPr marL="457200" lvl="0" indent="-241300" algn="l" rtl="0">
              <a:lnSpc>
                <a:spcPct val="115000"/>
              </a:lnSpc>
              <a:spcBef>
                <a:spcPts val="1000"/>
              </a:spcBef>
              <a:spcAft>
                <a:spcPts val="1000"/>
              </a:spcAft>
              <a:buClr>
                <a:schemeClr val="dk1"/>
              </a:buClr>
              <a:buSzPts val="2000"/>
              <a:buChar char="●"/>
            </a:pPr>
            <a:r>
              <a:rPr lang="en" sz="2000" dirty="0">
                <a:solidFill>
                  <a:schemeClr val="dk1"/>
                </a:solidFill>
              </a:rPr>
              <a:t>This study provides direct evidence on LGBTQ+ students’ experiences before college, focusing on supports, challenges, and disparities</a:t>
            </a:r>
            <a:endParaRPr dirty="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Prior Research</a:t>
            </a:r>
            <a:endParaRPr/>
          </a:p>
        </p:txBody>
      </p:sp>
      <p:sp>
        <p:nvSpPr>
          <p:cNvPr id="74" name="Google Shape;74;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2468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Context</a:t>
            </a:r>
            <a:endParaRPr/>
          </a:p>
        </p:txBody>
      </p:sp>
      <p:sp>
        <p:nvSpPr>
          <p:cNvPr id="80" name="Google Shape;80;p17"/>
          <p:cNvSpPr txBox="1">
            <a:spLocks noGrp="1"/>
          </p:cNvSpPr>
          <p:nvPr>
            <p:ph type="body" idx="1"/>
          </p:nvPr>
        </p:nvSpPr>
        <p:spPr>
          <a:xfrm>
            <a:off x="248275" y="890900"/>
            <a:ext cx="8778600" cy="4054500"/>
          </a:xfrm>
          <a:prstGeom prst="rect">
            <a:avLst/>
          </a:prstGeom>
        </p:spPr>
        <p:txBody>
          <a:bodyPr spcFirstLastPara="1" wrap="square" lIns="91425" tIns="91425" rIns="91425" bIns="91425" anchor="t" anchorCtr="0">
            <a:normAutofit fontScale="92500" lnSpcReduction="20000"/>
          </a:bodyPr>
          <a:lstStyle/>
          <a:p>
            <a:pPr marL="457200" lvl="0" indent="-346075" algn="l" rtl="0">
              <a:spcBef>
                <a:spcPts val="0"/>
              </a:spcBef>
              <a:spcAft>
                <a:spcPts val="0"/>
              </a:spcAft>
              <a:buClr>
                <a:schemeClr val="dk1"/>
              </a:buClr>
              <a:buSzPct val="100000"/>
              <a:buChar char="●"/>
            </a:pPr>
            <a:r>
              <a:rPr lang="en" sz="2000" dirty="0">
                <a:solidFill>
                  <a:schemeClr val="dk1"/>
                </a:solidFill>
              </a:rPr>
              <a:t>Pandemic</a:t>
            </a:r>
            <a:endParaRPr sz="2000" dirty="0">
              <a:solidFill>
                <a:schemeClr val="dk1"/>
              </a:solidFill>
            </a:endParaRPr>
          </a:p>
          <a:p>
            <a:pPr marL="914400" lvl="1" indent="-334327" algn="l" rtl="0">
              <a:spcBef>
                <a:spcPts val="1000"/>
              </a:spcBef>
              <a:spcAft>
                <a:spcPts val="0"/>
              </a:spcAft>
              <a:buClr>
                <a:schemeClr val="dk1"/>
              </a:buClr>
              <a:buSzPct val="100000"/>
              <a:buChar char="○"/>
            </a:pPr>
            <a:r>
              <a:rPr lang="en" sz="1800" dirty="0">
                <a:solidFill>
                  <a:schemeClr val="dk1"/>
                </a:solidFill>
              </a:rPr>
              <a:t>Remote start to high school</a:t>
            </a:r>
            <a:endParaRPr sz="1800" dirty="0">
              <a:solidFill>
                <a:schemeClr val="dk1"/>
              </a:solidFill>
            </a:endParaRPr>
          </a:p>
          <a:p>
            <a:pPr marL="914400" lvl="1" indent="-334327" algn="l" rtl="0">
              <a:spcBef>
                <a:spcPts val="1000"/>
              </a:spcBef>
              <a:spcAft>
                <a:spcPts val="0"/>
              </a:spcAft>
              <a:buClr>
                <a:schemeClr val="dk1"/>
              </a:buClr>
              <a:buSzPct val="100000"/>
              <a:buChar char="○"/>
            </a:pPr>
            <a:r>
              <a:rPr lang="en" sz="1800" dirty="0">
                <a:solidFill>
                  <a:schemeClr val="dk1"/>
                </a:solidFill>
              </a:rPr>
              <a:t>Significant portion of high school was conducted online</a:t>
            </a:r>
            <a:endParaRPr sz="1800" dirty="0">
              <a:solidFill>
                <a:schemeClr val="dk1"/>
              </a:solidFill>
            </a:endParaRPr>
          </a:p>
          <a:p>
            <a:pPr marL="457200" lvl="0" indent="-346075" algn="l" rtl="0">
              <a:spcBef>
                <a:spcPts val="1000"/>
              </a:spcBef>
              <a:spcAft>
                <a:spcPts val="0"/>
              </a:spcAft>
              <a:buClr>
                <a:schemeClr val="dk1"/>
              </a:buClr>
              <a:buSzPct val="100000"/>
              <a:buChar char="●"/>
            </a:pPr>
            <a:r>
              <a:rPr lang="en" sz="2000" dirty="0">
                <a:solidFill>
                  <a:schemeClr val="dk1"/>
                </a:solidFill>
              </a:rPr>
              <a:t>Policy changes in financial aid application submission</a:t>
            </a:r>
            <a:endParaRPr sz="2000" dirty="0">
              <a:solidFill>
                <a:schemeClr val="dk1"/>
              </a:solidFill>
            </a:endParaRPr>
          </a:p>
          <a:p>
            <a:pPr marL="914400" lvl="1" indent="-334327" algn="l" rtl="0">
              <a:spcBef>
                <a:spcPts val="1000"/>
              </a:spcBef>
              <a:spcAft>
                <a:spcPts val="0"/>
              </a:spcAft>
              <a:buClr>
                <a:schemeClr val="dk1"/>
              </a:buClr>
              <a:buSzPct val="100000"/>
              <a:buChar char="○"/>
            </a:pPr>
            <a:r>
              <a:rPr lang="en" sz="1800" dirty="0">
                <a:solidFill>
                  <a:schemeClr val="dk1"/>
                </a:solidFill>
              </a:rPr>
              <a:t>AB 469 (2021) mandates graduating high school seniors to complete a FAFSA or CADAA (with opt-out waivers)</a:t>
            </a:r>
            <a:endParaRPr sz="1800" dirty="0">
              <a:solidFill>
                <a:schemeClr val="dk1"/>
              </a:solidFill>
            </a:endParaRPr>
          </a:p>
          <a:p>
            <a:pPr marL="914400" lvl="1" indent="-334327" algn="l" rtl="0">
              <a:spcBef>
                <a:spcPts val="1000"/>
              </a:spcBef>
              <a:spcAft>
                <a:spcPts val="0"/>
              </a:spcAft>
              <a:buClr>
                <a:schemeClr val="dk1"/>
              </a:buClr>
              <a:buSzPct val="100000"/>
              <a:buChar char="○"/>
            </a:pPr>
            <a:r>
              <a:rPr lang="en" sz="1800" dirty="0">
                <a:solidFill>
                  <a:schemeClr val="dk1"/>
                </a:solidFill>
              </a:rPr>
              <a:t>Class of 2023 is first cohort </a:t>
            </a:r>
            <a:endParaRPr sz="1800" dirty="0">
              <a:solidFill>
                <a:schemeClr val="dk1"/>
              </a:solidFill>
            </a:endParaRPr>
          </a:p>
          <a:p>
            <a:pPr marL="457200" lvl="0" indent="-334327" algn="l" rtl="0">
              <a:spcBef>
                <a:spcPts val="1000"/>
              </a:spcBef>
              <a:spcAft>
                <a:spcPts val="0"/>
              </a:spcAft>
              <a:buClr>
                <a:schemeClr val="dk1"/>
              </a:buClr>
              <a:buSzPct val="100000"/>
              <a:buChar char="●"/>
            </a:pPr>
            <a:r>
              <a:rPr lang="en" dirty="0">
                <a:solidFill>
                  <a:schemeClr val="dk1"/>
                </a:solidFill>
              </a:rPr>
              <a:t>Heightened visibility of and backlash against LGBTQ+ people</a:t>
            </a:r>
            <a:endParaRPr dirty="0">
              <a:solidFill>
                <a:schemeClr val="dk1"/>
              </a:solidFill>
            </a:endParaRPr>
          </a:p>
          <a:p>
            <a:pPr marL="457200" lvl="0" indent="-334327" algn="l" rtl="0">
              <a:spcBef>
                <a:spcPts val="1000"/>
              </a:spcBef>
              <a:spcAft>
                <a:spcPts val="0"/>
              </a:spcAft>
              <a:buClr>
                <a:schemeClr val="dk1"/>
              </a:buClr>
              <a:buSzPct val="100000"/>
              <a:buChar char="●"/>
            </a:pPr>
            <a:r>
              <a:rPr lang="en" dirty="0">
                <a:solidFill>
                  <a:schemeClr val="dk1"/>
                </a:solidFill>
              </a:rPr>
              <a:t>Study conducted in California, diverse</a:t>
            </a:r>
            <a:endParaRPr dirty="0">
              <a:solidFill>
                <a:schemeClr val="dk1"/>
              </a:solidFill>
            </a:endParaRPr>
          </a:p>
          <a:p>
            <a:pPr marL="914400" lvl="1" indent="-310832" algn="l" rtl="0">
              <a:spcBef>
                <a:spcPts val="1000"/>
              </a:spcBef>
              <a:spcAft>
                <a:spcPts val="0"/>
              </a:spcAft>
              <a:buClr>
                <a:schemeClr val="dk1"/>
              </a:buClr>
              <a:buSzPct val="100000"/>
              <a:buChar char="○"/>
            </a:pPr>
            <a:r>
              <a:rPr lang="en" dirty="0">
                <a:solidFill>
                  <a:schemeClr val="dk1"/>
                </a:solidFill>
              </a:rPr>
              <a:t>Progressive</a:t>
            </a:r>
            <a:endParaRPr dirty="0">
              <a:solidFill>
                <a:schemeClr val="dk1"/>
              </a:solidFill>
            </a:endParaRPr>
          </a:p>
          <a:p>
            <a:pPr marL="914400" lvl="1" indent="-310832" algn="l" rtl="0">
              <a:spcBef>
                <a:spcPts val="1000"/>
              </a:spcBef>
              <a:spcAft>
                <a:spcPts val="1000"/>
              </a:spcAft>
              <a:buClr>
                <a:schemeClr val="dk1"/>
              </a:buClr>
              <a:buSzPct val="100000"/>
              <a:buChar char="○"/>
            </a:pPr>
            <a:r>
              <a:rPr lang="en" dirty="0">
                <a:solidFill>
                  <a:schemeClr val="dk1"/>
                </a:solidFill>
              </a:rPr>
              <a:t>Conservative </a:t>
            </a:r>
            <a:endParaRPr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46698"/>
              <a:buFont typeface="Arial"/>
              <a:buNone/>
            </a:pPr>
            <a:r>
              <a:rPr lang="en" sz="2355"/>
              <a:t>Research Questions </a:t>
            </a:r>
            <a:endParaRPr sz="2355"/>
          </a:p>
          <a:p>
            <a:pPr marL="0" lvl="0" indent="0" algn="l" rtl="0">
              <a:spcBef>
                <a:spcPts val="1200"/>
              </a:spcBef>
              <a:spcAft>
                <a:spcPts val="0"/>
              </a:spcAft>
              <a:buNone/>
            </a:pPr>
            <a:endParaRPr/>
          </a:p>
        </p:txBody>
      </p:sp>
      <p:sp>
        <p:nvSpPr>
          <p:cNvPr id="86" name="Google Shape;86;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dirty="0">
                <a:solidFill>
                  <a:schemeClr val="dk1"/>
                </a:solidFill>
              </a:rPr>
              <a:t>How do high school students today define their own gender identity and sexual orientation?</a:t>
            </a:r>
            <a:endParaRPr dirty="0">
              <a:solidFill>
                <a:schemeClr val="dk1"/>
              </a:solidFill>
            </a:endParaRPr>
          </a:p>
          <a:p>
            <a:pPr marL="457200" lvl="0" indent="-342900" algn="l" rtl="0">
              <a:spcBef>
                <a:spcPts val="1000"/>
              </a:spcBef>
              <a:spcAft>
                <a:spcPts val="0"/>
              </a:spcAft>
              <a:buClr>
                <a:schemeClr val="dk1"/>
              </a:buClr>
              <a:buSzPts val="1800"/>
              <a:buChar char="●"/>
            </a:pPr>
            <a:r>
              <a:rPr lang="en" dirty="0">
                <a:solidFill>
                  <a:schemeClr val="dk1"/>
                </a:solidFill>
              </a:rPr>
              <a:t>Are there different patterns in experiences and aspirations among sexual and gender minority students?</a:t>
            </a:r>
            <a:endParaRPr dirty="0">
              <a:solidFill>
                <a:schemeClr val="dk1"/>
              </a:solidFill>
            </a:endParaRPr>
          </a:p>
          <a:p>
            <a:pPr marL="457200" lvl="0" indent="-342900" algn="l" rtl="0">
              <a:spcBef>
                <a:spcPts val="1000"/>
              </a:spcBef>
              <a:spcAft>
                <a:spcPts val="1000"/>
              </a:spcAft>
              <a:buClr>
                <a:schemeClr val="dk1"/>
              </a:buClr>
              <a:buSzPts val="1800"/>
              <a:buChar char="●"/>
            </a:pPr>
            <a:r>
              <a:rPr lang="en" dirty="0">
                <a:solidFill>
                  <a:schemeClr val="dk1"/>
                </a:solidFill>
              </a:rPr>
              <a:t>What are the challenges faced by sexual and gender minority students in the transition to college?</a:t>
            </a:r>
            <a:endParaRPr dirty="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Contributions</a:t>
            </a:r>
            <a:endParaRPr/>
          </a:p>
        </p:txBody>
      </p:sp>
      <p:sp>
        <p:nvSpPr>
          <p:cNvPr id="92" name="Google Shape;92;p19"/>
          <p:cNvSpPr txBox="1">
            <a:spLocks noGrp="1"/>
          </p:cNvSpPr>
          <p:nvPr>
            <p:ph type="body" idx="1"/>
          </p:nvPr>
        </p:nvSpPr>
        <p:spPr>
          <a:xfrm>
            <a:off x="311700" y="1152475"/>
            <a:ext cx="8520600" cy="37851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dirty="0">
                <a:solidFill>
                  <a:schemeClr val="dk1"/>
                </a:solidFill>
              </a:rPr>
              <a:t>Use validated survey instruments to collect nuanced data on gender identity and sexual orientation from a large sample of high school seniors</a:t>
            </a:r>
            <a:endParaRPr dirty="0">
              <a:solidFill>
                <a:schemeClr val="dk1"/>
              </a:solidFill>
            </a:endParaRPr>
          </a:p>
          <a:p>
            <a:pPr marL="914400" lvl="1" indent="-317500" algn="l" rtl="0">
              <a:spcBef>
                <a:spcPts val="1000"/>
              </a:spcBef>
              <a:spcAft>
                <a:spcPts val="0"/>
              </a:spcAft>
              <a:buClr>
                <a:schemeClr val="dk1"/>
              </a:buClr>
              <a:buSzPts val="1400"/>
              <a:buChar char="○"/>
            </a:pPr>
            <a:r>
              <a:rPr lang="en" dirty="0">
                <a:solidFill>
                  <a:schemeClr val="dk1"/>
                </a:solidFill>
              </a:rPr>
              <a:t>Recent surveys tend to draw on a narrow sample of students, students predominantly enrolled in earlier grades, or data collected pre-pandemic (Austin et al., 2023; Horowitz &amp; Graf, 2019; </a:t>
            </a:r>
            <a:r>
              <a:rPr lang="en" dirty="0" err="1">
                <a:solidFill>
                  <a:schemeClr val="dk1"/>
                </a:solidFill>
              </a:rPr>
              <a:t>Kosciw</a:t>
            </a:r>
            <a:r>
              <a:rPr lang="en" dirty="0">
                <a:solidFill>
                  <a:schemeClr val="dk1"/>
                </a:solidFill>
              </a:rPr>
              <a:t> et al., 2022; </a:t>
            </a:r>
            <a:r>
              <a:rPr lang="en" dirty="0" err="1">
                <a:solidFill>
                  <a:schemeClr val="dk1"/>
                </a:solidFill>
              </a:rPr>
              <a:t>Reber</a:t>
            </a:r>
            <a:r>
              <a:rPr lang="en" dirty="0">
                <a:solidFill>
                  <a:schemeClr val="dk1"/>
                </a:solidFill>
              </a:rPr>
              <a:t> &amp; Smith, 2023; </a:t>
            </a:r>
            <a:r>
              <a:rPr lang="en" dirty="0" err="1">
                <a:solidFill>
                  <a:schemeClr val="dk1"/>
                </a:solidFill>
              </a:rPr>
              <a:t>YouScience</a:t>
            </a:r>
            <a:r>
              <a:rPr lang="en" dirty="0">
                <a:solidFill>
                  <a:schemeClr val="dk1"/>
                </a:solidFill>
              </a:rPr>
              <a:t>, 2023)</a:t>
            </a:r>
            <a:endParaRPr dirty="0">
              <a:solidFill>
                <a:schemeClr val="dk1"/>
              </a:solidFill>
            </a:endParaRPr>
          </a:p>
          <a:p>
            <a:pPr marL="457200" lvl="0" indent="-342900" algn="l" rtl="0">
              <a:spcBef>
                <a:spcPts val="1000"/>
              </a:spcBef>
              <a:spcAft>
                <a:spcPts val="0"/>
              </a:spcAft>
              <a:buClr>
                <a:schemeClr val="dk1"/>
              </a:buClr>
              <a:buSzPts val="1800"/>
              <a:buChar char="●"/>
            </a:pPr>
            <a:r>
              <a:rPr lang="en" dirty="0">
                <a:solidFill>
                  <a:schemeClr val="dk1"/>
                </a:solidFill>
              </a:rPr>
              <a:t>Add to the growing literature on the academic and social experiences of LGBTQ+ students in high school and college (e.g., Austin et al., 2023; Feldman et al., 2023; </a:t>
            </a:r>
            <a:r>
              <a:rPr lang="en" dirty="0" err="1">
                <a:solidFill>
                  <a:schemeClr val="dk1"/>
                </a:solidFill>
              </a:rPr>
              <a:t>Kosciw</a:t>
            </a:r>
            <a:r>
              <a:rPr lang="en" dirty="0">
                <a:solidFill>
                  <a:schemeClr val="dk1"/>
                </a:solidFill>
              </a:rPr>
              <a:t> et al., 2022; </a:t>
            </a:r>
            <a:r>
              <a:rPr lang="en" dirty="0" err="1">
                <a:solidFill>
                  <a:schemeClr val="dk1"/>
                </a:solidFill>
              </a:rPr>
              <a:t>Reber</a:t>
            </a:r>
            <a:r>
              <a:rPr lang="en" dirty="0">
                <a:solidFill>
                  <a:schemeClr val="dk1"/>
                </a:solidFill>
              </a:rPr>
              <a:t> &amp; Smith, 2023)</a:t>
            </a:r>
            <a:endParaRPr dirty="0">
              <a:solidFill>
                <a:schemeClr val="dk1"/>
              </a:solidFill>
            </a:endParaRPr>
          </a:p>
          <a:p>
            <a:pPr marL="457200" lvl="0" indent="-342900" algn="l" rtl="0">
              <a:spcBef>
                <a:spcPts val="1000"/>
              </a:spcBef>
              <a:spcAft>
                <a:spcPts val="1000"/>
              </a:spcAft>
              <a:buClr>
                <a:schemeClr val="dk1"/>
              </a:buClr>
              <a:buSzPts val="1800"/>
              <a:buChar char="●"/>
            </a:pPr>
            <a:r>
              <a:rPr lang="en" dirty="0">
                <a:solidFill>
                  <a:schemeClr val="dk1"/>
                </a:solidFill>
              </a:rPr>
              <a:t>Contribute to the broader literature on the transition to college by adding new evidence on the experiences of underserved students</a:t>
            </a:r>
            <a:endParaRPr dirty="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11700" y="349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Methodology</a:t>
            </a:r>
            <a:endParaRPr dirty="0"/>
          </a:p>
        </p:txBody>
      </p:sp>
      <p:sp>
        <p:nvSpPr>
          <p:cNvPr id="98" name="Google Shape;98;p20"/>
          <p:cNvSpPr txBox="1">
            <a:spLocks noGrp="1"/>
          </p:cNvSpPr>
          <p:nvPr>
            <p:ph type="body" idx="1"/>
          </p:nvPr>
        </p:nvSpPr>
        <p:spPr>
          <a:xfrm>
            <a:off x="311700" y="1017725"/>
            <a:ext cx="8520600" cy="4054500"/>
          </a:xfrm>
          <a:prstGeom prst="rect">
            <a:avLst/>
          </a:prstGeom>
        </p:spPr>
        <p:txBody>
          <a:bodyPr spcFirstLastPara="1" wrap="square" lIns="91425" tIns="91425" rIns="91425" bIns="91425" anchor="t" anchorCtr="0">
            <a:normAutofit lnSpcReduction="20000"/>
          </a:bodyPr>
          <a:lstStyle/>
          <a:p>
            <a:pPr marL="457200" lvl="0" indent="-336550" algn="l" rtl="0">
              <a:lnSpc>
                <a:spcPct val="105000"/>
              </a:lnSpc>
              <a:spcBef>
                <a:spcPts val="0"/>
              </a:spcBef>
              <a:spcAft>
                <a:spcPts val="0"/>
              </a:spcAft>
              <a:buClr>
                <a:schemeClr val="dk1"/>
              </a:buClr>
              <a:buSzPts val="1700"/>
              <a:buChar char="●"/>
            </a:pPr>
            <a:r>
              <a:rPr lang="en" sz="1700" dirty="0">
                <a:solidFill>
                  <a:schemeClr val="dk1"/>
                </a:solidFill>
              </a:rPr>
              <a:t>Launched an internet-based survey in May 2023 in partnership with the California Student Aid Commission (CSAC)</a:t>
            </a:r>
            <a:endParaRPr sz="1700" dirty="0">
              <a:solidFill>
                <a:schemeClr val="dk1"/>
              </a:solidFill>
            </a:endParaRPr>
          </a:p>
          <a:p>
            <a:pPr marL="457200" lvl="0" indent="-336550" algn="l" rtl="0">
              <a:lnSpc>
                <a:spcPct val="105000"/>
              </a:lnSpc>
              <a:spcBef>
                <a:spcPts val="1000"/>
              </a:spcBef>
              <a:spcAft>
                <a:spcPts val="0"/>
              </a:spcAft>
              <a:buClr>
                <a:schemeClr val="dk1"/>
              </a:buClr>
              <a:buSzPts val="1700"/>
              <a:buChar char="●"/>
            </a:pPr>
            <a:r>
              <a:rPr lang="en" sz="1700" dirty="0">
                <a:solidFill>
                  <a:schemeClr val="dk1"/>
                </a:solidFill>
              </a:rPr>
              <a:t>Distributed by email to all high school seniors in California that submitted a Free Application for Federal Student Aid (FAFSA) or California Dream Act Application (CADAA) for the 2023-24 academic year</a:t>
            </a:r>
            <a:endParaRPr sz="1700" dirty="0">
              <a:solidFill>
                <a:schemeClr val="dk1"/>
              </a:solidFill>
            </a:endParaRPr>
          </a:p>
          <a:p>
            <a:pPr marL="857250" lvl="1" indent="-209550" algn="l" rtl="0">
              <a:lnSpc>
                <a:spcPct val="105000"/>
              </a:lnSpc>
              <a:spcBef>
                <a:spcPts val="1000"/>
              </a:spcBef>
              <a:spcAft>
                <a:spcPts val="0"/>
              </a:spcAft>
              <a:buClr>
                <a:schemeClr val="dk1"/>
              </a:buClr>
              <a:buSzPts val="1500"/>
              <a:buChar char="○"/>
            </a:pPr>
            <a:r>
              <a:rPr lang="en" sz="1500" dirty="0">
                <a:solidFill>
                  <a:schemeClr val="dk1"/>
                </a:solidFill>
              </a:rPr>
              <a:t>Response rate of 3.5% from </a:t>
            </a:r>
            <a:endParaRPr sz="1500" dirty="0">
              <a:solidFill>
                <a:schemeClr val="dk1"/>
              </a:solidFill>
            </a:endParaRPr>
          </a:p>
          <a:p>
            <a:pPr marL="857250" lvl="1" indent="-209550" algn="l" rtl="0">
              <a:lnSpc>
                <a:spcPct val="105000"/>
              </a:lnSpc>
              <a:spcBef>
                <a:spcPts val="1000"/>
              </a:spcBef>
              <a:spcAft>
                <a:spcPts val="0"/>
              </a:spcAft>
              <a:buClr>
                <a:schemeClr val="dk1"/>
              </a:buClr>
              <a:buSzPts val="1500"/>
              <a:buChar char="○"/>
            </a:pPr>
            <a:r>
              <a:rPr lang="en" sz="1500" dirty="0">
                <a:solidFill>
                  <a:schemeClr val="dk1"/>
                </a:solidFill>
              </a:rPr>
              <a:t>Convenience sample but large</a:t>
            </a:r>
            <a:endParaRPr sz="1500" dirty="0">
              <a:solidFill>
                <a:schemeClr val="dk1"/>
              </a:solidFill>
            </a:endParaRPr>
          </a:p>
          <a:p>
            <a:pPr marL="457200" lvl="0" indent="-336550" algn="l" rtl="0">
              <a:lnSpc>
                <a:spcPct val="105000"/>
              </a:lnSpc>
              <a:spcBef>
                <a:spcPts val="1000"/>
              </a:spcBef>
              <a:spcAft>
                <a:spcPts val="0"/>
              </a:spcAft>
              <a:buClr>
                <a:schemeClr val="dk1"/>
              </a:buClr>
              <a:buSzPts val="1700"/>
              <a:buChar char="●"/>
            </a:pPr>
            <a:r>
              <a:rPr lang="en" sz="1700" dirty="0">
                <a:solidFill>
                  <a:schemeClr val="dk1"/>
                </a:solidFill>
              </a:rPr>
              <a:t>Likert-scale questions </a:t>
            </a:r>
            <a:endParaRPr sz="1700" dirty="0">
              <a:solidFill>
                <a:schemeClr val="dk1"/>
              </a:solidFill>
            </a:endParaRPr>
          </a:p>
          <a:p>
            <a:pPr marL="914400" lvl="1" indent="-266700" algn="l" rtl="0">
              <a:lnSpc>
                <a:spcPct val="105000"/>
              </a:lnSpc>
              <a:spcBef>
                <a:spcPts val="1000"/>
              </a:spcBef>
              <a:spcAft>
                <a:spcPts val="0"/>
              </a:spcAft>
              <a:buClr>
                <a:schemeClr val="dk1"/>
              </a:buClr>
              <a:buSzPts val="1500"/>
              <a:buChar char="○"/>
            </a:pPr>
            <a:r>
              <a:rPr lang="en" sz="1500" dirty="0">
                <a:solidFill>
                  <a:schemeClr val="dk1"/>
                </a:solidFill>
              </a:rPr>
              <a:t>Students’ high school experiences, college preparation and plans, concerns about college</a:t>
            </a:r>
            <a:endParaRPr sz="1500" dirty="0">
              <a:solidFill>
                <a:schemeClr val="dk1"/>
              </a:solidFill>
            </a:endParaRPr>
          </a:p>
          <a:p>
            <a:pPr marL="457200" lvl="0" indent="-336550" algn="l" rtl="0">
              <a:lnSpc>
                <a:spcPct val="105000"/>
              </a:lnSpc>
              <a:spcBef>
                <a:spcPts val="1000"/>
              </a:spcBef>
              <a:spcAft>
                <a:spcPts val="0"/>
              </a:spcAft>
              <a:buClr>
                <a:schemeClr val="dk1"/>
              </a:buClr>
              <a:buSzPts val="1700"/>
              <a:buChar char="●"/>
            </a:pPr>
            <a:r>
              <a:rPr lang="en" sz="1700" dirty="0">
                <a:solidFill>
                  <a:schemeClr val="dk1"/>
                </a:solidFill>
              </a:rPr>
              <a:t>Demographic questions </a:t>
            </a:r>
            <a:endParaRPr sz="1700" dirty="0">
              <a:solidFill>
                <a:schemeClr val="dk1"/>
              </a:solidFill>
            </a:endParaRPr>
          </a:p>
          <a:p>
            <a:pPr marL="457200" lvl="0" indent="-336550" algn="l" rtl="0">
              <a:lnSpc>
                <a:spcPct val="105000"/>
              </a:lnSpc>
              <a:spcBef>
                <a:spcPts val="1000"/>
              </a:spcBef>
              <a:spcAft>
                <a:spcPts val="0"/>
              </a:spcAft>
              <a:buClr>
                <a:schemeClr val="dk1"/>
              </a:buClr>
              <a:buSzPts val="1700"/>
              <a:buChar char="●"/>
            </a:pPr>
            <a:r>
              <a:rPr lang="en" sz="1700" dirty="0">
                <a:solidFill>
                  <a:schemeClr val="dk1"/>
                </a:solidFill>
              </a:rPr>
              <a:t>Open-ended questions</a:t>
            </a:r>
            <a:endParaRPr sz="1700" dirty="0">
              <a:solidFill>
                <a:schemeClr val="dk1"/>
              </a:solidFill>
            </a:endParaRPr>
          </a:p>
          <a:p>
            <a:pPr marL="914400" lvl="1" indent="-266700" algn="l" rtl="0">
              <a:lnSpc>
                <a:spcPct val="105000"/>
              </a:lnSpc>
              <a:spcBef>
                <a:spcPts val="1000"/>
              </a:spcBef>
              <a:spcAft>
                <a:spcPts val="1000"/>
              </a:spcAft>
              <a:buClr>
                <a:schemeClr val="dk1"/>
              </a:buClr>
              <a:buSzPts val="1500"/>
              <a:buChar char="○"/>
            </a:pPr>
            <a:r>
              <a:rPr lang="en" sz="1500" dirty="0">
                <a:solidFill>
                  <a:schemeClr val="dk1"/>
                </a:solidFill>
              </a:rPr>
              <a:t>Perceived challenges and excitement about college</a:t>
            </a:r>
            <a:endParaRPr sz="1500" dirty="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a:t>
            </a:r>
            <a:endParaRPr/>
          </a:p>
        </p:txBody>
      </p:sp>
      <p:sp>
        <p:nvSpPr>
          <p:cNvPr id="104" name="Google Shape;104;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dirty="0">
                <a:solidFill>
                  <a:schemeClr val="dk1"/>
                </a:solidFill>
              </a:rPr>
              <a:t>The raw sample includes a total of 10,221 responses</a:t>
            </a:r>
            <a:endParaRPr dirty="0">
              <a:solidFill>
                <a:schemeClr val="dk1"/>
              </a:solidFill>
            </a:endParaRPr>
          </a:p>
          <a:p>
            <a:pPr marL="457200" lvl="0" indent="-342900" algn="l" rtl="0">
              <a:spcBef>
                <a:spcPts val="0"/>
              </a:spcBef>
              <a:spcAft>
                <a:spcPts val="0"/>
              </a:spcAft>
              <a:buClr>
                <a:schemeClr val="dk1"/>
              </a:buClr>
              <a:buSzPts val="1800"/>
              <a:buChar char="●"/>
            </a:pPr>
            <a:r>
              <a:rPr lang="en" dirty="0">
                <a:solidFill>
                  <a:schemeClr val="dk1"/>
                </a:solidFill>
              </a:rPr>
              <a:t>Our sample includes around 9,230 college-bound HS seniors </a:t>
            </a:r>
            <a:endParaRPr dirty="0">
              <a:solidFill>
                <a:schemeClr val="dk1"/>
              </a:solidFill>
            </a:endParaRPr>
          </a:p>
          <a:p>
            <a:pPr marL="914400" lvl="1" indent="-317500" algn="l" rtl="0">
              <a:spcBef>
                <a:spcPts val="0"/>
              </a:spcBef>
              <a:spcAft>
                <a:spcPts val="0"/>
              </a:spcAft>
              <a:buClr>
                <a:schemeClr val="dk1"/>
              </a:buClr>
              <a:buSzPts val="1400"/>
              <a:buChar char="○"/>
            </a:pPr>
            <a:r>
              <a:rPr lang="en" dirty="0">
                <a:solidFill>
                  <a:schemeClr val="dk1"/>
                </a:solidFill>
              </a:rPr>
              <a:t>7,522 who reported gender identity</a:t>
            </a:r>
            <a:endParaRPr dirty="0">
              <a:solidFill>
                <a:schemeClr val="dk1"/>
              </a:solidFill>
            </a:endParaRPr>
          </a:p>
          <a:p>
            <a:pPr marL="914400" lvl="1" indent="-317500" algn="l" rtl="0">
              <a:spcBef>
                <a:spcPts val="0"/>
              </a:spcBef>
              <a:spcAft>
                <a:spcPts val="0"/>
              </a:spcAft>
              <a:buClr>
                <a:schemeClr val="dk1"/>
              </a:buClr>
              <a:buSzPts val="1400"/>
              <a:buChar char="○"/>
            </a:pPr>
            <a:r>
              <a:rPr lang="en" dirty="0">
                <a:solidFill>
                  <a:schemeClr val="dk1"/>
                </a:solidFill>
              </a:rPr>
              <a:t>7,481 who reported sexual orientation</a:t>
            </a:r>
            <a:endParaRPr dirty="0">
              <a:solidFill>
                <a:schemeClr val="dk1"/>
              </a:solidFill>
            </a:endParaRPr>
          </a:p>
          <a:p>
            <a:pPr marL="457200" lvl="0" indent="-342900" algn="l" rtl="0">
              <a:spcBef>
                <a:spcPts val="0"/>
              </a:spcBef>
              <a:spcAft>
                <a:spcPts val="0"/>
              </a:spcAft>
              <a:buClr>
                <a:schemeClr val="dk1"/>
              </a:buClr>
              <a:buSzPts val="1800"/>
              <a:buChar char="●"/>
            </a:pPr>
            <a:r>
              <a:rPr lang="en" dirty="0">
                <a:solidFill>
                  <a:schemeClr val="dk1"/>
                </a:solidFill>
              </a:rPr>
              <a:t>Our sample includes 1,828 LGBTQ+ students (excluding </a:t>
            </a:r>
            <a:r>
              <a:rPr lang="en" i="1" dirty="0">
                <a:solidFill>
                  <a:schemeClr val="dk1"/>
                </a:solidFill>
              </a:rPr>
              <a:t>Prefer Not to Say</a:t>
            </a:r>
            <a:r>
              <a:rPr lang="en" dirty="0">
                <a:solidFill>
                  <a:schemeClr val="dk1"/>
                </a:solidFill>
              </a:rPr>
              <a:t>)</a:t>
            </a:r>
            <a:endParaRPr dirty="0">
              <a:solidFill>
                <a:schemeClr val="dk1"/>
              </a:solidFill>
            </a:endParaRPr>
          </a:p>
          <a:p>
            <a:pPr marL="914400" lvl="1" indent="-317500" algn="l" rtl="0">
              <a:spcBef>
                <a:spcPts val="0"/>
              </a:spcBef>
              <a:spcAft>
                <a:spcPts val="0"/>
              </a:spcAft>
              <a:buClr>
                <a:schemeClr val="dk1"/>
              </a:buClr>
              <a:buSzPts val="1400"/>
              <a:buChar char="○"/>
            </a:pPr>
            <a:r>
              <a:rPr lang="en" dirty="0">
                <a:solidFill>
                  <a:schemeClr val="dk1"/>
                </a:solidFill>
              </a:rPr>
              <a:t>417 who we classify as being non-cisgender</a:t>
            </a:r>
            <a:endParaRPr dirty="0">
              <a:solidFill>
                <a:schemeClr val="dk1"/>
              </a:solidFill>
            </a:endParaRPr>
          </a:p>
          <a:p>
            <a:pPr marL="914400" lvl="1" indent="-317500" algn="l" rtl="0">
              <a:spcBef>
                <a:spcPts val="0"/>
              </a:spcBef>
              <a:spcAft>
                <a:spcPts val="0"/>
              </a:spcAft>
              <a:buClr>
                <a:schemeClr val="dk1"/>
              </a:buClr>
              <a:buSzPts val="1400"/>
              <a:buChar char="○"/>
            </a:pPr>
            <a:r>
              <a:rPr lang="en" dirty="0">
                <a:solidFill>
                  <a:schemeClr val="dk1"/>
                </a:solidFill>
              </a:rPr>
              <a:t>1,782 who we classify as being non-heterosexual </a:t>
            </a:r>
            <a:endParaRPr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311700" y="3657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Survey Instrument: Gender Identity</a:t>
            </a:r>
            <a:endParaRPr/>
          </a:p>
          <a:p>
            <a:pPr marL="0" lvl="0" indent="0" algn="l" rtl="0">
              <a:spcBef>
                <a:spcPts val="0"/>
              </a:spcBef>
              <a:spcAft>
                <a:spcPts val="0"/>
              </a:spcAft>
              <a:buNone/>
            </a:pPr>
            <a:endParaRPr/>
          </a:p>
        </p:txBody>
      </p:sp>
      <p:sp>
        <p:nvSpPr>
          <p:cNvPr id="110" name="Google Shape;110;p22"/>
          <p:cNvSpPr txBox="1">
            <a:spLocks noGrp="1"/>
          </p:cNvSpPr>
          <p:nvPr>
            <p:ph type="body" idx="1"/>
          </p:nvPr>
        </p:nvSpPr>
        <p:spPr>
          <a:xfrm>
            <a:off x="311700" y="1017725"/>
            <a:ext cx="8520600" cy="3990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dirty="0">
                <a:solidFill>
                  <a:schemeClr val="dk1"/>
                </a:solidFill>
              </a:rPr>
              <a:t>“Two-Step” Approach recommended by Williams Institute</a:t>
            </a:r>
            <a:endParaRPr dirty="0">
              <a:solidFill>
                <a:schemeClr val="dk1"/>
              </a:solidFill>
            </a:endParaRPr>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grpSp>
        <p:nvGrpSpPr>
          <p:cNvPr id="111" name="Google Shape;111;p22"/>
          <p:cNvGrpSpPr/>
          <p:nvPr/>
        </p:nvGrpSpPr>
        <p:grpSpPr>
          <a:xfrm>
            <a:off x="810975" y="1761575"/>
            <a:ext cx="4598300" cy="3100576"/>
            <a:chOff x="810975" y="1761575"/>
            <a:chExt cx="4598300" cy="3100576"/>
          </a:xfrm>
        </p:grpSpPr>
        <p:pic>
          <p:nvPicPr>
            <p:cNvPr id="112" name="Google Shape;112;p22"/>
            <p:cNvPicPr preferRelativeResize="0"/>
            <p:nvPr/>
          </p:nvPicPr>
          <p:blipFill>
            <a:blip r:embed="rId3">
              <a:alphaModFix/>
            </a:blip>
            <a:stretch>
              <a:fillRect/>
            </a:stretch>
          </p:blipFill>
          <p:spPr>
            <a:xfrm>
              <a:off x="810975" y="1761575"/>
              <a:ext cx="4598300" cy="1157191"/>
            </a:xfrm>
            <a:prstGeom prst="rect">
              <a:avLst/>
            </a:prstGeom>
            <a:noFill/>
            <a:ln>
              <a:noFill/>
            </a:ln>
          </p:spPr>
        </p:pic>
        <p:pic>
          <p:nvPicPr>
            <p:cNvPr id="113" name="Google Shape;113;p22"/>
            <p:cNvPicPr preferRelativeResize="0"/>
            <p:nvPr/>
          </p:nvPicPr>
          <p:blipFill>
            <a:blip r:embed="rId4">
              <a:alphaModFix/>
            </a:blip>
            <a:stretch>
              <a:fillRect/>
            </a:stretch>
          </p:blipFill>
          <p:spPr>
            <a:xfrm>
              <a:off x="810975" y="2918775"/>
              <a:ext cx="4598299" cy="1943376"/>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Survey Instrument: Sexual Orientation</a:t>
            </a:r>
            <a:endParaRPr/>
          </a:p>
        </p:txBody>
      </p:sp>
      <p:sp>
        <p:nvSpPr>
          <p:cNvPr id="119" name="Google Shape;119;p23"/>
          <p:cNvSpPr txBox="1">
            <a:spLocks noGrp="1"/>
          </p:cNvSpPr>
          <p:nvPr>
            <p:ph type="body" idx="1"/>
          </p:nvPr>
        </p:nvSpPr>
        <p:spPr>
          <a:xfrm>
            <a:off x="311700" y="1152475"/>
            <a:ext cx="8520600" cy="3856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dk1"/>
                </a:solidFill>
              </a:rPr>
              <a:t>Adapted from recommendations by the Williams Institute to allow for broader range of expressions</a:t>
            </a:r>
            <a:endParaRPr dirty="0">
              <a:solidFill>
                <a:schemeClr val="dk1"/>
              </a:solidFill>
            </a:endParaRPr>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pic>
        <p:nvPicPr>
          <p:cNvPr id="120" name="Google Shape;120;p23"/>
          <p:cNvPicPr preferRelativeResize="0"/>
          <p:nvPr/>
        </p:nvPicPr>
        <p:blipFill>
          <a:blip r:embed="rId3">
            <a:alphaModFix/>
          </a:blip>
          <a:stretch>
            <a:fillRect/>
          </a:stretch>
        </p:blipFill>
        <p:spPr>
          <a:xfrm>
            <a:off x="562825" y="1956925"/>
            <a:ext cx="3939699" cy="2555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800"/>
              </a:spcBef>
              <a:spcAft>
                <a:spcPts val="600"/>
              </a:spcAft>
              <a:buClr>
                <a:schemeClr val="dk1"/>
              </a:buClr>
              <a:buSzPct val="39285"/>
              <a:buFont typeface="Arial"/>
              <a:buNone/>
            </a:pPr>
            <a:r>
              <a:rPr lang="en"/>
              <a:t>Gender and sexuality diversity</a:t>
            </a:r>
            <a:endParaRPr/>
          </a:p>
        </p:txBody>
      </p:sp>
      <p:sp>
        <p:nvSpPr>
          <p:cNvPr id="126" name="Google Shape;126;p24"/>
          <p:cNvSpPr txBox="1">
            <a:spLocks noGrp="1"/>
          </p:cNvSpPr>
          <p:nvPr>
            <p:ph type="body" idx="1"/>
          </p:nvPr>
        </p:nvSpPr>
        <p:spPr>
          <a:xfrm>
            <a:off x="311700" y="1152475"/>
            <a:ext cx="52545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dirty="0">
                <a:solidFill>
                  <a:schemeClr val="dk1"/>
                </a:solidFill>
              </a:rPr>
              <a:t>Students who chose to self describe used a diversity of descriptors</a:t>
            </a:r>
            <a:endParaRPr dirty="0">
              <a:solidFill>
                <a:schemeClr val="dk1"/>
              </a:solidFill>
            </a:endParaRPr>
          </a:p>
          <a:p>
            <a:pPr marL="914400" lvl="1" indent="-317500" algn="l" rtl="0">
              <a:spcBef>
                <a:spcPts val="0"/>
              </a:spcBef>
              <a:spcAft>
                <a:spcPts val="0"/>
              </a:spcAft>
              <a:buClr>
                <a:schemeClr val="dk1"/>
              </a:buClr>
              <a:buSzPts val="1400"/>
              <a:buChar char="○"/>
            </a:pPr>
            <a:r>
              <a:rPr lang="en" dirty="0">
                <a:solidFill>
                  <a:schemeClr val="dk1"/>
                </a:solidFill>
              </a:rPr>
              <a:t>25 unique words to describe gender identities </a:t>
            </a:r>
            <a:endParaRPr dirty="0">
              <a:solidFill>
                <a:schemeClr val="dk1"/>
              </a:solidFill>
            </a:endParaRPr>
          </a:p>
          <a:p>
            <a:pPr marL="914400" lvl="1" indent="-317500" algn="l" rtl="0">
              <a:spcBef>
                <a:spcPts val="0"/>
              </a:spcBef>
              <a:spcAft>
                <a:spcPts val="0"/>
              </a:spcAft>
              <a:buClr>
                <a:schemeClr val="dk1"/>
              </a:buClr>
              <a:buSzPts val="1400"/>
              <a:buChar char="○"/>
            </a:pPr>
            <a:r>
              <a:rPr lang="en" dirty="0">
                <a:solidFill>
                  <a:schemeClr val="dk1"/>
                </a:solidFill>
              </a:rPr>
              <a:t>47 unique words to describe sexual orientations </a:t>
            </a:r>
            <a:endParaRPr dirty="0">
              <a:solidFill>
                <a:schemeClr val="dk1"/>
              </a:solidFill>
            </a:endParaRPr>
          </a:p>
          <a:p>
            <a:pPr marL="0" lvl="0" indent="0" algn="l" rtl="0">
              <a:spcBef>
                <a:spcPts val="1200"/>
              </a:spcBef>
              <a:spcAft>
                <a:spcPts val="0"/>
              </a:spcAft>
              <a:buNone/>
            </a:pPr>
            <a:endParaRPr dirty="0">
              <a:solidFill>
                <a:schemeClr val="dk1"/>
              </a:solidFill>
            </a:endParaRPr>
          </a:p>
          <a:p>
            <a:pPr marL="0" lvl="0" indent="0" algn="l" rtl="0">
              <a:spcBef>
                <a:spcPts val="1200"/>
              </a:spcBef>
              <a:spcAft>
                <a:spcPts val="1200"/>
              </a:spcAft>
              <a:buNone/>
            </a:pPr>
            <a:endParaRPr dirty="0">
              <a:solidFill>
                <a:schemeClr val="dk1"/>
              </a:solidFill>
            </a:endParaRPr>
          </a:p>
        </p:txBody>
      </p:sp>
      <p:pic>
        <p:nvPicPr>
          <p:cNvPr id="127" name="Google Shape;127;p24"/>
          <p:cNvPicPr preferRelativeResize="0"/>
          <p:nvPr/>
        </p:nvPicPr>
        <p:blipFill rotWithShape="1">
          <a:blip r:embed="rId3">
            <a:alphaModFix/>
          </a:blip>
          <a:srcRect r="5767"/>
          <a:stretch/>
        </p:blipFill>
        <p:spPr>
          <a:xfrm>
            <a:off x="5451925" y="243575"/>
            <a:ext cx="3692076" cy="3338249"/>
          </a:xfrm>
          <a:prstGeom prst="rect">
            <a:avLst/>
          </a:prstGeom>
          <a:noFill/>
          <a:ln>
            <a:noFill/>
          </a:ln>
        </p:spPr>
      </p:pic>
      <p:pic>
        <p:nvPicPr>
          <p:cNvPr id="128" name="Google Shape;128;p24"/>
          <p:cNvPicPr preferRelativeResize="0"/>
          <p:nvPr/>
        </p:nvPicPr>
        <p:blipFill>
          <a:blip r:embed="rId4">
            <a:alphaModFix/>
          </a:blip>
          <a:stretch>
            <a:fillRect/>
          </a:stretch>
        </p:blipFill>
        <p:spPr>
          <a:xfrm>
            <a:off x="3310650" y="2364000"/>
            <a:ext cx="2887124" cy="2730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5"/>
          <p:cNvSpPr txBox="1">
            <a:spLocks noGrp="1"/>
          </p:cNvSpPr>
          <p:nvPr>
            <p:ph type="title"/>
          </p:nvPr>
        </p:nvSpPr>
        <p:spPr>
          <a:xfrm>
            <a:off x="311700" y="287425"/>
            <a:ext cx="8520600" cy="7440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Clr>
                <a:schemeClr val="dk1"/>
              </a:buClr>
              <a:buSzPct val="61111"/>
              <a:buFont typeface="Arial"/>
              <a:buNone/>
            </a:pPr>
            <a:r>
              <a:rPr lang="en" sz="1800" dirty="0"/>
              <a:t>Result 1: Transgender students and gender diverse students more likely to report having a </a:t>
            </a:r>
            <a:r>
              <a:rPr lang="en" sz="1800" i="1" dirty="0"/>
              <a:t>Poor</a:t>
            </a:r>
            <a:r>
              <a:rPr lang="en" sz="1800" dirty="0"/>
              <a:t> or </a:t>
            </a:r>
            <a:r>
              <a:rPr lang="en" sz="1800" i="1" dirty="0"/>
              <a:t>Fair</a:t>
            </a:r>
            <a:r>
              <a:rPr lang="en" sz="1800" dirty="0"/>
              <a:t> social experience in high school.</a:t>
            </a:r>
            <a:endParaRPr dirty="0"/>
          </a:p>
        </p:txBody>
      </p:sp>
      <p:pic>
        <p:nvPicPr>
          <p:cNvPr id="134" name="Google Shape;134;p25"/>
          <p:cNvPicPr preferRelativeResize="0"/>
          <p:nvPr/>
        </p:nvPicPr>
        <p:blipFill>
          <a:blip r:embed="rId3">
            <a:alphaModFix/>
          </a:blip>
          <a:stretch>
            <a:fillRect/>
          </a:stretch>
        </p:blipFill>
        <p:spPr>
          <a:xfrm>
            <a:off x="1010075" y="1087975"/>
            <a:ext cx="7057175" cy="3803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6"/>
          <p:cNvSpPr txBox="1">
            <a:spLocks noGrp="1"/>
          </p:cNvSpPr>
          <p:nvPr>
            <p:ph type="title"/>
          </p:nvPr>
        </p:nvSpPr>
        <p:spPr>
          <a:xfrm>
            <a:off x="311700" y="208625"/>
            <a:ext cx="8520600" cy="7872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Clr>
                <a:schemeClr val="dk1"/>
              </a:buClr>
              <a:buSzPct val="61111"/>
              <a:buFont typeface="Arial"/>
              <a:buNone/>
            </a:pPr>
            <a:r>
              <a:rPr lang="en" sz="1800" dirty="0"/>
              <a:t>Result 2: Gender and sexual minority students are less likely to report a sense of belonging in their high school community.</a:t>
            </a:r>
            <a:endParaRPr dirty="0"/>
          </a:p>
        </p:txBody>
      </p:sp>
      <p:pic>
        <p:nvPicPr>
          <p:cNvPr id="140" name="Google Shape;140;p26"/>
          <p:cNvPicPr preferRelativeResize="0"/>
          <p:nvPr/>
        </p:nvPicPr>
        <p:blipFill>
          <a:blip r:embed="rId3">
            <a:alphaModFix/>
          </a:blip>
          <a:stretch>
            <a:fillRect/>
          </a:stretch>
        </p:blipFill>
        <p:spPr>
          <a:xfrm>
            <a:off x="1100650" y="1063075"/>
            <a:ext cx="6942699" cy="3741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7"/>
          <p:cNvSpPr txBox="1">
            <a:spLocks noGrp="1"/>
          </p:cNvSpPr>
          <p:nvPr>
            <p:ph type="title"/>
          </p:nvPr>
        </p:nvSpPr>
        <p:spPr>
          <a:xfrm>
            <a:off x="311700" y="285525"/>
            <a:ext cx="8520600" cy="6873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Clr>
                <a:schemeClr val="dk1"/>
              </a:buClr>
              <a:buSzPct val="61111"/>
              <a:buFont typeface="Arial"/>
              <a:buNone/>
            </a:pPr>
            <a:r>
              <a:rPr lang="en" sz="1800" dirty="0"/>
              <a:t>Result 3: Transgender students are the most likely to have been bullied in the last 12 months.  Cisgender and straight students are least likely to be bullied.</a:t>
            </a:r>
            <a:endParaRPr dirty="0"/>
          </a:p>
        </p:txBody>
      </p:sp>
      <p:pic>
        <p:nvPicPr>
          <p:cNvPr id="146" name="Google Shape;146;p27"/>
          <p:cNvPicPr preferRelativeResize="0"/>
          <p:nvPr/>
        </p:nvPicPr>
        <p:blipFill>
          <a:blip r:embed="rId3">
            <a:alphaModFix/>
          </a:blip>
          <a:stretch>
            <a:fillRect/>
          </a:stretch>
        </p:blipFill>
        <p:spPr>
          <a:xfrm>
            <a:off x="1057313" y="1017725"/>
            <a:ext cx="7029369" cy="3820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8"/>
          <p:cNvSpPr txBox="1">
            <a:spLocks noGrp="1"/>
          </p:cNvSpPr>
          <p:nvPr>
            <p:ph type="title"/>
          </p:nvPr>
        </p:nvSpPr>
        <p:spPr>
          <a:xfrm>
            <a:off x="311700" y="244273"/>
            <a:ext cx="8520600" cy="77345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t>Result 4: </a:t>
            </a:r>
            <a:r>
              <a:rPr lang="en-US" sz="1800"/>
              <a:t>Of the students </a:t>
            </a:r>
            <a:r>
              <a:rPr lang="en-US" sz="1800" dirty="0"/>
              <a:t>report being bullied, transgender students are exclusively bullied because of gender or sexual orientation. </a:t>
            </a:r>
            <a:endParaRPr sz="1800" dirty="0"/>
          </a:p>
        </p:txBody>
      </p:sp>
      <p:pic>
        <p:nvPicPr>
          <p:cNvPr id="152" name="Google Shape;152;p28"/>
          <p:cNvPicPr preferRelativeResize="0"/>
          <p:nvPr/>
        </p:nvPicPr>
        <p:blipFill>
          <a:blip r:embed="rId3">
            <a:alphaModFix/>
          </a:blip>
          <a:stretch>
            <a:fillRect/>
          </a:stretch>
        </p:blipFill>
        <p:spPr>
          <a:xfrm>
            <a:off x="974325" y="1017725"/>
            <a:ext cx="7195351" cy="3881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Plans for College: Major</a:t>
            </a:r>
            <a:endParaRPr/>
          </a:p>
        </p:txBody>
      </p:sp>
      <p:pic>
        <p:nvPicPr>
          <p:cNvPr id="158" name="Google Shape;158;p29"/>
          <p:cNvPicPr preferRelativeResize="0"/>
          <p:nvPr/>
        </p:nvPicPr>
        <p:blipFill>
          <a:blip r:embed="rId3">
            <a:alphaModFix/>
          </a:blip>
          <a:stretch>
            <a:fillRect/>
          </a:stretch>
        </p:blipFill>
        <p:spPr>
          <a:xfrm>
            <a:off x="0" y="1229173"/>
            <a:ext cx="9144003" cy="333970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0"/>
          <p:cNvSpPr txBox="1">
            <a:spLocks noGrp="1"/>
          </p:cNvSpPr>
          <p:nvPr>
            <p:ph type="title"/>
          </p:nvPr>
        </p:nvSpPr>
        <p:spPr>
          <a:xfrm>
            <a:off x="311700" y="2447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Educational Aspirations</a:t>
            </a:r>
            <a:endParaRPr/>
          </a:p>
        </p:txBody>
      </p:sp>
      <p:pic>
        <p:nvPicPr>
          <p:cNvPr id="164" name="Google Shape;164;p30"/>
          <p:cNvPicPr preferRelativeResize="0"/>
          <p:nvPr/>
        </p:nvPicPr>
        <p:blipFill>
          <a:blip r:embed="rId3">
            <a:alphaModFix/>
          </a:blip>
          <a:stretch>
            <a:fillRect/>
          </a:stretch>
        </p:blipFill>
        <p:spPr>
          <a:xfrm>
            <a:off x="634676" y="856700"/>
            <a:ext cx="7689551" cy="41443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Worries about College: Discrimination on Gender</a:t>
            </a:r>
            <a:endParaRPr/>
          </a:p>
        </p:txBody>
      </p:sp>
      <p:pic>
        <p:nvPicPr>
          <p:cNvPr id="170" name="Google Shape;170;p31"/>
          <p:cNvPicPr preferRelativeResize="0"/>
          <p:nvPr/>
        </p:nvPicPr>
        <p:blipFill>
          <a:blip r:embed="rId3">
            <a:alphaModFix/>
          </a:blip>
          <a:stretch>
            <a:fillRect/>
          </a:stretch>
        </p:blipFill>
        <p:spPr>
          <a:xfrm>
            <a:off x="980137" y="1081150"/>
            <a:ext cx="7183726" cy="38793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2"/>
          <p:cNvSpPr txBox="1">
            <a:spLocks noGrp="1"/>
          </p:cNvSpPr>
          <p:nvPr>
            <p:ph type="title"/>
          </p:nvPr>
        </p:nvSpPr>
        <p:spPr>
          <a:xfrm>
            <a:off x="311700" y="3182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Worries about College: Discrimination on Sexuality</a:t>
            </a:r>
            <a:endParaRPr/>
          </a:p>
        </p:txBody>
      </p:sp>
      <p:pic>
        <p:nvPicPr>
          <p:cNvPr id="176" name="Google Shape;176;p32"/>
          <p:cNvPicPr preferRelativeResize="0"/>
          <p:nvPr/>
        </p:nvPicPr>
        <p:blipFill>
          <a:blip r:embed="rId3">
            <a:alphaModFix/>
          </a:blip>
          <a:stretch>
            <a:fillRect/>
          </a:stretch>
        </p:blipFill>
        <p:spPr>
          <a:xfrm>
            <a:off x="1053825" y="1017725"/>
            <a:ext cx="7036373" cy="37922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3"/>
          <p:cNvSpPr txBox="1">
            <a:spLocks noGrp="1"/>
          </p:cNvSpPr>
          <p:nvPr>
            <p:ph type="title"/>
          </p:nvPr>
        </p:nvSpPr>
        <p:spPr>
          <a:xfrm>
            <a:off x="311713"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Worries about College: Finding Community</a:t>
            </a:r>
            <a:endParaRPr/>
          </a:p>
        </p:txBody>
      </p:sp>
      <p:pic>
        <p:nvPicPr>
          <p:cNvPr id="182" name="Google Shape;182;p33"/>
          <p:cNvPicPr preferRelativeResize="0"/>
          <p:nvPr/>
        </p:nvPicPr>
        <p:blipFill>
          <a:blip r:embed="rId3">
            <a:alphaModFix/>
          </a:blip>
          <a:stretch>
            <a:fillRect/>
          </a:stretch>
        </p:blipFill>
        <p:spPr>
          <a:xfrm>
            <a:off x="969313" y="1199150"/>
            <a:ext cx="7205385" cy="38833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4"/>
          <p:cNvSpPr txBox="1">
            <a:spLocks noGrp="1"/>
          </p:cNvSpPr>
          <p:nvPr>
            <p:ph type="title"/>
          </p:nvPr>
        </p:nvSpPr>
        <p:spPr>
          <a:xfrm>
            <a:off x="311700" y="302350"/>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800"/>
              </a:spcBef>
              <a:spcAft>
                <a:spcPts val="600"/>
              </a:spcAft>
              <a:buClr>
                <a:schemeClr val="dk1"/>
              </a:buClr>
              <a:buSzPct val="39285"/>
              <a:buFont typeface="Arial"/>
              <a:buNone/>
            </a:pPr>
            <a:r>
              <a:rPr lang="en"/>
              <a:t>Worries about College: Support</a:t>
            </a:r>
            <a:endParaRPr/>
          </a:p>
        </p:txBody>
      </p:sp>
      <p:pic>
        <p:nvPicPr>
          <p:cNvPr id="188" name="Google Shape;188;p34"/>
          <p:cNvPicPr preferRelativeResize="0"/>
          <p:nvPr/>
        </p:nvPicPr>
        <p:blipFill>
          <a:blip r:embed="rId3">
            <a:alphaModFix/>
          </a:blip>
          <a:stretch>
            <a:fillRect/>
          </a:stretch>
        </p:blipFill>
        <p:spPr>
          <a:xfrm>
            <a:off x="1027200" y="1017725"/>
            <a:ext cx="7089609" cy="38209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5"/>
          <p:cNvSpPr txBox="1">
            <a:spLocks noGrp="1"/>
          </p:cNvSpPr>
          <p:nvPr>
            <p:ph type="title"/>
          </p:nvPr>
        </p:nvSpPr>
        <p:spPr>
          <a:xfrm>
            <a:off x="261550" y="304675"/>
            <a:ext cx="8520600" cy="572700"/>
          </a:xfrm>
          <a:prstGeom prst="rect">
            <a:avLst/>
          </a:prstGeom>
        </p:spPr>
        <p:txBody>
          <a:bodyPr spcFirstLastPara="1" wrap="square" lIns="91425" tIns="91425" rIns="91425" bIns="91425" anchor="t" anchorCtr="0">
            <a:normAutofit/>
          </a:bodyPr>
          <a:lstStyle/>
          <a:p>
            <a:pPr marL="0" lvl="0" indent="0" algn="l" rtl="0">
              <a:lnSpc>
                <a:spcPct val="115000"/>
              </a:lnSpc>
              <a:spcBef>
                <a:spcPts val="1800"/>
              </a:spcBef>
              <a:spcAft>
                <a:spcPts val="600"/>
              </a:spcAft>
              <a:buClr>
                <a:schemeClr val="dk1"/>
              </a:buClr>
              <a:buSzPts val="1100"/>
              <a:buFont typeface="Arial"/>
              <a:buNone/>
            </a:pPr>
            <a:r>
              <a:rPr lang="en" sz="2500">
                <a:highlight>
                  <a:srgbClr val="FFFFFF"/>
                </a:highlight>
              </a:rPr>
              <a:t>Student Voice</a:t>
            </a:r>
            <a:endParaRPr sz="2500"/>
          </a:p>
        </p:txBody>
      </p:sp>
      <p:sp>
        <p:nvSpPr>
          <p:cNvPr id="194" name="Google Shape;194;p35"/>
          <p:cNvSpPr txBox="1">
            <a:spLocks noGrp="1"/>
          </p:cNvSpPr>
          <p:nvPr>
            <p:ph type="body" idx="1"/>
          </p:nvPr>
        </p:nvSpPr>
        <p:spPr>
          <a:xfrm>
            <a:off x="311700" y="1249050"/>
            <a:ext cx="8520600" cy="20961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Clr>
                <a:schemeClr val="dk1"/>
              </a:buClr>
              <a:buSzPts val="1100"/>
              <a:buFont typeface="Arial"/>
              <a:buNone/>
            </a:pPr>
            <a:r>
              <a:rPr lang="en" sz="1000">
                <a:solidFill>
                  <a:schemeClr val="dk1"/>
                </a:solidFill>
                <a:highlight>
                  <a:srgbClr val="FFFFFF"/>
                </a:highlight>
              </a:rPr>
              <a:t>“TRANSPHOBIA”</a:t>
            </a:r>
            <a:endParaRPr sz="1000">
              <a:solidFill>
                <a:schemeClr val="dk1"/>
              </a:solidFill>
              <a:highlight>
                <a:srgbClr val="FFFFFF"/>
              </a:highlight>
            </a:endParaRPr>
          </a:p>
          <a:p>
            <a:pPr marL="0" lvl="0" indent="0" algn="l" rtl="0">
              <a:spcBef>
                <a:spcPts val="0"/>
              </a:spcBef>
              <a:spcAft>
                <a:spcPts val="0"/>
              </a:spcAft>
              <a:buClr>
                <a:schemeClr val="dk1"/>
              </a:buClr>
              <a:buSzPts val="1100"/>
              <a:buFont typeface="Arial"/>
              <a:buNone/>
            </a:pPr>
            <a:r>
              <a:rPr lang="en" sz="1000">
                <a:solidFill>
                  <a:schemeClr val="dk1"/>
                </a:solidFill>
                <a:highlight>
                  <a:srgbClr val="FFFFFF"/>
                </a:highlight>
              </a:rPr>
              <a:t> </a:t>
            </a:r>
            <a:endParaRPr sz="1000">
              <a:solidFill>
                <a:schemeClr val="dk1"/>
              </a:solidFill>
              <a:highlight>
                <a:srgbClr val="FFFFFF"/>
              </a:highlight>
            </a:endParaRPr>
          </a:p>
          <a:p>
            <a:pPr marL="0" lvl="0" indent="0" algn="l" rtl="0">
              <a:spcBef>
                <a:spcPts val="0"/>
              </a:spcBef>
              <a:spcAft>
                <a:spcPts val="0"/>
              </a:spcAft>
              <a:buClr>
                <a:schemeClr val="dk1"/>
              </a:buClr>
              <a:buSzPts val="1100"/>
              <a:buFont typeface="Arial"/>
              <a:buNone/>
            </a:pPr>
            <a:r>
              <a:rPr lang="en" sz="1000">
                <a:solidFill>
                  <a:schemeClr val="dk1"/>
                </a:solidFill>
                <a:highlight>
                  <a:srgbClr val="FFFFFF"/>
                </a:highlight>
              </a:rPr>
              <a:t>“</a:t>
            </a:r>
            <a:r>
              <a:rPr lang="en" sz="1000">
                <a:solidFill>
                  <a:schemeClr val="dk1"/>
                </a:solidFill>
              </a:rPr>
              <a:t>POLITICAL AND SOCIAL CONFLICTS. I COULD DIE FROM HATE CRIMES, BUT IT'S MORE LIKELY THAT I END UP KILLING MYSELF. I STRUGGLE A LOT WITH BEING TRANS AND IF NOT ABLE TO TRANSITION IN COLLEGE, I'M GOING TO GIVE UP ON EVERYTHING. THE POLITICAL CLIMATE IN TAIWAN COULD REACH A TIPPING POINT WHILE I AM IN COLLEGE. IF THAT HAPPENS, I AM LIKELY GOING TO DROP EVERYTHING TO HELP MY FAMILY.”</a:t>
            </a:r>
            <a:endParaRPr sz="1000">
              <a:solidFill>
                <a:schemeClr val="dk1"/>
              </a:solidFill>
              <a:highlight>
                <a:srgbClr val="FFFFFF"/>
              </a:highlight>
            </a:endParaRPr>
          </a:p>
          <a:p>
            <a:pPr marL="0" lvl="0" indent="0" algn="l" rtl="0">
              <a:spcBef>
                <a:spcPts val="0"/>
              </a:spcBef>
              <a:spcAft>
                <a:spcPts val="0"/>
              </a:spcAft>
              <a:buClr>
                <a:schemeClr val="dk1"/>
              </a:buClr>
              <a:buSzPts val="1100"/>
              <a:buFont typeface="Arial"/>
              <a:buNone/>
            </a:pPr>
            <a:r>
              <a:rPr lang="en" sz="1000">
                <a:solidFill>
                  <a:schemeClr val="dk1"/>
                </a:solidFill>
                <a:highlight>
                  <a:srgbClr val="FFFFFF"/>
                </a:highlight>
              </a:rPr>
              <a:t> </a:t>
            </a:r>
            <a:endParaRPr sz="1000">
              <a:solidFill>
                <a:schemeClr val="dk1"/>
              </a:solidFill>
              <a:highlight>
                <a:srgbClr val="FFFFFF"/>
              </a:highlight>
            </a:endParaRPr>
          </a:p>
          <a:p>
            <a:pPr marL="0" lvl="0" indent="0" algn="l" rtl="0">
              <a:spcBef>
                <a:spcPts val="0"/>
              </a:spcBef>
              <a:spcAft>
                <a:spcPts val="0"/>
              </a:spcAft>
              <a:buNone/>
            </a:pPr>
            <a:r>
              <a:rPr lang="en" sz="1000">
                <a:solidFill>
                  <a:schemeClr val="dk1"/>
                </a:solidFill>
                <a:highlight>
                  <a:srgbClr val="FFFFFF"/>
                </a:highlight>
              </a:rPr>
              <a:t>“LACK OF COMMUNITY DUE TO DISCRIMINATION”</a:t>
            </a:r>
            <a:endParaRPr sz="1000">
              <a:solidFill>
                <a:schemeClr val="dk1"/>
              </a:solidFill>
              <a:highlight>
                <a:srgbClr val="FFFFFF"/>
              </a:highlight>
            </a:endParaRPr>
          </a:p>
          <a:p>
            <a:pPr marL="0" lvl="0" indent="0" algn="l" rtl="0">
              <a:spcBef>
                <a:spcPts val="0"/>
              </a:spcBef>
              <a:spcAft>
                <a:spcPts val="0"/>
              </a:spcAft>
              <a:buNone/>
            </a:pPr>
            <a:endParaRPr sz="1000">
              <a:solidFill>
                <a:schemeClr val="dk1"/>
              </a:solidFill>
              <a:highlight>
                <a:srgbClr val="FFFFFF"/>
              </a:highlight>
            </a:endParaRPr>
          </a:p>
          <a:p>
            <a:pPr marL="0" lvl="0" indent="0" algn="l" rtl="0">
              <a:spcBef>
                <a:spcPts val="0"/>
              </a:spcBef>
              <a:spcAft>
                <a:spcPts val="0"/>
              </a:spcAft>
              <a:buClr>
                <a:schemeClr val="dk1"/>
              </a:buClr>
              <a:buSzPts val="1100"/>
              <a:buFont typeface="Arial"/>
              <a:buNone/>
            </a:pPr>
            <a:r>
              <a:rPr lang="en" sz="1000">
                <a:solidFill>
                  <a:schemeClr val="dk1"/>
                </a:solidFill>
                <a:highlight>
                  <a:srgbClr val="FFFFFF"/>
                </a:highlight>
              </a:rPr>
              <a:t>“I THINK THE BIGGEST CHALLENGE WILL BE STANDING UP FOR MYSELF.”</a:t>
            </a:r>
            <a:endParaRPr sz="1000">
              <a:solidFill>
                <a:schemeClr val="dk1"/>
              </a:solidFill>
              <a:highlight>
                <a:srgbClr val="FFFFFF"/>
              </a:highlight>
            </a:endParaRPr>
          </a:p>
          <a:p>
            <a:pPr marL="0" lvl="0" indent="0" algn="l" rtl="0">
              <a:spcBef>
                <a:spcPts val="0"/>
              </a:spcBef>
              <a:spcAft>
                <a:spcPts val="0"/>
              </a:spcAft>
              <a:buClr>
                <a:schemeClr val="dk1"/>
              </a:buClr>
              <a:buSzPts val="1100"/>
              <a:buFont typeface="Arial"/>
              <a:buNone/>
            </a:pPr>
            <a:endParaRPr sz="1100">
              <a:solidFill>
                <a:schemeClr val="dk1"/>
              </a:solidFill>
              <a:highlight>
                <a:srgbClr val="FFFFFF"/>
              </a:highlight>
            </a:endParaRPr>
          </a:p>
          <a:p>
            <a:pPr marL="0" lvl="0" indent="0" algn="l" rtl="0">
              <a:spcBef>
                <a:spcPts val="0"/>
              </a:spcBef>
              <a:spcAft>
                <a:spcPts val="0"/>
              </a:spcAft>
              <a:buClr>
                <a:schemeClr val="dk1"/>
              </a:buClr>
              <a:buSzPts val="1100"/>
              <a:buFont typeface="Arial"/>
              <a:buNone/>
            </a:pPr>
            <a:endParaRPr>
              <a:solidFill>
                <a:schemeClr val="dk1"/>
              </a:solidFill>
            </a:endParaRPr>
          </a:p>
        </p:txBody>
      </p:sp>
      <p:sp>
        <p:nvSpPr>
          <p:cNvPr id="195" name="Google Shape;195;p35"/>
          <p:cNvSpPr txBox="1">
            <a:spLocks noGrp="1"/>
          </p:cNvSpPr>
          <p:nvPr>
            <p:ph type="title"/>
          </p:nvPr>
        </p:nvSpPr>
        <p:spPr>
          <a:xfrm>
            <a:off x="181350" y="2873425"/>
            <a:ext cx="64860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990"/>
              <a:buFont typeface="Arial"/>
              <a:buNone/>
            </a:pPr>
            <a:r>
              <a:rPr lang="en" sz="1440">
                <a:highlight>
                  <a:srgbClr val="FFFFFF"/>
                </a:highlight>
              </a:rPr>
              <a:t>“</a:t>
            </a:r>
            <a:r>
              <a:rPr lang="en" sz="1440"/>
              <a:t>What are you most excited about college</a:t>
            </a:r>
            <a:r>
              <a:rPr lang="en" sz="1440">
                <a:highlight>
                  <a:srgbClr val="FFFFFF"/>
                </a:highlight>
              </a:rPr>
              <a:t>?”</a:t>
            </a:r>
            <a:endParaRPr sz="1440">
              <a:highlight>
                <a:srgbClr val="FFFFFF"/>
              </a:highlight>
            </a:endParaRPr>
          </a:p>
          <a:p>
            <a:pPr marL="0" lvl="0" indent="0" algn="l" rtl="0">
              <a:lnSpc>
                <a:spcPct val="115000"/>
              </a:lnSpc>
              <a:spcBef>
                <a:spcPts val="1800"/>
              </a:spcBef>
              <a:spcAft>
                <a:spcPts val="600"/>
              </a:spcAft>
              <a:buClr>
                <a:schemeClr val="dk1"/>
              </a:buClr>
              <a:buSzPts val="990"/>
              <a:buFont typeface="Arial"/>
              <a:buNone/>
            </a:pPr>
            <a:endParaRPr sz="1440">
              <a:highlight>
                <a:srgbClr val="FFFFFF"/>
              </a:highlight>
            </a:endParaRPr>
          </a:p>
        </p:txBody>
      </p:sp>
      <p:sp>
        <p:nvSpPr>
          <p:cNvPr id="196" name="Google Shape;196;p35"/>
          <p:cNvSpPr txBox="1"/>
          <p:nvPr/>
        </p:nvSpPr>
        <p:spPr>
          <a:xfrm>
            <a:off x="181350" y="877375"/>
            <a:ext cx="6292500" cy="725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a:solidFill>
                  <a:schemeClr val="dk1"/>
                </a:solidFill>
                <a:highlight>
                  <a:schemeClr val="lt1"/>
                </a:highlight>
              </a:rPr>
              <a:t>“What do you think is the biggest challenge you’ll face in college?”</a:t>
            </a:r>
            <a:endParaRPr>
              <a:solidFill>
                <a:schemeClr val="dk1"/>
              </a:solidFill>
            </a:endParaRPr>
          </a:p>
          <a:p>
            <a:pPr marL="0" lvl="0" indent="0" algn="l" rtl="0">
              <a:lnSpc>
                <a:spcPct val="115000"/>
              </a:lnSpc>
              <a:spcBef>
                <a:spcPts val="600"/>
              </a:spcBef>
              <a:spcAft>
                <a:spcPts val="0"/>
              </a:spcAft>
              <a:buNone/>
            </a:pPr>
            <a:endParaRPr>
              <a:solidFill>
                <a:schemeClr val="dk1"/>
              </a:solidFill>
            </a:endParaRPr>
          </a:p>
        </p:txBody>
      </p:sp>
      <p:sp>
        <p:nvSpPr>
          <p:cNvPr id="197" name="Google Shape;197;p35"/>
          <p:cNvSpPr txBox="1"/>
          <p:nvPr/>
        </p:nvSpPr>
        <p:spPr>
          <a:xfrm>
            <a:off x="346300" y="3202000"/>
            <a:ext cx="8351100" cy="1594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a:solidFill>
                  <a:schemeClr val="dk1"/>
                </a:solidFill>
              </a:rPr>
              <a:t>“BEING ABLE TO BUILD A COMMUNITY FOR MYSELF WHERE I TRULY FEEL THAT I BELONG.”</a:t>
            </a:r>
            <a:endParaRPr sz="1000">
              <a:solidFill>
                <a:schemeClr val="dk1"/>
              </a:solidFill>
            </a:endParaRPr>
          </a:p>
          <a:p>
            <a:pPr marL="0" lvl="0" indent="0" algn="l" rtl="0">
              <a:lnSpc>
                <a:spcPct val="115000"/>
              </a:lnSpc>
              <a:spcBef>
                <a:spcPts val="0"/>
              </a:spcBef>
              <a:spcAft>
                <a:spcPts val="0"/>
              </a:spcAft>
              <a:buNone/>
            </a:pPr>
            <a:endParaRPr sz="1000">
              <a:solidFill>
                <a:schemeClr val="dk1"/>
              </a:solidFill>
            </a:endParaRPr>
          </a:p>
          <a:p>
            <a:pPr marL="0" lvl="0" indent="0" algn="l" rtl="0">
              <a:lnSpc>
                <a:spcPct val="115000"/>
              </a:lnSpc>
              <a:spcBef>
                <a:spcPts val="0"/>
              </a:spcBef>
              <a:spcAft>
                <a:spcPts val="0"/>
              </a:spcAft>
              <a:buNone/>
            </a:pPr>
            <a:r>
              <a:rPr lang="en" sz="1000">
                <a:solidFill>
                  <a:schemeClr val="dk1"/>
                </a:solidFill>
              </a:rPr>
              <a:t>“I'M EXCITED TO BE MYSELF. I LIVE IN A HOUSE OF FIVE. I'M THE YOUNGEST OF MY THREE SIBLINGS, MEANING I'VE HAD TO SHARE A ROOM WITH MY 23 YEAR OLD SISTER SINCE I WAS BORN. I'VE NEVER HAD PRIVACY AND I NEVER FELT LIKE I COULD BE MYSELF. TO USE BROAD TERMS, I COULD NEVER PROPERLY EXPRESS MYSELF AS A GAY, TRANS TEEN. I CAN'T WAIT TO MAKE NEW FRIENDS AND ENJOY MY NEW FOUND INDEPENDENCE.</a:t>
            </a:r>
            <a:endParaRPr sz="1000">
              <a:solidFill>
                <a:schemeClr val="dk1"/>
              </a:solidFill>
            </a:endParaRPr>
          </a:p>
          <a:p>
            <a:pPr marL="0" lvl="0" indent="0" algn="l" rtl="0">
              <a:lnSpc>
                <a:spcPct val="115000"/>
              </a:lnSpc>
              <a:spcBef>
                <a:spcPts val="0"/>
              </a:spcBef>
              <a:spcAft>
                <a:spcPts val="0"/>
              </a:spcAft>
              <a:buNone/>
            </a:pPr>
            <a:endParaRPr sz="1000">
              <a:solidFill>
                <a:schemeClr val="dk1"/>
              </a:solidFill>
            </a:endParaRPr>
          </a:p>
          <a:p>
            <a:pPr marL="0" lvl="0" indent="0" algn="l" rtl="0">
              <a:lnSpc>
                <a:spcPct val="115000"/>
              </a:lnSpc>
              <a:spcBef>
                <a:spcPts val="0"/>
              </a:spcBef>
              <a:spcAft>
                <a:spcPts val="0"/>
              </a:spcAft>
              <a:buNone/>
            </a:pPr>
            <a:endParaRPr sz="1000">
              <a:solidFill>
                <a:schemeClr val="dk1"/>
              </a:solidFill>
            </a:endParaRPr>
          </a:p>
          <a:p>
            <a:pPr marL="0" lvl="0" indent="0" algn="l" rtl="0">
              <a:lnSpc>
                <a:spcPct val="115000"/>
              </a:lnSpc>
              <a:spcBef>
                <a:spcPts val="0"/>
              </a:spcBef>
              <a:spcAft>
                <a:spcPts val="0"/>
              </a:spcAft>
              <a:buNone/>
            </a:pPr>
            <a:r>
              <a:rPr lang="en" sz="1000">
                <a:solidFill>
                  <a:schemeClr val="dk1"/>
                </a:solidFill>
              </a:rPr>
              <a:t>“I’M [EXCITED] ABOUT MOVING FROM HOME AND WORKING TO ESTABLISH MY INDEPENDENCE.”</a:t>
            </a:r>
            <a:endParaRPr sz="1000">
              <a:solidFill>
                <a:schemeClr val="dk1"/>
              </a:solidFill>
            </a:endParaRPr>
          </a:p>
          <a:p>
            <a:pPr marL="0" lvl="0" indent="0" algn="l" rtl="0">
              <a:lnSpc>
                <a:spcPct val="115000"/>
              </a:lnSpc>
              <a:spcBef>
                <a:spcPts val="0"/>
              </a:spcBef>
              <a:spcAft>
                <a:spcPts val="0"/>
              </a:spcAft>
              <a:buNone/>
            </a:pPr>
            <a:endParaRPr sz="10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Key Takeaways</a:t>
            </a:r>
            <a:endParaRPr/>
          </a:p>
        </p:txBody>
      </p:sp>
      <p:sp>
        <p:nvSpPr>
          <p:cNvPr id="203" name="Google Shape;203;p36"/>
          <p:cNvSpPr txBox="1">
            <a:spLocks noGrp="1"/>
          </p:cNvSpPr>
          <p:nvPr>
            <p:ph type="body" idx="1"/>
          </p:nvPr>
        </p:nvSpPr>
        <p:spPr>
          <a:xfrm>
            <a:off x="311700" y="1152475"/>
            <a:ext cx="8520600" cy="37851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1000"/>
              </a:spcAft>
              <a:buClr>
                <a:schemeClr val="dk1"/>
              </a:buClr>
              <a:buSzPts val="1800"/>
              <a:buChar char="●"/>
            </a:pP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7"/>
          <p:cNvSpPr txBox="1">
            <a:spLocks noGrp="1"/>
          </p:cNvSpPr>
          <p:nvPr>
            <p:ph type="title"/>
          </p:nvPr>
        </p:nvSpPr>
        <p:spPr>
          <a:xfrm>
            <a:off x="311700" y="37370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t>Thank You!</a:t>
            </a:r>
            <a:endParaRPr b="1"/>
          </a:p>
        </p:txBody>
      </p:sp>
      <p:sp>
        <p:nvSpPr>
          <p:cNvPr id="209" name="Google Shape;209;p37"/>
          <p:cNvSpPr txBox="1">
            <a:spLocks noGrp="1"/>
          </p:cNvSpPr>
          <p:nvPr>
            <p:ph type="body" idx="1"/>
          </p:nvPr>
        </p:nvSpPr>
        <p:spPr>
          <a:xfrm>
            <a:off x="311700" y="1152475"/>
            <a:ext cx="8520600" cy="3785100"/>
          </a:xfrm>
          <a:prstGeom prst="rect">
            <a:avLst/>
          </a:prstGeom>
        </p:spPr>
        <p:txBody>
          <a:bodyPr spcFirstLastPara="1" wrap="square" lIns="91425" tIns="91425" rIns="91425" bIns="91425" anchor="t" anchorCtr="0">
            <a:normAutofit/>
          </a:bodyPr>
          <a:lstStyle/>
          <a:p>
            <a:pPr marL="342900" lvl="0" indent="-228600" algn="l" rtl="0">
              <a:spcBef>
                <a:spcPts val="0"/>
              </a:spcBef>
              <a:spcAft>
                <a:spcPts val="0"/>
              </a:spcAft>
              <a:buClr>
                <a:schemeClr val="dk1"/>
              </a:buClr>
              <a:buSzPts val="1800"/>
              <a:buChar char="●"/>
            </a:pPr>
            <a:r>
              <a:rPr lang="en" b="1">
                <a:solidFill>
                  <a:schemeClr val="dk1"/>
                </a:solidFill>
              </a:rPr>
              <a:t>California Education Lab</a:t>
            </a:r>
            <a:endParaRPr>
              <a:solidFill>
                <a:schemeClr val="dk1"/>
              </a:solidFill>
            </a:endParaRPr>
          </a:p>
          <a:p>
            <a:pPr marL="742950" lvl="1" indent="-203200" algn="l" rtl="0">
              <a:spcBef>
                <a:spcPts val="0"/>
              </a:spcBef>
              <a:spcAft>
                <a:spcPts val="0"/>
              </a:spcAft>
              <a:buClr>
                <a:schemeClr val="dk1"/>
              </a:buClr>
              <a:buSzPts val="1400"/>
              <a:buChar char="○"/>
            </a:pPr>
            <a:r>
              <a:rPr lang="en">
                <a:solidFill>
                  <a:schemeClr val="dk1"/>
                </a:solidFill>
              </a:rPr>
              <a:t>Elizabeth Friedmann</a:t>
            </a:r>
            <a:endParaRPr>
              <a:solidFill>
                <a:schemeClr val="dk1"/>
              </a:solidFill>
            </a:endParaRPr>
          </a:p>
          <a:p>
            <a:pPr marL="742950" lvl="1" indent="-203200" algn="l" rtl="0">
              <a:spcBef>
                <a:spcPts val="0"/>
              </a:spcBef>
              <a:spcAft>
                <a:spcPts val="0"/>
              </a:spcAft>
              <a:buClr>
                <a:schemeClr val="dk1"/>
              </a:buClr>
              <a:buSzPts val="1400"/>
              <a:buChar char="○"/>
            </a:pPr>
            <a:r>
              <a:rPr lang="en">
                <a:solidFill>
                  <a:schemeClr val="dk1"/>
                </a:solidFill>
              </a:rPr>
              <a:t>Sherrie Reed</a:t>
            </a:r>
            <a:endParaRPr>
              <a:solidFill>
                <a:schemeClr val="dk1"/>
              </a:solidFill>
            </a:endParaRPr>
          </a:p>
          <a:p>
            <a:pPr marL="742950" lvl="1" indent="-203200" algn="l" rtl="0">
              <a:spcBef>
                <a:spcPts val="0"/>
              </a:spcBef>
              <a:spcAft>
                <a:spcPts val="0"/>
              </a:spcAft>
              <a:buClr>
                <a:schemeClr val="dk1"/>
              </a:buClr>
              <a:buSzPts val="1400"/>
              <a:buChar char="○"/>
            </a:pPr>
            <a:r>
              <a:rPr lang="en">
                <a:solidFill>
                  <a:schemeClr val="dk1"/>
                </a:solidFill>
              </a:rPr>
              <a:t>Paco Martorell</a:t>
            </a:r>
            <a:endParaRPr>
              <a:solidFill>
                <a:schemeClr val="dk1"/>
              </a:solidFill>
            </a:endParaRPr>
          </a:p>
          <a:p>
            <a:pPr marL="742950" lvl="1" indent="-203200" algn="l" rtl="0">
              <a:spcBef>
                <a:spcPts val="0"/>
              </a:spcBef>
              <a:spcAft>
                <a:spcPts val="0"/>
              </a:spcAft>
              <a:buClr>
                <a:schemeClr val="dk1"/>
              </a:buClr>
              <a:buSzPts val="1400"/>
              <a:buChar char="○"/>
            </a:pPr>
            <a:r>
              <a:rPr lang="en">
                <a:solidFill>
                  <a:schemeClr val="dk1"/>
                </a:solidFill>
              </a:rPr>
              <a:t>Scott Carrell</a:t>
            </a:r>
            <a:endParaRPr>
              <a:solidFill>
                <a:schemeClr val="dk1"/>
              </a:solidFill>
            </a:endParaRPr>
          </a:p>
          <a:p>
            <a:pPr marL="342900" lvl="0" indent="-228600" algn="l" rtl="0">
              <a:spcBef>
                <a:spcPts val="1000"/>
              </a:spcBef>
              <a:spcAft>
                <a:spcPts val="0"/>
              </a:spcAft>
              <a:buClr>
                <a:schemeClr val="dk1"/>
              </a:buClr>
              <a:buSzPts val="1800"/>
              <a:buChar char="●"/>
            </a:pPr>
            <a:r>
              <a:rPr lang="en" b="1">
                <a:solidFill>
                  <a:schemeClr val="dk1"/>
                </a:solidFill>
              </a:rPr>
              <a:t>California Student Aid Commission</a:t>
            </a:r>
            <a:endParaRPr b="1">
              <a:solidFill>
                <a:schemeClr val="dk1"/>
              </a:solidFill>
            </a:endParaRPr>
          </a:p>
          <a:p>
            <a:pPr marL="742950" lvl="1" indent="-203200" algn="l" rtl="0">
              <a:spcBef>
                <a:spcPts val="0"/>
              </a:spcBef>
              <a:spcAft>
                <a:spcPts val="0"/>
              </a:spcAft>
              <a:buClr>
                <a:schemeClr val="dk1"/>
              </a:buClr>
              <a:buSzPts val="1400"/>
              <a:buChar char="○"/>
            </a:pPr>
            <a:r>
              <a:rPr lang="en">
                <a:solidFill>
                  <a:schemeClr val="dk1"/>
                </a:solidFill>
              </a:rPr>
              <a:t>Marlene Garcia</a:t>
            </a:r>
            <a:endParaRPr>
              <a:solidFill>
                <a:schemeClr val="dk1"/>
              </a:solidFill>
            </a:endParaRPr>
          </a:p>
          <a:p>
            <a:pPr marL="742950" lvl="1" indent="-203200" algn="l" rtl="0">
              <a:spcBef>
                <a:spcPts val="0"/>
              </a:spcBef>
              <a:spcAft>
                <a:spcPts val="0"/>
              </a:spcAft>
              <a:buClr>
                <a:schemeClr val="dk1"/>
              </a:buClr>
              <a:buSzPts val="1400"/>
              <a:buChar char="○"/>
            </a:pPr>
            <a:r>
              <a:rPr lang="en">
                <a:solidFill>
                  <a:schemeClr val="dk1"/>
                </a:solidFill>
              </a:rPr>
              <a:t>Jessica Moldoff</a:t>
            </a:r>
            <a:endParaRPr>
              <a:solidFill>
                <a:schemeClr val="dk1"/>
              </a:solidFill>
            </a:endParaRPr>
          </a:p>
          <a:p>
            <a:pPr marL="742950" lvl="1" indent="-203200" algn="l" rtl="0">
              <a:spcBef>
                <a:spcPts val="0"/>
              </a:spcBef>
              <a:spcAft>
                <a:spcPts val="0"/>
              </a:spcAft>
              <a:buClr>
                <a:schemeClr val="dk1"/>
              </a:buClr>
              <a:buSzPts val="1400"/>
              <a:buChar char="○"/>
            </a:pPr>
            <a:r>
              <a:rPr lang="en">
                <a:solidFill>
                  <a:schemeClr val="dk1"/>
                </a:solidFill>
              </a:rPr>
              <a:t>Ryan Fuller</a:t>
            </a:r>
            <a:endParaRPr>
              <a:solidFill>
                <a:schemeClr val="dk1"/>
              </a:solidFill>
            </a:endParaRPr>
          </a:p>
          <a:p>
            <a:pPr marL="457200" lvl="0" indent="0" algn="l" rtl="0">
              <a:spcBef>
                <a:spcPts val="0"/>
              </a:spcBef>
              <a:spcAft>
                <a:spcPts val="0"/>
              </a:spcAft>
              <a:buNone/>
            </a:pPr>
            <a:endParaRPr>
              <a:solidFill>
                <a:schemeClr val="dk1"/>
              </a:solidFill>
            </a:endParaRPr>
          </a:p>
        </p:txBody>
      </p:sp>
      <p:sp>
        <p:nvSpPr>
          <p:cNvPr id="210" name="Google Shape;210;p37"/>
          <p:cNvSpPr txBox="1"/>
          <p:nvPr/>
        </p:nvSpPr>
        <p:spPr>
          <a:xfrm>
            <a:off x="205200" y="3724875"/>
            <a:ext cx="8733600" cy="1305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800"/>
              </a:spcAft>
              <a:buNone/>
            </a:pPr>
            <a:r>
              <a:rPr lang="en" sz="1300" i="1">
                <a:solidFill>
                  <a:schemeClr val="dk1"/>
                </a:solidFill>
                <a:latin typeface="Calibri"/>
                <a:ea typeface="Calibri"/>
                <a:cs typeface="Calibri"/>
                <a:sym typeface="Calibri"/>
              </a:rPr>
              <a:t>This research was supported by the College Futures Foundation and conducted in partnership with the California Student Aid Commission. </a:t>
            </a:r>
            <a:r>
              <a:rPr lang="en" sz="1300" i="1">
                <a:solidFill>
                  <a:schemeClr val="dk1"/>
                </a:solidFill>
                <a:highlight>
                  <a:srgbClr val="FFFFFF"/>
                </a:highlight>
                <a:latin typeface="Calibri"/>
                <a:ea typeface="Calibri"/>
                <a:cs typeface="Calibri"/>
                <a:sym typeface="Calibri"/>
              </a:rPr>
              <a:t>The authors are also grateful for ongoing support from the Stuart Foundation to the California Education Lab.</a:t>
            </a:r>
            <a:r>
              <a:rPr lang="en" sz="1000">
                <a:solidFill>
                  <a:schemeClr val="dk1"/>
                </a:solidFill>
                <a:highlight>
                  <a:srgbClr val="FFFFFF"/>
                </a:highlight>
                <a:latin typeface="Calibri"/>
                <a:ea typeface="Calibri"/>
                <a:cs typeface="Calibri"/>
                <a:sym typeface="Calibri"/>
              </a:rPr>
              <a:t> </a:t>
            </a:r>
            <a:r>
              <a:rPr lang="en" sz="1300" i="1">
                <a:solidFill>
                  <a:schemeClr val="dk1"/>
                </a:solidFill>
                <a:latin typeface="Calibri"/>
                <a:ea typeface="Calibri"/>
                <a:cs typeface="Calibri"/>
                <a:sym typeface="Calibri"/>
              </a:rPr>
              <a:t>The California Education Lab at the University of California, Davis and Policy Analysis for California Education are also thankful for research dissemination support from the Bill &amp; Melinda Gates Foundation. The findings and conclusions here are those of the authors alone and do not necessarily reflect the positions or policies of the funders or of the California Student Aid Commission.</a:t>
            </a:r>
            <a:endParaRPr sz="1300" i="1">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1270</Words>
  <Application>Microsoft Macintosh PowerPoint</Application>
  <PresentationFormat>On-screen Show (16:9)</PresentationFormat>
  <Paragraphs>107</Paragraphs>
  <Slides>25</Slides>
  <Notes>25</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Simple Light</vt:lpstr>
      <vt:lpstr>Challenges and Disparities Faced by LGBTQ+ Students in the Transition to College</vt:lpstr>
      <vt:lpstr>Overview</vt:lpstr>
      <vt:lpstr>Motivation</vt:lpstr>
      <vt:lpstr>Prior Research</vt:lpstr>
      <vt:lpstr>Context</vt:lpstr>
      <vt:lpstr>Research Questions  </vt:lpstr>
      <vt:lpstr>Contributions</vt:lpstr>
      <vt:lpstr>Methodology</vt:lpstr>
      <vt:lpstr>Data</vt:lpstr>
      <vt:lpstr>Survey Instrument: Gender Identity </vt:lpstr>
      <vt:lpstr>Survey Instrument: Sexual Orientation</vt:lpstr>
      <vt:lpstr>Gender and sexuality diversity</vt:lpstr>
      <vt:lpstr>Result 1: Transgender students and gender diverse students more likely to report having a Poor or Fair social experience in high school.</vt:lpstr>
      <vt:lpstr>Result 2: Gender and sexual minority students are less likely to report a sense of belonging in their high school community.</vt:lpstr>
      <vt:lpstr>Result 3: Transgender students are the most likely to have been bullied in the last 12 months.  Cisgender and straight students are least likely to be bullied.</vt:lpstr>
      <vt:lpstr>Result 4: Of the students report being bullied, transgender students are exclusively bullied because of gender or sexual orientation. </vt:lpstr>
      <vt:lpstr>Plans for College: Major</vt:lpstr>
      <vt:lpstr>Educational Aspirations</vt:lpstr>
      <vt:lpstr>Worries about College: Discrimination on Gender</vt:lpstr>
      <vt:lpstr>Worries about College: Discrimination on Sexuality</vt:lpstr>
      <vt:lpstr>Worries about College: Finding Community</vt:lpstr>
      <vt:lpstr>Worries about College: Support</vt:lpstr>
      <vt:lpstr>Student Voice</vt:lpstr>
      <vt:lpstr>Key Takeaways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and Disparities Faced by LGBTQ+ Students in the Transition to College</dc:title>
  <cp:lastModifiedBy>Christina Sun</cp:lastModifiedBy>
  <cp:revision>1</cp:revision>
  <dcterms:modified xsi:type="dcterms:W3CDTF">2024-03-01T07:37:00Z</dcterms:modified>
</cp:coreProperties>
</file>