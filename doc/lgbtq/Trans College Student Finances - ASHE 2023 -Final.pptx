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3.xml" ContentType="application/vnd.openxmlformats-officedocument.themeOverride+xml"/>
  <Override PartName="/ppt/notesSlides/notesSlide12.xml" ContentType="application/vnd.openxmlformats-officedocument.presentationml.notesSlide+xml"/>
  <Override PartName="/ppt/theme/themeOverride4.xml" ContentType="application/vnd.openxmlformats-officedocument.themeOverride+xml"/>
  <Override PartName="/ppt/notesSlides/notesSlide13.xml" ContentType="application/vnd.openxmlformats-officedocument.presentationml.notesSlide+xml"/>
  <Override PartName="/ppt/theme/themeOverride5.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6.xml" ContentType="application/vnd.openxmlformats-officedocument.themeOverride+xml"/>
  <Override PartName="/ppt/notesSlides/notesSlide16.xml" ContentType="application/vnd.openxmlformats-officedocument.presentationml.notesSlide+xml"/>
  <Override PartName="/ppt/theme/themeOverride7.xml" ContentType="application/vnd.openxmlformats-officedocument.themeOverride+xml"/>
  <Override PartName="/ppt/notesSlides/notesSlide17.xml" ContentType="application/vnd.openxmlformats-officedocument.presentationml.notesSlide+xml"/>
  <Override PartName="/ppt/theme/themeOverride8.xml" ContentType="application/vnd.openxmlformats-officedocument.themeOverr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embeddedFontLst>
    <p:embeddedFont>
      <p:font typeface="Calibri" panose="020F0502020204030204" pitchFamily="34" charset="0"/>
      <p:regular r:id="rId22"/>
      <p:bold r:id="rId23"/>
      <p:italic r:id="rId24"/>
      <p:boldItalic r:id="rId25"/>
    </p:embeddedFont>
    <p:embeddedFont>
      <p:font typeface="Corbel" panose="020B0503020204020204" pitchFamily="34" charset="0"/>
      <p:regular r:id="rId26"/>
      <p:bold r:id="rId27"/>
      <p:italic r:id="rId28"/>
      <p:boldItalic r:id="rId29"/>
    </p:embeddedFont>
    <p:embeddedFont>
      <p:font typeface="Helvetica Neue"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SGtHyNaHP4LZ+bFqQskIiI9jG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926A8E-DED6-4407-9E19-FF2FEEB34DA9}">
  <a:tblStyle styleId="{EE926A8E-DED6-4407-9E19-FF2FEEB34DA9}" styleName="Table_0">
    <a:wholeTbl>
      <a:tcTxStyle b="off" i="off">
        <a:font>
          <a:latin typeface="Corbel"/>
          <a:ea typeface="Corbel"/>
          <a:cs typeface="Corbel"/>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F1ECF5"/>
          </a:solidFill>
        </a:fill>
      </a:tcStyle>
    </a:wholeTbl>
    <a:band1H>
      <a:tcTxStyle/>
      <a:tcStyle>
        <a:tcBdr/>
        <a:fill>
          <a:solidFill>
            <a:srgbClr val="E2D8EA"/>
          </a:solidFill>
        </a:fill>
      </a:tcStyle>
    </a:band1H>
    <a:band2H>
      <a:tcTxStyle/>
      <a:tcStyle>
        <a:tcBdr/>
      </a:tcStyle>
    </a:band2H>
    <a:band1V>
      <a:tcTxStyle/>
      <a:tcStyle>
        <a:tcBdr/>
        <a:fill>
          <a:solidFill>
            <a:srgbClr val="E2D8E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F1ECF5"/>
          </a:solidFill>
        </a:fill>
      </a:tcStyle>
    </a:lastRow>
    <a:seCell>
      <a:tcTxStyle/>
      <a:tcStyle>
        <a:tcBdr/>
      </a:tcStyle>
    </a:seCell>
    <a:swCell>
      <a:tcTxStyle/>
      <a:tcStyle>
        <a:tcBdr/>
      </a:tcStyle>
    </a:swCell>
    <a:firstRow>
      <a:tcTxStyle b="on" i="off"/>
      <a:tcStyle>
        <a:tcBdr/>
        <a:fill>
          <a:solidFill>
            <a:srgbClr val="F1ECF5"/>
          </a:solidFill>
        </a:fill>
      </a:tcStyle>
    </a:firstRow>
    <a:neCell>
      <a:tcTxStyle/>
      <a:tcStyle>
        <a:tcBdr/>
      </a:tcStyle>
    </a:neCell>
    <a:nwCell>
      <a:tcTxStyle/>
      <a:tcStyle>
        <a:tcBdr/>
      </a:tcStyle>
    </a:nwCell>
  </a:tblStyle>
  <a:tblStyle styleId="{35D8BBFA-5BA8-430F-A8D3-8085BB2CE77E}" styleName="Table_1">
    <a:wholeTbl>
      <a:tcTxStyle b="off" i="off">
        <a:font>
          <a:latin typeface="Corbel"/>
          <a:ea typeface="Corbel"/>
          <a:cs typeface="Corbe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1ECF5"/>
          </a:solidFill>
        </a:fill>
      </a:tcStyle>
    </a:wholeTbl>
    <a:band1H>
      <a:tcTxStyle/>
      <a:tcStyle>
        <a:tcBdr/>
        <a:fill>
          <a:solidFill>
            <a:srgbClr val="E2D8EA"/>
          </a:solidFill>
        </a:fill>
      </a:tcStyle>
    </a:band1H>
    <a:band2H>
      <a:tcTxStyle/>
      <a:tcStyle>
        <a:tcBdr/>
      </a:tcStyle>
    </a:band2H>
    <a:band1V>
      <a:tcTxStyle/>
      <a:tcStyle>
        <a:tcBdr/>
        <a:fill>
          <a:solidFill>
            <a:srgbClr val="E2D8EA"/>
          </a:solidFill>
        </a:fill>
      </a:tcStyle>
    </a:band1V>
    <a:band2V>
      <a:tcTxStyle/>
      <a:tcStyle>
        <a:tcBdr/>
      </a:tcStyle>
    </a:band2V>
    <a:lastCol>
      <a:tcTxStyle b="on" i="off">
        <a:font>
          <a:latin typeface="Corbel"/>
          <a:ea typeface="Corbel"/>
          <a:cs typeface="Corbel"/>
        </a:font>
        <a:schemeClr val="lt1"/>
      </a:tcTxStyle>
      <a:tcStyle>
        <a:tcBdr/>
        <a:fill>
          <a:solidFill>
            <a:schemeClr val="accent1"/>
          </a:solidFill>
        </a:fill>
      </a:tcStyle>
    </a:lastCol>
    <a:firstCol>
      <a:tcTxStyle b="on" i="off">
        <a:font>
          <a:latin typeface="Corbel"/>
          <a:ea typeface="Corbel"/>
          <a:cs typeface="Corbel"/>
        </a:font>
        <a:schemeClr val="lt1"/>
      </a:tcTxStyle>
      <a:tcStyle>
        <a:tcBdr/>
        <a:fill>
          <a:solidFill>
            <a:schemeClr val="accent1"/>
          </a:solidFill>
        </a:fill>
      </a:tcStyle>
    </a:firstCol>
    <a:lastRow>
      <a:tcTxStyle b="on" i="off">
        <a:font>
          <a:latin typeface="Corbel"/>
          <a:ea typeface="Corbel"/>
          <a:cs typeface="Corbe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orbel"/>
          <a:ea typeface="Corbel"/>
          <a:cs typeface="Corbe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7" d="100"/>
          <a:sy n="147" d="100"/>
        </p:scale>
        <p:origin x="12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21" Type="http://schemas.openxmlformats.org/officeDocument/2006/relationships/notesMaster" Target="notesMasters/notesMaster1.xml"/><Relationship Id="rId34"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higher education increasingly has become less affordable, leaving students to patch together resources and rely on family for financial support</a:t>
            </a:r>
            <a:endParaRPr/>
          </a:p>
          <a:p>
            <a:pPr marL="0" lvl="0" indent="0" algn="l" rtl="0">
              <a:spcBef>
                <a:spcPts val="0"/>
              </a:spcBef>
              <a:spcAft>
                <a:spcPts val="0"/>
              </a:spcAft>
              <a:buNone/>
            </a:pPr>
            <a:r>
              <a:rPr lang="en-US"/>
              <a:t>trans students have been rarely centered in this research</a:t>
            </a:r>
            <a:endParaRPr/>
          </a:p>
          <a:p>
            <a:pPr marL="0" lvl="0" indent="0" algn="l" rtl="0">
              <a:spcBef>
                <a:spcPts val="0"/>
              </a:spcBef>
              <a:spcAft>
                <a:spcPts val="0"/>
              </a:spcAft>
              <a:buNone/>
            </a:pPr>
            <a:r>
              <a:rPr lang="en-US"/>
              <a:t>trans students often have to face rejecting parents, which impacts their capacity to afford and access college</a:t>
            </a:r>
            <a:endParaRPr/>
          </a:p>
        </p:txBody>
      </p:sp>
      <p:sp>
        <p:nvSpPr>
          <p:cNvPr id="112" name="Google Shape;11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SzPts val="1400"/>
              <a:buAutoNum type="arabicPeriod"/>
            </a:pPr>
            <a:r>
              <a:rPr lang="en-US"/>
              <a:t>Applicants often patch together aid to afford college: including filling out the highly complicated FAFSA (which is not applicable to international or undocumented students); applying for state, local, or institution-sponsored grants that may be need-based (e.g., Pell Grant), merit-based, or based on other criteria (e.g., community service or athletics); subsidized and unsubsidized loans; and personal and family financial contributions. Though the FAFSA determines how much financial aid a student qualifies for based on their family income and assets, this estimate may be grossly underestimated given the additional costs affiliated with attending college (Conroy et al., 2021). </a:t>
            </a:r>
            <a:endParaRPr/>
          </a:p>
          <a:p>
            <a:pPr marL="457200" lvl="0" indent="-317500" algn="l" rtl="0">
              <a:spcBef>
                <a:spcPts val="0"/>
              </a:spcBef>
              <a:spcAft>
                <a:spcPts val="0"/>
              </a:spcAft>
              <a:buSzPts val="1400"/>
              <a:buAutoNum type="arabicPeriod"/>
            </a:pPr>
            <a:r>
              <a:rPr lang="en-US"/>
              <a:t>Students often report not knowing how they will fund their college experience, which causes them anxiety about affordability and college access (Reavis, 2022). Students with higher financial literacy and knowledge tend to be less averse to taking on loans for education (Boatman &amp; Evans, 2017). Additionally, people who were less likely to enroll in college have been found to be more loan averse (Boatman et al., 2017). Trans college students have lower financial knowledge, optimism, and self-efficacy and higher financial strain than their cis peers (Rehr &amp; Regan, 2022; White et al., 2022). Additionally, Lange and colleagues (2022) highlighted that higher financial strain for trans students leads to college-going decisions based on the aid packages offered by institutions. Therefore, financial knowledge is critical for college choice, access, and enrollment decision-making.</a:t>
            </a:r>
            <a:endParaRPr/>
          </a:p>
          <a:p>
            <a:pPr marL="457200" lvl="0" indent="-317500" algn="l" rtl="0">
              <a:spcBef>
                <a:spcPts val="0"/>
              </a:spcBef>
              <a:spcAft>
                <a:spcPts val="0"/>
              </a:spcAft>
              <a:buSzPts val="1400"/>
              <a:buAutoNum type="arabicPeriod"/>
            </a:pPr>
            <a:r>
              <a:rPr lang="en-US"/>
              <a:t>With rising enrollment costs, family contributions are critical for students’ ability to pay for and access college (Rowan-Kenyon et al., 2008). However, trans youth navigate complicated relationships with their families, as many have to choose between closeting their trans identity or risking homelessness and financial ruin (Burns, 2011). </a:t>
            </a:r>
            <a:endParaRPr/>
          </a:p>
          <a:p>
            <a:pPr marL="457200" lvl="0" indent="-317500" algn="l" rtl="0">
              <a:spcBef>
                <a:spcPts val="0"/>
              </a:spcBef>
              <a:spcAft>
                <a:spcPts val="0"/>
              </a:spcAft>
              <a:buSzPts val="1400"/>
              <a:buAutoNum type="arabicPeriod"/>
            </a:pPr>
            <a:r>
              <a:rPr lang="en-US"/>
              <a:t>Many trans youth fear family rejection based on their gender identities, leading to many closeting themselves at home out of fear of being disowned financially (Schmitz &amp; Tyler, 2018b). Trans youth often use identity management strategies when navigating their family, selectively and intentionally choosing to conceal, mask, or disclose their identities when they deem safe (Schmitz &amp; Tyler, 2018a). Family reactions to their child’s queer or trans identity transcended the impact of socioeconomic status in students’ likelihood of facing homelessness or navigating college (Schmitz &amp; Tyler, 2018b). Therefore, rejecting parents who claim their trans children as legal dependents can prevent them from qualifying for college aid (Burns, 2011). A trans dependent enduring family rejection often cannot rely on a parent or guardian to sign their FAFSA, which denies them access to federal aid (Burns, 2011). Even if these parents fill out the required financial income and assets and sign the form, the FAFSA process assumes that students have access to parents’ resources. However, transphobic parents may withhold financial resources from trans youth; therefore, the aid the federal government offers the student is likely sufficient (Burns, 2011).</a:t>
            </a:r>
            <a:endParaRPr/>
          </a:p>
        </p:txBody>
      </p:sp>
      <p:sp>
        <p:nvSpPr>
          <p:cNvPr id="120" name="Google Shape;12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17500" algn="l" rtl="0">
              <a:spcBef>
                <a:spcPts val="0"/>
              </a:spcBef>
              <a:spcAft>
                <a:spcPts val="0"/>
              </a:spcAft>
              <a:buSzPts val="1400"/>
              <a:buAutoNum type="arabicPeriod"/>
            </a:pPr>
            <a:r>
              <a:rPr lang="en-US"/>
              <a:t>Contextualizing students’ of color tuition costs, less their financial aid and family resources, Perna’s (2000) model considered students’ expected future benefits, such as post-baccalaureate earning potential. Further, Perna (2000) measured students’ academic preparation and social and cultural capital, which was operationalized through high school qualities, parental encouragement and involvement in the student’s education, parents’ education backgrounds, support from school personnel and others, and students’ preparation for college admissions tests. Perna (2000) found significant differences among White, Black, and Latinx students’ college-going decision-making, and accounting for social and cultural capital gave the model more explanatory power. </a:t>
            </a:r>
            <a:endParaRPr/>
          </a:p>
          <a:p>
            <a:pPr marL="457200" lvl="0" indent="-317500" algn="l" rtl="0">
              <a:spcBef>
                <a:spcPts val="0"/>
              </a:spcBef>
              <a:spcAft>
                <a:spcPts val="0"/>
              </a:spcAft>
              <a:buSzPts val="1400"/>
              <a:buAutoNum type="arabicPeriod"/>
            </a:pPr>
            <a:r>
              <a:rPr lang="en-US"/>
              <a:t>Through the lens of Perna’s (2000) model, we also consider whether students plan to take on debt. Some students may be willing to take out loans and accrue debt, viewing it as an investment that will return higher benefits in the future, while other students may not have the same faith in college as worth the risk associated with student loans. Family support and resources play important roles in this process, as the information they provide regarding financial resources, as well as actual financial support and opportunity may have significant impacts on how students finance their education and if they attend at all. We recognize that financial access, especially based on parent and family income and assets or debts, may not depict the full story for trans high schoolers who have fraught family relationships or have been financially disowned</a:t>
            </a:r>
            <a:endParaRPr/>
          </a:p>
          <a:p>
            <a:pPr marL="457200" lvl="0" indent="-317500" algn="l" rtl="0">
              <a:spcBef>
                <a:spcPts val="0"/>
              </a:spcBef>
              <a:spcAft>
                <a:spcPts val="0"/>
              </a:spcAft>
              <a:buSzPts val="1400"/>
              <a:buAutoNum type="arabicPeriod"/>
            </a:pPr>
            <a:r>
              <a:rPr lang="en-US"/>
              <a:t>Challenging the embedded normativity and assumed privileges in traditional college choice and enrollment frameworks, Iloh (2019) developed a model primarily centering BIPOC, lower income, and first-generation students. She recognized that choice is a fraught concept, given that often students make college-going decisions based on their access to time, information about college, and opportunities. The concept of time contains micro time (e.g., immediate events) and macro time (what takes place throughout one’s life course). Students and families’ access to information about college admissions and applications, the FAFSA and financial aid, and even knowing someone who attends or attended college is important for considering and valuing college as a next step. Finally, opportunities include what students and families are exposed to, the availability of wealth or resources, mobility, and community support.</a:t>
            </a:r>
            <a:endParaRPr/>
          </a:p>
          <a:p>
            <a:pPr marL="457200" lvl="0" indent="-317500" algn="l" rtl="0">
              <a:spcBef>
                <a:spcPts val="0"/>
              </a:spcBef>
              <a:spcAft>
                <a:spcPts val="0"/>
              </a:spcAft>
              <a:buSzPts val="1400"/>
              <a:buAutoNum type="arabicPeriod"/>
            </a:pPr>
            <a:r>
              <a:rPr lang="en-US"/>
              <a:t>Applying Iloh’s (2019) model, we conceptualize trans students’ awareness of financial aid as access to information and their family support as opportunities, without which they may struggle to not only finance college but may impact their access to and success within higher education. </a:t>
            </a:r>
            <a:endParaRPr/>
          </a:p>
        </p:txBody>
      </p:sp>
      <p:sp>
        <p:nvSpPr>
          <p:cNvPr id="128" name="Google Shape;12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79c44e2a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979c44e2a8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2979c44e2a8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979c44e2a8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979c44e2a8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2979c44e2a8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8"/>
          <p:cNvSpPr/>
          <p:nvPr/>
        </p:nvSpPr>
        <p:spPr>
          <a:xfrm>
            <a:off x="231140" y="243840"/>
            <a:ext cx="11724640" cy="6377939"/>
          </a:xfrm>
          <a:prstGeom prst="rect">
            <a:avLst/>
          </a:prstGeom>
          <a:solidFill>
            <a:schemeClr val="accent1"/>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8"/>
          <p:cNvSpPr txBox="1">
            <a:spLocks noGrp="1"/>
          </p:cNvSpPr>
          <p:nvPr>
            <p:ph type="ctrTitle"/>
          </p:nvPr>
        </p:nvSpPr>
        <p:spPr>
          <a:xfrm>
            <a:off x="1109980" y="882376"/>
            <a:ext cx="9966960" cy="2926080"/>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rgbClr val="FFFFFF"/>
              </a:buClr>
              <a:buSzPts val="7200"/>
              <a:buFont typeface="Corbel"/>
              <a:buNone/>
              <a:defRPr sz="7200" b="1"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subTitle" idx="1"/>
          </p:nvPr>
        </p:nvSpPr>
        <p:spPr>
          <a:xfrm>
            <a:off x="1709530" y="3869634"/>
            <a:ext cx="8767860" cy="138816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00"/>
              </a:spcBef>
              <a:spcAft>
                <a:spcPts val="0"/>
              </a:spcAft>
              <a:buSzPts val="1760"/>
              <a:buNone/>
              <a:defRPr sz="2200">
                <a:solidFill>
                  <a:srgbClr val="FFFFFF"/>
                </a:solidFill>
              </a:defRPr>
            </a:lvl1pPr>
            <a:lvl2pPr lvl="1" algn="ctr">
              <a:lnSpc>
                <a:spcPct val="90000"/>
              </a:lnSpc>
              <a:spcBef>
                <a:spcPts val="200"/>
              </a:spcBef>
              <a:spcAft>
                <a:spcPts val="0"/>
              </a:spcAft>
              <a:buSzPts val="1760"/>
              <a:buNone/>
              <a:defRPr sz="2200"/>
            </a:lvl2pPr>
            <a:lvl3pPr lvl="2" algn="ctr">
              <a:lnSpc>
                <a:spcPct val="90000"/>
              </a:lnSpc>
              <a:spcBef>
                <a:spcPts val="400"/>
              </a:spcBef>
              <a:spcAft>
                <a:spcPts val="0"/>
              </a:spcAft>
              <a:buSzPts val="1760"/>
              <a:buNone/>
              <a:defRPr sz="2200"/>
            </a:lvl3pPr>
            <a:lvl4pPr lvl="3" algn="ctr">
              <a:lnSpc>
                <a:spcPct val="90000"/>
              </a:lnSpc>
              <a:spcBef>
                <a:spcPts val="400"/>
              </a:spcBef>
              <a:spcAft>
                <a:spcPts val="0"/>
              </a:spcAft>
              <a:buSzPts val="1600"/>
              <a:buNone/>
              <a:defRPr sz="2000"/>
            </a:lvl4pPr>
            <a:lvl5pPr lvl="4" algn="ctr">
              <a:lnSpc>
                <a:spcPct val="90000"/>
              </a:lnSpc>
              <a:spcBef>
                <a:spcPts val="400"/>
              </a:spcBef>
              <a:spcAft>
                <a:spcPts val="0"/>
              </a:spcAft>
              <a:buSzPts val="1600"/>
              <a:buNone/>
              <a:defRPr sz="2000"/>
            </a:lvl5pPr>
            <a:lvl6pPr lvl="5" algn="ctr">
              <a:lnSpc>
                <a:spcPct val="90000"/>
              </a:lnSpc>
              <a:spcBef>
                <a:spcPts val="400"/>
              </a:spcBef>
              <a:spcAft>
                <a:spcPts val="0"/>
              </a:spcAft>
              <a:buSzPts val="1600"/>
              <a:buNone/>
              <a:defRPr sz="2000"/>
            </a:lvl6pPr>
            <a:lvl7pPr lvl="6" algn="ctr">
              <a:lnSpc>
                <a:spcPct val="90000"/>
              </a:lnSpc>
              <a:spcBef>
                <a:spcPts val="400"/>
              </a:spcBef>
              <a:spcAft>
                <a:spcPts val="0"/>
              </a:spcAft>
              <a:buSzPts val="1600"/>
              <a:buNone/>
              <a:defRPr sz="2000"/>
            </a:lvl7pPr>
            <a:lvl8pPr lvl="7" algn="ctr">
              <a:lnSpc>
                <a:spcPct val="90000"/>
              </a:lnSpc>
              <a:spcBef>
                <a:spcPts val="400"/>
              </a:spcBef>
              <a:spcAft>
                <a:spcPts val="0"/>
              </a:spcAft>
              <a:buSzPts val="1600"/>
              <a:buNone/>
              <a:defRPr sz="2000"/>
            </a:lvl8pPr>
            <a:lvl9pPr lvl="8" algn="ctr">
              <a:lnSpc>
                <a:spcPct val="90000"/>
              </a:lnSpc>
              <a:spcBef>
                <a:spcPts val="400"/>
              </a:spcBef>
              <a:spcAft>
                <a:spcPts val="400"/>
              </a:spcAft>
              <a:buSzPts val="1600"/>
              <a:buNone/>
              <a:defRPr sz="2000"/>
            </a:lvl9pPr>
          </a:lstStyle>
          <a:p>
            <a:endParaRPr/>
          </a:p>
        </p:txBody>
      </p:sp>
      <p:sp>
        <p:nvSpPr>
          <p:cNvPr id="20" name="Google Shape;20;p18"/>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FFFFFF"/>
                </a:solidFill>
                <a:latin typeface="Corbel"/>
                <a:ea typeface="Corbel"/>
                <a:cs typeface="Corbel"/>
                <a:sym typeface="Corbel"/>
              </a:defRPr>
            </a:lvl1pPr>
            <a:lvl2pPr marL="0" lvl="1" indent="0" algn="r">
              <a:spcBef>
                <a:spcPts val="0"/>
              </a:spcBef>
              <a:buNone/>
              <a:defRPr sz="1200" b="0" i="0" u="none" strike="noStrike" cap="none">
                <a:solidFill>
                  <a:srgbClr val="FFFFFF"/>
                </a:solidFill>
                <a:latin typeface="Corbel"/>
                <a:ea typeface="Corbel"/>
                <a:cs typeface="Corbel"/>
                <a:sym typeface="Corbel"/>
              </a:defRPr>
            </a:lvl2pPr>
            <a:lvl3pPr marL="0" lvl="2" indent="0" algn="r">
              <a:spcBef>
                <a:spcPts val="0"/>
              </a:spcBef>
              <a:buNone/>
              <a:defRPr sz="1200" b="0" i="0" u="none" strike="noStrike" cap="none">
                <a:solidFill>
                  <a:srgbClr val="FFFFFF"/>
                </a:solidFill>
                <a:latin typeface="Corbel"/>
                <a:ea typeface="Corbel"/>
                <a:cs typeface="Corbel"/>
                <a:sym typeface="Corbel"/>
              </a:defRPr>
            </a:lvl3pPr>
            <a:lvl4pPr marL="0" lvl="3" indent="0" algn="r">
              <a:spcBef>
                <a:spcPts val="0"/>
              </a:spcBef>
              <a:buNone/>
              <a:defRPr sz="1200" b="0" i="0" u="none" strike="noStrike" cap="none">
                <a:solidFill>
                  <a:srgbClr val="FFFFFF"/>
                </a:solidFill>
                <a:latin typeface="Corbel"/>
                <a:ea typeface="Corbel"/>
                <a:cs typeface="Corbel"/>
                <a:sym typeface="Corbel"/>
              </a:defRPr>
            </a:lvl4pPr>
            <a:lvl5pPr marL="0" lvl="4" indent="0" algn="r">
              <a:spcBef>
                <a:spcPts val="0"/>
              </a:spcBef>
              <a:buNone/>
              <a:defRPr sz="1200" b="0" i="0" u="none" strike="noStrike" cap="none">
                <a:solidFill>
                  <a:srgbClr val="FFFFFF"/>
                </a:solidFill>
                <a:latin typeface="Corbel"/>
                <a:ea typeface="Corbel"/>
                <a:cs typeface="Corbel"/>
                <a:sym typeface="Corbel"/>
              </a:defRPr>
            </a:lvl5pPr>
            <a:lvl6pPr marL="0" lvl="5" indent="0" algn="r">
              <a:spcBef>
                <a:spcPts val="0"/>
              </a:spcBef>
              <a:buNone/>
              <a:defRPr sz="1200" b="0" i="0" u="none" strike="noStrike" cap="none">
                <a:solidFill>
                  <a:srgbClr val="FFFFFF"/>
                </a:solidFill>
                <a:latin typeface="Corbel"/>
                <a:ea typeface="Corbel"/>
                <a:cs typeface="Corbel"/>
                <a:sym typeface="Corbel"/>
              </a:defRPr>
            </a:lvl6pPr>
            <a:lvl7pPr marL="0" lvl="6" indent="0" algn="r">
              <a:spcBef>
                <a:spcPts val="0"/>
              </a:spcBef>
              <a:buNone/>
              <a:defRPr sz="1200" b="0" i="0" u="none" strike="noStrike" cap="none">
                <a:solidFill>
                  <a:srgbClr val="FFFFFF"/>
                </a:solidFill>
                <a:latin typeface="Corbel"/>
                <a:ea typeface="Corbel"/>
                <a:cs typeface="Corbel"/>
                <a:sym typeface="Corbel"/>
              </a:defRPr>
            </a:lvl7pPr>
            <a:lvl8pPr marL="0" lvl="7" indent="0" algn="r">
              <a:spcBef>
                <a:spcPts val="0"/>
              </a:spcBef>
              <a:buNone/>
              <a:defRPr sz="1200" b="0" i="0" u="none" strike="noStrike" cap="none">
                <a:solidFill>
                  <a:srgbClr val="FFFFFF"/>
                </a:solidFill>
                <a:latin typeface="Corbel"/>
                <a:ea typeface="Corbel"/>
                <a:cs typeface="Corbel"/>
                <a:sym typeface="Corbel"/>
              </a:defRPr>
            </a:lvl8pPr>
            <a:lvl9pPr marL="0" lvl="8" indent="0" algn="r">
              <a:spcBef>
                <a:spcPts val="0"/>
              </a:spcBef>
              <a:buNone/>
              <a:defRPr sz="1200" b="0" i="0" u="none" strike="noStrike" cap="none">
                <a:solidFill>
                  <a:srgbClr val="FFFFFF"/>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cxnSp>
        <p:nvCxnSpPr>
          <p:cNvPr id="23" name="Google Shape;23;p18"/>
          <p:cNvCxnSpPr/>
          <p:nvPr/>
        </p:nvCxnSpPr>
        <p:spPr>
          <a:xfrm>
            <a:off x="1978660" y="3733800"/>
            <a:ext cx="8229601" cy="0"/>
          </a:xfrm>
          <a:prstGeom prst="straightConnector1">
            <a:avLst/>
          </a:prstGeom>
          <a:noFill/>
          <a:ln w="10000" cap="flat" cmpd="sng">
            <a:solidFill>
              <a:srgbClr val="FFFFF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9"/>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9"/>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27" name="Google Shape;27;p19"/>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3"/>
          <p:cNvSpPr txBox="1">
            <a:spLocks noGrp="1"/>
          </p:cNvSpPr>
          <p:nvPr>
            <p:ph type="body" idx="1"/>
          </p:nvPr>
        </p:nvSpPr>
        <p:spPr>
          <a:xfrm>
            <a:off x="1143000" y="2057399"/>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33" name="Google Shape;33;p23"/>
          <p:cNvSpPr txBox="1">
            <a:spLocks noGrp="1"/>
          </p:cNvSpPr>
          <p:nvPr>
            <p:ph type="body" idx="2"/>
          </p:nvPr>
        </p:nvSpPr>
        <p:spPr>
          <a:xfrm>
            <a:off x="6267612" y="2057400"/>
            <a:ext cx="4754880" cy="402336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34" name="Google Shape;34;p23"/>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3"/>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1106424" y="1173575"/>
            <a:ext cx="9966960" cy="2926080"/>
          </a:xfrm>
          <a:prstGeom prst="rect">
            <a:avLst/>
          </a:prstGeom>
          <a:noFill/>
          <a:ln>
            <a:noFill/>
          </a:ln>
        </p:spPr>
        <p:txBody>
          <a:bodyPr spcFirstLastPara="1" wrap="square" lIns="91425" tIns="45700" rIns="91425" bIns="45700" anchor="b" anchorCtr="0">
            <a:noAutofit/>
          </a:bodyPr>
          <a:lstStyle>
            <a:lvl1pPr lvl="0" algn="ctr">
              <a:lnSpc>
                <a:spcPct val="85000"/>
              </a:lnSpc>
              <a:spcBef>
                <a:spcPts val="0"/>
              </a:spcBef>
              <a:spcAft>
                <a:spcPts val="0"/>
              </a:spcAft>
              <a:buClr>
                <a:schemeClr val="accent1"/>
              </a:buClr>
              <a:buSzPts val="7200"/>
              <a:buFont typeface="Corbel"/>
              <a:buNone/>
              <a:defRPr sz="7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1709928" y="4154520"/>
            <a:ext cx="8769096" cy="136380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400"/>
              </a:spcBef>
              <a:spcAft>
                <a:spcPts val="0"/>
              </a:spcAft>
              <a:buSzPts val="1760"/>
              <a:buNone/>
              <a:defRPr sz="2200">
                <a:solidFill>
                  <a:schemeClr val="accent1"/>
                </a:solidFill>
              </a:defRPr>
            </a:lvl1pPr>
            <a:lvl2pPr marL="914400" lvl="1" indent="-228600" algn="l">
              <a:lnSpc>
                <a:spcPct val="90000"/>
              </a:lnSpc>
              <a:spcBef>
                <a:spcPts val="200"/>
              </a:spcBef>
              <a:spcAft>
                <a:spcPts val="0"/>
              </a:spcAft>
              <a:buSzPts val="1440"/>
              <a:buNone/>
              <a:defRPr sz="1800">
                <a:solidFill>
                  <a:srgbClr val="888888"/>
                </a:solidFill>
              </a:defRPr>
            </a:lvl2pPr>
            <a:lvl3pPr marL="1371600" lvl="2" indent="-228600" algn="l">
              <a:lnSpc>
                <a:spcPct val="90000"/>
              </a:lnSpc>
              <a:spcBef>
                <a:spcPts val="400"/>
              </a:spcBef>
              <a:spcAft>
                <a:spcPts val="0"/>
              </a:spcAft>
              <a:buSzPts val="1280"/>
              <a:buNone/>
              <a:defRPr sz="1600">
                <a:solidFill>
                  <a:srgbClr val="888888"/>
                </a:solidFill>
              </a:defRPr>
            </a:lvl3pPr>
            <a:lvl4pPr marL="1828800" lvl="3" indent="-228600" algn="l">
              <a:lnSpc>
                <a:spcPct val="90000"/>
              </a:lnSpc>
              <a:spcBef>
                <a:spcPts val="400"/>
              </a:spcBef>
              <a:spcAft>
                <a:spcPts val="0"/>
              </a:spcAft>
              <a:buSzPts val="1120"/>
              <a:buNone/>
              <a:defRPr sz="1400">
                <a:solidFill>
                  <a:srgbClr val="888888"/>
                </a:solidFill>
              </a:defRPr>
            </a:lvl4pPr>
            <a:lvl5pPr marL="2286000" lvl="4" indent="-228600" algn="l">
              <a:lnSpc>
                <a:spcPct val="90000"/>
              </a:lnSpc>
              <a:spcBef>
                <a:spcPts val="400"/>
              </a:spcBef>
              <a:spcAft>
                <a:spcPts val="0"/>
              </a:spcAft>
              <a:buSzPts val="1120"/>
              <a:buNone/>
              <a:defRPr sz="1400">
                <a:solidFill>
                  <a:srgbClr val="888888"/>
                </a:solidFill>
              </a:defRPr>
            </a:lvl5pPr>
            <a:lvl6pPr marL="2743200" lvl="5" indent="-228600" algn="l">
              <a:lnSpc>
                <a:spcPct val="90000"/>
              </a:lnSpc>
              <a:spcBef>
                <a:spcPts val="400"/>
              </a:spcBef>
              <a:spcAft>
                <a:spcPts val="0"/>
              </a:spcAft>
              <a:buSzPts val="1120"/>
              <a:buNone/>
              <a:defRPr sz="1400">
                <a:solidFill>
                  <a:srgbClr val="888888"/>
                </a:solidFill>
              </a:defRPr>
            </a:lvl6pPr>
            <a:lvl7pPr marL="3200400" lvl="6" indent="-228600" algn="l">
              <a:lnSpc>
                <a:spcPct val="90000"/>
              </a:lnSpc>
              <a:spcBef>
                <a:spcPts val="400"/>
              </a:spcBef>
              <a:spcAft>
                <a:spcPts val="0"/>
              </a:spcAft>
              <a:buSzPts val="1120"/>
              <a:buNone/>
              <a:defRPr sz="1400">
                <a:solidFill>
                  <a:srgbClr val="888888"/>
                </a:solidFill>
              </a:defRPr>
            </a:lvl7pPr>
            <a:lvl8pPr marL="3657600" lvl="7" indent="-228600" algn="l">
              <a:lnSpc>
                <a:spcPct val="90000"/>
              </a:lnSpc>
              <a:spcBef>
                <a:spcPts val="400"/>
              </a:spcBef>
              <a:spcAft>
                <a:spcPts val="0"/>
              </a:spcAft>
              <a:buSzPts val="1120"/>
              <a:buNone/>
              <a:defRPr sz="1400">
                <a:solidFill>
                  <a:srgbClr val="888888"/>
                </a:solidFill>
              </a:defRPr>
            </a:lvl8pPr>
            <a:lvl9pPr marL="4114800" lvl="8" indent="-228600" algn="l">
              <a:lnSpc>
                <a:spcPct val="90000"/>
              </a:lnSpc>
              <a:spcBef>
                <a:spcPts val="400"/>
              </a:spcBef>
              <a:spcAft>
                <a:spcPts val="400"/>
              </a:spcAft>
              <a:buSzPts val="1120"/>
              <a:buNone/>
              <a:defRPr sz="1400">
                <a:solidFill>
                  <a:srgbClr val="888888"/>
                </a:solidFill>
              </a:defRPr>
            </a:lvl9pPr>
          </a:lstStyle>
          <a:p>
            <a:endParaRPr/>
          </a:p>
        </p:txBody>
      </p:sp>
      <p:sp>
        <p:nvSpPr>
          <p:cNvPr id="40" name="Google Shape;40;p21"/>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21"/>
          <p:cNvCxnSpPr/>
          <p:nvPr/>
        </p:nvCxnSpPr>
        <p:spPr>
          <a:xfrm>
            <a:off x="1981200" y="4020408"/>
            <a:ext cx="8229601" cy="0"/>
          </a:xfrm>
          <a:prstGeom prst="straightConnector1">
            <a:avLst/>
          </a:prstGeom>
          <a:noFill/>
          <a:ln w="10000"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1143000" y="2001511"/>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47" name="Google Shape;47;p24"/>
          <p:cNvSpPr txBox="1">
            <a:spLocks noGrp="1"/>
          </p:cNvSpPr>
          <p:nvPr>
            <p:ph type="body" idx="2"/>
          </p:nvPr>
        </p:nvSpPr>
        <p:spPr>
          <a:xfrm>
            <a:off x="1143000" y="2721483"/>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48" name="Google Shape;48;p24"/>
          <p:cNvSpPr txBox="1">
            <a:spLocks noGrp="1"/>
          </p:cNvSpPr>
          <p:nvPr>
            <p:ph type="body" idx="3"/>
          </p:nvPr>
        </p:nvSpPr>
        <p:spPr>
          <a:xfrm>
            <a:off x="6269173" y="1999032"/>
            <a:ext cx="4754880" cy="77724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0"/>
              </a:spcBef>
              <a:spcAft>
                <a:spcPts val="0"/>
              </a:spcAft>
              <a:buSzPts val="1920"/>
              <a:buNone/>
              <a:defRPr sz="2400" b="1"/>
            </a:lvl1pPr>
            <a:lvl2pPr marL="914400" lvl="1" indent="-228600" algn="l">
              <a:lnSpc>
                <a:spcPct val="90000"/>
              </a:lnSpc>
              <a:spcBef>
                <a:spcPts val="200"/>
              </a:spcBef>
              <a:spcAft>
                <a:spcPts val="0"/>
              </a:spcAft>
              <a:buSzPts val="1600"/>
              <a:buNone/>
              <a:defRPr sz="2000" b="1"/>
            </a:lvl2pPr>
            <a:lvl3pPr marL="1371600" lvl="2" indent="-228600" algn="l">
              <a:lnSpc>
                <a:spcPct val="90000"/>
              </a:lnSpc>
              <a:spcBef>
                <a:spcPts val="400"/>
              </a:spcBef>
              <a:spcAft>
                <a:spcPts val="0"/>
              </a:spcAft>
              <a:buSzPts val="1440"/>
              <a:buNone/>
              <a:defRPr sz="1800" b="1"/>
            </a:lvl3pPr>
            <a:lvl4pPr marL="1828800" lvl="3" indent="-228600" algn="l">
              <a:lnSpc>
                <a:spcPct val="90000"/>
              </a:lnSpc>
              <a:spcBef>
                <a:spcPts val="400"/>
              </a:spcBef>
              <a:spcAft>
                <a:spcPts val="0"/>
              </a:spcAft>
              <a:buSzPts val="1280"/>
              <a:buNone/>
              <a:defRPr sz="1600" b="1"/>
            </a:lvl4pPr>
            <a:lvl5pPr marL="2286000" lvl="4" indent="-228600" algn="l">
              <a:lnSpc>
                <a:spcPct val="90000"/>
              </a:lnSpc>
              <a:spcBef>
                <a:spcPts val="400"/>
              </a:spcBef>
              <a:spcAft>
                <a:spcPts val="0"/>
              </a:spcAft>
              <a:buSzPts val="1280"/>
              <a:buNone/>
              <a:defRPr sz="1600" b="1"/>
            </a:lvl5pPr>
            <a:lvl6pPr marL="2743200" lvl="5" indent="-228600" algn="l">
              <a:lnSpc>
                <a:spcPct val="90000"/>
              </a:lnSpc>
              <a:spcBef>
                <a:spcPts val="400"/>
              </a:spcBef>
              <a:spcAft>
                <a:spcPts val="0"/>
              </a:spcAft>
              <a:buSzPts val="1280"/>
              <a:buNone/>
              <a:defRPr sz="1600" b="1"/>
            </a:lvl6pPr>
            <a:lvl7pPr marL="3200400" lvl="6" indent="-228600" algn="l">
              <a:lnSpc>
                <a:spcPct val="90000"/>
              </a:lnSpc>
              <a:spcBef>
                <a:spcPts val="400"/>
              </a:spcBef>
              <a:spcAft>
                <a:spcPts val="0"/>
              </a:spcAft>
              <a:buSzPts val="1280"/>
              <a:buNone/>
              <a:defRPr sz="1600" b="1"/>
            </a:lvl7pPr>
            <a:lvl8pPr marL="3657600" lvl="7" indent="-228600" algn="l">
              <a:lnSpc>
                <a:spcPct val="90000"/>
              </a:lnSpc>
              <a:spcBef>
                <a:spcPts val="400"/>
              </a:spcBef>
              <a:spcAft>
                <a:spcPts val="0"/>
              </a:spcAft>
              <a:buSzPts val="1280"/>
              <a:buNone/>
              <a:defRPr sz="1600" b="1"/>
            </a:lvl8pPr>
            <a:lvl9pPr marL="4114800" lvl="8" indent="-228600" algn="l">
              <a:lnSpc>
                <a:spcPct val="90000"/>
              </a:lnSpc>
              <a:spcBef>
                <a:spcPts val="400"/>
              </a:spcBef>
              <a:spcAft>
                <a:spcPts val="400"/>
              </a:spcAft>
              <a:buSzPts val="1280"/>
              <a:buNone/>
              <a:defRPr sz="1600" b="1"/>
            </a:lvl9pPr>
          </a:lstStyle>
          <a:p>
            <a:endParaRPr/>
          </a:p>
        </p:txBody>
      </p:sp>
      <p:sp>
        <p:nvSpPr>
          <p:cNvPr id="49" name="Google Shape;49;p24"/>
          <p:cNvSpPr txBox="1">
            <a:spLocks noGrp="1"/>
          </p:cNvSpPr>
          <p:nvPr>
            <p:ph type="body" idx="4"/>
          </p:nvPr>
        </p:nvSpPr>
        <p:spPr>
          <a:xfrm>
            <a:off x="6269173" y="2719322"/>
            <a:ext cx="4754880" cy="3383280"/>
          </a:xfrm>
          <a:prstGeom prst="rect">
            <a:avLst/>
          </a:prstGeom>
          <a:noFill/>
          <a:ln>
            <a:noFill/>
          </a:ln>
        </p:spPr>
        <p:txBody>
          <a:bodyPr spcFirstLastPara="1" wrap="square" lIns="91425" tIns="45700" rIns="91425" bIns="45700" anchor="t" anchorCtr="0">
            <a:normAutofit/>
          </a:bodyPr>
          <a:lstStyle>
            <a:lvl1pPr marL="457200" lvl="0" indent="-340360" algn="l">
              <a:lnSpc>
                <a:spcPct val="90000"/>
              </a:lnSpc>
              <a:spcBef>
                <a:spcPts val="1400"/>
              </a:spcBef>
              <a:spcAft>
                <a:spcPts val="0"/>
              </a:spcAft>
              <a:buSzPts val="1760"/>
              <a:buChar char="•"/>
              <a:defRPr sz="2200"/>
            </a:lvl1pPr>
            <a:lvl2pPr marL="914400" lvl="1" indent="-330200" algn="l">
              <a:lnSpc>
                <a:spcPct val="90000"/>
              </a:lnSpc>
              <a:spcBef>
                <a:spcPts val="200"/>
              </a:spcBef>
              <a:spcAft>
                <a:spcPts val="0"/>
              </a:spcAft>
              <a:buSzPts val="1600"/>
              <a:buChar char="•"/>
              <a:defRPr sz="2000"/>
            </a:lvl2pPr>
            <a:lvl3pPr marL="1371600" lvl="2" indent="-320039" algn="l">
              <a:lnSpc>
                <a:spcPct val="90000"/>
              </a:lnSpc>
              <a:spcBef>
                <a:spcPts val="400"/>
              </a:spcBef>
              <a:spcAft>
                <a:spcPts val="0"/>
              </a:spcAft>
              <a:buSzPts val="1440"/>
              <a:buChar char="•"/>
              <a:defRPr sz="1800"/>
            </a:lvl3pPr>
            <a:lvl4pPr marL="1828800" lvl="3" indent="-309880" algn="l">
              <a:lnSpc>
                <a:spcPct val="90000"/>
              </a:lnSpc>
              <a:spcBef>
                <a:spcPts val="400"/>
              </a:spcBef>
              <a:spcAft>
                <a:spcPts val="0"/>
              </a:spcAft>
              <a:buSzPts val="1280"/>
              <a:buChar char="•"/>
              <a:defRPr sz="1600"/>
            </a:lvl4pPr>
            <a:lvl5pPr marL="2286000" lvl="4" indent="-309879" algn="l">
              <a:lnSpc>
                <a:spcPct val="90000"/>
              </a:lnSpc>
              <a:spcBef>
                <a:spcPts val="400"/>
              </a:spcBef>
              <a:spcAft>
                <a:spcPts val="0"/>
              </a:spcAft>
              <a:buSzPts val="1280"/>
              <a:buChar char="•"/>
              <a:defRPr sz="1600"/>
            </a:lvl5pPr>
            <a:lvl6pPr marL="2743200" lvl="5" indent="-309879" algn="l">
              <a:lnSpc>
                <a:spcPct val="90000"/>
              </a:lnSpc>
              <a:spcBef>
                <a:spcPts val="400"/>
              </a:spcBef>
              <a:spcAft>
                <a:spcPts val="0"/>
              </a:spcAft>
              <a:buSzPts val="1280"/>
              <a:buChar char="•"/>
              <a:defRPr sz="1600"/>
            </a:lvl6pPr>
            <a:lvl7pPr marL="3200400" lvl="6" indent="-309879" algn="l">
              <a:lnSpc>
                <a:spcPct val="90000"/>
              </a:lnSpc>
              <a:spcBef>
                <a:spcPts val="400"/>
              </a:spcBef>
              <a:spcAft>
                <a:spcPts val="0"/>
              </a:spcAft>
              <a:buSzPts val="1280"/>
              <a:buChar char="•"/>
              <a:defRPr sz="1600"/>
            </a:lvl7pPr>
            <a:lvl8pPr marL="3657600" lvl="7" indent="-309879" algn="l">
              <a:lnSpc>
                <a:spcPct val="90000"/>
              </a:lnSpc>
              <a:spcBef>
                <a:spcPts val="400"/>
              </a:spcBef>
              <a:spcAft>
                <a:spcPts val="0"/>
              </a:spcAft>
              <a:buSzPts val="1280"/>
              <a:buChar char="•"/>
              <a:defRPr sz="1600"/>
            </a:lvl8pPr>
            <a:lvl9pPr marL="4114800" lvl="8" indent="-309879" algn="l">
              <a:lnSpc>
                <a:spcPct val="90000"/>
              </a:lnSpc>
              <a:spcBef>
                <a:spcPts val="400"/>
              </a:spcBef>
              <a:spcAft>
                <a:spcPts val="400"/>
              </a:spcAft>
              <a:buSzPts val="1280"/>
              <a:buChar char="•"/>
              <a:defRPr sz="1600"/>
            </a:lvl9pPr>
          </a:lstStyle>
          <a:p>
            <a:endParaRPr/>
          </a:p>
        </p:txBody>
      </p:sp>
      <p:sp>
        <p:nvSpPr>
          <p:cNvPr id="50" name="Google Shape;50;p24"/>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4"/>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5"/>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5"/>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26"/>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6"/>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6"/>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4000"/>
              <a:buFont typeface="Corbel"/>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5852159" y="1097280"/>
            <a:ext cx="5212080" cy="4663440"/>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400"/>
              </a:spcBef>
              <a:spcAft>
                <a:spcPts val="0"/>
              </a:spcAft>
              <a:buSzPts val="2560"/>
              <a:buChar char="•"/>
              <a:defRPr sz="3200"/>
            </a:lvl1pPr>
            <a:lvl2pPr marL="914400" lvl="1" indent="-370840" algn="l">
              <a:lnSpc>
                <a:spcPct val="90000"/>
              </a:lnSpc>
              <a:spcBef>
                <a:spcPts val="200"/>
              </a:spcBef>
              <a:spcAft>
                <a:spcPts val="0"/>
              </a:spcAft>
              <a:buSzPts val="2240"/>
              <a:buChar char="•"/>
              <a:defRPr sz="2800"/>
            </a:lvl2pPr>
            <a:lvl3pPr marL="1371600" lvl="2" indent="-350519" algn="l">
              <a:lnSpc>
                <a:spcPct val="90000"/>
              </a:lnSpc>
              <a:spcBef>
                <a:spcPts val="400"/>
              </a:spcBef>
              <a:spcAft>
                <a:spcPts val="0"/>
              </a:spcAft>
              <a:buSzPts val="1920"/>
              <a:buChar char="•"/>
              <a:defRPr sz="2400"/>
            </a:lvl3pPr>
            <a:lvl4pPr marL="1828800" lvl="3" indent="-330200" algn="l">
              <a:lnSpc>
                <a:spcPct val="90000"/>
              </a:lnSpc>
              <a:spcBef>
                <a:spcPts val="400"/>
              </a:spcBef>
              <a:spcAft>
                <a:spcPts val="0"/>
              </a:spcAft>
              <a:buSzPts val="1600"/>
              <a:buChar char="•"/>
              <a:defRPr sz="2000"/>
            </a:lvl4pPr>
            <a:lvl5pPr marL="2286000" lvl="4" indent="-330200" algn="l">
              <a:lnSpc>
                <a:spcPct val="90000"/>
              </a:lnSpc>
              <a:spcBef>
                <a:spcPts val="400"/>
              </a:spcBef>
              <a:spcAft>
                <a:spcPts val="0"/>
              </a:spcAft>
              <a:buSzPts val="1600"/>
              <a:buChar char="•"/>
              <a:defRPr sz="2000"/>
            </a:lvl5pPr>
            <a:lvl6pPr marL="2743200" lvl="5" indent="-330200" algn="l">
              <a:lnSpc>
                <a:spcPct val="90000"/>
              </a:lnSpc>
              <a:spcBef>
                <a:spcPts val="400"/>
              </a:spcBef>
              <a:spcAft>
                <a:spcPts val="0"/>
              </a:spcAft>
              <a:buSzPts val="1600"/>
              <a:buChar char="•"/>
              <a:defRPr sz="2000"/>
            </a:lvl6pPr>
            <a:lvl7pPr marL="3200400" lvl="6" indent="-330200" algn="l">
              <a:lnSpc>
                <a:spcPct val="90000"/>
              </a:lnSpc>
              <a:spcBef>
                <a:spcPts val="400"/>
              </a:spcBef>
              <a:spcAft>
                <a:spcPts val="0"/>
              </a:spcAft>
              <a:buSzPts val="1600"/>
              <a:buChar char="•"/>
              <a:defRPr sz="2000"/>
            </a:lvl7pPr>
            <a:lvl8pPr marL="3657600" lvl="7" indent="-330200" algn="l">
              <a:lnSpc>
                <a:spcPct val="90000"/>
              </a:lnSpc>
              <a:spcBef>
                <a:spcPts val="400"/>
              </a:spcBef>
              <a:spcAft>
                <a:spcPts val="0"/>
              </a:spcAft>
              <a:buSzPts val="1600"/>
              <a:buChar char="•"/>
              <a:defRPr sz="2000"/>
            </a:lvl8pPr>
            <a:lvl9pPr marL="4114800" lvl="8" indent="-330200" algn="l">
              <a:lnSpc>
                <a:spcPct val="90000"/>
              </a:lnSpc>
              <a:spcBef>
                <a:spcPts val="400"/>
              </a:spcBef>
              <a:spcAft>
                <a:spcPts val="400"/>
              </a:spcAft>
              <a:buSzPts val="1600"/>
              <a:buChar char="•"/>
              <a:defRPr sz="2000"/>
            </a:lvl9pPr>
          </a:lstStyle>
          <a:p>
            <a:endParaRPr/>
          </a:p>
        </p:txBody>
      </p:sp>
      <p:sp>
        <p:nvSpPr>
          <p:cNvPr id="65" name="Google Shape;65;p27"/>
          <p:cNvSpPr txBox="1">
            <a:spLocks noGrp="1"/>
          </p:cNvSpPr>
          <p:nvPr>
            <p:ph type="body" idx="2"/>
          </p:nvPr>
        </p:nvSpPr>
        <p:spPr>
          <a:xfrm>
            <a:off x="1143000" y="2834640"/>
            <a:ext cx="3931920" cy="301752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66" name="Google Shape;66;p27"/>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28"/>
          <p:cNvSpPr txBox="1">
            <a:spLocks noGrp="1"/>
          </p:cNvSpPr>
          <p:nvPr>
            <p:ph type="title"/>
          </p:nvPr>
        </p:nvSpPr>
        <p:spPr>
          <a:xfrm>
            <a:off x="1143000" y="1097280"/>
            <a:ext cx="3931920" cy="173736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4000"/>
              <a:buFont typeface="Corbel"/>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8"/>
          <p:cNvSpPr>
            <a:spLocks noGrp="1"/>
          </p:cNvSpPr>
          <p:nvPr>
            <p:ph type="pic" idx="2"/>
          </p:nvPr>
        </p:nvSpPr>
        <p:spPr>
          <a:xfrm>
            <a:off x="5413248" y="1069847"/>
            <a:ext cx="6099048" cy="4800600"/>
          </a:xfrm>
          <a:prstGeom prst="rect">
            <a:avLst/>
          </a:prstGeom>
          <a:noFill/>
          <a:ln>
            <a:noFill/>
          </a:ln>
        </p:spPr>
      </p:sp>
      <p:sp>
        <p:nvSpPr>
          <p:cNvPr id="72" name="Google Shape;72;p28"/>
          <p:cNvSpPr txBox="1">
            <a:spLocks noGrp="1"/>
          </p:cNvSpPr>
          <p:nvPr>
            <p:ph type="body" idx="1"/>
          </p:nvPr>
        </p:nvSpPr>
        <p:spPr>
          <a:xfrm>
            <a:off x="1143000" y="2834640"/>
            <a:ext cx="3931920" cy="288036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360"/>
              <a:buNone/>
              <a:defRPr sz="1700"/>
            </a:lvl1pPr>
            <a:lvl2pPr marL="914400" lvl="1" indent="-228600" algn="l">
              <a:lnSpc>
                <a:spcPct val="90000"/>
              </a:lnSpc>
              <a:spcBef>
                <a:spcPts val="200"/>
              </a:spcBef>
              <a:spcAft>
                <a:spcPts val="0"/>
              </a:spcAft>
              <a:buSzPts val="960"/>
              <a:buNone/>
              <a:defRPr sz="1200"/>
            </a:lvl2pPr>
            <a:lvl3pPr marL="1371600" lvl="2" indent="-228600" algn="l">
              <a:lnSpc>
                <a:spcPct val="90000"/>
              </a:lnSpc>
              <a:spcBef>
                <a:spcPts val="400"/>
              </a:spcBef>
              <a:spcAft>
                <a:spcPts val="0"/>
              </a:spcAft>
              <a:buSzPts val="800"/>
              <a:buNone/>
              <a:defRPr sz="1000"/>
            </a:lvl3pPr>
            <a:lvl4pPr marL="1828800" lvl="3" indent="-228600" algn="l">
              <a:lnSpc>
                <a:spcPct val="90000"/>
              </a:lnSpc>
              <a:spcBef>
                <a:spcPts val="400"/>
              </a:spcBef>
              <a:spcAft>
                <a:spcPts val="0"/>
              </a:spcAft>
              <a:buSzPts val="720"/>
              <a:buNone/>
              <a:defRPr sz="900"/>
            </a:lvl4pPr>
            <a:lvl5pPr marL="2286000" lvl="4" indent="-228600" algn="l">
              <a:lnSpc>
                <a:spcPct val="90000"/>
              </a:lnSpc>
              <a:spcBef>
                <a:spcPts val="400"/>
              </a:spcBef>
              <a:spcAft>
                <a:spcPts val="0"/>
              </a:spcAft>
              <a:buSzPts val="720"/>
              <a:buNone/>
              <a:defRPr sz="900"/>
            </a:lvl5pPr>
            <a:lvl6pPr marL="2743200" lvl="5" indent="-228600" algn="l">
              <a:lnSpc>
                <a:spcPct val="90000"/>
              </a:lnSpc>
              <a:spcBef>
                <a:spcPts val="400"/>
              </a:spcBef>
              <a:spcAft>
                <a:spcPts val="0"/>
              </a:spcAft>
              <a:buSzPts val="720"/>
              <a:buNone/>
              <a:defRPr sz="900"/>
            </a:lvl6pPr>
            <a:lvl7pPr marL="3200400" lvl="6" indent="-228600" algn="l">
              <a:lnSpc>
                <a:spcPct val="90000"/>
              </a:lnSpc>
              <a:spcBef>
                <a:spcPts val="400"/>
              </a:spcBef>
              <a:spcAft>
                <a:spcPts val="0"/>
              </a:spcAft>
              <a:buSzPts val="720"/>
              <a:buNone/>
              <a:defRPr sz="900"/>
            </a:lvl7pPr>
            <a:lvl8pPr marL="3657600" lvl="7" indent="-228600" algn="l">
              <a:lnSpc>
                <a:spcPct val="90000"/>
              </a:lnSpc>
              <a:spcBef>
                <a:spcPts val="400"/>
              </a:spcBef>
              <a:spcAft>
                <a:spcPts val="0"/>
              </a:spcAft>
              <a:buSzPts val="720"/>
              <a:buNone/>
              <a:defRPr sz="900"/>
            </a:lvl8pPr>
            <a:lvl9pPr marL="4114800" lvl="8" indent="-228600" algn="l">
              <a:lnSpc>
                <a:spcPct val="90000"/>
              </a:lnSpc>
              <a:spcBef>
                <a:spcPts val="400"/>
              </a:spcBef>
              <a:spcAft>
                <a:spcPts val="400"/>
              </a:spcAft>
              <a:buSzPts val="720"/>
              <a:buNone/>
              <a:defRPr sz="900"/>
            </a:lvl9pPr>
          </a:lstStyle>
          <a:p>
            <a:endParaRPr/>
          </a:p>
        </p:txBody>
      </p:sp>
      <p:sp>
        <p:nvSpPr>
          <p:cNvPr id="73" name="Google Shape;73;p28"/>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8"/>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9"/>
          <p:cNvSpPr txBox="1">
            <a:spLocks noGrp="1"/>
          </p:cNvSpPr>
          <p:nvPr>
            <p:ph type="body" idx="1"/>
          </p:nvPr>
        </p:nvSpPr>
        <p:spPr>
          <a:xfrm rot="5400000">
            <a:off x="4060136" y="-859736"/>
            <a:ext cx="4038600" cy="9872871"/>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79" name="Google Shape;79;p29"/>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9"/>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9"/>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rot="5400000">
            <a:off x="7181850" y="2305050"/>
            <a:ext cx="5410200" cy="2324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0"/>
          <p:cNvSpPr txBox="1">
            <a:spLocks noGrp="1"/>
          </p:cNvSpPr>
          <p:nvPr>
            <p:ph type="body" idx="1"/>
          </p:nvPr>
        </p:nvSpPr>
        <p:spPr>
          <a:xfrm rot="5400000">
            <a:off x="2152650" y="-247650"/>
            <a:ext cx="5410200" cy="7429500"/>
          </a:xfrm>
          <a:prstGeom prst="rect">
            <a:avLst/>
          </a:prstGeom>
          <a:noFill/>
          <a:ln>
            <a:noFill/>
          </a:ln>
        </p:spPr>
        <p:txBody>
          <a:bodyPr spcFirstLastPara="1" wrap="square" lIns="91425" tIns="45700" rIns="91425" bIns="45700" anchor="t" anchorCtr="0">
            <a:normAutofit/>
          </a:bodyPr>
          <a:lstStyle>
            <a:lvl1pPr marL="457200" lvl="0" indent="-320040" algn="l">
              <a:lnSpc>
                <a:spcPct val="90000"/>
              </a:lnSpc>
              <a:spcBef>
                <a:spcPts val="1400"/>
              </a:spcBef>
              <a:spcAft>
                <a:spcPts val="0"/>
              </a:spcAft>
              <a:buSzPts val="1440"/>
              <a:buChar char="•"/>
              <a:defRPr/>
            </a:lvl1pPr>
            <a:lvl2pPr marL="914400" lvl="1" indent="-320040" algn="l">
              <a:lnSpc>
                <a:spcPct val="90000"/>
              </a:lnSpc>
              <a:spcBef>
                <a:spcPts val="200"/>
              </a:spcBef>
              <a:spcAft>
                <a:spcPts val="0"/>
              </a:spcAft>
              <a:buSzPts val="1440"/>
              <a:buChar char="•"/>
              <a:defRPr/>
            </a:lvl2pPr>
            <a:lvl3pPr marL="1371600" lvl="2" indent="-320039" algn="l">
              <a:lnSpc>
                <a:spcPct val="90000"/>
              </a:lnSpc>
              <a:spcBef>
                <a:spcPts val="400"/>
              </a:spcBef>
              <a:spcAft>
                <a:spcPts val="0"/>
              </a:spcAft>
              <a:buSzPts val="1440"/>
              <a:buChar char="•"/>
              <a:defRPr/>
            </a:lvl3pPr>
            <a:lvl4pPr marL="1828800" lvl="3" indent="-320039" algn="l">
              <a:lnSpc>
                <a:spcPct val="90000"/>
              </a:lnSpc>
              <a:spcBef>
                <a:spcPts val="400"/>
              </a:spcBef>
              <a:spcAft>
                <a:spcPts val="0"/>
              </a:spcAft>
              <a:buSzPts val="1440"/>
              <a:buChar char="•"/>
              <a:defRPr/>
            </a:lvl4pPr>
            <a:lvl5pPr marL="2286000" lvl="4" indent="-320039" algn="l">
              <a:lnSpc>
                <a:spcPct val="90000"/>
              </a:lnSpc>
              <a:spcBef>
                <a:spcPts val="400"/>
              </a:spcBef>
              <a:spcAft>
                <a:spcPts val="0"/>
              </a:spcAft>
              <a:buSzPts val="1440"/>
              <a:buChar char="•"/>
              <a:defRPr/>
            </a:lvl5pPr>
            <a:lvl6pPr marL="2743200" lvl="5" indent="-320039" algn="l">
              <a:lnSpc>
                <a:spcPct val="90000"/>
              </a:lnSpc>
              <a:spcBef>
                <a:spcPts val="400"/>
              </a:spcBef>
              <a:spcAft>
                <a:spcPts val="0"/>
              </a:spcAft>
              <a:buSzPts val="1440"/>
              <a:buChar char="•"/>
              <a:defRPr/>
            </a:lvl6pPr>
            <a:lvl7pPr marL="3200400" lvl="6" indent="-320039" algn="l">
              <a:lnSpc>
                <a:spcPct val="90000"/>
              </a:lnSpc>
              <a:spcBef>
                <a:spcPts val="400"/>
              </a:spcBef>
              <a:spcAft>
                <a:spcPts val="0"/>
              </a:spcAft>
              <a:buSzPts val="1440"/>
              <a:buChar char="•"/>
              <a:defRPr/>
            </a:lvl7pPr>
            <a:lvl8pPr marL="3657600" lvl="7" indent="-320040" algn="l">
              <a:lnSpc>
                <a:spcPct val="90000"/>
              </a:lnSpc>
              <a:spcBef>
                <a:spcPts val="400"/>
              </a:spcBef>
              <a:spcAft>
                <a:spcPts val="0"/>
              </a:spcAft>
              <a:buSzPts val="1440"/>
              <a:buChar char="•"/>
              <a:defRPr/>
            </a:lvl8pPr>
            <a:lvl9pPr marL="4114800" lvl="8" indent="-320040" algn="l">
              <a:lnSpc>
                <a:spcPct val="90000"/>
              </a:lnSpc>
              <a:spcBef>
                <a:spcPts val="400"/>
              </a:spcBef>
              <a:spcAft>
                <a:spcPts val="400"/>
              </a:spcAft>
              <a:buSzPts val="1440"/>
              <a:buChar char="•"/>
              <a:defRPr/>
            </a:lvl9pPr>
          </a:lstStyle>
          <a:p>
            <a:endParaRPr/>
          </a:p>
        </p:txBody>
      </p:sp>
      <p:sp>
        <p:nvSpPr>
          <p:cNvPr id="85" name="Google Shape;85;p30"/>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0"/>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0"/>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22"/>
          <p:cNvSpPr txBox="1">
            <a:spLocks noGrp="1"/>
          </p:cNvSpPr>
          <p:nvPr>
            <p:ph type="title"/>
          </p:nvPr>
        </p:nvSpPr>
        <p:spPr>
          <a:xfrm>
            <a:off x="1106424" y="1173575"/>
            <a:ext cx="9966960" cy="2926080"/>
          </a:xfrm>
          <a:prstGeom prst="rect">
            <a:avLst/>
          </a:prstGeom>
          <a:noFill/>
          <a:ln>
            <a:noFill/>
          </a:ln>
        </p:spPr>
        <p:txBody>
          <a:bodyPr spcFirstLastPara="1" wrap="square" lIns="91425" tIns="45700" rIns="91425" bIns="45700" anchor="b" anchorCtr="0">
            <a:noAutofit/>
          </a:bodyPr>
          <a:lstStyle>
            <a:lvl1pPr lvl="0" algn="ctr">
              <a:lnSpc>
                <a:spcPct val="85000"/>
              </a:lnSpc>
              <a:spcBef>
                <a:spcPts val="0"/>
              </a:spcBef>
              <a:spcAft>
                <a:spcPts val="0"/>
              </a:spcAft>
              <a:buClr>
                <a:schemeClr val="accent1"/>
              </a:buClr>
              <a:buSzPts val="7200"/>
              <a:buFont typeface="Corbel"/>
              <a:buNone/>
              <a:defRPr sz="7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2"/>
          <p:cNvSpPr txBox="1">
            <a:spLocks noGrp="1"/>
          </p:cNvSpPr>
          <p:nvPr>
            <p:ph type="body" idx="1"/>
          </p:nvPr>
        </p:nvSpPr>
        <p:spPr>
          <a:xfrm>
            <a:off x="1709928" y="4154520"/>
            <a:ext cx="8769096" cy="1363806"/>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400"/>
              </a:spcBef>
              <a:spcAft>
                <a:spcPts val="0"/>
              </a:spcAft>
              <a:buSzPts val="1760"/>
              <a:buNone/>
              <a:defRPr sz="2200">
                <a:solidFill>
                  <a:schemeClr val="accent1"/>
                </a:solidFill>
              </a:defRPr>
            </a:lvl1pPr>
            <a:lvl2pPr marL="914400" lvl="1" indent="-228600" algn="l">
              <a:lnSpc>
                <a:spcPct val="90000"/>
              </a:lnSpc>
              <a:spcBef>
                <a:spcPts val="200"/>
              </a:spcBef>
              <a:spcAft>
                <a:spcPts val="0"/>
              </a:spcAft>
              <a:buSzPts val="1440"/>
              <a:buNone/>
              <a:defRPr sz="1800">
                <a:solidFill>
                  <a:schemeClr val="lt1"/>
                </a:solidFill>
              </a:defRPr>
            </a:lvl2pPr>
            <a:lvl3pPr marL="1371600" lvl="2" indent="-228600" algn="l">
              <a:lnSpc>
                <a:spcPct val="90000"/>
              </a:lnSpc>
              <a:spcBef>
                <a:spcPts val="400"/>
              </a:spcBef>
              <a:spcAft>
                <a:spcPts val="0"/>
              </a:spcAft>
              <a:buSzPts val="1280"/>
              <a:buNone/>
              <a:defRPr sz="1600">
                <a:solidFill>
                  <a:schemeClr val="lt1"/>
                </a:solidFill>
              </a:defRPr>
            </a:lvl3pPr>
            <a:lvl4pPr marL="1828800" lvl="3" indent="-228600" algn="l">
              <a:lnSpc>
                <a:spcPct val="90000"/>
              </a:lnSpc>
              <a:spcBef>
                <a:spcPts val="400"/>
              </a:spcBef>
              <a:spcAft>
                <a:spcPts val="0"/>
              </a:spcAft>
              <a:buSzPts val="1120"/>
              <a:buNone/>
              <a:defRPr sz="1400">
                <a:solidFill>
                  <a:schemeClr val="lt1"/>
                </a:solidFill>
              </a:defRPr>
            </a:lvl4pPr>
            <a:lvl5pPr marL="2286000" lvl="4" indent="-228600" algn="l">
              <a:lnSpc>
                <a:spcPct val="90000"/>
              </a:lnSpc>
              <a:spcBef>
                <a:spcPts val="400"/>
              </a:spcBef>
              <a:spcAft>
                <a:spcPts val="0"/>
              </a:spcAft>
              <a:buSzPts val="1120"/>
              <a:buNone/>
              <a:defRPr sz="1400">
                <a:solidFill>
                  <a:schemeClr val="lt1"/>
                </a:solidFill>
              </a:defRPr>
            </a:lvl5pPr>
            <a:lvl6pPr marL="2743200" lvl="5" indent="-228600" algn="l">
              <a:lnSpc>
                <a:spcPct val="90000"/>
              </a:lnSpc>
              <a:spcBef>
                <a:spcPts val="400"/>
              </a:spcBef>
              <a:spcAft>
                <a:spcPts val="0"/>
              </a:spcAft>
              <a:buSzPts val="1120"/>
              <a:buNone/>
              <a:defRPr sz="1400">
                <a:solidFill>
                  <a:schemeClr val="lt1"/>
                </a:solidFill>
              </a:defRPr>
            </a:lvl6pPr>
            <a:lvl7pPr marL="3200400" lvl="6" indent="-228600" algn="l">
              <a:lnSpc>
                <a:spcPct val="90000"/>
              </a:lnSpc>
              <a:spcBef>
                <a:spcPts val="400"/>
              </a:spcBef>
              <a:spcAft>
                <a:spcPts val="0"/>
              </a:spcAft>
              <a:buSzPts val="1120"/>
              <a:buNone/>
              <a:defRPr sz="1400">
                <a:solidFill>
                  <a:schemeClr val="lt1"/>
                </a:solidFill>
              </a:defRPr>
            </a:lvl7pPr>
            <a:lvl8pPr marL="3657600" lvl="7" indent="-228600" algn="l">
              <a:lnSpc>
                <a:spcPct val="90000"/>
              </a:lnSpc>
              <a:spcBef>
                <a:spcPts val="400"/>
              </a:spcBef>
              <a:spcAft>
                <a:spcPts val="0"/>
              </a:spcAft>
              <a:buSzPts val="1120"/>
              <a:buNone/>
              <a:defRPr sz="1400">
                <a:solidFill>
                  <a:schemeClr val="lt1"/>
                </a:solidFill>
              </a:defRPr>
            </a:lvl8pPr>
            <a:lvl9pPr marL="4114800" lvl="8" indent="-228600" algn="l">
              <a:lnSpc>
                <a:spcPct val="90000"/>
              </a:lnSpc>
              <a:spcBef>
                <a:spcPts val="400"/>
              </a:spcBef>
              <a:spcAft>
                <a:spcPts val="400"/>
              </a:spcAft>
              <a:buSzPts val="1120"/>
              <a:buNone/>
              <a:defRPr sz="1400">
                <a:solidFill>
                  <a:schemeClr val="lt1"/>
                </a:solidFill>
              </a:defRPr>
            </a:lvl9pPr>
          </a:lstStyle>
          <a:p>
            <a:endParaRPr/>
          </a:p>
        </p:txBody>
      </p:sp>
      <p:sp>
        <p:nvSpPr>
          <p:cNvPr id="98" name="Google Shape;98;p22"/>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2"/>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2"/>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01" name="Google Shape;101;p22"/>
          <p:cNvCxnSpPr/>
          <p:nvPr/>
        </p:nvCxnSpPr>
        <p:spPr>
          <a:xfrm>
            <a:off x="1981200" y="4020408"/>
            <a:ext cx="8229601" cy="0"/>
          </a:xfrm>
          <a:prstGeom prst="straightConnector1">
            <a:avLst/>
          </a:prstGeom>
          <a:noFill/>
          <a:ln w="1000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
        <p:cNvGrpSpPr/>
        <p:nvPr/>
      </p:nvGrpSpPr>
      <p:grpSpPr>
        <a:xfrm>
          <a:off x="0" y="0"/>
          <a:ext cx="0" cy="0"/>
          <a:chOff x="0" y="0"/>
          <a:chExt cx="0" cy="0"/>
        </a:xfrm>
      </p:grpSpPr>
      <p:sp>
        <p:nvSpPr>
          <p:cNvPr id="10" name="Google Shape;10;p17"/>
          <p:cNvSpPr/>
          <p:nvPr/>
        </p:nvSpPr>
        <p:spPr>
          <a:xfrm>
            <a:off x="231140" y="243840"/>
            <a:ext cx="11724640" cy="6377939"/>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7"/>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1"/>
              </a:buClr>
              <a:buSzPts val="4400"/>
              <a:buFont typeface="Corbel"/>
              <a:buNone/>
              <a:defRPr sz="4400" b="0" i="0" u="none" strike="noStrike" cap="non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7"/>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lvl1pPr marL="457200" marR="0" lvl="0" indent="-340360" algn="l" rtl="0">
              <a:lnSpc>
                <a:spcPct val="90000"/>
              </a:lnSpc>
              <a:spcBef>
                <a:spcPts val="1400"/>
              </a:spcBef>
              <a:spcAft>
                <a:spcPts val="0"/>
              </a:spcAft>
              <a:buClr>
                <a:schemeClr val="accent1"/>
              </a:buClr>
              <a:buSzPts val="1760"/>
              <a:buFont typeface="Corbel"/>
              <a:buChar char="•"/>
              <a:defRPr sz="2200" b="0" i="0" u="none" strike="noStrike" cap="none">
                <a:solidFill>
                  <a:schemeClr val="accent1"/>
                </a:solidFill>
                <a:latin typeface="Corbel"/>
                <a:ea typeface="Corbel"/>
                <a:cs typeface="Corbel"/>
                <a:sym typeface="Corbel"/>
              </a:defRPr>
            </a:lvl1pPr>
            <a:lvl2pPr marL="914400" marR="0" lvl="1" indent="-330200" algn="l" rtl="0">
              <a:lnSpc>
                <a:spcPct val="90000"/>
              </a:lnSpc>
              <a:spcBef>
                <a:spcPts val="200"/>
              </a:spcBef>
              <a:spcAft>
                <a:spcPts val="0"/>
              </a:spcAft>
              <a:buClr>
                <a:schemeClr val="accent1"/>
              </a:buClr>
              <a:buSzPts val="1600"/>
              <a:buFont typeface="Corbel"/>
              <a:buChar char="•"/>
              <a:defRPr sz="2000" b="0" i="0" u="none" strike="noStrike" cap="none">
                <a:solidFill>
                  <a:schemeClr val="accent1"/>
                </a:solidFill>
                <a:latin typeface="Corbel"/>
                <a:ea typeface="Corbel"/>
                <a:cs typeface="Corbel"/>
                <a:sym typeface="Corbel"/>
              </a:defRPr>
            </a:lvl2pPr>
            <a:lvl3pPr marL="1371600" marR="0" lvl="2" indent="-320039" algn="l" rtl="0">
              <a:lnSpc>
                <a:spcPct val="90000"/>
              </a:lnSpc>
              <a:spcBef>
                <a:spcPts val="400"/>
              </a:spcBef>
              <a:spcAft>
                <a:spcPts val="0"/>
              </a:spcAft>
              <a:buClr>
                <a:schemeClr val="accent1"/>
              </a:buClr>
              <a:buSzPts val="1440"/>
              <a:buFont typeface="Corbel"/>
              <a:buChar char="•"/>
              <a:defRPr sz="1800" b="0" i="0" u="none" strike="noStrike" cap="none">
                <a:solidFill>
                  <a:schemeClr val="accent1"/>
                </a:solidFill>
                <a:latin typeface="Corbel"/>
                <a:ea typeface="Corbel"/>
                <a:cs typeface="Corbel"/>
                <a:sym typeface="Corbel"/>
              </a:defRPr>
            </a:lvl3pPr>
            <a:lvl4pPr marL="1828800" marR="0" lvl="3" indent="-309880"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4pPr>
            <a:lvl5pPr marL="2286000" marR="0" lvl="4"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5pPr>
            <a:lvl6pPr marL="2743200" marR="0" lvl="5"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6pPr>
            <a:lvl7pPr marL="3200400" marR="0" lvl="6"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7pPr>
            <a:lvl8pPr marL="3657600" marR="0" lvl="7"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8pPr>
            <a:lvl9pPr marL="4114800" marR="0" lvl="8" indent="-309879" algn="l" rtl="0">
              <a:lnSpc>
                <a:spcPct val="90000"/>
              </a:lnSpc>
              <a:spcBef>
                <a:spcPts val="400"/>
              </a:spcBef>
              <a:spcAft>
                <a:spcPts val="40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9pPr>
          </a:lstStyle>
          <a:p>
            <a:endParaRPr/>
          </a:p>
        </p:txBody>
      </p:sp>
      <p:sp>
        <p:nvSpPr>
          <p:cNvPr id="13" name="Google Shape;13;p17"/>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14" name="Google Shape;14;p17"/>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15" name="Google Shape;15;p17"/>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accent1"/>
                </a:solidFill>
                <a:latin typeface="Corbel"/>
                <a:ea typeface="Corbel"/>
                <a:cs typeface="Corbel"/>
                <a:sym typeface="Corbel"/>
              </a:defRPr>
            </a:lvl1pPr>
            <a:lvl2pPr marL="0" marR="0" lvl="1" indent="0" algn="r" rtl="0">
              <a:spcBef>
                <a:spcPts val="0"/>
              </a:spcBef>
              <a:buNone/>
              <a:defRPr sz="1200" b="0" i="0" u="none" strike="noStrike" cap="none">
                <a:solidFill>
                  <a:schemeClr val="accent1"/>
                </a:solidFill>
                <a:latin typeface="Corbel"/>
                <a:ea typeface="Corbel"/>
                <a:cs typeface="Corbel"/>
                <a:sym typeface="Corbel"/>
              </a:defRPr>
            </a:lvl2pPr>
            <a:lvl3pPr marL="0" marR="0" lvl="2" indent="0" algn="r" rtl="0">
              <a:spcBef>
                <a:spcPts val="0"/>
              </a:spcBef>
              <a:buNone/>
              <a:defRPr sz="1200" b="0" i="0" u="none" strike="noStrike" cap="none">
                <a:solidFill>
                  <a:schemeClr val="accent1"/>
                </a:solidFill>
                <a:latin typeface="Corbel"/>
                <a:ea typeface="Corbel"/>
                <a:cs typeface="Corbel"/>
                <a:sym typeface="Corbel"/>
              </a:defRPr>
            </a:lvl3pPr>
            <a:lvl4pPr marL="0" marR="0" lvl="3" indent="0" algn="r" rtl="0">
              <a:spcBef>
                <a:spcPts val="0"/>
              </a:spcBef>
              <a:buNone/>
              <a:defRPr sz="1200" b="0" i="0" u="none" strike="noStrike" cap="none">
                <a:solidFill>
                  <a:schemeClr val="accent1"/>
                </a:solidFill>
                <a:latin typeface="Corbel"/>
                <a:ea typeface="Corbel"/>
                <a:cs typeface="Corbel"/>
                <a:sym typeface="Corbel"/>
              </a:defRPr>
            </a:lvl4pPr>
            <a:lvl5pPr marL="0" marR="0" lvl="4" indent="0" algn="r" rtl="0">
              <a:spcBef>
                <a:spcPts val="0"/>
              </a:spcBef>
              <a:buNone/>
              <a:defRPr sz="1200" b="0" i="0" u="none" strike="noStrike" cap="none">
                <a:solidFill>
                  <a:schemeClr val="accent1"/>
                </a:solidFill>
                <a:latin typeface="Corbel"/>
                <a:ea typeface="Corbel"/>
                <a:cs typeface="Corbel"/>
                <a:sym typeface="Corbel"/>
              </a:defRPr>
            </a:lvl5pPr>
            <a:lvl6pPr marL="0" marR="0" lvl="5" indent="0" algn="r" rtl="0">
              <a:spcBef>
                <a:spcPts val="0"/>
              </a:spcBef>
              <a:buNone/>
              <a:defRPr sz="1200" b="0" i="0" u="none" strike="noStrike" cap="none">
                <a:solidFill>
                  <a:schemeClr val="accent1"/>
                </a:solidFill>
                <a:latin typeface="Corbel"/>
                <a:ea typeface="Corbel"/>
                <a:cs typeface="Corbel"/>
                <a:sym typeface="Corbel"/>
              </a:defRPr>
            </a:lvl6pPr>
            <a:lvl7pPr marL="0" marR="0" lvl="6" indent="0" algn="r" rtl="0">
              <a:spcBef>
                <a:spcPts val="0"/>
              </a:spcBef>
              <a:buNone/>
              <a:defRPr sz="1200" b="0" i="0" u="none" strike="noStrike" cap="none">
                <a:solidFill>
                  <a:schemeClr val="accent1"/>
                </a:solidFill>
                <a:latin typeface="Corbel"/>
                <a:ea typeface="Corbel"/>
                <a:cs typeface="Corbel"/>
                <a:sym typeface="Corbel"/>
              </a:defRPr>
            </a:lvl7pPr>
            <a:lvl8pPr marL="0" marR="0" lvl="7" indent="0" algn="r" rtl="0">
              <a:spcBef>
                <a:spcPts val="0"/>
              </a:spcBef>
              <a:buNone/>
              <a:defRPr sz="1200" b="0" i="0" u="none" strike="noStrike" cap="none">
                <a:solidFill>
                  <a:schemeClr val="accent1"/>
                </a:solidFill>
                <a:latin typeface="Corbel"/>
                <a:ea typeface="Corbel"/>
                <a:cs typeface="Corbel"/>
                <a:sym typeface="Corbel"/>
              </a:defRPr>
            </a:lvl8pPr>
            <a:lvl9pPr marL="0" marR="0" lvl="8" indent="0" algn="r" rtl="0">
              <a:spcBef>
                <a:spcPts val="0"/>
              </a:spcBef>
              <a:buNone/>
              <a:defRPr sz="1200" b="0"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88"/>
        <p:cNvGrpSpPr/>
        <p:nvPr/>
      </p:nvGrpSpPr>
      <p:grpSpPr>
        <a:xfrm>
          <a:off x="0" y="0"/>
          <a:ext cx="0" cy="0"/>
          <a:chOff x="0" y="0"/>
          <a:chExt cx="0" cy="0"/>
        </a:xfrm>
      </p:grpSpPr>
      <p:sp>
        <p:nvSpPr>
          <p:cNvPr id="89" name="Google Shape;89;p20"/>
          <p:cNvSpPr/>
          <p:nvPr/>
        </p:nvSpPr>
        <p:spPr>
          <a:xfrm>
            <a:off x="231140" y="243840"/>
            <a:ext cx="11724640" cy="6377939"/>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0"/>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1"/>
              </a:buClr>
              <a:buSzPts val="4400"/>
              <a:buFont typeface="Corbel"/>
              <a:buNone/>
              <a:defRPr sz="4400" b="0" i="0" u="none" strike="noStrike" cap="none">
                <a:solidFill>
                  <a:schemeClr val="accen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1" name="Google Shape;91;p20"/>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lvl1pPr marL="457200" marR="0" lvl="0" indent="-340360" algn="l" rtl="0">
              <a:lnSpc>
                <a:spcPct val="90000"/>
              </a:lnSpc>
              <a:spcBef>
                <a:spcPts val="1400"/>
              </a:spcBef>
              <a:spcAft>
                <a:spcPts val="0"/>
              </a:spcAft>
              <a:buClr>
                <a:schemeClr val="accent1"/>
              </a:buClr>
              <a:buSzPts val="1760"/>
              <a:buFont typeface="Corbel"/>
              <a:buChar char="•"/>
              <a:defRPr sz="2200" b="0" i="0" u="none" strike="noStrike" cap="none">
                <a:solidFill>
                  <a:schemeClr val="accent1"/>
                </a:solidFill>
                <a:latin typeface="Corbel"/>
                <a:ea typeface="Corbel"/>
                <a:cs typeface="Corbel"/>
                <a:sym typeface="Corbel"/>
              </a:defRPr>
            </a:lvl1pPr>
            <a:lvl2pPr marL="914400" marR="0" lvl="1" indent="-330200" algn="l" rtl="0">
              <a:lnSpc>
                <a:spcPct val="90000"/>
              </a:lnSpc>
              <a:spcBef>
                <a:spcPts val="200"/>
              </a:spcBef>
              <a:spcAft>
                <a:spcPts val="0"/>
              </a:spcAft>
              <a:buClr>
                <a:schemeClr val="accent1"/>
              </a:buClr>
              <a:buSzPts val="1600"/>
              <a:buFont typeface="Corbel"/>
              <a:buChar char="•"/>
              <a:defRPr sz="2000" b="0" i="0" u="none" strike="noStrike" cap="none">
                <a:solidFill>
                  <a:schemeClr val="accent1"/>
                </a:solidFill>
                <a:latin typeface="Corbel"/>
                <a:ea typeface="Corbel"/>
                <a:cs typeface="Corbel"/>
                <a:sym typeface="Corbel"/>
              </a:defRPr>
            </a:lvl2pPr>
            <a:lvl3pPr marL="1371600" marR="0" lvl="2" indent="-320039" algn="l" rtl="0">
              <a:lnSpc>
                <a:spcPct val="90000"/>
              </a:lnSpc>
              <a:spcBef>
                <a:spcPts val="400"/>
              </a:spcBef>
              <a:spcAft>
                <a:spcPts val="0"/>
              </a:spcAft>
              <a:buClr>
                <a:schemeClr val="accent1"/>
              </a:buClr>
              <a:buSzPts val="1440"/>
              <a:buFont typeface="Corbel"/>
              <a:buChar char="•"/>
              <a:defRPr sz="1800" b="0" i="0" u="none" strike="noStrike" cap="none">
                <a:solidFill>
                  <a:schemeClr val="accent1"/>
                </a:solidFill>
                <a:latin typeface="Corbel"/>
                <a:ea typeface="Corbel"/>
                <a:cs typeface="Corbel"/>
                <a:sym typeface="Corbel"/>
              </a:defRPr>
            </a:lvl3pPr>
            <a:lvl4pPr marL="1828800" marR="0" lvl="3" indent="-309880"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4pPr>
            <a:lvl5pPr marL="2286000" marR="0" lvl="4"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5pPr>
            <a:lvl6pPr marL="2743200" marR="0" lvl="5"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6pPr>
            <a:lvl7pPr marL="3200400" marR="0" lvl="6"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7pPr>
            <a:lvl8pPr marL="3657600" marR="0" lvl="7" indent="-309879" algn="l" rtl="0">
              <a:lnSpc>
                <a:spcPct val="90000"/>
              </a:lnSpc>
              <a:spcBef>
                <a:spcPts val="400"/>
              </a:spcBef>
              <a:spcAft>
                <a:spcPts val="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8pPr>
            <a:lvl9pPr marL="4114800" marR="0" lvl="8" indent="-309879" algn="l" rtl="0">
              <a:lnSpc>
                <a:spcPct val="90000"/>
              </a:lnSpc>
              <a:spcBef>
                <a:spcPts val="400"/>
              </a:spcBef>
              <a:spcAft>
                <a:spcPts val="400"/>
              </a:spcAft>
              <a:buClr>
                <a:schemeClr val="accent1"/>
              </a:buClr>
              <a:buSzPts val="1280"/>
              <a:buFont typeface="Corbel"/>
              <a:buChar char="•"/>
              <a:defRPr sz="1600" b="0" i="0" u="none" strike="noStrike" cap="none">
                <a:solidFill>
                  <a:schemeClr val="accent1"/>
                </a:solidFill>
                <a:latin typeface="Corbel"/>
                <a:ea typeface="Corbel"/>
                <a:cs typeface="Corbel"/>
                <a:sym typeface="Corbel"/>
              </a:defRPr>
            </a:lvl9pPr>
          </a:lstStyle>
          <a:p>
            <a:endParaRPr/>
          </a:p>
        </p:txBody>
      </p:sp>
      <p:sp>
        <p:nvSpPr>
          <p:cNvPr id="92" name="Google Shape;92;p20"/>
          <p:cNvSpPr txBox="1">
            <a:spLocks noGrp="1"/>
          </p:cNvSpPr>
          <p:nvPr>
            <p:ph type="dt" idx="10"/>
          </p:nvPr>
        </p:nvSpPr>
        <p:spPr>
          <a:xfrm>
            <a:off x="1142996" y="6223828"/>
            <a:ext cx="232907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93" name="Google Shape;93;p20"/>
          <p:cNvSpPr txBox="1">
            <a:spLocks noGrp="1"/>
          </p:cNvSpPr>
          <p:nvPr>
            <p:ph type="ftr" idx="11"/>
          </p:nvPr>
        </p:nvSpPr>
        <p:spPr>
          <a:xfrm>
            <a:off x="3949148" y="6223828"/>
            <a:ext cx="471777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accent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lt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lt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lt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lt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lt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lt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lt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lt1"/>
                </a:solidFill>
                <a:latin typeface="Corbel"/>
                <a:ea typeface="Corbel"/>
                <a:cs typeface="Corbel"/>
                <a:sym typeface="Corbel"/>
              </a:defRPr>
            </a:lvl9pPr>
          </a:lstStyle>
          <a:p>
            <a:endParaRPr/>
          </a:p>
        </p:txBody>
      </p:sp>
      <p:sp>
        <p:nvSpPr>
          <p:cNvPr id="94" name="Google Shape;94;p20"/>
          <p:cNvSpPr txBox="1">
            <a:spLocks noGrp="1"/>
          </p:cNvSpPr>
          <p:nvPr>
            <p:ph type="sldNum" idx="12"/>
          </p:nvPr>
        </p:nvSpPr>
        <p:spPr>
          <a:xfrm>
            <a:off x="9329530" y="6223828"/>
            <a:ext cx="170621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accent1"/>
                </a:solidFill>
                <a:latin typeface="Corbel"/>
                <a:ea typeface="Corbel"/>
                <a:cs typeface="Corbel"/>
                <a:sym typeface="Corbel"/>
              </a:defRPr>
            </a:lvl1pPr>
            <a:lvl2pPr marL="0" marR="0" lvl="1" indent="0" algn="r" rtl="0">
              <a:spcBef>
                <a:spcPts val="0"/>
              </a:spcBef>
              <a:buNone/>
              <a:defRPr sz="1200" b="0" i="0" u="none" strike="noStrike" cap="none">
                <a:solidFill>
                  <a:schemeClr val="accent1"/>
                </a:solidFill>
                <a:latin typeface="Corbel"/>
                <a:ea typeface="Corbel"/>
                <a:cs typeface="Corbel"/>
                <a:sym typeface="Corbel"/>
              </a:defRPr>
            </a:lvl2pPr>
            <a:lvl3pPr marL="0" marR="0" lvl="2" indent="0" algn="r" rtl="0">
              <a:spcBef>
                <a:spcPts val="0"/>
              </a:spcBef>
              <a:buNone/>
              <a:defRPr sz="1200" b="0" i="0" u="none" strike="noStrike" cap="none">
                <a:solidFill>
                  <a:schemeClr val="accent1"/>
                </a:solidFill>
                <a:latin typeface="Corbel"/>
                <a:ea typeface="Corbel"/>
                <a:cs typeface="Corbel"/>
                <a:sym typeface="Corbel"/>
              </a:defRPr>
            </a:lvl3pPr>
            <a:lvl4pPr marL="0" marR="0" lvl="3" indent="0" algn="r" rtl="0">
              <a:spcBef>
                <a:spcPts val="0"/>
              </a:spcBef>
              <a:buNone/>
              <a:defRPr sz="1200" b="0" i="0" u="none" strike="noStrike" cap="none">
                <a:solidFill>
                  <a:schemeClr val="accent1"/>
                </a:solidFill>
                <a:latin typeface="Corbel"/>
                <a:ea typeface="Corbel"/>
                <a:cs typeface="Corbel"/>
                <a:sym typeface="Corbel"/>
              </a:defRPr>
            </a:lvl4pPr>
            <a:lvl5pPr marL="0" marR="0" lvl="4" indent="0" algn="r" rtl="0">
              <a:spcBef>
                <a:spcPts val="0"/>
              </a:spcBef>
              <a:buNone/>
              <a:defRPr sz="1200" b="0" i="0" u="none" strike="noStrike" cap="none">
                <a:solidFill>
                  <a:schemeClr val="accent1"/>
                </a:solidFill>
                <a:latin typeface="Corbel"/>
                <a:ea typeface="Corbel"/>
                <a:cs typeface="Corbel"/>
                <a:sym typeface="Corbel"/>
              </a:defRPr>
            </a:lvl5pPr>
            <a:lvl6pPr marL="0" marR="0" lvl="5" indent="0" algn="r" rtl="0">
              <a:spcBef>
                <a:spcPts val="0"/>
              </a:spcBef>
              <a:buNone/>
              <a:defRPr sz="1200" b="0" i="0" u="none" strike="noStrike" cap="none">
                <a:solidFill>
                  <a:schemeClr val="accent1"/>
                </a:solidFill>
                <a:latin typeface="Corbel"/>
                <a:ea typeface="Corbel"/>
                <a:cs typeface="Corbel"/>
                <a:sym typeface="Corbel"/>
              </a:defRPr>
            </a:lvl6pPr>
            <a:lvl7pPr marL="0" marR="0" lvl="6" indent="0" algn="r" rtl="0">
              <a:spcBef>
                <a:spcPts val="0"/>
              </a:spcBef>
              <a:buNone/>
              <a:defRPr sz="1200" b="0" i="0" u="none" strike="noStrike" cap="none">
                <a:solidFill>
                  <a:schemeClr val="accent1"/>
                </a:solidFill>
                <a:latin typeface="Corbel"/>
                <a:ea typeface="Corbel"/>
                <a:cs typeface="Corbel"/>
                <a:sym typeface="Corbel"/>
              </a:defRPr>
            </a:lvl7pPr>
            <a:lvl8pPr marL="0" marR="0" lvl="7" indent="0" algn="r" rtl="0">
              <a:spcBef>
                <a:spcPts val="0"/>
              </a:spcBef>
              <a:buNone/>
              <a:defRPr sz="1200" b="0" i="0" u="none" strike="noStrike" cap="none">
                <a:solidFill>
                  <a:schemeClr val="accent1"/>
                </a:solidFill>
                <a:latin typeface="Corbel"/>
                <a:ea typeface="Corbel"/>
                <a:cs typeface="Corbel"/>
                <a:sym typeface="Corbel"/>
              </a:defRPr>
            </a:lvl8pPr>
            <a:lvl9pPr marL="0" marR="0" lvl="8" indent="0" algn="r" rtl="0">
              <a:spcBef>
                <a:spcPts val="0"/>
              </a:spcBef>
              <a:buNone/>
              <a:defRPr sz="1200" b="0" i="0" u="none" strike="noStrike" cap="none">
                <a:solidFill>
                  <a:schemeClr val="accent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notesSlide" Target="../notesSlides/notesSlide12.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05"/>
        <p:cNvGrpSpPr/>
        <p:nvPr/>
      </p:nvGrpSpPr>
      <p:grpSpPr>
        <a:xfrm>
          <a:off x="0" y="0"/>
          <a:ext cx="0" cy="0"/>
          <a:chOff x="0" y="0"/>
          <a:chExt cx="0" cy="0"/>
        </a:xfrm>
      </p:grpSpPr>
      <p:sp>
        <p:nvSpPr>
          <p:cNvPr id="106" name="Google Shape;106;p1"/>
          <p:cNvSpPr txBox="1">
            <a:spLocks noGrp="1"/>
          </p:cNvSpPr>
          <p:nvPr>
            <p:ph type="ctrTitle"/>
          </p:nvPr>
        </p:nvSpPr>
        <p:spPr>
          <a:xfrm>
            <a:off x="1524000" y="817561"/>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lt1"/>
              </a:buClr>
              <a:buSzPts val="3600"/>
              <a:buFont typeface="Helvetica Neue"/>
              <a:buNone/>
            </a:pPr>
            <a:r>
              <a:rPr lang="en-US" sz="3600" b="1">
                <a:solidFill>
                  <a:schemeClr val="lt1"/>
                </a:solidFill>
                <a:latin typeface="Helvetica Neue"/>
                <a:ea typeface="Helvetica Neue"/>
                <a:cs typeface="Helvetica Neue"/>
                <a:sym typeface="Helvetica Neue"/>
              </a:rPr>
              <a:t>BREAKING BARRIERS: THE FINANCIAL STRUGGLE OF TRANS STUDENTS IN PAYING FOR HIGHER EDUCATION</a:t>
            </a:r>
            <a:endParaRPr/>
          </a:p>
        </p:txBody>
      </p:sp>
      <p:sp>
        <p:nvSpPr>
          <p:cNvPr id="107" name="Google Shape;107;p1"/>
          <p:cNvSpPr txBox="1">
            <a:spLocks noGrp="1"/>
          </p:cNvSpPr>
          <p:nvPr>
            <p:ph type="subTitle" idx="1"/>
          </p:nvPr>
        </p:nvSpPr>
        <p:spPr>
          <a:xfrm>
            <a:off x="1709530" y="3869634"/>
            <a:ext cx="8767860" cy="138816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1760"/>
              <a:buNone/>
            </a:pPr>
            <a:r>
              <a:rPr lang="en-US">
                <a:solidFill>
                  <a:schemeClr val="lt1"/>
                </a:solidFill>
                <a:latin typeface="Helvetica Neue"/>
                <a:ea typeface="Helvetica Neue"/>
                <a:cs typeface="Helvetica Neue"/>
                <a:sym typeface="Helvetica Neue"/>
              </a:rPr>
              <a:t>Amanda D. Simpfenderfer (she/her), William &amp; Mary</a:t>
            </a:r>
            <a:endParaRPr/>
          </a:p>
          <a:p>
            <a:pPr marL="0" lvl="0" indent="0" algn="ctr" rtl="0">
              <a:lnSpc>
                <a:spcPct val="90000"/>
              </a:lnSpc>
              <a:spcBef>
                <a:spcPts val="1400"/>
              </a:spcBef>
              <a:spcAft>
                <a:spcPts val="0"/>
              </a:spcAft>
              <a:buSzPts val="1760"/>
              <a:buNone/>
            </a:pPr>
            <a:r>
              <a:rPr lang="en-US">
                <a:solidFill>
                  <a:schemeClr val="lt1"/>
                </a:solidFill>
                <a:latin typeface="Helvetica Neue"/>
                <a:ea typeface="Helvetica Neue"/>
                <a:cs typeface="Helvetica Neue"/>
                <a:sym typeface="Helvetica Neue"/>
              </a:rPr>
              <a:t>C. V. Dolan (they/them), University of Vermont</a:t>
            </a:r>
            <a:endParaRPr/>
          </a:p>
          <a:p>
            <a:pPr marL="0" lvl="0" indent="0" algn="ctr" rtl="0">
              <a:lnSpc>
                <a:spcPct val="90000"/>
              </a:lnSpc>
              <a:spcBef>
                <a:spcPts val="1400"/>
              </a:spcBef>
              <a:spcAft>
                <a:spcPts val="0"/>
              </a:spcAft>
              <a:buSzPts val="1760"/>
              <a:buNone/>
            </a:pPr>
            <a:r>
              <a:rPr lang="en-US">
                <a:solidFill>
                  <a:schemeClr val="lt1"/>
                </a:solidFill>
                <a:latin typeface="Helvetica Neue"/>
                <a:ea typeface="Helvetica Neue"/>
                <a:cs typeface="Helvetica Neue"/>
                <a:sym typeface="Helvetica Neue"/>
              </a:rPr>
              <a:t>Jason C. Garvey (he/him), University of Vermont</a:t>
            </a:r>
            <a:endParaRPr/>
          </a:p>
          <a:p>
            <a:pPr marL="0" lvl="0" indent="0" algn="ctr" rtl="0">
              <a:lnSpc>
                <a:spcPct val="90000"/>
              </a:lnSpc>
              <a:spcBef>
                <a:spcPts val="1400"/>
              </a:spcBef>
              <a:spcAft>
                <a:spcPts val="0"/>
              </a:spcAft>
              <a:buSzPts val="1760"/>
              <a:buNone/>
            </a:pPr>
            <a:endParaRPr>
              <a:solidFill>
                <a:schemeClr val="lt1"/>
              </a:solidFill>
              <a:latin typeface="Helvetica Neue"/>
              <a:ea typeface="Helvetica Neue"/>
              <a:cs typeface="Helvetica Neue"/>
              <a:sym typeface="Helvetica Neue"/>
            </a:endParaRPr>
          </a:p>
        </p:txBody>
      </p:sp>
      <p:pic>
        <p:nvPicPr>
          <p:cNvPr id="108" name="Google Shape;108;p1"/>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Social</a:t>
            </a:r>
            <a:r>
              <a:rPr lang="en-US" b="1">
                <a:solidFill>
                  <a:schemeClr val="dk1"/>
                </a:solidFill>
                <a:latin typeface="Helvetica Neue"/>
                <a:ea typeface="Helvetica Neue"/>
                <a:cs typeface="Helvetica Neue"/>
                <a:sym typeface="Helvetica Neue"/>
              </a:rPr>
              <a:t> </a:t>
            </a:r>
            <a:r>
              <a:rPr lang="en-US"/>
              <a:t>and</a:t>
            </a:r>
            <a:r>
              <a:rPr lang="en-US" b="1">
                <a:solidFill>
                  <a:schemeClr val="dk1"/>
                </a:solidFill>
                <a:latin typeface="Helvetica Neue"/>
                <a:ea typeface="Helvetica Neue"/>
                <a:cs typeface="Helvetica Neue"/>
                <a:sym typeface="Helvetica Neue"/>
              </a:rPr>
              <a:t> </a:t>
            </a:r>
            <a:r>
              <a:rPr lang="en-US"/>
              <a:t>Educational</a:t>
            </a:r>
            <a:r>
              <a:rPr lang="en-US" b="1">
                <a:solidFill>
                  <a:schemeClr val="dk1"/>
                </a:solidFill>
                <a:latin typeface="Helvetica Neue"/>
                <a:ea typeface="Helvetica Neue"/>
                <a:cs typeface="Helvetica Neue"/>
                <a:sym typeface="Helvetica Neue"/>
              </a:rPr>
              <a:t> </a:t>
            </a:r>
            <a:r>
              <a:rPr lang="en-US"/>
              <a:t>Relevance</a:t>
            </a:r>
            <a:endParaRPr/>
          </a:p>
        </p:txBody>
      </p:sp>
      <p:sp>
        <p:nvSpPr>
          <p:cNvPr id="115" name="Google Shape;115;p2"/>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p>
            <a:pPr marL="457200" lvl="0" indent="-320040" algn="l" rtl="0">
              <a:lnSpc>
                <a:spcPct val="90000"/>
              </a:lnSpc>
              <a:spcBef>
                <a:spcPts val="0"/>
              </a:spcBef>
              <a:spcAft>
                <a:spcPts val="600"/>
              </a:spcAft>
              <a:buSzPts val="1440"/>
              <a:buChar char="•"/>
            </a:pPr>
            <a:r>
              <a:rPr lang="en-US" dirty="0"/>
              <a:t>Rising cost of higher education</a:t>
            </a:r>
            <a:endParaRPr dirty="0"/>
          </a:p>
          <a:p>
            <a:pPr marL="457200" lvl="0" indent="-320040" algn="l" rtl="0">
              <a:lnSpc>
                <a:spcPct val="90000"/>
              </a:lnSpc>
              <a:spcBef>
                <a:spcPts val="0"/>
              </a:spcBef>
              <a:spcAft>
                <a:spcPts val="600"/>
              </a:spcAft>
              <a:buSzPts val="1440"/>
              <a:buChar char="•"/>
            </a:pPr>
            <a:r>
              <a:rPr lang="en-US" dirty="0"/>
              <a:t>Trans students are rarely centered in college access research</a:t>
            </a:r>
            <a:endParaRPr dirty="0"/>
          </a:p>
          <a:p>
            <a:pPr marL="457200" lvl="0" indent="-320040" algn="l" rtl="0">
              <a:lnSpc>
                <a:spcPct val="90000"/>
              </a:lnSpc>
              <a:spcBef>
                <a:spcPts val="0"/>
              </a:spcBef>
              <a:spcAft>
                <a:spcPts val="600"/>
              </a:spcAft>
              <a:buSzPts val="1440"/>
              <a:buChar char="•"/>
            </a:pPr>
            <a:r>
              <a:rPr lang="en-US" dirty="0"/>
              <a:t>Trans students face rejecting parents, affecting their financial access</a:t>
            </a:r>
            <a:endParaRPr dirty="0"/>
          </a:p>
          <a:p>
            <a:pPr marL="457200" lvl="0" indent="-320040" algn="l" rtl="0">
              <a:lnSpc>
                <a:spcPct val="90000"/>
              </a:lnSpc>
              <a:spcBef>
                <a:spcPts val="0"/>
              </a:spcBef>
              <a:spcAft>
                <a:spcPts val="600"/>
              </a:spcAft>
              <a:buSzPts val="1440"/>
              <a:buChar char="•"/>
            </a:pPr>
            <a:r>
              <a:rPr lang="en-US" dirty="0"/>
              <a:t>We use latent class analysis (LCA) to examine:</a:t>
            </a:r>
            <a:endParaRPr dirty="0"/>
          </a:p>
          <a:p>
            <a:pPr marL="914400" lvl="1" indent="-320040" algn="l" rtl="0">
              <a:spcBef>
                <a:spcPts val="0"/>
              </a:spcBef>
              <a:spcAft>
                <a:spcPts val="600"/>
              </a:spcAft>
              <a:buSzPts val="1440"/>
              <a:buChar char="•"/>
            </a:pPr>
            <a:r>
              <a:rPr lang="en-US" dirty="0"/>
              <a:t>What distinct groups establish how high school trans students differ in expectations of financial resources for college? </a:t>
            </a:r>
            <a:endParaRPr dirty="0"/>
          </a:p>
          <a:p>
            <a:pPr marL="914400" lvl="1" indent="-320040" algn="l" rtl="0">
              <a:spcBef>
                <a:spcPts val="0"/>
              </a:spcBef>
              <a:spcAft>
                <a:spcPts val="600"/>
              </a:spcAft>
              <a:buSzPts val="1440"/>
              <a:buChar char="•"/>
            </a:pPr>
            <a:r>
              <a:rPr lang="en-US" dirty="0"/>
              <a:t>Does group membership related to trans students’ expectations of financial resources predict the likelihood that they will enroll in college?</a:t>
            </a:r>
            <a:endParaRPr dirty="0"/>
          </a:p>
        </p:txBody>
      </p:sp>
      <p:pic>
        <p:nvPicPr>
          <p:cNvPr id="116" name="Google Shape;116;p2"/>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Literature</a:t>
            </a:r>
            <a:r>
              <a:rPr lang="en-US" b="1">
                <a:solidFill>
                  <a:schemeClr val="dk1"/>
                </a:solidFill>
                <a:latin typeface="Helvetica Neue"/>
                <a:ea typeface="Helvetica Neue"/>
                <a:cs typeface="Helvetica Neue"/>
                <a:sym typeface="Helvetica Neue"/>
              </a:rPr>
              <a:t> </a:t>
            </a:r>
            <a:r>
              <a:rPr lang="en-US"/>
              <a:t>Review</a:t>
            </a:r>
            <a:endParaRPr/>
          </a:p>
        </p:txBody>
      </p:sp>
      <p:sp>
        <p:nvSpPr>
          <p:cNvPr id="123" name="Google Shape;123;p3"/>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p>
            <a:pPr lvl="0">
              <a:spcBef>
                <a:spcPts val="0"/>
              </a:spcBef>
              <a:spcAft>
                <a:spcPts val="600"/>
              </a:spcAft>
            </a:pPr>
            <a:r>
              <a:rPr lang="en-US" dirty="0"/>
              <a:t>Applicants often patch together multiple forms of financial aid to afford college</a:t>
            </a:r>
            <a:endParaRPr dirty="0"/>
          </a:p>
          <a:p>
            <a:pPr lvl="0">
              <a:spcBef>
                <a:spcPts val="0"/>
              </a:spcBef>
              <a:spcAft>
                <a:spcPts val="600"/>
              </a:spcAft>
            </a:pPr>
            <a:r>
              <a:rPr lang="en-US" dirty="0"/>
              <a:t>Rising costs and low levels of financial literacy among college hopefuls</a:t>
            </a:r>
            <a:endParaRPr dirty="0"/>
          </a:p>
          <a:p>
            <a:pPr lvl="0">
              <a:spcBef>
                <a:spcPts val="0"/>
              </a:spcBef>
              <a:spcAft>
                <a:spcPts val="600"/>
              </a:spcAft>
            </a:pPr>
            <a:r>
              <a:rPr lang="en-US" dirty="0"/>
              <a:t>Family contributions are increasingly important for college access</a:t>
            </a:r>
            <a:endParaRPr dirty="0"/>
          </a:p>
          <a:p>
            <a:pPr lvl="0">
              <a:spcBef>
                <a:spcPts val="0"/>
              </a:spcBef>
              <a:spcAft>
                <a:spcPts val="600"/>
              </a:spcAft>
            </a:pPr>
            <a:r>
              <a:rPr lang="en-US" dirty="0"/>
              <a:t>Trans youth fear and experience rejection from families, affecting their reliance on family contributions or capacity to use the FAFSA</a:t>
            </a:r>
            <a:endParaRPr dirty="0"/>
          </a:p>
        </p:txBody>
      </p:sp>
      <p:pic>
        <p:nvPicPr>
          <p:cNvPr id="124" name="Google Shape;124;p3"/>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Theoretical</a:t>
            </a:r>
            <a:r>
              <a:rPr lang="en-US" b="1">
                <a:solidFill>
                  <a:schemeClr val="dk1"/>
                </a:solidFill>
                <a:latin typeface="Helvetica Neue"/>
                <a:ea typeface="Helvetica Neue"/>
                <a:cs typeface="Helvetica Neue"/>
                <a:sym typeface="Helvetica Neue"/>
              </a:rPr>
              <a:t> </a:t>
            </a:r>
            <a:r>
              <a:rPr lang="en-US"/>
              <a:t>Frameworks</a:t>
            </a:r>
            <a:endParaRPr/>
          </a:p>
        </p:txBody>
      </p:sp>
      <p:sp>
        <p:nvSpPr>
          <p:cNvPr id="131" name="Google Shape;131;p4"/>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p>
            <a:pPr lvl="0">
              <a:spcBef>
                <a:spcPts val="0"/>
              </a:spcBef>
              <a:spcAft>
                <a:spcPts val="600"/>
              </a:spcAft>
            </a:pPr>
            <a:r>
              <a:rPr lang="en-US" dirty="0" err="1"/>
              <a:t>Perna’s</a:t>
            </a:r>
            <a:r>
              <a:rPr lang="en-US" dirty="0"/>
              <a:t> (2000) model on college access: econometric model that integrates social and cultural capital for BIPOC students</a:t>
            </a:r>
            <a:endParaRPr dirty="0"/>
          </a:p>
          <a:p>
            <a:pPr lvl="0">
              <a:spcBef>
                <a:spcPts val="0"/>
              </a:spcBef>
              <a:spcAft>
                <a:spcPts val="600"/>
              </a:spcAft>
            </a:pPr>
            <a:r>
              <a:rPr lang="en-US" dirty="0" err="1"/>
              <a:t>Iloh’s</a:t>
            </a:r>
            <a:r>
              <a:rPr lang="en-US" dirty="0"/>
              <a:t> (2019) model for college going: recognizing importance of information, opportunity, and time for BIPOC students’ accessing college</a:t>
            </a:r>
            <a:endParaRPr dirty="0"/>
          </a:p>
        </p:txBody>
      </p:sp>
      <p:pic>
        <p:nvPicPr>
          <p:cNvPr id="132" name="Google Shape;132;p4"/>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36"/>
        <p:cNvGrpSpPr/>
        <p:nvPr/>
      </p:nvGrpSpPr>
      <p:grpSpPr>
        <a:xfrm>
          <a:off x="0" y="0"/>
          <a:ext cx="0" cy="0"/>
          <a:chOff x="0" y="0"/>
          <a:chExt cx="0" cy="0"/>
        </a:xfrm>
      </p:grpSpPr>
      <p:sp>
        <p:nvSpPr>
          <p:cNvPr id="137" name="Google Shape;137;p5"/>
          <p:cNvSpPr/>
          <p:nvPr/>
        </p:nvSpPr>
        <p:spPr>
          <a:xfrm>
            <a:off x="231140" y="243840"/>
            <a:ext cx="11724640" cy="6377939"/>
          </a:xfrm>
          <a:prstGeom prst="rect">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38" name="Google Shape;138;p5"/>
          <p:cNvSpPr/>
          <p:nvPr/>
        </p:nvSpPr>
        <p:spPr>
          <a:xfrm>
            <a:off x="231140" y="243840"/>
            <a:ext cx="11724640" cy="6377939"/>
          </a:xfrm>
          <a:prstGeom prst="rect">
            <a:avLst/>
          </a:prstGeom>
          <a:solidFill>
            <a:schemeClr val="accent1"/>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cxnSp>
        <p:nvCxnSpPr>
          <p:cNvPr id="139" name="Google Shape;139;p5"/>
          <p:cNvCxnSpPr/>
          <p:nvPr/>
        </p:nvCxnSpPr>
        <p:spPr>
          <a:xfrm>
            <a:off x="1978660" y="3733800"/>
            <a:ext cx="8229601" cy="0"/>
          </a:xfrm>
          <a:prstGeom prst="straightConnector1">
            <a:avLst/>
          </a:prstGeom>
          <a:noFill/>
          <a:ln w="10000" cap="flat" cmpd="sng">
            <a:solidFill>
              <a:srgbClr val="FFFFFF"/>
            </a:solidFill>
            <a:prstDash val="solid"/>
            <a:round/>
            <a:headEnd type="none" w="sm" len="sm"/>
            <a:tailEnd type="none" w="sm" len="sm"/>
          </a:ln>
        </p:spPr>
      </p:cxnSp>
      <p:sp>
        <p:nvSpPr>
          <p:cNvPr id="140" name="Google Shape;140;p5"/>
          <p:cNvSpPr/>
          <p:nvPr/>
        </p:nvSpPr>
        <p:spPr>
          <a:xfrm>
            <a:off x="0" y="0"/>
            <a:ext cx="12191999" cy="685799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41" name="Google Shape;141;p5"/>
          <p:cNvSpPr txBox="1">
            <a:spLocks noGrp="1"/>
          </p:cNvSpPr>
          <p:nvPr>
            <p:ph type="title"/>
          </p:nvPr>
        </p:nvSpPr>
        <p:spPr>
          <a:xfrm>
            <a:off x="874605" y="799786"/>
            <a:ext cx="6579473" cy="5258429"/>
          </a:xfrm>
          <a:prstGeom prst="rect">
            <a:avLst/>
          </a:prstGeom>
          <a:noFill/>
          <a:ln>
            <a:noFill/>
          </a:ln>
        </p:spPr>
        <p:txBody>
          <a:bodyPr spcFirstLastPara="1" wrap="square" lIns="91425" tIns="45700" rIns="91425" bIns="45700" anchor="ctr" anchorCtr="0">
            <a:normAutofit/>
          </a:bodyPr>
          <a:lstStyle/>
          <a:p>
            <a:pPr marL="0" lvl="0" indent="0" algn="r" rtl="0">
              <a:lnSpc>
                <a:spcPct val="85000"/>
              </a:lnSpc>
              <a:spcBef>
                <a:spcPts val="0"/>
              </a:spcBef>
              <a:spcAft>
                <a:spcPts val="0"/>
              </a:spcAft>
              <a:buClr>
                <a:schemeClr val="lt1"/>
              </a:buClr>
              <a:buSzPts val="5400"/>
              <a:buFont typeface="Corbel"/>
              <a:buNone/>
            </a:pPr>
            <a:r>
              <a:rPr lang="en-US" sz="5400" b="1">
                <a:solidFill>
                  <a:schemeClr val="lt1"/>
                </a:solidFill>
              </a:rPr>
              <a:t>METHODS</a:t>
            </a:r>
            <a:endParaRPr/>
          </a:p>
        </p:txBody>
      </p:sp>
      <p:sp>
        <p:nvSpPr>
          <p:cNvPr id="142" name="Google Shape;142;p5"/>
          <p:cNvSpPr txBox="1">
            <a:spLocks noGrp="1"/>
          </p:cNvSpPr>
          <p:nvPr>
            <p:ph type="body" idx="1"/>
          </p:nvPr>
        </p:nvSpPr>
        <p:spPr>
          <a:xfrm>
            <a:off x="8131666" y="799786"/>
            <a:ext cx="3145623" cy="52584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920"/>
              <a:buNone/>
            </a:pPr>
            <a:endParaRPr sz="2400">
              <a:solidFill>
                <a:schemeClr val="lt1"/>
              </a:solidFill>
            </a:endParaRPr>
          </a:p>
        </p:txBody>
      </p:sp>
      <p:cxnSp>
        <p:nvCxnSpPr>
          <p:cNvPr id="143" name="Google Shape;143;p5"/>
          <p:cNvCxnSpPr/>
          <p:nvPr/>
        </p:nvCxnSpPr>
        <p:spPr>
          <a:xfrm>
            <a:off x="7792872" y="2213688"/>
            <a:ext cx="0" cy="2430624"/>
          </a:xfrm>
          <a:prstGeom prst="straightConnector1">
            <a:avLst/>
          </a:prstGeom>
          <a:noFill/>
          <a:ln w="12700" cap="flat" cmpd="sng">
            <a:solidFill>
              <a:schemeClr val="lt1"/>
            </a:solidFill>
            <a:prstDash val="solid"/>
            <a:round/>
            <a:headEnd type="none" w="sm" len="sm"/>
            <a:tailEnd type="none" w="sm" len="sm"/>
          </a:ln>
        </p:spPr>
      </p:cxnSp>
      <p:pic>
        <p:nvPicPr>
          <p:cNvPr id="144" name="Google Shape;144;p5"/>
          <p:cNvPicPr preferRelativeResize="0"/>
          <p:nvPr/>
        </p:nvPicPr>
        <p:blipFill rotWithShape="1">
          <a:blip r:embed="rId3">
            <a:alphaModFix/>
          </a:blip>
          <a:srcRect/>
          <a:stretch/>
        </p:blipFill>
        <p:spPr>
          <a:xfrm>
            <a:off x="9387597" y="5474087"/>
            <a:ext cx="2804403" cy="13839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48"/>
        <p:cNvGrpSpPr/>
        <p:nvPr/>
      </p:nvGrpSpPr>
      <p:grpSpPr>
        <a:xfrm>
          <a:off x="0" y="0"/>
          <a:ext cx="0" cy="0"/>
          <a:chOff x="0" y="0"/>
          <a:chExt cx="0" cy="0"/>
        </a:xfrm>
      </p:grpSpPr>
      <p:sp>
        <p:nvSpPr>
          <p:cNvPr id="149" name="Google Shape;149;p6"/>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Quantitative</a:t>
            </a:r>
            <a:r>
              <a:rPr lang="en-US" b="1">
                <a:solidFill>
                  <a:schemeClr val="dk1"/>
                </a:solidFill>
                <a:latin typeface="Helvetica Neue"/>
                <a:ea typeface="Helvetica Neue"/>
                <a:cs typeface="Helvetica Neue"/>
                <a:sym typeface="Helvetica Neue"/>
              </a:rPr>
              <a:t> </a:t>
            </a:r>
            <a:r>
              <a:rPr lang="en-US"/>
              <a:t>Criticalism</a:t>
            </a:r>
            <a:br>
              <a:rPr lang="en-US" b="1">
                <a:solidFill>
                  <a:schemeClr val="dk1"/>
                </a:solidFill>
                <a:latin typeface="Helvetica Neue"/>
                <a:ea typeface="Helvetica Neue"/>
                <a:cs typeface="Helvetica Neue"/>
                <a:sym typeface="Helvetica Neue"/>
              </a:rPr>
            </a:br>
            <a:endParaRPr b="1">
              <a:solidFill>
                <a:schemeClr val="dk1"/>
              </a:solidFill>
              <a:latin typeface="Helvetica Neue"/>
              <a:ea typeface="Helvetica Neue"/>
              <a:cs typeface="Helvetica Neue"/>
              <a:sym typeface="Helvetica Neue"/>
            </a:endParaRPr>
          </a:p>
        </p:txBody>
      </p:sp>
      <p:sp>
        <p:nvSpPr>
          <p:cNvPr id="150" name="Google Shape;150;p6"/>
          <p:cNvSpPr txBox="1">
            <a:spLocks noGrp="1"/>
          </p:cNvSpPr>
          <p:nvPr>
            <p:ph type="body" idx="1"/>
          </p:nvPr>
        </p:nvSpPr>
        <p:spPr>
          <a:xfrm>
            <a:off x="1143000" y="1813718"/>
            <a:ext cx="8831580" cy="4351338"/>
          </a:xfrm>
          <a:prstGeom prst="rect">
            <a:avLst/>
          </a:prstGeom>
          <a:noFill/>
          <a:ln>
            <a:noFill/>
          </a:ln>
        </p:spPr>
        <p:txBody>
          <a:bodyPr spcFirstLastPara="1" wrap="square" lIns="91425" tIns="45700" rIns="91425" bIns="45700" anchor="t" anchorCtr="0">
            <a:normAutofit/>
          </a:bodyPr>
          <a:lstStyle/>
          <a:p>
            <a:pPr marL="251460" lvl="0" indent="-320040">
              <a:spcBef>
                <a:spcPts val="0"/>
              </a:spcBef>
              <a:spcAft>
                <a:spcPts val="600"/>
              </a:spcAft>
              <a:buSzPts val="1440"/>
            </a:pPr>
            <a:r>
              <a:rPr lang="en-US" dirty="0"/>
              <a:t>Centering oppression embedded in society</a:t>
            </a:r>
            <a:endParaRPr dirty="0"/>
          </a:p>
          <a:p>
            <a:pPr marL="251460" lvl="0" indent="-320040">
              <a:spcBef>
                <a:spcPts val="0"/>
              </a:spcBef>
              <a:spcAft>
                <a:spcPts val="600"/>
              </a:spcAft>
              <a:buSzPts val="1440"/>
            </a:pPr>
            <a:r>
              <a:rPr lang="en-US" dirty="0"/>
              <a:t>Non-neutrality of numbers</a:t>
            </a:r>
            <a:endParaRPr dirty="0"/>
          </a:p>
          <a:p>
            <a:pPr marL="251460" lvl="0" indent="-320040">
              <a:spcBef>
                <a:spcPts val="0"/>
              </a:spcBef>
              <a:spcAft>
                <a:spcPts val="600"/>
              </a:spcAft>
              <a:buSzPts val="1440"/>
            </a:pPr>
            <a:r>
              <a:rPr lang="en-US" dirty="0"/>
              <a:t>Categories are socially constructed</a:t>
            </a:r>
            <a:endParaRPr dirty="0"/>
          </a:p>
          <a:p>
            <a:pPr marL="251460" lvl="0" indent="-320040">
              <a:spcBef>
                <a:spcPts val="0"/>
              </a:spcBef>
              <a:spcAft>
                <a:spcPts val="600"/>
              </a:spcAft>
              <a:buSzPts val="1440"/>
            </a:pPr>
            <a:r>
              <a:rPr lang="en-US" dirty="0"/>
              <a:t>Data cannot speak for itself</a:t>
            </a:r>
            <a:endParaRPr dirty="0"/>
          </a:p>
        </p:txBody>
      </p:sp>
      <p:pic>
        <p:nvPicPr>
          <p:cNvPr id="151" name="Google Shape;151;p6"/>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56"/>
        <p:cNvGrpSpPr/>
        <p:nvPr/>
      </p:nvGrpSpPr>
      <p:grpSpPr>
        <a:xfrm>
          <a:off x="0" y="0"/>
          <a:ext cx="0" cy="0"/>
          <a:chOff x="0" y="0"/>
          <a:chExt cx="0" cy="0"/>
        </a:xfrm>
      </p:grpSpPr>
      <p:sp>
        <p:nvSpPr>
          <p:cNvPr id="157" name="Google Shape;157;p7"/>
          <p:cNvSpPr/>
          <p:nvPr/>
        </p:nvSpPr>
        <p:spPr>
          <a:xfrm>
            <a:off x="231140" y="243840"/>
            <a:ext cx="11724640" cy="6377939"/>
          </a:xfrm>
          <a:prstGeom prst="rect">
            <a:avLst/>
          </a:prstGeom>
          <a:solidFill>
            <a:srgbClr val="593470"/>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pic>
        <p:nvPicPr>
          <p:cNvPr id="158" name="Google Shape;158;p7"/>
          <p:cNvPicPr preferRelativeResize="0"/>
          <p:nvPr/>
        </p:nvPicPr>
        <p:blipFill rotWithShape="1">
          <a:blip r:embed="rId3">
            <a:alphaModFix amt="15000"/>
          </a:blip>
          <a:srcRect l="5409" r="6589" b="-1"/>
          <a:stretch/>
        </p:blipFill>
        <p:spPr>
          <a:xfrm>
            <a:off x="20" y="3808"/>
            <a:ext cx="12191980" cy="6858001"/>
          </a:xfrm>
          <a:prstGeom prst="rect">
            <a:avLst/>
          </a:prstGeom>
          <a:noFill/>
          <a:ln>
            <a:noFill/>
          </a:ln>
        </p:spPr>
      </p:pic>
      <p:sp>
        <p:nvSpPr>
          <p:cNvPr id="159" name="Google Shape;159;p7"/>
          <p:cNvSpPr/>
          <p:nvPr/>
        </p:nvSpPr>
        <p:spPr>
          <a:xfrm>
            <a:off x="228600" y="246888"/>
            <a:ext cx="11724640" cy="6377939"/>
          </a:xfrm>
          <a:prstGeom prst="rect">
            <a:avLst/>
          </a:prstGeom>
          <a:no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rbel"/>
              <a:ea typeface="Corbel"/>
              <a:cs typeface="Corbel"/>
              <a:sym typeface="Corbel"/>
            </a:endParaRPr>
          </a:p>
        </p:txBody>
      </p:sp>
      <p:sp>
        <p:nvSpPr>
          <p:cNvPr id="160" name="Google Shape;160;p7"/>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Helvetica Neue"/>
              <a:buNone/>
            </a:pPr>
            <a:r>
              <a:rPr lang="en-US" b="1">
                <a:solidFill>
                  <a:schemeClr val="lt1"/>
                </a:solidFill>
                <a:latin typeface="Helvetica Neue"/>
                <a:ea typeface="Helvetica Neue"/>
                <a:cs typeface="Helvetica Neue"/>
                <a:sym typeface="Helvetica Neue"/>
              </a:rPr>
              <a:t>Data Source and Sample</a:t>
            </a:r>
            <a:endParaRPr/>
          </a:p>
        </p:txBody>
      </p:sp>
      <p:sp>
        <p:nvSpPr>
          <p:cNvPr id="161" name="Google Shape;161;p7"/>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Autofit/>
          </a:bodyPr>
          <a:lstStyle/>
          <a:p>
            <a:pPr marL="228600" lvl="0" indent="-182880" algn="l" rtl="0">
              <a:lnSpc>
                <a:spcPct val="90000"/>
              </a:lnSpc>
              <a:spcBef>
                <a:spcPts val="0"/>
              </a:spcBef>
              <a:spcAft>
                <a:spcPts val="0"/>
              </a:spcAft>
              <a:buSzPts val="1440"/>
              <a:buChar char="•"/>
            </a:pPr>
            <a:r>
              <a:rPr lang="en-US" sz="1800" b="1" i="0" u="none" strike="noStrike">
                <a:solidFill>
                  <a:schemeClr val="lt1"/>
                </a:solidFill>
                <a:latin typeface="Helvetica Neue"/>
                <a:ea typeface="Helvetica Neue"/>
                <a:cs typeface="Helvetica Neue"/>
                <a:sym typeface="Helvetica Neue"/>
              </a:rPr>
              <a:t>Secondary data analysis</a:t>
            </a:r>
            <a:endParaRPr sz="1800" b="0">
              <a:solidFill>
                <a:schemeClr val="lt1"/>
              </a:solidFill>
              <a:latin typeface="Helvetica Neue"/>
              <a:ea typeface="Helvetica Neue"/>
              <a:cs typeface="Helvetica Neue"/>
              <a:sym typeface="Helvetica Neue"/>
            </a:endParaRPr>
          </a:p>
          <a:p>
            <a:pPr marL="457200" lvl="1" indent="-182880" algn="l" rtl="0">
              <a:lnSpc>
                <a:spcPct val="90000"/>
              </a:lnSpc>
              <a:spcBef>
                <a:spcPts val="10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NCES High School Longitudinal Study (HSLS:09) data (</a:t>
            </a:r>
            <a:r>
              <a:rPr lang="en-US" sz="1800" b="0" i="1" u="none" strike="noStrike">
                <a:solidFill>
                  <a:schemeClr val="lt1"/>
                </a:solidFill>
                <a:latin typeface="Helvetica Neue"/>
                <a:ea typeface="Helvetica Neue"/>
                <a:cs typeface="Helvetica Neue"/>
                <a:sym typeface="Helvetica Neue"/>
              </a:rPr>
              <a:t>n</a:t>
            </a:r>
            <a:r>
              <a:rPr lang="en-US" sz="1800" b="0" i="0" u="none" strike="noStrike">
                <a:solidFill>
                  <a:schemeClr val="lt1"/>
                </a:solidFill>
                <a:latin typeface="Helvetica Neue"/>
                <a:ea typeface="Helvetica Neue"/>
                <a:cs typeface="Helvetica Neue"/>
                <a:sym typeface="Helvetica Neue"/>
              </a:rPr>
              <a:t> = 24,000)</a:t>
            </a:r>
            <a:endParaRPr/>
          </a:p>
          <a:p>
            <a:pPr marL="457200" lvl="1" indent="-182880" algn="l" rtl="0">
              <a:lnSpc>
                <a:spcPct val="90000"/>
              </a:lnSpc>
              <a:spcBef>
                <a:spcPts val="14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First federal education data set that collects SOGI demographics</a:t>
            </a:r>
            <a:endParaRPr/>
          </a:p>
          <a:p>
            <a:pPr marL="228600" lvl="0" indent="-182880" algn="l" rtl="0">
              <a:lnSpc>
                <a:spcPct val="90000"/>
              </a:lnSpc>
              <a:spcBef>
                <a:spcPts val="18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Gender identity was collected during the second follow-up study in 2016, three years after students’ graduation. </a:t>
            </a:r>
            <a:endParaRPr/>
          </a:p>
          <a:p>
            <a:pPr marL="228600" lvl="0" indent="-182880" algn="l" rtl="0">
              <a:lnSpc>
                <a:spcPct val="90000"/>
              </a:lnSpc>
              <a:spcBef>
                <a:spcPts val="14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Respondents were presented with the question:</a:t>
            </a:r>
            <a:endParaRPr/>
          </a:p>
          <a:p>
            <a:pPr marL="457200" lvl="1" indent="-182880" algn="l" rtl="0">
              <a:lnSpc>
                <a:spcPct val="90000"/>
              </a:lnSpc>
              <a:spcBef>
                <a:spcPts val="2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 “What is your gender? Your gender is how you feel inside and can be the same or different than your biological sex” (HSLS: 09). </a:t>
            </a:r>
            <a:endParaRPr/>
          </a:p>
          <a:p>
            <a:pPr marL="228600" lvl="0" indent="-182880" algn="l" rtl="0">
              <a:lnSpc>
                <a:spcPct val="90000"/>
              </a:lnSpc>
              <a:spcBef>
                <a:spcPts val="18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Respondents were able to select from the list of options: </a:t>
            </a:r>
            <a:endParaRPr/>
          </a:p>
          <a:p>
            <a:pPr marL="457200" lvl="1" indent="-182880" algn="l" rtl="0">
              <a:lnSpc>
                <a:spcPct val="90000"/>
              </a:lnSpc>
              <a:spcBef>
                <a:spcPts val="2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female, male, genderqueer/gender nonconforming/other gender, not sure, transgender, female-to-male, transgender, and male-to-female. </a:t>
            </a:r>
            <a:endParaRPr/>
          </a:p>
          <a:p>
            <a:pPr marL="228600" lvl="0" indent="-182880" algn="l" rtl="0">
              <a:lnSpc>
                <a:spcPct val="90000"/>
              </a:lnSpc>
              <a:spcBef>
                <a:spcPts val="1800"/>
              </a:spcBef>
              <a:spcAft>
                <a:spcPts val="0"/>
              </a:spcAft>
              <a:buSzPts val="1440"/>
              <a:buChar char="•"/>
            </a:pPr>
            <a:r>
              <a:rPr lang="en-US" sz="1800" b="0" i="0" u="none" strike="noStrike">
                <a:solidFill>
                  <a:schemeClr val="lt1"/>
                </a:solidFill>
                <a:latin typeface="Helvetica Neue"/>
                <a:ea typeface="Helvetica Neue"/>
                <a:cs typeface="Helvetica Neue"/>
                <a:sym typeface="Helvetica Neue"/>
              </a:rPr>
              <a:t>260 trans respondents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Research Questions</a:t>
            </a:r>
            <a:endParaRPr/>
          </a:p>
        </p:txBody>
      </p:sp>
      <p:grpSp>
        <p:nvGrpSpPr>
          <p:cNvPr id="167" name="Google Shape;167;p8"/>
          <p:cNvGrpSpPr/>
          <p:nvPr/>
        </p:nvGrpSpPr>
        <p:grpSpPr>
          <a:xfrm>
            <a:off x="1143000" y="2915618"/>
            <a:ext cx="9872663" cy="2563293"/>
            <a:chOff x="0" y="617088"/>
            <a:chExt cx="9872663" cy="2563293"/>
          </a:xfrm>
        </p:grpSpPr>
        <p:sp>
          <p:nvSpPr>
            <p:cNvPr id="168" name="Google Shape;168;p8"/>
            <p:cNvSpPr/>
            <p:nvPr/>
          </p:nvSpPr>
          <p:spPr>
            <a:xfrm>
              <a:off x="0" y="617088"/>
              <a:ext cx="9872663" cy="113924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344620" y="873418"/>
              <a:ext cx="626582" cy="626582"/>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1315823" y="617088"/>
              <a:ext cx="8556839" cy="11392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txBox="1"/>
            <p:nvPr/>
          </p:nvSpPr>
          <p:spPr>
            <a:xfrm>
              <a:off x="1315823" y="617088"/>
              <a:ext cx="8556839" cy="1139241"/>
            </a:xfrm>
            <a:prstGeom prst="rect">
              <a:avLst/>
            </a:prstGeom>
            <a:noFill/>
            <a:ln>
              <a:noFill/>
            </a:ln>
          </p:spPr>
          <p:txBody>
            <a:bodyPr spcFirstLastPara="1" wrap="square" lIns="120550" tIns="120550" rIns="120550" bIns="120550" anchor="ctr" anchorCtr="0">
              <a:noAutofit/>
            </a:bodyPr>
            <a:lstStyle/>
            <a:p>
              <a:pPr marL="0" marR="0" lvl="0" indent="0" algn="l" rtl="0">
                <a:lnSpc>
                  <a:spcPct val="90000"/>
                </a:lnSpc>
                <a:spcBef>
                  <a:spcPts val="0"/>
                </a:spcBef>
                <a:spcAft>
                  <a:spcPts val="0"/>
                </a:spcAft>
                <a:buClr>
                  <a:schemeClr val="dk1"/>
                </a:buClr>
                <a:buSzPts val="2200"/>
                <a:buFont typeface="Corbel"/>
                <a:buNone/>
              </a:pPr>
              <a:r>
                <a:rPr lang="en-US" sz="2200">
                  <a:solidFill>
                    <a:schemeClr val="dk1"/>
                  </a:solidFill>
                  <a:latin typeface="Corbel"/>
                  <a:ea typeface="Corbel"/>
                  <a:cs typeface="Corbel"/>
                  <a:sym typeface="Corbel"/>
                </a:rPr>
                <a:t>1. What distinct groups establish how high school trans students differ in expectations of financial resources for college? </a:t>
              </a:r>
              <a:endParaRPr/>
            </a:p>
          </p:txBody>
        </p:sp>
        <p:sp>
          <p:nvSpPr>
            <p:cNvPr id="172" name="Google Shape;172;p8"/>
            <p:cNvSpPr/>
            <p:nvPr/>
          </p:nvSpPr>
          <p:spPr>
            <a:xfrm>
              <a:off x="0" y="2041140"/>
              <a:ext cx="9872663" cy="1139241"/>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344620" y="2297469"/>
              <a:ext cx="626582" cy="626582"/>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1315823" y="2041140"/>
              <a:ext cx="8556839" cy="11392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txBox="1"/>
            <p:nvPr/>
          </p:nvSpPr>
          <p:spPr>
            <a:xfrm>
              <a:off x="1315823" y="2041140"/>
              <a:ext cx="8556839" cy="1139241"/>
            </a:xfrm>
            <a:prstGeom prst="rect">
              <a:avLst/>
            </a:prstGeom>
            <a:noFill/>
            <a:ln>
              <a:noFill/>
            </a:ln>
          </p:spPr>
          <p:txBody>
            <a:bodyPr spcFirstLastPara="1" wrap="square" lIns="120550" tIns="120550" rIns="120550" bIns="120550" anchor="ctr" anchorCtr="0">
              <a:noAutofit/>
            </a:bodyPr>
            <a:lstStyle/>
            <a:p>
              <a:pPr marL="0" marR="0" lvl="0" indent="0" algn="l" rtl="0">
                <a:lnSpc>
                  <a:spcPct val="90000"/>
                </a:lnSpc>
                <a:spcBef>
                  <a:spcPts val="0"/>
                </a:spcBef>
                <a:spcAft>
                  <a:spcPts val="0"/>
                </a:spcAft>
                <a:buClr>
                  <a:schemeClr val="dk1"/>
                </a:buClr>
                <a:buSzPts val="2200"/>
                <a:buFont typeface="Corbel"/>
                <a:buNone/>
              </a:pPr>
              <a:r>
                <a:rPr lang="en-US" sz="2200">
                  <a:solidFill>
                    <a:schemeClr val="dk1"/>
                  </a:solidFill>
                  <a:latin typeface="Corbel"/>
                  <a:ea typeface="Corbel"/>
                  <a:cs typeface="Corbel"/>
                  <a:sym typeface="Corbel"/>
                </a:rPr>
                <a:t>2. Does group membership related to trans students’ expectations of financial resources predict the likelihood that they will enroll in college?</a:t>
              </a:r>
              <a:endParaRPr/>
            </a:p>
          </p:txBody>
        </p:sp>
      </p:grpSp>
      <p:pic>
        <p:nvPicPr>
          <p:cNvPr id="176" name="Google Shape;176;p8"/>
          <p:cNvPicPr preferRelativeResize="0"/>
          <p:nvPr/>
        </p:nvPicPr>
        <p:blipFill rotWithShape="1">
          <a:blip r:embed="rId6">
            <a:alphaModFix/>
          </a:blip>
          <a:srcRect/>
          <a:stretch/>
        </p:blipFill>
        <p:spPr>
          <a:xfrm>
            <a:off x="9390315" y="5472113"/>
            <a:ext cx="2801685" cy="1385887"/>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81"/>
        <p:cNvGrpSpPr/>
        <p:nvPr/>
      </p:nvGrpSpPr>
      <p:grpSpPr>
        <a:xfrm>
          <a:off x="0" y="0"/>
          <a:ext cx="0" cy="0"/>
          <a:chOff x="0" y="0"/>
          <a:chExt cx="0" cy="0"/>
        </a:xfrm>
      </p:grpSpPr>
      <p:sp>
        <p:nvSpPr>
          <p:cNvPr id="182" name="Google Shape;182;p9"/>
          <p:cNvSpPr txBox="1">
            <a:spLocks noGrp="1"/>
          </p:cNvSpPr>
          <p:nvPr>
            <p:ph type="title"/>
          </p:nvPr>
        </p:nvSpPr>
        <p:spPr>
          <a:xfrm>
            <a:off x="1520190" y="2750819"/>
            <a:ext cx="249174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Measures </a:t>
            </a:r>
            <a:endParaRPr/>
          </a:p>
        </p:txBody>
      </p:sp>
      <p:graphicFrame>
        <p:nvGraphicFramePr>
          <p:cNvPr id="183" name="Google Shape;183;p9" descr="Descriptive statistics of variables in the study"/>
          <p:cNvGraphicFramePr/>
          <p:nvPr>
            <p:extLst>
              <p:ext uri="{D42A27DB-BD31-4B8C-83A1-F6EECF244321}">
                <p14:modId xmlns:p14="http://schemas.microsoft.com/office/powerpoint/2010/main" val="3448746253"/>
              </p:ext>
            </p:extLst>
          </p:nvPr>
        </p:nvGraphicFramePr>
        <p:xfrm>
          <a:off x="5231130" y="264895"/>
          <a:ext cx="6080750" cy="6328208"/>
        </p:xfrm>
        <a:graphic>
          <a:graphicData uri="http://schemas.openxmlformats.org/drawingml/2006/table">
            <a:tbl>
              <a:tblPr firstRow="1" firstCol="1" bandRow="1">
                <a:noFill/>
                <a:tableStyleId>{EE926A8E-DED6-4407-9E19-FF2FEEB34DA9}</a:tableStyleId>
              </a:tblPr>
              <a:tblGrid>
                <a:gridCol w="3346425">
                  <a:extLst>
                    <a:ext uri="{9D8B030D-6E8A-4147-A177-3AD203B41FA5}">
                      <a16:colId xmlns:a16="http://schemas.microsoft.com/office/drawing/2014/main" val="20000"/>
                    </a:ext>
                  </a:extLst>
                </a:gridCol>
                <a:gridCol w="1002550">
                  <a:extLst>
                    <a:ext uri="{9D8B030D-6E8A-4147-A177-3AD203B41FA5}">
                      <a16:colId xmlns:a16="http://schemas.microsoft.com/office/drawing/2014/main" val="20001"/>
                    </a:ext>
                  </a:extLst>
                </a:gridCol>
                <a:gridCol w="1731775">
                  <a:extLst>
                    <a:ext uri="{9D8B030D-6E8A-4147-A177-3AD203B41FA5}">
                      <a16:colId xmlns:a16="http://schemas.microsoft.com/office/drawing/2014/main" val="20002"/>
                    </a:ext>
                  </a:extLst>
                </a:gridCol>
              </a:tblGrid>
              <a:tr h="213025">
                <a:tc>
                  <a:txBody>
                    <a:bodyPr/>
                    <a:lstStyle/>
                    <a:p>
                      <a:pPr marL="0" marR="0" lvl="0" indent="0" algn="l" rtl="0">
                        <a:lnSpc>
                          <a:spcPct val="107000"/>
                        </a:lnSpc>
                        <a:spcBef>
                          <a:spcPts val="0"/>
                        </a:spcBef>
                        <a:spcAft>
                          <a:spcPts val="0"/>
                        </a:spcAft>
                        <a:buNone/>
                      </a:pPr>
                      <a:r>
                        <a:rPr lang="en-US" sz="1400" u="none" strike="noStrike" cap="none"/>
                        <a:t> </a:t>
                      </a:r>
                      <a:endParaRPr sz="1400" u="none" strike="noStrike" cap="none">
                        <a:latin typeface="Calibri"/>
                        <a:ea typeface="Calibri"/>
                        <a:cs typeface="Calibri"/>
                        <a:sym typeface="Calibri"/>
                      </a:endParaRPr>
                    </a:p>
                  </a:txBody>
                  <a:tcPr marL="50125" marR="50125" marT="0" marB="0" anchor="ctr"/>
                </a:tc>
                <a:tc>
                  <a:txBody>
                    <a:bodyPr/>
                    <a:lstStyle/>
                    <a:p>
                      <a:pPr marL="0" marR="0" lvl="0" indent="0" algn="ctr" rtl="0">
                        <a:lnSpc>
                          <a:spcPct val="107000"/>
                        </a:lnSpc>
                        <a:spcBef>
                          <a:spcPts val="0"/>
                        </a:spcBef>
                        <a:spcAft>
                          <a:spcPts val="0"/>
                        </a:spcAft>
                        <a:buNone/>
                      </a:pPr>
                      <a:r>
                        <a:rPr lang="en-US" sz="1400" u="none" strike="noStrike" cap="none"/>
                        <a:t>n</a:t>
                      </a:r>
                      <a:endParaRPr sz="1400" u="none" strike="noStrike" cap="none">
                        <a:latin typeface="Calibri"/>
                        <a:ea typeface="Calibri"/>
                        <a:cs typeface="Calibri"/>
                        <a:sym typeface="Calibri"/>
                      </a:endParaRPr>
                    </a:p>
                  </a:txBody>
                  <a:tcPr marL="50125" marR="50125" marT="0" marB="0" anchor="ctr"/>
                </a:tc>
                <a:tc>
                  <a:txBody>
                    <a:bodyPr/>
                    <a:lstStyle/>
                    <a:p>
                      <a:pPr marL="0" marR="0" lvl="0" indent="0" algn="ctr" rtl="0">
                        <a:lnSpc>
                          <a:spcPct val="107000"/>
                        </a:lnSpc>
                        <a:spcBef>
                          <a:spcPts val="0"/>
                        </a:spcBef>
                        <a:spcAft>
                          <a:spcPts val="0"/>
                        </a:spcAft>
                        <a:buNone/>
                      </a:pPr>
                      <a:r>
                        <a:rPr lang="en-US" sz="1400" u="none" strike="noStrike" cap="none"/>
                        <a:t>%</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0"/>
                  </a:ext>
                </a:extLst>
              </a:tr>
              <a:tr h="213025">
                <a:tc gridSpan="3">
                  <a:txBody>
                    <a:bodyPr/>
                    <a:lstStyle/>
                    <a:p>
                      <a:pPr marL="0" marR="0" lvl="0" indent="0" algn="l" rtl="0">
                        <a:lnSpc>
                          <a:spcPct val="107000"/>
                        </a:lnSpc>
                        <a:spcBef>
                          <a:spcPts val="0"/>
                        </a:spcBef>
                        <a:spcAft>
                          <a:spcPts val="0"/>
                        </a:spcAft>
                        <a:buNone/>
                      </a:pPr>
                      <a:r>
                        <a:rPr lang="en-US" sz="1400" u="none" strike="noStrike" cap="none"/>
                        <a:t>Will qualify for financial aid based on financial need</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110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42.5%</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2"/>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60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22.2%</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3"/>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70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25.7%</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4"/>
                  </a:ext>
                </a:extLst>
              </a:tr>
              <a:tr h="213025">
                <a:tc gridSpan="3">
                  <a:txBody>
                    <a:bodyPr/>
                    <a:lstStyle/>
                    <a:p>
                      <a:pPr marL="0" marR="0" lvl="0" indent="0" algn="l" rtl="0">
                        <a:lnSpc>
                          <a:spcPct val="107000"/>
                        </a:lnSpc>
                        <a:spcBef>
                          <a:spcPts val="0"/>
                        </a:spcBef>
                        <a:spcAft>
                          <a:spcPts val="0"/>
                        </a:spcAft>
                        <a:buNone/>
                      </a:pPr>
                      <a:r>
                        <a:rPr lang="en-US" sz="1400" u="none" strike="noStrike" cap="none"/>
                        <a:t>Will qualify for financial aid based on academic achievement</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140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52.1%</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6"/>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40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13.8%</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7"/>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70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25.3%</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08"/>
                  </a:ext>
                </a:extLst>
              </a:tr>
              <a:tr h="213025">
                <a:tc gridSpan="3">
                  <a:txBody>
                    <a:bodyPr/>
                    <a:lstStyle/>
                    <a:p>
                      <a:pPr marL="0" marR="0" lvl="0" indent="0" algn="l" rtl="0">
                        <a:lnSpc>
                          <a:spcPct val="107000"/>
                        </a:lnSpc>
                        <a:spcBef>
                          <a:spcPts val="0"/>
                        </a:spcBef>
                        <a:spcAft>
                          <a:spcPts val="0"/>
                        </a:spcAft>
                        <a:buNone/>
                      </a:pPr>
                      <a:r>
                        <a:rPr lang="en-US" sz="1400" u="none" strike="noStrike" cap="none"/>
                        <a:t>Will qualify for any loans</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100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43.1%</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0"/>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40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18.4%</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1"/>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90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38.1%</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2"/>
                  </a:ext>
                </a:extLst>
              </a:tr>
              <a:tr h="213025">
                <a:tc gridSpan="3">
                  <a:txBody>
                    <a:bodyPr/>
                    <a:lstStyle/>
                    <a:p>
                      <a:pPr marL="0" marR="0" lvl="0" indent="0" algn="l" rtl="0">
                        <a:lnSpc>
                          <a:spcPct val="107000"/>
                        </a:lnSpc>
                        <a:spcBef>
                          <a:spcPts val="0"/>
                        </a:spcBef>
                        <a:spcAft>
                          <a:spcPts val="0"/>
                        </a:spcAft>
                        <a:buNone/>
                      </a:pPr>
                      <a:r>
                        <a:rPr lang="en-US" sz="1400" u="none" strike="noStrike" cap="none"/>
                        <a:t>Will pay for tuition/room/board w/ teen's own earnings/savings</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3"/>
                  </a:ext>
                </a:extLst>
              </a:tr>
              <a:tr h="213025">
                <a:tc>
                  <a:txBody>
                    <a:bodyPr/>
                    <a:lstStyle/>
                    <a:p>
                      <a:pPr marL="0" marR="0" lvl="0" indent="139700" algn="l" rtl="0">
                        <a:lnSpc>
                          <a:spcPct val="107000"/>
                        </a:lnSpc>
                        <a:spcBef>
                          <a:spcPts val="0"/>
                        </a:spcBef>
                        <a:spcAft>
                          <a:spcPts val="0"/>
                        </a:spcAft>
                        <a:buNone/>
                      </a:pPr>
                      <a:r>
                        <a:rPr lang="en-US" sz="1400" b="0" u="none" strike="noStrike" cap="none" dirty="0"/>
                        <a:t>1 = Yes</a:t>
                      </a:r>
                      <a:endParaRPr sz="1400" b="0" u="none" strike="noStrike" cap="none" dirty="0">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150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57.5%</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4"/>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40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13.8%</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5"/>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40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15.7%</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6"/>
                  </a:ext>
                </a:extLst>
              </a:tr>
              <a:tr h="219000">
                <a:tc gridSpan="3">
                  <a:txBody>
                    <a:bodyPr/>
                    <a:lstStyle/>
                    <a:p>
                      <a:pPr marL="0" marR="0" lvl="0" indent="0" algn="l" rtl="0">
                        <a:lnSpc>
                          <a:spcPct val="107000"/>
                        </a:lnSpc>
                        <a:spcBef>
                          <a:spcPts val="0"/>
                        </a:spcBef>
                        <a:spcAft>
                          <a:spcPts val="0"/>
                        </a:spcAft>
                        <a:buNone/>
                      </a:pPr>
                      <a:r>
                        <a:rPr lang="en-US" sz="1400" u="none" strike="noStrike" cap="none"/>
                        <a:t>Will pay for tuition/room/board w/ parents'/relatives' earnings/savings</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120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46.7%</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8"/>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50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17.6%</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19"/>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60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23.0%</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0"/>
                  </a:ext>
                </a:extLst>
              </a:tr>
              <a:tr h="213025">
                <a:tc gridSpan="3">
                  <a:txBody>
                    <a:bodyPr/>
                    <a:lstStyle/>
                    <a:p>
                      <a:pPr marL="0" marR="0" lvl="0" indent="0" algn="l" rtl="0">
                        <a:lnSpc>
                          <a:spcPct val="107000"/>
                        </a:lnSpc>
                        <a:spcBef>
                          <a:spcPts val="0"/>
                        </a:spcBef>
                        <a:spcAft>
                          <a:spcPts val="0"/>
                        </a:spcAft>
                        <a:buNone/>
                      </a:pPr>
                      <a:r>
                        <a:rPr lang="en-US" sz="1400" u="none" strike="noStrike" cap="none"/>
                        <a:t>Will pay for tuition/room/board w/ scholarships/grants</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1"/>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150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56.3%</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2"/>
                  </a:ext>
                </a:extLst>
              </a:tr>
              <a:tr h="177800">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30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11.9%</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3"/>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50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19.2%</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4"/>
                  </a:ext>
                </a:extLst>
              </a:tr>
              <a:tr h="213025">
                <a:tc gridSpan="3">
                  <a:txBody>
                    <a:bodyPr/>
                    <a:lstStyle/>
                    <a:p>
                      <a:pPr marL="0" marR="0" lvl="0" indent="0" algn="l" rtl="0">
                        <a:lnSpc>
                          <a:spcPct val="107000"/>
                        </a:lnSpc>
                        <a:spcBef>
                          <a:spcPts val="0"/>
                        </a:spcBef>
                        <a:spcAft>
                          <a:spcPts val="0"/>
                        </a:spcAft>
                        <a:buNone/>
                      </a:pPr>
                      <a:r>
                        <a:rPr lang="en-US" sz="1400" u="none" strike="noStrike" cap="none"/>
                        <a:t>Will pay for tuition/room/board w/ federal or state loans</a:t>
                      </a:r>
                      <a:endParaRPr sz="1400" u="none" strike="noStrike" cap="none">
                        <a:latin typeface="Calibri"/>
                        <a:ea typeface="Calibri"/>
                        <a:cs typeface="Calibri"/>
                        <a:sym typeface="Calibri"/>
                      </a:endParaRPr>
                    </a:p>
                  </a:txBody>
                  <a:tcPr marL="50125" marR="50125"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5"/>
                  </a:ext>
                </a:extLst>
              </a:tr>
              <a:tr h="213025">
                <a:tc>
                  <a:txBody>
                    <a:bodyPr/>
                    <a:lstStyle/>
                    <a:p>
                      <a:pPr marL="0" marR="0" lvl="0" indent="139700" algn="l" rtl="0">
                        <a:lnSpc>
                          <a:spcPct val="107000"/>
                        </a:lnSpc>
                        <a:spcBef>
                          <a:spcPts val="0"/>
                        </a:spcBef>
                        <a:spcAft>
                          <a:spcPts val="0"/>
                        </a:spcAft>
                        <a:buNone/>
                      </a:pPr>
                      <a:r>
                        <a:rPr lang="en-US" sz="1400" b="0" u="none" strike="noStrike" cap="none"/>
                        <a:t>1 = Yes</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80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29.1%</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6"/>
                  </a:ext>
                </a:extLst>
              </a:tr>
              <a:tr h="213025">
                <a:tc>
                  <a:txBody>
                    <a:bodyPr/>
                    <a:lstStyle/>
                    <a:p>
                      <a:pPr marL="0" marR="0" lvl="0" indent="139700" algn="l" rtl="0">
                        <a:lnSpc>
                          <a:spcPct val="107000"/>
                        </a:lnSpc>
                        <a:spcBef>
                          <a:spcPts val="0"/>
                        </a:spcBef>
                        <a:spcAft>
                          <a:spcPts val="0"/>
                        </a:spcAft>
                        <a:buNone/>
                      </a:pPr>
                      <a:r>
                        <a:rPr lang="en-US" sz="1400" b="0" u="none" strike="noStrike" cap="none"/>
                        <a:t>2 = No</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60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a:t>22.6%</a:t>
                      </a:r>
                      <a:endParaRPr sz="1400" u="none" strike="noStrike" cap="none">
                        <a:latin typeface="Calibri"/>
                        <a:ea typeface="Calibri"/>
                        <a:cs typeface="Calibri"/>
                        <a:sym typeface="Calibri"/>
                      </a:endParaRPr>
                    </a:p>
                  </a:txBody>
                  <a:tcPr marL="50125" marR="50125" marT="0" marB="0" anchor="ctr"/>
                </a:tc>
                <a:extLst>
                  <a:ext uri="{0D108BD9-81ED-4DB2-BD59-A6C34878D82A}">
                    <a16:rowId xmlns:a16="http://schemas.microsoft.com/office/drawing/2014/main" val="10027"/>
                  </a:ext>
                </a:extLst>
              </a:tr>
              <a:tr h="213025">
                <a:tc>
                  <a:txBody>
                    <a:bodyPr/>
                    <a:lstStyle/>
                    <a:p>
                      <a:pPr marL="0" marR="0" lvl="0" indent="139700" algn="l" rtl="0">
                        <a:lnSpc>
                          <a:spcPct val="107000"/>
                        </a:lnSpc>
                        <a:spcBef>
                          <a:spcPts val="0"/>
                        </a:spcBef>
                        <a:spcAft>
                          <a:spcPts val="0"/>
                        </a:spcAft>
                        <a:buNone/>
                      </a:pPr>
                      <a:r>
                        <a:rPr lang="en-US" sz="1400" b="0" u="none" strike="noStrike" cap="none"/>
                        <a:t>3 = Don't Know</a:t>
                      </a:r>
                      <a:endParaRPr sz="1400" b="0" u="none" strike="noStrike" cap="none">
                        <a:latin typeface="Calibri"/>
                        <a:ea typeface="Calibri"/>
                        <a:cs typeface="Calibri"/>
                        <a:sym typeface="Calibri"/>
                      </a:endParaRPr>
                    </a:p>
                  </a:txBody>
                  <a:tcPr marL="50125" marR="50125" marT="0" marB="0" anchor="b"/>
                </a:tc>
                <a:tc>
                  <a:txBody>
                    <a:bodyPr/>
                    <a:lstStyle/>
                    <a:p>
                      <a:pPr marL="0" marR="0" lvl="0" indent="139700" algn="ctr" rtl="0">
                        <a:lnSpc>
                          <a:spcPct val="107000"/>
                        </a:lnSpc>
                        <a:spcBef>
                          <a:spcPts val="0"/>
                        </a:spcBef>
                        <a:spcAft>
                          <a:spcPts val="0"/>
                        </a:spcAft>
                        <a:buNone/>
                      </a:pPr>
                      <a:r>
                        <a:rPr lang="en-US" sz="1400" u="none" strike="noStrike" cap="none"/>
                        <a:t>90</a:t>
                      </a:r>
                      <a:endParaRPr sz="1400" u="none" strike="noStrike" cap="none">
                        <a:latin typeface="Calibri"/>
                        <a:ea typeface="Calibri"/>
                        <a:cs typeface="Calibri"/>
                        <a:sym typeface="Calibri"/>
                      </a:endParaRPr>
                    </a:p>
                  </a:txBody>
                  <a:tcPr marL="50125" marR="50125" marT="0" marB="0" anchor="ctr"/>
                </a:tc>
                <a:tc>
                  <a:txBody>
                    <a:bodyPr/>
                    <a:lstStyle/>
                    <a:p>
                      <a:pPr marL="0" marR="0" lvl="0" indent="139700" algn="ctr" rtl="0">
                        <a:lnSpc>
                          <a:spcPct val="107000"/>
                        </a:lnSpc>
                        <a:spcBef>
                          <a:spcPts val="0"/>
                        </a:spcBef>
                        <a:spcAft>
                          <a:spcPts val="0"/>
                        </a:spcAft>
                        <a:buNone/>
                      </a:pPr>
                      <a:r>
                        <a:rPr lang="en-US" sz="1400" u="none" strike="noStrike" cap="none" dirty="0"/>
                        <a:t>36.0%</a:t>
                      </a:r>
                      <a:endParaRPr sz="1400" u="none" strike="noStrike" cap="none" dirty="0">
                        <a:latin typeface="Calibri"/>
                        <a:ea typeface="Calibri"/>
                        <a:cs typeface="Calibri"/>
                        <a:sym typeface="Calibri"/>
                      </a:endParaRPr>
                    </a:p>
                  </a:txBody>
                  <a:tcPr marL="50125" marR="50125" marT="0" marB="0" anchor="ctr"/>
                </a:tc>
                <a:extLst>
                  <a:ext uri="{0D108BD9-81ED-4DB2-BD59-A6C34878D82A}">
                    <a16:rowId xmlns:a16="http://schemas.microsoft.com/office/drawing/2014/main" val="10028"/>
                  </a:ext>
                </a:extLst>
              </a:tr>
            </a:tbl>
          </a:graphicData>
        </a:graphic>
      </p:graphicFrame>
      <p:pic>
        <p:nvPicPr>
          <p:cNvPr id="184" name="Google Shape;184;p9"/>
          <p:cNvPicPr preferRelativeResize="0"/>
          <p:nvPr/>
        </p:nvPicPr>
        <p:blipFill rotWithShape="1">
          <a:blip r:embed="rId4">
            <a:alphaModFix/>
          </a:blip>
          <a:srcRect/>
          <a:stretch/>
        </p:blipFill>
        <p:spPr>
          <a:xfrm>
            <a:off x="0" y="5472113"/>
            <a:ext cx="2801685" cy="1385887"/>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88"/>
        <p:cNvGrpSpPr/>
        <p:nvPr/>
      </p:nvGrpSpPr>
      <p:grpSpPr>
        <a:xfrm>
          <a:off x="0" y="0"/>
          <a:ext cx="0" cy="0"/>
          <a:chOff x="0" y="0"/>
          <a:chExt cx="0" cy="0"/>
        </a:xfrm>
      </p:grpSpPr>
      <p:sp>
        <p:nvSpPr>
          <p:cNvPr id="189" name="Google Shape;189;p10"/>
          <p:cNvSpPr txBox="1">
            <a:spLocks noGrp="1"/>
          </p:cNvSpPr>
          <p:nvPr>
            <p:ph type="title"/>
          </p:nvPr>
        </p:nvSpPr>
        <p:spPr>
          <a:xfrm>
            <a:off x="1143000" y="609600"/>
            <a:ext cx="9875520" cy="135636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Analysis</a:t>
            </a:r>
            <a:endParaRPr/>
          </a:p>
        </p:txBody>
      </p:sp>
      <p:sp>
        <p:nvSpPr>
          <p:cNvPr id="190" name="Google Shape;190;p10"/>
          <p:cNvSpPr txBox="1">
            <a:spLocks noGrp="1"/>
          </p:cNvSpPr>
          <p:nvPr>
            <p:ph type="body" idx="1"/>
          </p:nvPr>
        </p:nvSpPr>
        <p:spPr>
          <a:xfrm>
            <a:off x="1143000" y="2057400"/>
            <a:ext cx="9872871" cy="4038600"/>
          </a:xfrm>
          <a:prstGeom prst="rect">
            <a:avLst/>
          </a:prstGeom>
          <a:noFill/>
          <a:ln>
            <a:noFill/>
          </a:ln>
        </p:spPr>
        <p:txBody>
          <a:bodyPr spcFirstLastPara="1" wrap="square" lIns="91425" tIns="45700" rIns="91425" bIns="45700" anchor="t" anchorCtr="0">
            <a:normAutofit/>
          </a:bodyPr>
          <a:lstStyle/>
          <a:p>
            <a:pPr marL="342900" indent="-342900">
              <a:spcBef>
                <a:spcPts val="0"/>
              </a:spcBef>
              <a:spcAft>
                <a:spcPts val="600"/>
              </a:spcAft>
            </a:pPr>
            <a:r>
              <a:rPr lang="en-US" dirty="0"/>
              <a:t>Latent Class Analysis was utilized to examine how trans students groups based on how they responded to survey questions</a:t>
            </a:r>
            <a:endParaRPr dirty="0"/>
          </a:p>
          <a:p>
            <a:pPr marL="342900" indent="-342900">
              <a:spcBef>
                <a:spcPts val="0"/>
              </a:spcBef>
              <a:spcAft>
                <a:spcPts val="600"/>
              </a:spcAft>
            </a:pPr>
            <a:r>
              <a:rPr lang="en-US" dirty="0"/>
              <a:t>Once the number of classes was selected, we followed the BCH method (Block et al., 2013) to include categorical covariates and distal outcomes (Bakk et al., 2013)</a:t>
            </a:r>
            <a:endParaRPr dirty="0"/>
          </a:p>
          <a:p>
            <a:pPr marL="480060" lvl="1">
              <a:spcBef>
                <a:spcPts val="0"/>
              </a:spcBef>
              <a:spcAft>
                <a:spcPts val="600"/>
              </a:spcAft>
            </a:pPr>
            <a:r>
              <a:rPr lang="en-US" sz="2200" dirty="0"/>
              <a:t>Parent’s income was used as a covariate</a:t>
            </a:r>
            <a:endParaRPr sz="2200" dirty="0"/>
          </a:p>
          <a:p>
            <a:pPr marL="480060" lvl="1">
              <a:spcBef>
                <a:spcPts val="0"/>
              </a:spcBef>
              <a:spcAft>
                <a:spcPts val="600"/>
              </a:spcAft>
            </a:pPr>
            <a:r>
              <a:rPr lang="en-US" sz="2200" dirty="0"/>
              <a:t>Enrollment in college was used as a distal outcome</a:t>
            </a:r>
            <a:endParaRPr sz="2200" dirty="0"/>
          </a:p>
        </p:txBody>
      </p:sp>
      <p:pic>
        <p:nvPicPr>
          <p:cNvPr id="191" name="Google Shape;191;p10"/>
          <p:cNvPicPr preferRelativeResize="0"/>
          <p:nvPr/>
        </p:nvPicPr>
        <p:blipFill rotWithShape="1">
          <a:blip r:embed="rId3">
            <a:alphaModFix/>
          </a:blip>
          <a:srcRect/>
          <a:stretch/>
        </p:blipFill>
        <p:spPr>
          <a:xfrm>
            <a:off x="9390315" y="5403056"/>
            <a:ext cx="2801685" cy="13858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195"/>
        <p:cNvGrpSpPr/>
        <p:nvPr/>
      </p:nvGrpSpPr>
      <p:grpSpPr>
        <a:xfrm>
          <a:off x="0" y="0"/>
          <a:ext cx="0" cy="0"/>
          <a:chOff x="0" y="0"/>
          <a:chExt cx="0" cy="0"/>
        </a:xfrm>
      </p:grpSpPr>
      <p:sp>
        <p:nvSpPr>
          <p:cNvPr id="196" name="Google Shape;196;p11"/>
          <p:cNvSpPr txBox="1">
            <a:spLocks noGrp="1"/>
          </p:cNvSpPr>
          <p:nvPr>
            <p:ph type="ctrTitle"/>
          </p:nvPr>
        </p:nvSpPr>
        <p:spPr>
          <a:xfrm>
            <a:off x="1109980" y="882376"/>
            <a:ext cx="9966960" cy="292608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lt1"/>
              </a:buClr>
              <a:buSzPts val="7200"/>
              <a:buFont typeface="Helvetica Neue"/>
              <a:buNone/>
            </a:pPr>
            <a:r>
              <a:rPr lang="en-US" b="1">
                <a:solidFill>
                  <a:schemeClr val="lt1"/>
                </a:solidFill>
                <a:latin typeface="Helvetica Neue"/>
                <a:ea typeface="Helvetica Neue"/>
                <a:cs typeface="Helvetica Neue"/>
                <a:sym typeface="Helvetica Neue"/>
              </a:rPr>
              <a:t>RESULTS</a:t>
            </a:r>
            <a:endParaRPr/>
          </a:p>
        </p:txBody>
      </p:sp>
      <p:sp>
        <p:nvSpPr>
          <p:cNvPr id="197" name="Google Shape;197;p11"/>
          <p:cNvSpPr txBox="1">
            <a:spLocks noGrp="1"/>
          </p:cNvSpPr>
          <p:nvPr>
            <p:ph type="subTitle" idx="1"/>
          </p:nvPr>
        </p:nvSpPr>
        <p:spPr>
          <a:xfrm>
            <a:off x="1709530" y="3869634"/>
            <a:ext cx="8767860" cy="138816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1760"/>
              <a:buNone/>
            </a:pPr>
            <a:endParaRPr/>
          </a:p>
        </p:txBody>
      </p:sp>
      <p:pic>
        <p:nvPicPr>
          <p:cNvPr id="198" name="Google Shape;198;p11"/>
          <p:cNvPicPr preferRelativeResize="0"/>
          <p:nvPr/>
        </p:nvPicPr>
        <p:blipFill rotWithShape="1">
          <a:blip r:embed="rId3">
            <a:alphaModFix/>
          </a:blip>
          <a:srcRect/>
          <a:stretch/>
        </p:blipFill>
        <p:spPr>
          <a:xfrm>
            <a:off x="9390314" y="5472113"/>
            <a:ext cx="2801685" cy="13858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02"/>
        <p:cNvGrpSpPr/>
        <p:nvPr/>
      </p:nvGrpSpPr>
      <p:grpSpPr>
        <a:xfrm>
          <a:off x="0" y="0"/>
          <a:ext cx="0" cy="0"/>
          <a:chOff x="0" y="0"/>
          <a:chExt cx="0" cy="0"/>
        </a:xfrm>
      </p:grpSpPr>
      <p:sp>
        <p:nvSpPr>
          <p:cNvPr id="203" name="Google Shape;203;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Financial Resource Profiles</a:t>
            </a:r>
            <a:endParaRPr/>
          </a:p>
        </p:txBody>
      </p:sp>
      <p:grpSp>
        <p:nvGrpSpPr>
          <p:cNvPr id="204" name="Google Shape;204;p12"/>
          <p:cNvGrpSpPr/>
          <p:nvPr/>
        </p:nvGrpSpPr>
        <p:grpSpPr>
          <a:xfrm>
            <a:off x="1246372" y="2453742"/>
            <a:ext cx="9666125" cy="3245915"/>
            <a:chOff x="103372" y="396342"/>
            <a:chExt cx="9666125" cy="3245915"/>
          </a:xfrm>
        </p:grpSpPr>
        <p:sp>
          <p:nvSpPr>
            <p:cNvPr id="205" name="Google Shape;205;p12"/>
            <p:cNvSpPr/>
            <p:nvPr/>
          </p:nvSpPr>
          <p:spPr>
            <a:xfrm>
              <a:off x="103372" y="396342"/>
              <a:ext cx="1279676" cy="1279676"/>
            </a:xfrm>
            <a:prstGeom prst="ellipse">
              <a:avLst/>
            </a:prstGeom>
            <a:solidFill>
              <a:srgbClr val="E2D8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372104" y="665074"/>
              <a:ext cx="742212" cy="742212"/>
            </a:xfrm>
            <a:prstGeom prst="rect">
              <a:avLst/>
            </a:prstGeom>
            <a:blipFill rotWithShape="1">
              <a:blip r:embed="rId4">
                <a:alphaModFix/>
              </a:blip>
              <a:stretch>
                <a:fillRect/>
              </a:stretch>
            </a:blip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1657265" y="396342"/>
              <a:ext cx="3016379" cy="12796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txBox="1"/>
            <p:nvPr/>
          </p:nvSpPr>
          <p:spPr>
            <a:xfrm>
              <a:off x="1657265" y="396342"/>
              <a:ext cx="3016379" cy="12796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Confident of funding (31%)</a:t>
              </a:r>
              <a:endParaRPr/>
            </a:p>
          </p:txBody>
        </p:sp>
        <p:sp>
          <p:nvSpPr>
            <p:cNvPr id="209" name="Google Shape;209;p12"/>
            <p:cNvSpPr/>
            <p:nvPr/>
          </p:nvSpPr>
          <p:spPr>
            <a:xfrm>
              <a:off x="5199226" y="396342"/>
              <a:ext cx="1279676" cy="1279676"/>
            </a:xfrm>
            <a:prstGeom prst="ellipse">
              <a:avLst/>
            </a:prstGeom>
            <a:solidFill>
              <a:srgbClr val="E2D8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2"/>
            <p:cNvSpPr/>
            <p:nvPr/>
          </p:nvSpPr>
          <p:spPr>
            <a:xfrm>
              <a:off x="5467958" y="665074"/>
              <a:ext cx="742212" cy="742212"/>
            </a:xfrm>
            <a:prstGeom prst="rect">
              <a:avLst/>
            </a:prstGeom>
            <a:blipFill rotWithShape="1">
              <a:blip r:embed="rId5">
                <a:alphaModFix/>
              </a:blip>
              <a:stretch>
                <a:fillRect/>
              </a:stretch>
            </a:blip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2"/>
            <p:cNvSpPr/>
            <p:nvPr/>
          </p:nvSpPr>
          <p:spPr>
            <a:xfrm>
              <a:off x="6753118" y="396342"/>
              <a:ext cx="3016379" cy="12796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2"/>
            <p:cNvSpPr txBox="1"/>
            <p:nvPr/>
          </p:nvSpPr>
          <p:spPr>
            <a:xfrm>
              <a:off x="6753118" y="396342"/>
              <a:ext cx="3016379" cy="12796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Uncertain of funding (32%)</a:t>
              </a:r>
              <a:endParaRPr/>
            </a:p>
          </p:txBody>
        </p:sp>
        <p:sp>
          <p:nvSpPr>
            <p:cNvPr id="213" name="Google Shape;213;p12"/>
            <p:cNvSpPr/>
            <p:nvPr/>
          </p:nvSpPr>
          <p:spPr>
            <a:xfrm>
              <a:off x="103372" y="2362581"/>
              <a:ext cx="1279676" cy="1279676"/>
            </a:xfrm>
            <a:prstGeom prst="ellipse">
              <a:avLst/>
            </a:prstGeom>
            <a:solidFill>
              <a:srgbClr val="E2D8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2"/>
            <p:cNvSpPr/>
            <p:nvPr/>
          </p:nvSpPr>
          <p:spPr>
            <a:xfrm>
              <a:off x="372104" y="2631313"/>
              <a:ext cx="742212" cy="742212"/>
            </a:xfrm>
            <a:prstGeom prst="rect">
              <a:avLst/>
            </a:prstGeom>
            <a:blipFill rotWithShape="1">
              <a:blip r:embed="rId6">
                <a:alphaModFix/>
              </a:blip>
              <a:stretch>
                <a:fillRect/>
              </a:stretch>
            </a:blip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2"/>
            <p:cNvSpPr/>
            <p:nvPr/>
          </p:nvSpPr>
          <p:spPr>
            <a:xfrm>
              <a:off x="1657265" y="2362581"/>
              <a:ext cx="3016379" cy="12796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2"/>
            <p:cNvSpPr txBox="1"/>
            <p:nvPr/>
          </p:nvSpPr>
          <p:spPr>
            <a:xfrm>
              <a:off x="1657265" y="2362581"/>
              <a:ext cx="3016379" cy="12796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Self-financed (12%)</a:t>
              </a:r>
              <a:endParaRPr/>
            </a:p>
          </p:txBody>
        </p:sp>
        <p:sp>
          <p:nvSpPr>
            <p:cNvPr id="217" name="Google Shape;217;p12"/>
            <p:cNvSpPr/>
            <p:nvPr/>
          </p:nvSpPr>
          <p:spPr>
            <a:xfrm>
              <a:off x="5199226" y="2362581"/>
              <a:ext cx="1279676" cy="1279676"/>
            </a:xfrm>
            <a:prstGeom prst="ellipse">
              <a:avLst/>
            </a:prstGeom>
            <a:solidFill>
              <a:srgbClr val="E2D8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2"/>
            <p:cNvSpPr/>
            <p:nvPr/>
          </p:nvSpPr>
          <p:spPr>
            <a:xfrm>
              <a:off x="5467958" y="2631313"/>
              <a:ext cx="742212" cy="742212"/>
            </a:xfrm>
            <a:prstGeom prst="rect">
              <a:avLst/>
            </a:prstGeom>
            <a:blipFill rotWithShape="1">
              <a:blip r:embed="rId7">
                <a:alphaModFix/>
              </a:blip>
              <a:stretch>
                <a:fillRect/>
              </a:stretch>
            </a:blip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2"/>
            <p:cNvSpPr/>
            <p:nvPr/>
          </p:nvSpPr>
          <p:spPr>
            <a:xfrm>
              <a:off x="6753118" y="2362581"/>
              <a:ext cx="3016379" cy="12796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2"/>
            <p:cNvSpPr txBox="1"/>
            <p:nvPr/>
          </p:nvSpPr>
          <p:spPr>
            <a:xfrm>
              <a:off x="6753118" y="2362581"/>
              <a:ext cx="3016379" cy="12796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400"/>
                <a:buFont typeface="Corbel"/>
                <a:buNone/>
              </a:pPr>
              <a:r>
                <a:rPr lang="en-US" sz="2400">
                  <a:solidFill>
                    <a:schemeClr val="dk1"/>
                  </a:solidFill>
                  <a:latin typeface="Corbel"/>
                  <a:ea typeface="Corbel"/>
                  <a:cs typeface="Corbel"/>
                  <a:sym typeface="Corbel"/>
                </a:rPr>
                <a:t>Loan averse (26%)</a:t>
              </a:r>
              <a:endParaRPr/>
            </a:p>
          </p:txBody>
        </p:sp>
      </p:grpSp>
      <p:pic>
        <p:nvPicPr>
          <p:cNvPr id="221" name="Google Shape;221;p12" descr="A purple background with white text and colorful letters&#10;&#10;Description automatically generated"/>
          <p:cNvPicPr preferRelativeResize="0"/>
          <p:nvPr/>
        </p:nvPicPr>
        <p:blipFill rotWithShape="1">
          <a:blip r:embed="rId8">
            <a:alphaModFix/>
          </a:blip>
          <a:srcRect/>
          <a:stretch/>
        </p:blipFill>
        <p:spPr>
          <a:xfrm>
            <a:off x="9390315" y="5403056"/>
            <a:ext cx="2801685" cy="1385887"/>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25"/>
        <p:cNvGrpSpPr/>
        <p:nvPr/>
      </p:nvGrpSpPr>
      <p:grpSpPr>
        <a:xfrm>
          <a:off x="0" y="0"/>
          <a:ext cx="0" cy="0"/>
          <a:chOff x="0" y="0"/>
          <a:chExt cx="0" cy="0"/>
        </a:xfrm>
      </p:grpSpPr>
      <p:sp>
        <p:nvSpPr>
          <p:cNvPr id="226" name="Google Shape;226;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Assessing Financial Resource Group Differences Based on Predictors</a:t>
            </a:r>
            <a:endParaRPr/>
          </a:p>
        </p:txBody>
      </p:sp>
      <p:graphicFrame>
        <p:nvGraphicFramePr>
          <p:cNvPr id="227" name="Google Shape;227;p13" descr="Table comparing the self-financed group to all other groups in terms of the effect of income "/>
          <p:cNvGraphicFramePr/>
          <p:nvPr>
            <p:extLst>
              <p:ext uri="{D42A27DB-BD31-4B8C-83A1-F6EECF244321}">
                <p14:modId xmlns:p14="http://schemas.microsoft.com/office/powerpoint/2010/main" val="185682829"/>
              </p:ext>
            </p:extLst>
          </p:nvPr>
        </p:nvGraphicFramePr>
        <p:xfrm>
          <a:off x="1600201" y="2298530"/>
          <a:ext cx="8218825" cy="3055650"/>
        </p:xfrm>
        <a:graphic>
          <a:graphicData uri="http://schemas.openxmlformats.org/drawingml/2006/table">
            <a:tbl>
              <a:tblPr firstRow="1" bandRow="1">
                <a:noFill/>
                <a:tableStyleId>{35D8BBFA-5BA8-430F-A8D3-8085BB2CE77E}</a:tableStyleId>
              </a:tblPr>
              <a:tblGrid>
                <a:gridCol w="2708900">
                  <a:extLst>
                    <a:ext uri="{9D8B030D-6E8A-4147-A177-3AD203B41FA5}">
                      <a16:colId xmlns:a16="http://schemas.microsoft.com/office/drawing/2014/main" val="20000"/>
                    </a:ext>
                  </a:extLst>
                </a:gridCol>
                <a:gridCol w="1120150">
                  <a:extLst>
                    <a:ext uri="{9D8B030D-6E8A-4147-A177-3AD203B41FA5}">
                      <a16:colId xmlns:a16="http://schemas.microsoft.com/office/drawing/2014/main" val="20001"/>
                    </a:ext>
                  </a:extLst>
                </a:gridCol>
                <a:gridCol w="900575">
                  <a:extLst>
                    <a:ext uri="{9D8B030D-6E8A-4147-A177-3AD203B41FA5}">
                      <a16:colId xmlns:a16="http://schemas.microsoft.com/office/drawing/2014/main" val="20002"/>
                    </a:ext>
                  </a:extLst>
                </a:gridCol>
                <a:gridCol w="1444700">
                  <a:extLst>
                    <a:ext uri="{9D8B030D-6E8A-4147-A177-3AD203B41FA5}">
                      <a16:colId xmlns:a16="http://schemas.microsoft.com/office/drawing/2014/main" val="20003"/>
                    </a:ext>
                  </a:extLst>
                </a:gridCol>
                <a:gridCol w="2044500">
                  <a:extLst>
                    <a:ext uri="{9D8B030D-6E8A-4147-A177-3AD203B41FA5}">
                      <a16:colId xmlns:a16="http://schemas.microsoft.com/office/drawing/2014/main" val="20004"/>
                    </a:ext>
                  </a:extLst>
                </a:gridCol>
              </a:tblGrid>
              <a:tr h="413425">
                <a:tc>
                  <a:txBody>
                    <a:bodyPr/>
                    <a:lstStyle/>
                    <a:p>
                      <a:pPr marL="0" marR="0" lvl="0" indent="0" algn="ctr" rtl="0">
                        <a:lnSpc>
                          <a:spcPct val="107000"/>
                        </a:lnSpc>
                        <a:spcBef>
                          <a:spcPts val="0"/>
                        </a:spcBef>
                        <a:spcAft>
                          <a:spcPts val="0"/>
                        </a:spcAft>
                        <a:buNone/>
                      </a:pPr>
                      <a:r>
                        <a:rPr lang="en-US" sz="2200" u="none" strike="noStrike" cap="none"/>
                        <a:t> </a:t>
                      </a:r>
                      <a:endParaRPr sz="2000" u="none" strike="noStrike" cap="none">
                        <a:latin typeface="Calibri"/>
                        <a:ea typeface="Calibri"/>
                        <a:cs typeface="Calibri"/>
                        <a:sym typeface="Calibri"/>
                      </a:endParaRPr>
                    </a:p>
                  </a:txBody>
                  <a:tcPr marL="127450" marR="127450" marT="0" marB="0" anchor="ctr"/>
                </a:tc>
                <a:tc>
                  <a:txBody>
                    <a:bodyPr/>
                    <a:lstStyle/>
                    <a:p>
                      <a:pPr marL="0" marR="0" lvl="0" indent="0" algn="ctr" rtl="0">
                        <a:lnSpc>
                          <a:spcPct val="107000"/>
                        </a:lnSpc>
                        <a:spcBef>
                          <a:spcPts val="0"/>
                        </a:spcBef>
                        <a:spcAft>
                          <a:spcPts val="0"/>
                        </a:spcAft>
                        <a:buNone/>
                      </a:pPr>
                      <a:r>
                        <a:rPr lang="en-US" sz="2200" u="none" strike="noStrike" cap="none"/>
                        <a:t>Logit</a:t>
                      </a:r>
                      <a:endParaRPr sz="2000" u="none" strike="noStrike" cap="none">
                        <a:latin typeface="Calibri"/>
                        <a:ea typeface="Calibri"/>
                        <a:cs typeface="Calibri"/>
                        <a:sym typeface="Calibri"/>
                      </a:endParaRPr>
                    </a:p>
                  </a:txBody>
                  <a:tcPr marL="127450" marR="127450" marT="0" marB="0" anchor="ctr"/>
                </a:tc>
                <a:tc>
                  <a:txBody>
                    <a:bodyPr/>
                    <a:lstStyle/>
                    <a:p>
                      <a:pPr marL="0" marR="0" lvl="0" indent="0" algn="ctr" rtl="0">
                        <a:lnSpc>
                          <a:spcPct val="107000"/>
                        </a:lnSpc>
                        <a:spcBef>
                          <a:spcPts val="0"/>
                        </a:spcBef>
                        <a:spcAft>
                          <a:spcPts val="0"/>
                        </a:spcAft>
                        <a:buNone/>
                      </a:pPr>
                      <a:r>
                        <a:rPr lang="en-US" sz="2200" u="none" strike="noStrike" cap="none"/>
                        <a:t>SE</a:t>
                      </a:r>
                      <a:endParaRPr sz="2000" u="none" strike="noStrike" cap="none">
                        <a:latin typeface="Calibri"/>
                        <a:ea typeface="Calibri"/>
                        <a:cs typeface="Calibri"/>
                        <a:sym typeface="Calibri"/>
                      </a:endParaRPr>
                    </a:p>
                  </a:txBody>
                  <a:tcPr marL="127450" marR="127450" marT="0" marB="0" anchor="ctr"/>
                </a:tc>
                <a:tc>
                  <a:txBody>
                    <a:bodyPr/>
                    <a:lstStyle/>
                    <a:p>
                      <a:pPr marL="0" marR="0" lvl="0" indent="0" algn="ctr" rtl="0">
                        <a:lnSpc>
                          <a:spcPct val="107000"/>
                        </a:lnSpc>
                        <a:spcBef>
                          <a:spcPts val="0"/>
                        </a:spcBef>
                        <a:spcAft>
                          <a:spcPts val="0"/>
                        </a:spcAft>
                        <a:buNone/>
                      </a:pPr>
                      <a:r>
                        <a:rPr lang="en-US" sz="2200" u="none" strike="noStrike" cap="none"/>
                        <a:t>Est/SE</a:t>
                      </a:r>
                      <a:endParaRPr sz="2000" u="none" strike="noStrike" cap="none">
                        <a:latin typeface="Calibri"/>
                        <a:ea typeface="Calibri"/>
                        <a:cs typeface="Calibri"/>
                        <a:sym typeface="Calibri"/>
                      </a:endParaRPr>
                    </a:p>
                  </a:txBody>
                  <a:tcPr marL="127450" marR="127450" marT="0" marB="0" anchor="ctr"/>
                </a:tc>
                <a:tc>
                  <a:txBody>
                    <a:bodyPr/>
                    <a:lstStyle/>
                    <a:p>
                      <a:pPr marL="0" marR="0" lvl="0" indent="0" algn="ctr" rtl="0">
                        <a:lnSpc>
                          <a:spcPct val="107000"/>
                        </a:lnSpc>
                        <a:spcBef>
                          <a:spcPts val="0"/>
                        </a:spcBef>
                        <a:spcAft>
                          <a:spcPts val="0"/>
                        </a:spcAft>
                        <a:buNone/>
                      </a:pPr>
                      <a:r>
                        <a:rPr lang="en-US" sz="2200" u="none" strike="noStrike" cap="none"/>
                        <a:t>Odds Ratio</a:t>
                      </a:r>
                      <a:endParaRPr sz="2000" u="none" strike="noStrike" cap="none">
                        <a:latin typeface="Calibri"/>
                        <a:ea typeface="Calibri"/>
                        <a:cs typeface="Calibri"/>
                        <a:sym typeface="Calibri"/>
                      </a:endParaRPr>
                    </a:p>
                  </a:txBody>
                  <a:tcPr marL="127450" marR="127450" marT="0" marB="0" anchor="ctr"/>
                </a:tc>
                <a:extLst>
                  <a:ext uri="{0D108BD9-81ED-4DB2-BD59-A6C34878D82A}">
                    <a16:rowId xmlns:a16="http://schemas.microsoft.com/office/drawing/2014/main" val="10000"/>
                  </a:ext>
                </a:extLst>
              </a:tr>
              <a:tr h="419875">
                <a:tc gridSpan="5">
                  <a:txBody>
                    <a:bodyPr/>
                    <a:lstStyle/>
                    <a:p>
                      <a:pPr marL="0" marR="0" lvl="0" indent="0" algn="l" rtl="0">
                        <a:lnSpc>
                          <a:spcPct val="115000"/>
                        </a:lnSpc>
                        <a:spcBef>
                          <a:spcPts val="0"/>
                        </a:spcBef>
                        <a:spcAft>
                          <a:spcPts val="0"/>
                        </a:spcAft>
                        <a:buNone/>
                      </a:pPr>
                      <a:r>
                        <a:rPr lang="en-US" sz="2200" u="none" strike="noStrike" cap="none" dirty="0"/>
                        <a:t>Confident of funding </a:t>
                      </a:r>
                      <a:endParaRPr sz="2000" u="none" strike="noStrike" cap="none" dirty="0">
                        <a:latin typeface="Calibri"/>
                        <a:ea typeface="Calibri"/>
                        <a:cs typeface="Calibri"/>
                        <a:sym typeface="Calibri"/>
                      </a:endParaRPr>
                    </a:p>
                  </a:txBody>
                  <a:tcPr marL="127450" marR="12745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3725">
                <a:tc>
                  <a:txBody>
                    <a:bodyPr/>
                    <a:lstStyle/>
                    <a:p>
                      <a:pPr marL="219075" marR="0" lvl="0" indent="0" algn="l" rtl="0">
                        <a:lnSpc>
                          <a:spcPct val="115000"/>
                        </a:lnSpc>
                        <a:spcBef>
                          <a:spcPts val="0"/>
                        </a:spcBef>
                        <a:spcAft>
                          <a:spcPts val="0"/>
                        </a:spcAft>
                        <a:buNone/>
                      </a:pPr>
                      <a:r>
                        <a:rPr lang="en-US" sz="2200" u="none" strike="noStrike" cap="none"/>
                        <a:t>Income</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-8.79</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4.79</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-1.85</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&lt;0.000</a:t>
                      </a:r>
                      <a:endParaRPr sz="2000" u="none" strike="noStrike" cap="none">
                        <a:latin typeface="Calibri"/>
                        <a:ea typeface="Calibri"/>
                        <a:cs typeface="Calibri"/>
                        <a:sym typeface="Calibri"/>
                      </a:endParaRPr>
                    </a:p>
                  </a:txBody>
                  <a:tcPr marL="127450" marR="127450" marT="0" marB="0"/>
                </a:tc>
                <a:extLst>
                  <a:ext uri="{0D108BD9-81ED-4DB2-BD59-A6C34878D82A}">
                    <a16:rowId xmlns:a16="http://schemas.microsoft.com/office/drawing/2014/main" val="10002"/>
                  </a:ext>
                </a:extLst>
              </a:tr>
              <a:tr h="487450">
                <a:tc gridSpan="5">
                  <a:txBody>
                    <a:bodyPr/>
                    <a:lstStyle/>
                    <a:p>
                      <a:pPr marL="0" marR="0" lvl="0" indent="0" algn="l" rtl="0">
                        <a:lnSpc>
                          <a:spcPct val="115000"/>
                        </a:lnSpc>
                        <a:spcBef>
                          <a:spcPts val="0"/>
                        </a:spcBef>
                        <a:spcAft>
                          <a:spcPts val="0"/>
                        </a:spcAft>
                        <a:buNone/>
                      </a:pPr>
                      <a:r>
                        <a:rPr lang="en-US" sz="2200" u="none" strike="noStrike" cap="none">
                          <a:solidFill>
                            <a:schemeClr val="dk1"/>
                          </a:solidFill>
                          <a:latin typeface="Corbel"/>
                          <a:ea typeface="Corbel"/>
                          <a:cs typeface="Corbel"/>
                          <a:sym typeface="Corbel"/>
                        </a:rPr>
                        <a:t>Uncertain of funding</a:t>
                      </a:r>
                      <a:r>
                        <a:rPr lang="en-US" sz="2200" u="none" strike="noStrike" cap="none"/>
                        <a:t> </a:t>
                      </a:r>
                      <a:endParaRPr sz="2000" u="none" strike="noStrike" cap="none">
                        <a:latin typeface="Calibri"/>
                        <a:ea typeface="Calibri"/>
                        <a:cs typeface="Calibri"/>
                        <a:sym typeface="Calibri"/>
                      </a:endParaRPr>
                    </a:p>
                  </a:txBody>
                  <a:tcPr marL="127450" marR="12745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33725">
                <a:tc>
                  <a:txBody>
                    <a:bodyPr/>
                    <a:lstStyle/>
                    <a:p>
                      <a:pPr marL="217170" marR="0" lvl="0" indent="0" algn="l" rtl="0">
                        <a:lnSpc>
                          <a:spcPct val="115000"/>
                        </a:lnSpc>
                        <a:spcBef>
                          <a:spcPts val="0"/>
                        </a:spcBef>
                        <a:spcAft>
                          <a:spcPts val="0"/>
                        </a:spcAft>
                        <a:buNone/>
                      </a:pPr>
                      <a:r>
                        <a:rPr lang="en-US" sz="2200" u="none" strike="noStrike" cap="none"/>
                        <a:t>Income</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-6.09*</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2.63</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-2.32</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0.002</a:t>
                      </a:r>
                      <a:endParaRPr sz="2000" u="none" strike="noStrike" cap="none">
                        <a:latin typeface="Calibri"/>
                        <a:ea typeface="Calibri"/>
                        <a:cs typeface="Calibri"/>
                        <a:sym typeface="Calibri"/>
                      </a:endParaRPr>
                    </a:p>
                  </a:txBody>
                  <a:tcPr marL="127450" marR="127450" marT="0" marB="0"/>
                </a:tc>
                <a:extLst>
                  <a:ext uri="{0D108BD9-81ED-4DB2-BD59-A6C34878D82A}">
                    <a16:rowId xmlns:a16="http://schemas.microsoft.com/office/drawing/2014/main" val="10004"/>
                  </a:ext>
                </a:extLst>
              </a:tr>
              <a:tr h="433725">
                <a:tc gridSpan="5">
                  <a:txBody>
                    <a:bodyPr/>
                    <a:lstStyle/>
                    <a:p>
                      <a:pPr marL="0" marR="0" lvl="0" indent="0" algn="l" rtl="0">
                        <a:lnSpc>
                          <a:spcPct val="115000"/>
                        </a:lnSpc>
                        <a:spcBef>
                          <a:spcPts val="0"/>
                        </a:spcBef>
                        <a:spcAft>
                          <a:spcPts val="0"/>
                        </a:spcAft>
                        <a:buNone/>
                      </a:pPr>
                      <a:r>
                        <a:rPr lang="en-US" sz="2200" u="none" strike="noStrike" cap="none"/>
                        <a:t>Loan averse </a:t>
                      </a:r>
                      <a:endParaRPr sz="2000" u="none" strike="noStrike" cap="none">
                        <a:latin typeface="Calibri"/>
                        <a:ea typeface="Calibri"/>
                        <a:cs typeface="Calibri"/>
                        <a:sym typeface="Calibri"/>
                      </a:endParaRPr>
                    </a:p>
                  </a:txBody>
                  <a:tcPr marL="127450" marR="12745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33725">
                <a:tc>
                  <a:txBody>
                    <a:bodyPr/>
                    <a:lstStyle/>
                    <a:p>
                      <a:pPr marL="217170" marR="0" lvl="0" indent="0" algn="l" rtl="0">
                        <a:lnSpc>
                          <a:spcPct val="115000"/>
                        </a:lnSpc>
                        <a:spcBef>
                          <a:spcPts val="0"/>
                        </a:spcBef>
                        <a:spcAft>
                          <a:spcPts val="0"/>
                        </a:spcAft>
                        <a:buNone/>
                      </a:pPr>
                      <a:r>
                        <a:rPr lang="en-US" sz="2200" u="none" strike="noStrike" cap="none"/>
                        <a:t>Income</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-7.53**</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2.80</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a:t>-2.69</a:t>
                      </a:r>
                      <a:endParaRPr sz="2000" u="none" strike="noStrike" cap="none">
                        <a:latin typeface="Calibri"/>
                        <a:ea typeface="Calibri"/>
                        <a:cs typeface="Calibri"/>
                        <a:sym typeface="Calibri"/>
                      </a:endParaRPr>
                    </a:p>
                  </a:txBody>
                  <a:tcPr marL="127450" marR="127450" marT="0" marB="0"/>
                </a:tc>
                <a:tc>
                  <a:txBody>
                    <a:bodyPr/>
                    <a:lstStyle/>
                    <a:p>
                      <a:pPr marL="0" marR="0" lvl="0" indent="0" algn="ctr" rtl="0">
                        <a:lnSpc>
                          <a:spcPct val="115000"/>
                        </a:lnSpc>
                        <a:spcBef>
                          <a:spcPts val="0"/>
                        </a:spcBef>
                        <a:spcAft>
                          <a:spcPts val="0"/>
                        </a:spcAft>
                        <a:buNone/>
                      </a:pPr>
                      <a:r>
                        <a:rPr lang="en-US" sz="2200" u="none" strike="noStrike" cap="none" dirty="0"/>
                        <a:t>0.001</a:t>
                      </a:r>
                      <a:endParaRPr sz="2000" u="none" strike="noStrike" cap="none" dirty="0">
                        <a:latin typeface="Calibri"/>
                        <a:ea typeface="Calibri"/>
                        <a:cs typeface="Calibri"/>
                        <a:sym typeface="Calibri"/>
                      </a:endParaRPr>
                    </a:p>
                  </a:txBody>
                  <a:tcPr marL="127450" marR="127450" marT="0" marB="0"/>
                </a:tc>
                <a:extLst>
                  <a:ext uri="{0D108BD9-81ED-4DB2-BD59-A6C34878D82A}">
                    <a16:rowId xmlns:a16="http://schemas.microsoft.com/office/drawing/2014/main" val="10006"/>
                  </a:ext>
                </a:extLst>
              </a:tr>
            </a:tbl>
          </a:graphicData>
        </a:graphic>
      </p:graphicFrame>
      <p:pic>
        <p:nvPicPr>
          <p:cNvPr id="228" name="Google Shape;228;p13"/>
          <p:cNvPicPr preferRelativeResize="0"/>
          <p:nvPr/>
        </p:nvPicPr>
        <p:blipFill rotWithShape="1">
          <a:blip r:embed="rId4">
            <a:alphaModFix/>
          </a:blip>
          <a:srcRect/>
          <a:stretch/>
        </p:blipFill>
        <p:spPr>
          <a:xfrm>
            <a:off x="9387597" y="5400998"/>
            <a:ext cx="2804403" cy="1390008"/>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32"/>
        <p:cNvGrpSpPr/>
        <p:nvPr/>
      </p:nvGrpSpPr>
      <p:grpSpPr>
        <a:xfrm>
          <a:off x="0" y="0"/>
          <a:ext cx="0" cy="0"/>
          <a:chOff x="0" y="0"/>
          <a:chExt cx="0" cy="0"/>
        </a:xfrm>
      </p:grpSpPr>
      <p:sp>
        <p:nvSpPr>
          <p:cNvPr id="233" name="Google Shape;233;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Assessing Financial Resource Group Differences Based on Predictors</a:t>
            </a:r>
            <a:endParaRPr/>
          </a:p>
        </p:txBody>
      </p:sp>
      <p:pic>
        <p:nvPicPr>
          <p:cNvPr id="234" name="Google Shape;234;p14"/>
          <p:cNvPicPr preferRelativeResize="0"/>
          <p:nvPr/>
        </p:nvPicPr>
        <p:blipFill rotWithShape="1">
          <a:blip r:embed="rId4">
            <a:alphaModFix/>
          </a:blip>
          <a:srcRect/>
          <a:stretch/>
        </p:blipFill>
        <p:spPr>
          <a:xfrm>
            <a:off x="9387597" y="5400998"/>
            <a:ext cx="2804403" cy="1390008"/>
          </a:xfrm>
          <a:prstGeom prst="rect">
            <a:avLst/>
          </a:prstGeom>
          <a:noFill/>
          <a:ln>
            <a:noFill/>
          </a:ln>
        </p:spPr>
      </p:pic>
      <p:graphicFrame>
        <p:nvGraphicFramePr>
          <p:cNvPr id="235" name="Google Shape;235;p14" descr="Table showing group memberships ability to predict eventual enrollment in college"/>
          <p:cNvGraphicFramePr/>
          <p:nvPr>
            <p:extLst>
              <p:ext uri="{D42A27DB-BD31-4B8C-83A1-F6EECF244321}">
                <p14:modId xmlns:p14="http://schemas.microsoft.com/office/powerpoint/2010/main" val="2764889569"/>
              </p:ext>
            </p:extLst>
          </p:nvPr>
        </p:nvGraphicFramePr>
        <p:xfrm>
          <a:off x="2271951" y="2632919"/>
          <a:ext cx="7617575" cy="2101150"/>
        </p:xfrm>
        <a:graphic>
          <a:graphicData uri="http://schemas.openxmlformats.org/drawingml/2006/table">
            <a:tbl>
              <a:tblPr bandRow="1">
                <a:noFill/>
                <a:tableStyleId>{35D8BBFA-5BA8-430F-A8D3-8085BB2CE77E}</a:tableStyleId>
              </a:tblPr>
              <a:tblGrid>
                <a:gridCol w="2123725">
                  <a:extLst>
                    <a:ext uri="{9D8B030D-6E8A-4147-A177-3AD203B41FA5}">
                      <a16:colId xmlns:a16="http://schemas.microsoft.com/office/drawing/2014/main" val="20000"/>
                    </a:ext>
                  </a:extLst>
                </a:gridCol>
                <a:gridCol w="1372825">
                  <a:extLst>
                    <a:ext uri="{9D8B030D-6E8A-4147-A177-3AD203B41FA5}">
                      <a16:colId xmlns:a16="http://schemas.microsoft.com/office/drawing/2014/main" val="20001"/>
                    </a:ext>
                  </a:extLst>
                </a:gridCol>
                <a:gridCol w="1373675">
                  <a:extLst>
                    <a:ext uri="{9D8B030D-6E8A-4147-A177-3AD203B41FA5}">
                      <a16:colId xmlns:a16="http://schemas.microsoft.com/office/drawing/2014/main" val="20002"/>
                    </a:ext>
                  </a:extLst>
                </a:gridCol>
                <a:gridCol w="1373675">
                  <a:extLst>
                    <a:ext uri="{9D8B030D-6E8A-4147-A177-3AD203B41FA5}">
                      <a16:colId xmlns:a16="http://schemas.microsoft.com/office/drawing/2014/main" val="20003"/>
                    </a:ext>
                  </a:extLst>
                </a:gridCol>
                <a:gridCol w="1373675">
                  <a:extLst>
                    <a:ext uri="{9D8B030D-6E8A-4147-A177-3AD203B41FA5}">
                      <a16:colId xmlns:a16="http://schemas.microsoft.com/office/drawing/2014/main" val="20004"/>
                    </a:ext>
                  </a:extLst>
                </a:gridCol>
              </a:tblGrid>
              <a:tr h="822950">
                <a:tc>
                  <a:txBody>
                    <a:bodyPr/>
                    <a:lstStyle/>
                    <a:p>
                      <a:pPr marL="0" marR="0" lvl="0" indent="0" algn="ctr" rtl="0">
                        <a:lnSpc>
                          <a:spcPct val="115000"/>
                        </a:lnSpc>
                        <a:spcBef>
                          <a:spcPts val="0"/>
                        </a:spcBef>
                        <a:spcAft>
                          <a:spcPts val="0"/>
                        </a:spcAft>
                        <a:buNone/>
                      </a:pPr>
                      <a:r>
                        <a:rPr lang="en-US" sz="1800" b="1" u="none" strike="noStrike" cap="none">
                          <a:solidFill>
                            <a:schemeClr val="lt1"/>
                          </a:solidFill>
                        </a:rPr>
                        <a:t>Class</a:t>
                      </a:r>
                      <a:endParaRPr/>
                    </a:p>
                    <a:p>
                      <a:pPr marL="0" marR="0" lvl="0" indent="0" algn="ctr" rtl="0">
                        <a:lnSpc>
                          <a:spcPct val="115000"/>
                        </a:lnSpc>
                        <a:spcBef>
                          <a:spcPts val="800"/>
                        </a:spcBef>
                        <a:spcAft>
                          <a:spcPts val="0"/>
                        </a:spcAft>
                        <a:buNone/>
                      </a:pPr>
                      <a:r>
                        <a:rPr lang="en-US" sz="1800" b="1" u="none" strike="noStrike" cap="none">
                          <a:solidFill>
                            <a:schemeClr val="lt1"/>
                          </a:solidFill>
                        </a:rPr>
                        <a:t>(distal means)</a:t>
                      </a:r>
                      <a:endParaRPr sz="1800" b="1" u="none" strike="noStrike" cap="none">
                        <a:solidFill>
                          <a:schemeClr val="lt1"/>
                        </a:solidFill>
                        <a:latin typeface="Calibri"/>
                        <a:ea typeface="Calibri"/>
                        <a:cs typeface="Calibri"/>
                        <a:sym typeface="Calibri"/>
                      </a:endParaRPr>
                    </a:p>
                  </a:txBody>
                  <a:tcPr marL="68575" marR="68575" marT="0" marB="0" anchor="ctr">
                    <a:solidFill>
                      <a:schemeClr val="accent1"/>
                    </a:solidFill>
                  </a:tcPr>
                </a:tc>
                <a:tc>
                  <a:txBody>
                    <a:bodyPr/>
                    <a:lstStyle/>
                    <a:p>
                      <a:pPr marL="0" marR="0" lvl="0" indent="0" algn="ctr" rtl="0">
                        <a:lnSpc>
                          <a:spcPct val="115000"/>
                        </a:lnSpc>
                        <a:spcBef>
                          <a:spcPts val="0"/>
                        </a:spcBef>
                        <a:spcAft>
                          <a:spcPts val="0"/>
                        </a:spcAft>
                        <a:buNone/>
                      </a:pPr>
                      <a:r>
                        <a:rPr lang="en-US" sz="1800" b="1" u="none" strike="noStrike" cap="none">
                          <a:solidFill>
                            <a:schemeClr val="lt1"/>
                          </a:solidFill>
                        </a:rPr>
                        <a:t>C1</a:t>
                      </a:r>
                      <a:endParaRPr sz="1800" b="1" u="none" strike="noStrike" cap="none">
                        <a:solidFill>
                          <a:schemeClr val="lt1"/>
                        </a:solidFill>
                        <a:latin typeface="Calibri"/>
                        <a:ea typeface="Calibri"/>
                        <a:cs typeface="Calibri"/>
                        <a:sym typeface="Calibri"/>
                      </a:endParaRPr>
                    </a:p>
                  </a:txBody>
                  <a:tcPr marL="68575" marR="68575" marT="0" marB="0" anchor="ctr">
                    <a:solidFill>
                      <a:schemeClr val="accent1"/>
                    </a:solidFill>
                  </a:tcPr>
                </a:tc>
                <a:tc>
                  <a:txBody>
                    <a:bodyPr/>
                    <a:lstStyle/>
                    <a:p>
                      <a:pPr marL="0" marR="0" lvl="0" indent="0" algn="ctr" rtl="0">
                        <a:lnSpc>
                          <a:spcPct val="115000"/>
                        </a:lnSpc>
                        <a:spcBef>
                          <a:spcPts val="0"/>
                        </a:spcBef>
                        <a:spcAft>
                          <a:spcPts val="0"/>
                        </a:spcAft>
                        <a:buNone/>
                      </a:pPr>
                      <a:r>
                        <a:rPr lang="en-US" sz="1800" b="1" u="none" strike="noStrike" cap="none">
                          <a:solidFill>
                            <a:schemeClr val="lt1"/>
                          </a:solidFill>
                        </a:rPr>
                        <a:t>C2</a:t>
                      </a:r>
                      <a:endParaRPr sz="1800" b="1" u="none" strike="noStrike" cap="none">
                        <a:solidFill>
                          <a:schemeClr val="lt1"/>
                        </a:solidFill>
                        <a:latin typeface="Calibri"/>
                        <a:ea typeface="Calibri"/>
                        <a:cs typeface="Calibri"/>
                        <a:sym typeface="Calibri"/>
                      </a:endParaRPr>
                    </a:p>
                  </a:txBody>
                  <a:tcPr marL="68575" marR="68575" marT="0" marB="0" anchor="ctr">
                    <a:solidFill>
                      <a:schemeClr val="accent1"/>
                    </a:solidFill>
                  </a:tcPr>
                </a:tc>
                <a:tc>
                  <a:txBody>
                    <a:bodyPr/>
                    <a:lstStyle/>
                    <a:p>
                      <a:pPr marL="0" marR="0" lvl="0" indent="0" algn="ctr" rtl="0">
                        <a:lnSpc>
                          <a:spcPct val="115000"/>
                        </a:lnSpc>
                        <a:spcBef>
                          <a:spcPts val="0"/>
                        </a:spcBef>
                        <a:spcAft>
                          <a:spcPts val="0"/>
                        </a:spcAft>
                        <a:buNone/>
                      </a:pPr>
                      <a:r>
                        <a:rPr lang="en-US" sz="1800" b="1" u="none" strike="noStrike" cap="none">
                          <a:solidFill>
                            <a:schemeClr val="lt1"/>
                          </a:solidFill>
                        </a:rPr>
                        <a:t>C3</a:t>
                      </a:r>
                      <a:endParaRPr sz="1800" b="1" u="none" strike="noStrike" cap="none">
                        <a:solidFill>
                          <a:schemeClr val="lt1"/>
                        </a:solidFill>
                        <a:latin typeface="Calibri"/>
                        <a:ea typeface="Calibri"/>
                        <a:cs typeface="Calibri"/>
                        <a:sym typeface="Calibri"/>
                      </a:endParaRPr>
                    </a:p>
                  </a:txBody>
                  <a:tcPr marL="68575" marR="68575" marT="0" marB="0" anchor="ctr">
                    <a:solidFill>
                      <a:schemeClr val="accent1"/>
                    </a:solidFill>
                  </a:tcPr>
                </a:tc>
                <a:tc>
                  <a:txBody>
                    <a:bodyPr/>
                    <a:lstStyle/>
                    <a:p>
                      <a:pPr marL="0" marR="0" lvl="0" indent="0" algn="ctr" rtl="0">
                        <a:lnSpc>
                          <a:spcPct val="115000"/>
                        </a:lnSpc>
                        <a:spcBef>
                          <a:spcPts val="0"/>
                        </a:spcBef>
                        <a:spcAft>
                          <a:spcPts val="0"/>
                        </a:spcAft>
                        <a:buNone/>
                      </a:pPr>
                      <a:r>
                        <a:rPr lang="en-US" sz="1800" b="1" u="none" strike="noStrike" cap="none">
                          <a:solidFill>
                            <a:schemeClr val="lt1"/>
                          </a:solidFill>
                        </a:rPr>
                        <a:t>C4</a:t>
                      </a:r>
                      <a:endParaRPr sz="1800" b="1" u="none" strike="noStrike" cap="none">
                        <a:solidFill>
                          <a:schemeClr val="lt1"/>
                        </a:solidFill>
                        <a:latin typeface="Calibri"/>
                        <a:ea typeface="Calibri"/>
                        <a:cs typeface="Calibri"/>
                        <a:sym typeface="Calibri"/>
                      </a:endParaRPr>
                    </a:p>
                  </a:txBody>
                  <a:tcPr marL="68575" marR="68575" marT="0" marB="0" anchor="ctr">
                    <a:solidFill>
                      <a:schemeClr val="accent1"/>
                    </a:solidFill>
                  </a:tcPr>
                </a:tc>
                <a:extLst>
                  <a:ext uri="{0D108BD9-81ED-4DB2-BD59-A6C34878D82A}">
                    <a16:rowId xmlns:a16="http://schemas.microsoft.com/office/drawing/2014/main" val="10000"/>
                  </a:ext>
                </a:extLst>
              </a:tr>
              <a:tr h="319550">
                <a:tc>
                  <a:txBody>
                    <a:bodyPr/>
                    <a:lstStyle/>
                    <a:p>
                      <a:pPr marL="0" marR="0" lvl="0" indent="0" algn="l" rtl="0">
                        <a:lnSpc>
                          <a:spcPct val="115000"/>
                        </a:lnSpc>
                        <a:spcBef>
                          <a:spcPts val="0"/>
                        </a:spcBef>
                        <a:spcAft>
                          <a:spcPts val="0"/>
                        </a:spcAft>
                        <a:buNone/>
                      </a:pPr>
                      <a:r>
                        <a:rPr lang="en-US" sz="1800" u="none" strike="noStrike" cap="none"/>
                        <a:t>Confident of funding </a:t>
                      </a:r>
                      <a:endParaRPr sz="1800" u="none" strike="noStrike" cap="none">
                        <a:latin typeface="Calibri"/>
                        <a:ea typeface="Calibri"/>
                        <a:cs typeface="Calibri"/>
                        <a:sym typeface="Calibri"/>
                      </a:endParaRPr>
                    </a:p>
                  </a:txBody>
                  <a:tcPr marL="68575" marR="68575" marT="0" marB="0"/>
                </a:tc>
                <a:tc>
                  <a:txBody>
                    <a:bodyPr/>
                    <a:lstStyle/>
                    <a:p>
                      <a:pPr marL="0" marR="0" lvl="0" indent="0" algn="ctr" rtl="0">
                        <a:lnSpc>
                          <a:spcPct val="115000"/>
                        </a:lnSpc>
                        <a:spcBef>
                          <a:spcPts val="0"/>
                        </a:spcBef>
                        <a:spcAft>
                          <a:spcPts val="0"/>
                        </a:spcAft>
                        <a:buNone/>
                      </a:pPr>
                      <a:r>
                        <a:rPr lang="en-US" sz="1800" u="none" strike="noStrike" cap="none"/>
                        <a:t>--</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 </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 </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 </a:t>
                      </a:r>
                      <a:endParaRPr sz="1800" u="none" strike="noStrike" cap="none">
                        <a:latin typeface="Calibri"/>
                        <a:ea typeface="Calibri"/>
                        <a:cs typeface="Calibri"/>
                        <a:sym typeface="Calibri"/>
                      </a:endParaRPr>
                    </a:p>
                  </a:txBody>
                  <a:tcPr marL="68575" marR="68575" marT="0" marB="0" anchor="ctr"/>
                </a:tc>
                <a:extLst>
                  <a:ext uri="{0D108BD9-81ED-4DB2-BD59-A6C34878D82A}">
                    <a16:rowId xmlns:a16="http://schemas.microsoft.com/office/drawing/2014/main" val="10001"/>
                  </a:ext>
                </a:extLst>
              </a:tr>
              <a:tr h="319550">
                <a:tc>
                  <a:txBody>
                    <a:bodyPr/>
                    <a:lstStyle/>
                    <a:p>
                      <a:pPr marL="0" marR="0" lvl="0" indent="0" algn="l" rtl="0">
                        <a:lnSpc>
                          <a:spcPct val="115000"/>
                        </a:lnSpc>
                        <a:spcBef>
                          <a:spcPts val="0"/>
                        </a:spcBef>
                        <a:spcAft>
                          <a:spcPts val="0"/>
                        </a:spcAft>
                        <a:buNone/>
                      </a:pPr>
                      <a:r>
                        <a:rPr lang="en-US" sz="1800" u="none" strike="noStrike" cap="none"/>
                        <a:t>Uncertain of funding</a:t>
                      </a:r>
                      <a:endParaRPr sz="1800" u="none" strike="noStrike" cap="none">
                        <a:latin typeface="Calibri"/>
                        <a:ea typeface="Calibri"/>
                        <a:cs typeface="Calibri"/>
                        <a:sym typeface="Calibri"/>
                      </a:endParaRPr>
                    </a:p>
                  </a:txBody>
                  <a:tcPr marL="68575" marR="68575" marT="0" marB="0"/>
                </a:tc>
                <a:tc>
                  <a:txBody>
                    <a:bodyPr/>
                    <a:lstStyle/>
                    <a:p>
                      <a:pPr marL="0" marR="0" lvl="0" indent="0" algn="ctr" rtl="0">
                        <a:lnSpc>
                          <a:spcPct val="115000"/>
                        </a:lnSpc>
                        <a:spcBef>
                          <a:spcPts val="0"/>
                        </a:spcBef>
                        <a:spcAft>
                          <a:spcPts val="0"/>
                        </a:spcAft>
                        <a:buNone/>
                      </a:pPr>
                      <a:r>
                        <a:rPr lang="en-US" sz="1800" u="none" strike="noStrike" cap="none"/>
                        <a:t>-0.42***</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 </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dirty="0"/>
                        <a:t> </a:t>
                      </a:r>
                      <a:endParaRPr sz="1800" u="none" strike="noStrike" cap="none" dirty="0">
                        <a:latin typeface="Calibri"/>
                        <a:ea typeface="Calibri"/>
                        <a:cs typeface="Calibri"/>
                        <a:sym typeface="Calibri"/>
                      </a:endParaRPr>
                    </a:p>
                  </a:txBody>
                  <a:tcPr marL="68575" marR="68575" marT="0" marB="0" anchor="ctr"/>
                </a:tc>
                <a:extLst>
                  <a:ext uri="{0D108BD9-81ED-4DB2-BD59-A6C34878D82A}">
                    <a16:rowId xmlns:a16="http://schemas.microsoft.com/office/drawing/2014/main" val="10002"/>
                  </a:ext>
                </a:extLst>
              </a:tr>
              <a:tr h="319550">
                <a:tc>
                  <a:txBody>
                    <a:bodyPr/>
                    <a:lstStyle/>
                    <a:p>
                      <a:pPr marL="0" marR="0" lvl="0" indent="0" algn="l" rtl="0">
                        <a:lnSpc>
                          <a:spcPct val="115000"/>
                        </a:lnSpc>
                        <a:spcBef>
                          <a:spcPts val="0"/>
                        </a:spcBef>
                        <a:spcAft>
                          <a:spcPts val="0"/>
                        </a:spcAft>
                        <a:buNone/>
                      </a:pPr>
                      <a:r>
                        <a:rPr lang="en-US" sz="1800" u="none" strike="noStrike" cap="none"/>
                        <a:t>Self-financing</a:t>
                      </a:r>
                      <a:endParaRPr sz="1800" u="none" strike="noStrike" cap="none">
                        <a:latin typeface="Calibri"/>
                        <a:ea typeface="Calibri"/>
                        <a:cs typeface="Calibri"/>
                        <a:sym typeface="Calibri"/>
                      </a:endParaRPr>
                    </a:p>
                  </a:txBody>
                  <a:tcPr marL="68575" marR="68575" marT="0" marB="0"/>
                </a:tc>
                <a:tc>
                  <a:txBody>
                    <a:bodyPr/>
                    <a:lstStyle/>
                    <a:p>
                      <a:pPr marL="0" marR="0" lvl="0" indent="0" algn="ctr" rtl="0">
                        <a:lnSpc>
                          <a:spcPct val="115000"/>
                        </a:lnSpc>
                        <a:spcBef>
                          <a:spcPts val="0"/>
                        </a:spcBef>
                        <a:spcAft>
                          <a:spcPts val="0"/>
                        </a:spcAft>
                        <a:buNone/>
                      </a:pPr>
                      <a:r>
                        <a:rPr lang="en-US" sz="1800" u="none" strike="noStrike" cap="none"/>
                        <a:t>-0.40**</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0.02</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 </a:t>
                      </a:r>
                      <a:endParaRPr sz="1800" u="none" strike="noStrike" cap="none">
                        <a:latin typeface="Calibri"/>
                        <a:ea typeface="Calibri"/>
                        <a:cs typeface="Calibri"/>
                        <a:sym typeface="Calibri"/>
                      </a:endParaRPr>
                    </a:p>
                  </a:txBody>
                  <a:tcPr marL="68575" marR="68575" marT="0" marB="0" anchor="ctr"/>
                </a:tc>
                <a:extLst>
                  <a:ext uri="{0D108BD9-81ED-4DB2-BD59-A6C34878D82A}">
                    <a16:rowId xmlns:a16="http://schemas.microsoft.com/office/drawing/2014/main" val="10003"/>
                  </a:ext>
                </a:extLst>
              </a:tr>
              <a:tr h="319550">
                <a:tc>
                  <a:txBody>
                    <a:bodyPr/>
                    <a:lstStyle/>
                    <a:p>
                      <a:pPr marL="0" marR="0" lvl="0" indent="0" algn="l" rtl="0">
                        <a:lnSpc>
                          <a:spcPct val="115000"/>
                        </a:lnSpc>
                        <a:spcBef>
                          <a:spcPts val="0"/>
                        </a:spcBef>
                        <a:spcAft>
                          <a:spcPts val="0"/>
                        </a:spcAft>
                        <a:buNone/>
                      </a:pPr>
                      <a:r>
                        <a:rPr lang="en-US" sz="1800" u="none" strike="noStrike" cap="none"/>
                        <a:t>Loan averse</a:t>
                      </a:r>
                      <a:endParaRPr sz="1800" u="none" strike="noStrike" cap="none">
                        <a:latin typeface="Calibri"/>
                        <a:ea typeface="Calibri"/>
                        <a:cs typeface="Calibri"/>
                        <a:sym typeface="Calibri"/>
                      </a:endParaRPr>
                    </a:p>
                  </a:txBody>
                  <a:tcPr marL="68575" marR="68575" marT="0" marB="0"/>
                </a:tc>
                <a:tc>
                  <a:txBody>
                    <a:bodyPr/>
                    <a:lstStyle/>
                    <a:p>
                      <a:pPr marL="0" marR="0" lvl="0" indent="0" algn="ctr" rtl="0">
                        <a:lnSpc>
                          <a:spcPct val="115000"/>
                        </a:lnSpc>
                        <a:spcBef>
                          <a:spcPts val="0"/>
                        </a:spcBef>
                        <a:spcAft>
                          <a:spcPts val="0"/>
                        </a:spcAft>
                        <a:buNone/>
                      </a:pPr>
                      <a:r>
                        <a:rPr lang="en-US" sz="1800" u="none" strike="noStrike" cap="none"/>
                        <a:t>-0.26*</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0.16*</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a:t>0.141</a:t>
                      </a:r>
                      <a:endParaRPr sz="18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n-US" sz="1800" u="none" strike="noStrike" cap="none" dirty="0"/>
                        <a:t>--</a:t>
                      </a:r>
                      <a:endParaRPr sz="1800" u="none" strike="noStrike" cap="none" dirty="0">
                        <a:latin typeface="Calibri"/>
                        <a:ea typeface="Calibri"/>
                        <a:cs typeface="Calibri"/>
                        <a:sym typeface="Calibri"/>
                      </a:endParaRPr>
                    </a:p>
                  </a:txBody>
                  <a:tcPr marL="68575" marR="68575" marT="0" marB="0" anchor="ctr"/>
                </a:tc>
                <a:extLst>
                  <a:ext uri="{0D108BD9-81ED-4DB2-BD59-A6C34878D82A}">
                    <a16:rowId xmlns:a16="http://schemas.microsoft.com/office/drawing/2014/main" val="10004"/>
                  </a:ext>
                </a:extLst>
              </a:tr>
            </a:tbl>
          </a:graphicData>
        </a:graphic>
      </p:graphicFrame>
    </p:spTree>
  </p:cSld>
  <p:clrMapOvr>
    <a:overrideClrMapping bg1="lt1" tx1="dk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39"/>
        <p:cNvGrpSpPr/>
        <p:nvPr/>
      </p:nvGrpSpPr>
      <p:grpSpPr>
        <a:xfrm>
          <a:off x="0" y="0"/>
          <a:ext cx="0" cy="0"/>
          <a:chOff x="0" y="0"/>
          <a:chExt cx="0" cy="0"/>
        </a:xfrm>
      </p:grpSpPr>
      <p:sp>
        <p:nvSpPr>
          <p:cNvPr id="240" name="Google Shape;240;p15"/>
          <p:cNvSpPr txBox="1">
            <a:spLocks noGrp="1"/>
          </p:cNvSpPr>
          <p:nvPr>
            <p:ph type="title"/>
          </p:nvPr>
        </p:nvSpPr>
        <p:spPr>
          <a:xfrm>
            <a:off x="874605" y="799786"/>
            <a:ext cx="6579473" cy="5258429"/>
          </a:xfrm>
          <a:prstGeom prst="rect">
            <a:avLst/>
          </a:prstGeom>
          <a:noFill/>
          <a:ln>
            <a:noFill/>
          </a:ln>
        </p:spPr>
        <p:txBody>
          <a:bodyPr spcFirstLastPara="1" wrap="square" lIns="91425" tIns="45700" rIns="91425" bIns="45700" anchor="ctr" anchorCtr="0">
            <a:normAutofit/>
          </a:bodyPr>
          <a:lstStyle/>
          <a:p>
            <a:pPr marL="0" lvl="0" indent="0" algn="r" rtl="0">
              <a:lnSpc>
                <a:spcPct val="85000"/>
              </a:lnSpc>
              <a:spcBef>
                <a:spcPts val="0"/>
              </a:spcBef>
              <a:spcAft>
                <a:spcPts val="0"/>
              </a:spcAft>
              <a:buClr>
                <a:schemeClr val="dk1"/>
              </a:buClr>
              <a:buSzPts val="5400"/>
              <a:buFont typeface="Corbel"/>
              <a:buNone/>
            </a:pPr>
            <a:r>
              <a:rPr lang="en-US" sz="5400" b="1"/>
              <a:t>DISCUSSION</a:t>
            </a:r>
            <a:endParaRPr/>
          </a:p>
        </p:txBody>
      </p:sp>
      <p:sp>
        <p:nvSpPr>
          <p:cNvPr id="241" name="Google Shape;241;p15"/>
          <p:cNvSpPr txBox="1">
            <a:spLocks noGrp="1"/>
          </p:cNvSpPr>
          <p:nvPr>
            <p:ph type="body" idx="1"/>
          </p:nvPr>
        </p:nvSpPr>
        <p:spPr>
          <a:xfrm>
            <a:off x="8131666" y="799786"/>
            <a:ext cx="3145623" cy="52584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920"/>
              <a:buNone/>
            </a:pPr>
            <a:endParaRPr sz="2400">
              <a:solidFill>
                <a:schemeClr val="dk1"/>
              </a:solidFill>
            </a:endParaRPr>
          </a:p>
        </p:txBody>
      </p:sp>
      <p:pic>
        <p:nvPicPr>
          <p:cNvPr id="242" name="Google Shape;242;p15"/>
          <p:cNvPicPr preferRelativeResize="0"/>
          <p:nvPr/>
        </p:nvPicPr>
        <p:blipFill rotWithShape="1">
          <a:blip r:embed="rId3">
            <a:alphaModFix/>
          </a:blip>
          <a:srcRect/>
          <a:stretch/>
        </p:blipFill>
        <p:spPr>
          <a:xfrm>
            <a:off x="9387597" y="5474087"/>
            <a:ext cx="2804403" cy="13839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46"/>
        <p:cNvGrpSpPr/>
        <p:nvPr/>
      </p:nvGrpSpPr>
      <p:grpSpPr>
        <a:xfrm>
          <a:off x="0" y="0"/>
          <a:ext cx="0" cy="0"/>
          <a:chOff x="0" y="0"/>
          <a:chExt cx="0" cy="0"/>
        </a:xfrm>
      </p:grpSpPr>
      <p:sp>
        <p:nvSpPr>
          <p:cNvPr id="247" name="Google Shape;247;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4400"/>
              <a:buFont typeface="Corbel"/>
              <a:buNone/>
            </a:pPr>
            <a:r>
              <a:rPr lang="en-US"/>
              <a:t>Unique Financial Challenges	</a:t>
            </a:r>
            <a:endParaRPr/>
          </a:p>
        </p:txBody>
      </p:sp>
      <p:sp>
        <p:nvSpPr>
          <p:cNvPr id="248" name="Google Shape;248;p16"/>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lvl="0">
              <a:spcBef>
                <a:spcPts val="0"/>
              </a:spcBef>
              <a:spcAft>
                <a:spcPts val="600"/>
              </a:spcAft>
            </a:pPr>
            <a:r>
              <a:rPr lang="en-US" dirty="0"/>
              <a:t>Over half of our sample of trans students had a high probability of being uncertain of funding of self funding their education</a:t>
            </a:r>
            <a:endParaRPr dirty="0"/>
          </a:p>
          <a:p>
            <a:pPr lvl="0">
              <a:spcBef>
                <a:spcPts val="0"/>
              </a:spcBef>
              <a:spcAft>
                <a:spcPts val="600"/>
              </a:spcAft>
            </a:pPr>
            <a:r>
              <a:rPr lang="en-US" dirty="0"/>
              <a:t>Trans students may face unique financial challenges due to family rejection </a:t>
            </a:r>
            <a:endParaRPr dirty="0"/>
          </a:p>
          <a:p>
            <a:pPr lvl="0">
              <a:spcBef>
                <a:spcPts val="0"/>
              </a:spcBef>
              <a:spcAft>
                <a:spcPts val="600"/>
              </a:spcAft>
            </a:pPr>
            <a:r>
              <a:rPr lang="en-US" dirty="0"/>
              <a:t>Lack of mentorship and support in high school may lead to lack of education or awareness of financing college</a:t>
            </a:r>
            <a:endParaRPr dirty="0"/>
          </a:p>
          <a:p>
            <a:pPr lvl="0">
              <a:spcBef>
                <a:spcPts val="0"/>
              </a:spcBef>
              <a:spcAft>
                <a:spcPts val="600"/>
              </a:spcAft>
            </a:pPr>
            <a:r>
              <a:rPr lang="en-US" dirty="0"/>
              <a:t>Lack of family support or lower socioeconomic status may also lead to loan aversion</a:t>
            </a:r>
            <a:endParaRPr dirty="0"/>
          </a:p>
        </p:txBody>
      </p:sp>
      <p:pic>
        <p:nvPicPr>
          <p:cNvPr id="249" name="Google Shape;249;p16"/>
          <p:cNvPicPr preferRelativeResize="0"/>
          <p:nvPr/>
        </p:nvPicPr>
        <p:blipFill rotWithShape="1">
          <a:blip r:embed="rId4">
            <a:alphaModFix/>
          </a:blip>
          <a:srcRect/>
          <a:stretch/>
        </p:blipFill>
        <p:spPr>
          <a:xfrm>
            <a:off x="9390315" y="5403056"/>
            <a:ext cx="2801685" cy="1385887"/>
          </a:xfrm>
          <a:prstGeom prst="rect">
            <a:avLst/>
          </a:prstGeom>
          <a:noFill/>
          <a:ln>
            <a:noFill/>
          </a:ln>
        </p:spPr>
      </p:pic>
    </p:spTree>
  </p:cSld>
  <p:clrMapOvr>
    <a:overrideClrMapping bg1="lt1" tx1="dk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54"/>
        <p:cNvGrpSpPr/>
        <p:nvPr/>
      </p:nvGrpSpPr>
      <p:grpSpPr>
        <a:xfrm>
          <a:off x="0" y="0"/>
          <a:ext cx="0" cy="0"/>
          <a:chOff x="0" y="0"/>
          <a:chExt cx="0" cy="0"/>
        </a:xfrm>
      </p:grpSpPr>
      <p:sp>
        <p:nvSpPr>
          <p:cNvPr id="255" name="Google Shape;255;g2979c44e2a8_0_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Implications for Practice</a:t>
            </a:r>
            <a:endParaRPr/>
          </a:p>
        </p:txBody>
      </p:sp>
      <p:sp>
        <p:nvSpPr>
          <p:cNvPr id="256" name="Google Shape;256;g2979c44e2a8_0_0"/>
          <p:cNvSpPr txBox="1">
            <a:spLocks noGrp="1"/>
          </p:cNvSpPr>
          <p:nvPr>
            <p:ph type="body" idx="1"/>
          </p:nvPr>
        </p:nvSpPr>
        <p:spPr>
          <a:prstGeom prst="rect">
            <a:avLst/>
          </a:prstGeom>
        </p:spPr>
        <p:txBody>
          <a:bodyPr spcFirstLastPara="1" wrap="square" lIns="91425" tIns="45700" rIns="91425" bIns="45700" anchor="t" anchorCtr="0">
            <a:normAutofit/>
          </a:bodyPr>
          <a:lstStyle/>
          <a:p>
            <a:pPr lvl="0">
              <a:spcBef>
                <a:spcPts val="0"/>
              </a:spcBef>
              <a:spcAft>
                <a:spcPts val="600"/>
              </a:spcAft>
            </a:pPr>
            <a:r>
              <a:rPr lang="en-US" dirty="0"/>
              <a:t>Center and uplift trans students when providing financial education and services</a:t>
            </a:r>
            <a:endParaRPr dirty="0"/>
          </a:p>
          <a:p>
            <a:pPr lvl="0">
              <a:spcBef>
                <a:spcPts val="0"/>
              </a:spcBef>
              <a:spcAft>
                <a:spcPts val="600"/>
              </a:spcAft>
            </a:pPr>
            <a:r>
              <a:rPr lang="en-US" dirty="0"/>
              <a:t>Consider nuanced experiences as they relate to college enrollment, funding considerations, and navigating educational learning environments</a:t>
            </a:r>
            <a:endParaRPr dirty="0"/>
          </a:p>
        </p:txBody>
      </p:sp>
    </p:spTree>
  </p:cSld>
  <p:clrMapOvr>
    <a:overrideClrMapping bg1="lt1" tx1="dk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666AC"/>
        </a:solidFill>
        <a:effectLst/>
      </p:bgPr>
    </p:bg>
    <p:spTree>
      <p:nvGrpSpPr>
        <p:cNvPr id="1" name="Shape 261"/>
        <p:cNvGrpSpPr/>
        <p:nvPr/>
      </p:nvGrpSpPr>
      <p:grpSpPr>
        <a:xfrm>
          <a:off x="0" y="0"/>
          <a:ext cx="0" cy="0"/>
          <a:chOff x="0" y="0"/>
          <a:chExt cx="0" cy="0"/>
        </a:xfrm>
      </p:grpSpPr>
      <p:sp>
        <p:nvSpPr>
          <p:cNvPr id="262" name="Google Shape;262;g2979c44e2a8_0_6"/>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Implications for Research and Policy</a:t>
            </a:r>
            <a:endParaRPr/>
          </a:p>
        </p:txBody>
      </p:sp>
      <p:sp>
        <p:nvSpPr>
          <p:cNvPr id="263" name="Google Shape;263;g2979c44e2a8_0_6"/>
          <p:cNvSpPr txBox="1">
            <a:spLocks noGrp="1"/>
          </p:cNvSpPr>
          <p:nvPr>
            <p:ph type="body" idx="1"/>
          </p:nvPr>
        </p:nvSpPr>
        <p:spPr>
          <a:prstGeom prst="rect">
            <a:avLst/>
          </a:prstGeom>
        </p:spPr>
        <p:txBody>
          <a:bodyPr spcFirstLastPara="1" wrap="square" lIns="91425" tIns="45700" rIns="91425" bIns="45700" anchor="t" anchorCtr="0">
            <a:normAutofit/>
          </a:bodyPr>
          <a:lstStyle/>
          <a:p>
            <a:pPr lvl="0">
              <a:spcBef>
                <a:spcPts val="0"/>
              </a:spcBef>
              <a:spcAft>
                <a:spcPts val="600"/>
              </a:spcAft>
            </a:pPr>
            <a:r>
              <a:rPr lang="en-US" dirty="0"/>
              <a:t>Importance of centering trans students’ experiences through methodological choices</a:t>
            </a:r>
            <a:endParaRPr dirty="0"/>
          </a:p>
          <a:p>
            <a:pPr lvl="0">
              <a:spcBef>
                <a:spcPts val="0"/>
              </a:spcBef>
              <a:spcAft>
                <a:spcPts val="600"/>
              </a:spcAft>
            </a:pPr>
            <a:r>
              <a:rPr lang="en-US" dirty="0"/>
              <a:t>Examine differences within populations rather than focusing on comparisons to </a:t>
            </a:r>
            <a:r>
              <a:rPr lang="en-US" dirty="0" err="1"/>
              <a:t>majoritized</a:t>
            </a:r>
            <a:r>
              <a:rPr lang="en-US" dirty="0"/>
              <a:t> identity groups </a:t>
            </a:r>
            <a:endParaRPr dirty="0"/>
          </a:p>
          <a:p>
            <a:pPr lvl="0">
              <a:spcBef>
                <a:spcPts val="0"/>
              </a:spcBef>
              <a:spcAft>
                <a:spcPts val="600"/>
              </a:spcAft>
            </a:pPr>
            <a:r>
              <a:rPr lang="en-US" dirty="0"/>
              <a:t>Avoid deficit-based interpretations</a:t>
            </a:r>
            <a:endParaRPr dirty="0"/>
          </a:p>
          <a:p>
            <a:pPr lvl="0">
              <a:spcBef>
                <a:spcPts val="0"/>
              </a:spcBef>
              <a:spcAft>
                <a:spcPts val="600"/>
              </a:spcAft>
            </a:pPr>
            <a:r>
              <a:rPr lang="en-US" dirty="0"/>
              <a:t>Employ critical frameworks in analysis</a:t>
            </a:r>
            <a:endParaRPr dirty="0"/>
          </a:p>
        </p:txBody>
      </p:sp>
    </p:spTree>
  </p:cSld>
  <p:clrMapOvr>
    <a:overrideClrMapping bg1="lt1" tx1="dk1" bg2="dk2" tx2="lt2" accent1="accent1" accent2="accent2" accent3="accent3" accent4="accent4" accent5="accent5" accent6="accent6" hlink="hlink" folHlink="folHlink"/>
  </p:clrMapOvr>
</p:sld>
</file>

<file path=ppt/theme/theme1.xml><?xml version="1.0" encoding="utf-8"?>
<a:theme xmlns:a="http://schemas.openxmlformats.org/drawingml/2006/main" name="Basis">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asis">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2.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3.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4.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5.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6.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7.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ppt/theme/themeOverride8.xml><?xml version="1.0" encoding="utf-8"?>
<a:themeOverride xmlns:a="http://schemas.openxmlformats.org/drawingml/2006/main">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themeOverride>
</file>

<file path=docProps/app.xml><?xml version="1.0" encoding="utf-8"?>
<Properties xmlns="http://schemas.openxmlformats.org/officeDocument/2006/extended-properties" xmlns:vt="http://schemas.openxmlformats.org/officeDocument/2006/docPropsVTypes">
  <TotalTime>0</TotalTime>
  <Words>2055</Words>
  <Application>Microsoft Office PowerPoint</Application>
  <PresentationFormat>Widescreen</PresentationFormat>
  <Paragraphs>206</Paragraphs>
  <Slides>18</Slides>
  <Notes>18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Corbel</vt:lpstr>
      <vt:lpstr>Helvetica Neue</vt:lpstr>
      <vt:lpstr>Arial</vt:lpstr>
      <vt:lpstr>Calibri</vt:lpstr>
      <vt:lpstr>Basis</vt:lpstr>
      <vt:lpstr>Basis</vt:lpstr>
      <vt:lpstr>BREAKING BARRIERS: THE FINANCIAL STRUGGLE OF TRANS STUDENTS IN PAYING FOR HIGHER EDUCATION</vt:lpstr>
      <vt:lpstr>Social and Educational Relevance</vt:lpstr>
      <vt:lpstr>Literature Review</vt:lpstr>
      <vt:lpstr>Theoretical Frameworks</vt:lpstr>
      <vt:lpstr>METHODS</vt:lpstr>
      <vt:lpstr>Quantitative Criticalism </vt:lpstr>
      <vt:lpstr>Data Source and Sample</vt:lpstr>
      <vt:lpstr>Research Questions</vt:lpstr>
      <vt:lpstr>Measures </vt:lpstr>
      <vt:lpstr>Analysis</vt:lpstr>
      <vt:lpstr>RESULTS</vt:lpstr>
      <vt:lpstr>Financial Resource Profiles</vt:lpstr>
      <vt:lpstr>Assessing Financial Resource Group Differences Based on Predictors</vt:lpstr>
      <vt:lpstr>Assessing Financial Resource Group Differences Based on Predictors</vt:lpstr>
      <vt:lpstr>DISCUSSION</vt:lpstr>
      <vt:lpstr>Unique Financial Challenges </vt:lpstr>
      <vt:lpstr>Implications for Practice</vt:lpstr>
      <vt:lpstr>Implications for Research and Policy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BREAKING BARRIERS: THE FINANCIAL STRUGGLE OF TRANS STUDENTS IN PAYING FOR HIGHER EDUCATION</dc:title>
  <dc:creator>Shaheen, Musbah</dc:creator>
  <cp:lastModifiedBy>Simpfenderfer, Amanda</cp:lastModifiedBy>
  <cp:revision>1</cp:revision>
  <dcterms:created xsi:type="dcterms:W3CDTF">2022-11-03T11:15:06Z</dcterms:created>
  <dcterms:modified xsi:type="dcterms:W3CDTF">2023-11-06T21:21:28Z</dcterms:modified>
</cp:coreProperties>
</file>