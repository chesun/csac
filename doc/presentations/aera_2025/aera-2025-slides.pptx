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37"/>
  </p:notesMasterIdLst>
  <p:sldIdLst>
    <p:sldId id="256" r:id="rId2"/>
    <p:sldId id="517" r:id="rId3"/>
    <p:sldId id="520" r:id="rId4"/>
    <p:sldId id="521" r:id="rId5"/>
    <p:sldId id="519" r:id="rId6"/>
    <p:sldId id="522" r:id="rId7"/>
    <p:sldId id="523" r:id="rId8"/>
    <p:sldId id="524" r:id="rId9"/>
    <p:sldId id="493" r:id="rId10"/>
    <p:sldId id="525" r:id="rId11"/>
    <p:sldId id="530" r:id="rId12"/>
    <p:sldId id="526" r:id="rId13"/>
    <p:sldId id="529" r:id="rId14"/>
    <p:sldId id="528" r:id="rId15"/>
    <p:sldId id="531" r:id="rId16"/>
    <p:sldId id="527" r:id="rId17"/>
    <p:sldId id="532" r:id="rId18"/>
    <p:sldId id="535" r:id="rId19"/>
    <p:sldId id="533" r:id="rId20"/>
    <p:sldId id="534" r:id="rId21"/>
    <p:sldId id="536" r:id="rId22"/>
    <p:sldId id="537" r:id="rId23"/>
    <p:sldId id="538" r:id="rId24"/>
    <p:sldId id="541" r:id="rId25"/>
    <p:sldId id="542" r:id="rId26"/>
    <p:sldId id="544" r:id="rId27"/>
    <p:sldId id="545" r:id="rId28"/>
    <p:sldId id="546" r:id="rId29"/>
    <p:sldId id="548" r:id="rId30"/>
    <p:sldId id="549" r:id="rId31"/>
    <p:sldId id="550" r:id="rId32"/>
    <p:sldId id="539" r:id="rId33"/>
    <p:sldId id="540" r:id="rId34"/>
    <p:sldId id="543" r:id="rId35"/>
    <p:sldId id="54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ia Maylen Hurtt" initials="AMH" lastIdx="6" clrIdx="0"/>
  <p:cmAuthor id="2" name="Microsoft Office User" initials="MOU" lastIdx="1" clrIdx="1"/>
  <p:cmAuthor id="3" name="Jill Huynh" initials="JH" lastIdx="1" clrIdx="2">
    <p:extLst>
      <p:ext uri="{19B8F6BF-5375-455C-9EA6-DF929625EA0E}">
        <p15:presenceInfo xmlns:p15="http://schemas.microsoft.com/office/powerpoint/2012/main" userId="S::jilhuy@ucdavis.edu::2220f398-e2ac-4ade-9aa3-3ebdf0a3b46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4B84"/>
    <a:srgbClr val="DFB305"/>
    <a:srgbClr val="929292"/>
    <a:srgbClr val="354369"/>
    <a:srgbClr val="000000"/>
    <a:srgbClr val="FFFFFF"/>
    <a:srgbClr val="E2A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19" autoAdjust="0"/>
    <p:restoredTop sz="85986" autoAdjust="0"/>
  </p:normalViewPr>
  <p:slideViewPr>
    <p:cSldViewPr>
      <p:cViewPr varScale="1">
        <p:scale>
          <a:sx n="109" d="100"/>
          <a:sy n="109" d="100"/>
        </p:scale>
        <p:origin x="544" y="192"/>
      </p:cViewPr>
      <p:guideLst>
        <p:guide orient="horz" pos="2160"/>
        <p:guide pos="3840"/>
      </p:guideLst>
    </p:cSldViewPr>
  </p:slideViewPr>
  <p:outlineViewPr>
    <p:cViewPr>
      <p:scale>
        <a:sx n="33" d="100"/>
        <a:sy n="33" d="100"/>
      </p:scale>
      <p:origin x="0" y="5952"/>
    </p:cViewPr>
  </p:outlineViewPr>
  <p:notesTextViewPr>
    <p:cViewPr>
      <p:scale>
        <a:sx n="200" d="100"/>
        <a:sy n="200" d="100"/>
      </p:scale>
      <p:origin x="0" y="0"/>
    </p:cViewPr>
  </p:notesTextViewPr>
  <p:sorterViewPr>
    <p:cViewPr>
      <p:scale>
        <a:sx n="100" d="100"/>
        <a:sy n="100" d="100"/>
      </p:scale>
      <p:origin x="0" y="0"/>
    </p:cViewPr>
  </p:sorterViewPr>
  <p:notesViewPr>
    <p:cSldViewPr>
      <p:cViewPr varScale="1">
        <p:scale>
          <a:sx n="41" d="100"/>
          <a:sy n="41" d="100"/>
        </p:scale>
        <p:origin x="-2347"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oleObject" Target="file:////Users\christinasun\Library\CloudStorage\Dropbox\github_repos\csac\doc\presentations\aera_2025\aefp_visual_CS%20BZ%20v2.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stacked"/>
        <c:varyColors val="0"/>
        <c:ser>
          <c:idx val="0"/>
          <c:order val="0"/>
          <c:tx>
            <c:strRef>
              <c:f>'Highest Degree'!$B$2</c:f>
              <c:strCache>
                <c:ptCount val="1"/>
                <c:pt idx="0">
                  <c:v>Get a certificate in a vocational or technical field</c:v>
                </c:pt>
              </c:strCache>
            </c:strRef>
          </c:tx>
          <c:spPr>
            <a:solidFill>
              <a:schemeClr val="accent2">
                <a:tint val="54000"/>
              </a:schemeClr>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'Highest Degree'!$A$3:$A$16</c:f>
              <c:strCache>
                <c:ptCount val="14"/>
                <c:pt idx="0">
                  <c:v>All respondents </c:v>
                </c:pt>
                <c:pt idx="2">
                  <c:v>Cisgender man</c:v>
                </c:pt>
                <c:pt idx="3">
                  <c:v>Cisgender woman</c:v>
                </c:pt>
                <c:pt idx="4">
                  <c:v>Transgender</c:v>
                </c:pt>
                <c:pt idx="5">
                  <c:v>Nonbinary/gender diverse/questioning</c:v>
                </c:pt>
                <c:pt idx="6">
                  <c:v>Prefer not to say</c:v>
                </c:pt>
                <c:pt idx="8">
                  <c:v>Straight/heterosexual</c:v>
                </c:pt>
                <c:pt idx="9">
                  <c:v>Gay or lesbian</c:v>
                </c:pt>
                <c:pt idx="10">
                  <c:v>Bisexual/pansexual/omnisexual</c:v>
                </c:pt>
                <c:pt idx="11">
                  <c:v>Asexual/aromantic/demisexual</c:v>
                </c:pt>
                <c:pt idx="12">
                  <c:v>Other/queer/questioning</c:v>
                </c:pt>
                <c:pt idx="13">
                  <c:v>Prefer not to say</c:v>
                </c:pt>
              </c:strCache>
            </c:strRef>
          </c:cat>
          <c:val>
            <c:numRef>
              <c:f>'Highest Degree'!$B$3:$B$16</c:f>
              <c:numCache>
                <c:formatCode>General</c:formatCode>
                <c:ptCount val="14"/>
                <c:pt idx="0">
                  <c:v>3.48</c:v>
                </c:pt>
                <c:pt idx="2" formatCode="0.00">
                  <c:v>5.4368203974503189</c:v>
                </c:pt>
                <c:pt idx="3" formatCode="0.00">
                  <c:v>2.2227421619092178</c:v>
                </c:pt>
                <c:pt idx="4" formatCode="0.00">
                  <c:v>1.219512195121951</c:v>
                </c:pt>
                <c:pt idx="5" formatCode="0.00">
                  <c:v>1.796407185628742</c:v>
                </c:pt>
                <c:pt idx="6" formatCode="0.00">
                  <c:v>2.8571428571428572</c:v>
                </c:pt>
                <c:pt idx="8" formatCode="0.00">
                  <c:v>3.7681159420289858</c:v>
                </c:pt>
                <c:pt idx="9" formatCode="0.00">
                  <c:v>2.735562310030395</c:v>
                </c:pt>
                <c:pt idx="10" formatCode="0.00">
                  <c:v>2.204585537918871</c:v>
                </c:pt>
                <c:pt idx="11" formatCode="0.00">
                  <c:v>1.104972375690608</c:v>
                </c:pt>
                <c:pt idx="12" formatCode="0.00">
                  <c:v>2.290076335877862</c:v>
                </c:pt>
                <c:pt idx="13" formatCode="0.00">
                  <c:v>2.569169960474309</c:v>
                </c:pt>
              </c:numCache>
            </c:numRef>
          </c:val>
          <c:extLst>
            <c:ext xmlns:c16="http://schemas.microsoft.com/office/drawing/2014/chart" uri="{C3380CC4-5D6E-409C-BE32-E72D297353CC}">
              <c16:uniqueId val="{00000000-45B4-1F40-9CAA-92D365959385}"/>
            </c:ext>
          </c:extLst>
        </c:ser>
        <c:ser>
          <c:idx val="1"/>
          <c:order val="1"/>
          <c:tx>
            <c:strRef>
              <c:f>'Highest Degree'!$C$2</c:f>
              <c:strCache>
                <c:ptCount val="1"/>
                <c:pt idx="0">
                  <c:v>Associate degree  (AA/AS/ADT)</c:v>
                </c:pt>
              </c:strCache>
            </c:strRef>
          </c:tx>
          <c:spPr>
            <a:solidFill>
              <a:schemeClr val="accent2">
                <a:tint val="77000"/>
              </a:schemeClr>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'Highest Degree'!$A$3:$A$16</c:f>
              <c:strCache>
                <c:ptCount val="14"/>
                <c:pt idx="0">
                  <c:v>All respondents </c:v>
                </c:pt>
                <c:pt idx="2">
                  <c:v>Cisgender man</c:v>
                </c:pt>
                <c:pt idx="3">
                  <c:v>Cisgender woman</c:v>
                </c:pt>
                <c:pt idx="4">
                  <c:v>Transgender</c:v>
                </c:pt>
                <c:pt idx="5">
                  <c:v>Nonbinary/gender diverse/questioning</c:v>
                </c:pt>
                <c:pt idx="6">
                  <c:v>Prefer not to say</c:v>
                </c:pt>
                <c:pt idx="8">
                  <c:v>Straight/heterosexual</c:v>
                </c:pt>
                <c:pt idx="9">
                  <c:v>Gay or lesbian</c:v>
                </c:pt>
                <c:pt idx="10">
                  <c:v>Bisexual/pansexual/omnisexual</c:v>
                </c:pt>
                <c:pt idx="11">
                  <c:v>Asexual/aromantic/demisexual</c:v>
                </c:pt>
                <c:pt idx="12">
                  <c:v>Other/queer/questioning</c:v>
                </c:pt>
                <c:pt idx="13">
                  <c:v>Prefer not to say</c:v>
                </c:pt>
              </c:strCache>
            </c:strRef>
          </c:cat>
          <c:val>
            <c:numRef>
              <c:f>'Highest Degree'!$C$3:$C$16</c:f>
              <c:numCache>
                <c:formatCode>General</c:formatCode>
                <c:ptCount val="14"/>
                <c:pt idx="0">
                  <c:v>6.61</c:v>
                </c:pt>
                <c:pt idx="2" formatCode="0.00">
                  <c:v>7.1991001124859402</c:v>
                </c:pt>
                <c:pt idx="3" formatCode="0.00">
                  <c:v>6.3406644829199816</c:v>
                </c:pt>
                <c:pt idx="4" formatCode="0.00">
                  <c:v>3.6585365853658529</c:v>
                </c:pt>
                <c:pt idx="5" formatCode="0.00">
                  <c:v>4.1916167664670656</c:v>
                </c:pt>
                <c:pt idx="6" formatCode="0.00">
                  <c:v>6.4285714285714279</c:v>
                </c:pt>
                <c:pt idx="8" formatCode="0.00">
                  <c:v>7.2657004830917877</c:v>
                </c:pt>
                <c:pt idx="9" formatCode="0.00">
                  <c:v>3.9513677811550152</c:v>
                </c:pt>
                <c:pt idx="10" formatCode="0.00">
                  <c:v>4.9382716049382713</c:v>
                </c:pt>
                <c:pt idx="11" formatCode="0.00">
                  <c:v>4.4198895027624303</c:v>
                </c:pt>
                <c:pt idx="12" formatCode="0.00">
                  <c:v>3.053435114503817</c:v>
                </c:pt>
                <c:pt idx="13" formatCode="0.00">
                  <c:v>6.1264822134387353</c:v>
                </c:pt>
              </c:numCache>
            </c:numRef>
          </c:val>
          <c:extLst>
            <c:ext xmlns:c16="http://schemas.microsoft.com/office/drawing/2014/chart" uri="{C3380CC4-5D6E-409C-BE32-E72D297353CC}">
              <c16:uniqueId val="{00000001-45B4-1F40-9CAA-92D365959385}"/>
            </c:ext>
          </c:extLst>
        </c:ser>
        <c:ser>
          <c:idx val="2"/>
          <c:order val="2"/>
          <c:tx>
            <c:strRef>
              <c:f>'Highest Degree'!$D$2</c:f>
              <c:strCache>
                <c:ptCount val="1"/>
                <c:pt idx="0">
                  <c:v>Bachelor’s Degree (BA/BS)</c:v>
                </c:pt>
              </c:strCache>
            </c:strRef>
          </c:tx>
          <c:spPr>
            <a:solidFill>
              <a:schemeClr val="accent2"/>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'Highest Degree'!$A$3:$A$16</c:f>
              <c:strCache>
                <c:ptCount val="14"/>
                <c:pt idx="0">
                  <c:v>All respondents </c:v>
                </c:pt>
                <c:pt idx="2">
                  <c:v>Cisgender man</c:v>
                </c:pt>
                <c:pt idx="3">
                  <c:v>Cisgender woman</c:v>
                </c:pt>
                <c:pt idx="4">
                  <c:v>Transgender</c:v>
                </c:pt>
                <c:pt idx="5">
                  <c:v>Nonbinary/gender diverse/questioning</c:v>
                </c:pt>
                <c:pt idx="6">
                  <c:v>Prefer not to say</c:v>
                </c:pt>
                <c:pt idx="8">
                  <c:v>Straight/heterosexual</c:v>
                </c:pt>
                <c:pt idx="9">
                  <c:v>Gay or lesbian</c:v>
                </c:pt>
                <c:pt idx="10">
                  <c:v>Bisexual/pansexual/omnisexual</c:v>
                </c:pt>
                <c:pt idx="11">
                  <c:v>Asexual/aromantic/demisexual</c:v>
                </c:pt>
                <c:pt idx="12">
                  <c:v>Other/queer/questioning</c:v>
                </c:pt>
                <c:pt idx="13">
                  <c:v>Prefer not to say</c:v>
                </c:pt>
              </c:strCache>
            </c:strRef>
          </c:cat>
          <c:val>
            <c:numRef>
              <c:f>'Highest Degree'!$D$3:$D$16</c:f>
              <c:numCache>
                <c:formatCode>General</c:formatCode>
                <c:ptCount val="14"/>
                <c:pt idx="0">
                  <c:v>35.020000000000003</c:v>
                </c:pt>
                <c:pt idx="2" formatCode="0.00">
                  <c:v>39.48256467941507</c:v>
                </c:pt>
                <c:pt idx="3" formatCode="0.00">
                  <c:v>32.686008423022933</c:v>
                </c:pt>
                <c:pt idx="4" formatCode="0.00">
                  <c:v>36.585365853658537</c:v>
                </c:pt>
                <c:pt idx="5" formatCode="0.00">
                  <c:v>34.730538922155688</c:v>
                </c:pt>
                <c:pt idx="6" formatCode="0.00">
                  <c:v>36.428571428571423</c:v>
                </c:pt>
                <c:pt idx="8" formatCode="0.00">
                  <c:v>37.024154589371982</c:v>
                </c:pt>
                <c:pt idx="9" formatCode="0.00">
                  <c:v>30.091185410334351</c:v>
                </c:pt>
                <c:pt idx="10" formatCode="0.00">
                  <c:v>29.982363315696649</c:v>
                </c:pt>
                <c:pt idx="11" formatCode="0.00">
                  <c:v>31.49171270718232</c:v>
                </c:pt>
                <c:pt idx="12" formatCode="0.00">
                  <c:v>33.587786259541993</c:v>
                </c:pt>
                <c:pt idx="13" formatCode="0.00">
                  <c:v>35.573122529644273</c:v>
                </c:pt>
              </c:numCache>
            </c:numRef>
          </c:val>
          <c:extLst>
            <c:ext xmlns:c16="http://schemas.microsoft.com/office/drawing/2014/chart" uri="{C3380CC4-5D6E-409C-BE32-E72D297353CC}">
              <c16:uniqueId val="{00000002-45B4-1F40-9CAA-92D365959385}"/>
            </c:ext>
          </c:extLst>
        </c:ser>
        <c:ser>
          <c:idx val="3"/>
          <c:order val="3"/>
          <c:tx>
            <c:strRef>
              <c:f>'Highest Degree'!$E$2</c:f>
              <c:strCache>
                <c:ptCount val="1"/>
                <c:pt idx="0">
                  <c:v>Master’s Degree (MA/MS)</c:v>
                </c:pt>
              </c:strCache>
            </c:strRef>
          </c:tx>
          <c:spPr>
            <a:solidFill>
              <a:schemeClr val="accent2">
                <a:shade val="76000"/>
              </a:schemeClr>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'Highest Degree'!$A$3:$A$16</c:f>
              <c:strCache>
                <c:ptCount val="14"/>
                <c:pt idx="0">
                  <c:v>All respondents </c:v>
                </c:pt>
                <c:pt idx="2">
                  <c:v>Cisgender man</c:v>
                </c:pt>
                <c:pt idx="3">
                  <c:v>Cisgender woman</c:v>
                </c:pt>
                <c:pt idx="4">
                  <c:v>Transgender</c:v>
                </c:pt>
                <c:pt idx="5">
                  <c:v>Nonbinary/gender diverse/questioning</c:v>
                </c:pt>
                <c:pt idx="6">
                  <c:v>Prefer not to say</c:v>
                </c:pt>
                <c:pt idx="8">
                  <c:v>Straight/heterosexual</c:v>
                </c:pt>
                <c:pt idx="9">
                  <c:v>Gay or lesbian</c:v>
                </c:pt>
                <c:pt idx="10">
                  <c:v>Bisexual/pansexual/omnisexual</c:v>
                </c:pt>
                <c:pt idx="11">
                  <c:v>Asexual/aromantic/demisexual</c:v>
                </c:pt>
                <c:pt idx="12">
                  <c:v>Other/queer/questioning</c:v>
                </c:pt>
                <c:pt idx="13">
                  <c:v>Prefer not to say</c:v>
                </c:pt>
              </c:strCache>
            </c:strRef>
          </c:cat>
          <c:val>
            <c:numRef>
              <c:f>'Highest Degree'!$E$3:$E$16</c:f>
              <c:numCache>
                <c:formatCode>General</c:formatCode>
                <c:ptCount val="14"/>
                <c:pt idx="0">
                  <c:v>32.56</c:v>
                </c:pt>
                <c:pt idx="2" formatCode="0.00">
                  <c:v>31.458567679040119</c:v>
                </c:pt>
                <c:pt idx="3" formatCode="0.00">
                  <c:v>32.569021993448757</c:v>
                </c:pt>
                <c:pt idx="4" formatCode="0.00">
                  <c:v>36.585365853658537</c:v>
                </c:pt>
                <c:pt idx="5" formatCode="0.00">
                  <c:v>31.437125748502989</c:v>
                </c:pt>
                <c:pt idx="6" formatCode="0.00">
                  <c:v>31.428571428571431</c:v>
                </c:pt>
                <c:pt idx="8" formatCode="0.00">
                  <c:v>31.439613526570049</c:v>
                </c:pt>
                <c:pt idx="9" formatCode="0.00">
                  <c:v>36.474164133738597</c:v>
                </c:pt>
                <c:pt idx="10" formatCode="0.00">
                  <c:v>32.275132275132272</c:v>
                </c:pt>
                <c:pt idx="11" formatCode="0.00">
                  <c:v>37.016574585635361</c:v>
                </c:pt>
                <c:pt idx="12" formatCode="0.00">
                  <c:v>35.877862595419849</c:v>
                </c:pt>
                <c:pt idx="13" formatCode="0.00">
                  <c:v>33.596837944664031</c:v>
                </c:pt>
              </c:numCache>
            </c:numRef>
          </c:val>
          <c:extLst>
            <c:ext xmlns:c16="http://schemas.microsoft.com/office/drawing/2014/chart" uri="{C3380CC4-5D6E-409C-BE32-E72D297353CC}">
              <c16:uniqueId val="{00000003-45B4-1F40-9CAA-92D365959385}"/>
            </c:ext>
          </c:extLst>
        </c:ser>
        <c:ser>
          <c:idx val="4"/>
          <c:order val="4"/>
          <c:tx>
            <c:strRef>
              <c:f>'Highest Degree'!$F$2</c:f>
              <c:strCache>
                <c:ptCount val="1"/>
                <c:pt idx="0">
                  <c:v>Doctoral Degree (Ph.D., M.D., J.D., etc.)</c:v>
                </c:pt>
              </c:strCache>
            </c:strRef>
          </c:tx>
          <c:spPr>
            <a:solidFill>
              <a:schemeClr val="accent2">
                <a:shade val="53000"/>
              </a:schemeClr>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'Highest Degree'!$A$3:$A$16</c:f>
              <c:strCache>
                <c:ptCount val="14"/>
                <c:pt idx="0">
                  <c:v>All respondents </c:v>
                </c:pt>
                <c:pt idx="2">
                  <c:v>Cisgender man</c:v>
                </c:pt>
                <c:pt idx="3">
                  <c:v>Cisgender woman</c:v>
                </c:pt>
                <c:pt idx="4">
                  <c:v>Transgender</c:v>
                </c:pt>
                <c:pt idx="5">
                  <c:v>Nonbinary/gender diverse/questioning</c:v>
                </c:pt>
                <c:pt idx="6">
                  <c:v>Prefer not to say</c:v>
                </c:pt>
                <c:pt idx="8">
                  <c:v>Straight/heterosexual</c:v>
                </c:pt>
                <c:pt idx="9">
                  <c:v>Gay or lesbian</c:v>
                </c:pt>
                <c:pt idx="10">
                  <c:v>Bisexual/pansexual/omnisexual</c:v>
                </c:pt>
                <c:pt idx="11">
                  <c:v>Asexual/aromantic/demisexual</c:v>
                </c:pt>
                <c:pt idx="12">
                  <c:v>Other/queer/questioning</c:v>
                </c:pt>
                <c:pt idx="13">
                  <c:v>Prefer not to say</c:v>
                </c:pt>
              </c:strCache>
            </c:strRef>
          </c:cat>
          <c:val>
            <c:numRef>
              <c:f>'Highest Degree'!$F$3:$F$16</c:f>
              <c:numCache>
                <c:formatCode>General</c:formatCode>
                <c:ptCount val="14"/>
                <c:pt idx="0">
                  <c:v>22.32</c:v>
                </c:pt>
                <c:pt idx="2" formatCode="0.00">
                  <c:v>16.422947131608549</c:v>
                </c:pt>
                <c:pt idx="3" formatCode="0.00">
                  <c:v>26.181562938699109</c:v>
                </c:pt>
                <c:pt idx="4" formatCode="0.00">
                  <c:v>21.95121951219512</c:v>
                </c:pt>
                <c:pt idx="5" formatCode="0.00">
                  <c:v>27.844311377245511</c:v>
                </c:pt>
                <c:pt idx="6" formatCode="0.00">
                  <c:v>22.857142857142861</c:v>
                </c:pt>
                <c:pt idx="8" formatCode="0.00">
                  <c:v>20.5024154589372</c:v>
                </c:pt>
                <c:pt idx="9" formatCode="0.00">
                  <c:v>26.747720364741639</c:v>
                </c:pt>
                <c:pt idx="10" formatCode="0.00">
                  <c:v>30.59964726631393</c:v>
                </c:pt>
                <c:pt idx="11" formatCode="0.00">
                  <c:v>25.966850828729282</c:v>
                </c:pt>
                <c:pt idx="12" formatCode="0.00">
                  <c:v>25.190839694656489</c:v>
                </c:pt>
                <c:pt idx="13" formatCode="0.00">
                  <c:v>22.13438735177866</c:v>
                </c:pt>
              </c:numCache>
            </c:numRef>
          </c:val>
          <c:extLst>
            <c:ext xmlns:c16="http://schemas.microsoft.com/office/drawing/2014/chart" uri="{C3380CC4-5D6E-409C-BE32-E72D297353CC}">
              <c16:uniqueId val="{00000004-45B4-1F40-9CAA-92D365959385}"/>
            </c:ext>
          </c:extLst>
        </c:ser>
        <c:dLbls>
          <c:dLblPos val="ctr"/>
          <c:showLegendKey val="0"/>
          <c:showVal val="1"/>
          <c:showCatName val="0"/>
          <c:showSerName val="0"/>
          <c:showPercent val="0"/>
          <c:showBubbleSize val="0"/>
        </c:dLbls>
        <c:gapWidth val="30"/>
        <c:overlap val="100"/>
        <c:axId val="2026045584"/>
        <c:axId val="2021922736"/>
      </c:barChart>
      <c:catAx>
        <c:axId val="2026045584"/>
        <c:scaling>
          <c:orientation val="maxMin"/>
        </c:scaling>
        <c:delete val="0"/>
        <c:axPos val="l"/>
        <c:numFmt formatCode="General" sourceLinked="1"/>
        <c:majorTickMark val="none"/>
        <c:minorTickMark val="none"/>
        <c:tickLblPos val="nextTo"/>
        <c:spPr>
          <a:noFill/>
          <a:ln w="9525" cap="flat" cmpd="sng" algn="ctr">
            <a:solidFill>
              <a:schemeClr val="tx1"/>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021922736"/>
        <c:crosses val="autoZero"/>
        <c:auto val="1"/>
        <c:lblAlgn val="ctr"/>
        <c:lblOffset val="100"/>
        <c:noMultiLvlLbl val="0"/>
      </c:catAx>
      <c:valAx>
        <c:axId val="2021922736"/>
        <c:scaling>
          <c:orientation val="minMax"/>
          <c:max val="100"/>
        </c:scaling>
        <c:delete val="0"/>
        <c:axPos val="b"/>
        <c:majorGridlines>
          <c:spPr>
            <a:ln w="9525" cap="flat" cmpd="sng" algn="ctr">
              <a:solidFill>
                <a:schemeClr val="tx1">
                  <a:lumMod val="15000"/>
                  <a:lumOff val="85000"/>
                </a:schemeClr>
              </a:solidFill>
              <a:prstDash val="solid"/>
              <a:round/>
            </a:ln>
            <a:effectLst/>
          </c:spPr>
        </c:majorGridlines>
        <c:numFmt formatCode="0" sourceLinked="0"/>
        <c:majorTickMark val="none"/>
        <c:minorTickMark val="none"/>
        <c:tickLblPos val="high"/>
        <c:spPr>
          <a:noFill/>
          <a:ln w="25400" cap="flat" cmpd="sng" algn="ctr">
            <a:noFill/>
            <a:prstDash val="solid"/>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026045584"/>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prstDash val="solid"/>
    </a:ln>
    <a:effectLst/>
  </c:spPr>
  <c:txPr>
    <a:bodyPr/>
    <a:lstStyle/>
    <a:p>
      <a:pPr>
        <a:defRPr>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E633FE-D5F9-4BDE-869B-4960094DCD2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69D57D0C-F448-41DF-9D0B-E8FB0F8D3371}">
      <dgm:prSet custT="1"/>
      <dgm:spPr/>
      <dgm:t>
        <a:bodyPr/>
        <a:lstStyle/>
        <a:p>
          <a:pPr>
            <a:lnSpc>
              <a:spcPct val="100000"/>
            </a:lnSpc>
          </a:pPr>
          <a:r>
            <a:rPr lang="en-US" sz="1600" b="1" i="0" dirty="0">
              <a:latin typeface="Calibri" panose="020F0502020204030204" pitchFamily="34" charset="0"/>
              <a:cs typeface="Calibri" panose="020F0502020204030204" pitchFamily="34" charset="0"/>
            </a:rPr>
            <a:t>Independence and New Experiences</a:t>
          </a:r>
        </a:p>
        <a:p>
          <a:pPr>
            <a:lnSpc>
              <a:spcPct val="100000"/>
            </a:lnSpc>
          </a:pPr>
          <a:r>
            <a:rPr lang="en-US" sz="1400" i="1" dirty="0">
              <a:latin typeface="Calibri" panose="020F0502020204030204" pitchFamily="34" charset="0"/>
              <a:cs typeface="Calibri" panose="020F0502020204030204" pitchFamily="34" charset="0"/>
            </a:rPr>
            <a:t>“I’m excited to be myself. I live in a house of five. I’m the youngest of my three siblings, meaning I’ve had to share a room with my 23-year-old sister since I was born. I’ve never had privacy and I never felt like I could be myself. To use broad terms, I could never properly express myself as a gay, trans teen. I can’t wait to make new friends and enjoy my newfound independence.”</a:t>
          </a:r>
          <a:endParaRPr lang="en-US" sz="1400" dirty="0">
            <a:latin typeface="Calibri" panose="020F0502020204030204" pitchFamily="34" charset="0"/>
            <a:cs typeface="Calibri" panose="020F0502020204030204" pitchFamily="34" charset="0"/>
          </a:endParaRPr>
        </a:p>
      </dgm:t>
    </dgm:pt>
    <dgm:pt modelId="{2CB7D397-D13A-47C0-8012-FCC432E57212}" type="parTrans" cxnId="{A603204A-436F-4FA4-8AE6-3E8F8E6ACF19}">
      <dgm:prSet/>
      <dgm:spPr/>
      <dgm:t>
        <a:bodyPr/>
        <a:lstStyle/>
        <a:p>
          <a:endParaRPr lang="en-US"/>
        </a:p>
      </dgm:t>
    </dgm:pt>
    <dgm:pt modelId="{15265F97-0562-4BD2-A0E1-10C939934076}" type="sibTrans" cxnId="{A603204A-436F-4FA4-8AE6-3E8F8E6ACF19}">
      <dgm:prSet/>
      <dgm:spPr/>
      <dgm:t>
        <a:bodyPr/>
        <a:lstStyle/>
        <a:p>
          <a:endParaRPr lang="en-US"/>
        </a:p>
      </dgm:t>
    </dgm:pt>
    <dgm:pt modelId="{E620DECF-E647-4ED8-B4D9-0A57F897F6BE}">
      <dgm:prSet custT="1"/>
      <dgm:spPr/>
      <dgm:t>
        <a:bodyPr/>
        <a:lstStyle/>
        <a:p>
          <a:pPr>
            <a:lnSpc>
              <a:spcPct val="100000"/>
            </a:lnSpc>
          </a:pPr>
          <a:r>
            <a:rPr lang="en-US" sz="1600" b="1" i="0" dirty="0">
              <a:latin typeface="Calibri" panose="020F0502020204030204" pitchFamily="34" charset="0"/>
              <a:cs typeface="Calibri" panose="020F0502020204030204" pitchFamily="34" charset="0"/>
            </a:rPr>
            <a:t>Friends and Community </a:t>
          </a:r>
        </a:p>
        <a:p>
          <a:pPr>
            <a:lnSpc>
              <a:spcPct val="100000"/>
            </a:lnSpc>
          </a:pPr>
          <a:r>
            <a:rPr lang="en-US" sz="1400" i="1" dirty="0">
              <a:latin typeface="Calibri" panose="020F0502020204030204" pitchFamily="34" charset="0"/>
              <a:cs typeface="Calibri" panose="020F0502020204030204" pitchFamily="34" charset="0"/>
            </a:rPr>
            <a:t>“I’m most excited to connect with like-minded people. I’m also looking forward to receiving certain medical treatment at my college’s health center that I currently don’t have access to.”</a:t>
          </a:r>
          <a:endParaRPr lang="en-US" sz="1400" dirty="0">
            <a:latin typeface="Calibri" panose="020F0502020204030204" pitchFamily="34" charset="0"/>
            <a:cs typeface="Calibri" panose="020F0502020204030204" pitchFamily="34" charset="0"/>
          </a:endParaRPr>
        </a:p>
      </dgm:t>
    </dgm:pt>
    <dgm:pt modelId="{6F98CDA8-3FFA-4C67-8382-41A9FC99FAAB}" type="parTrans" cxnId="{FD3591CE-AA88-4095-9250-51EEC43D839D}">
      <dgm:prSet/>
      <dgm:spPr/>
      <dgm:t>
        <a:bodyPr/>
        <a:lstStyle/>
        <a:p>
          <a:endParaRPr lang="en-US"/>
        </a:p>
      </dgm:t>
    </dgm:pt>
    <dgm:pt modelId="{862FC3D2-9008-49F5-8172-1376431290E3}" type="sibTrans" cxnId="{FD3591CE-AA88-4095-9250-51EEC43D839D}">
      <dgm:prSet/>
      <dgm:spPr/>
      <dgm:t>
        <a:bodyPr/>
        <a:lstStyle/>
        <a:p>
          <a:endParaRPr lang="en-US"/>
        </a:p>
      </dgm:t>
    </dgm:pt>
    <dgm:pt modelId="{B88D04EE-A9C5-40BD-B859-C5FDE90B11A7}">
      <dgm:prSet custT="1"/>
      <dgm:spPr/>
      <dgm:t>
        <a:bodyPr/>
        <a:lstStyle/>
        <a:p>
          <a:pPr>
            <a:lnSpc>
              <a:spcPct val="100000"/>
            </a:lnSpc>
          </a:pPr>
          <a:r>
            <a:rPr lang="en-US" sz="1600" b="1" i="0" dirty="0">
              <a:latin typeface="Calibri" panose="020F0502020204030204" pitchFamily="34" charset="0"/>
              <a:cs typeface="Calibri" panose="020F0502020204030204" pitchFamily="34" charset="0"/>
            </a:rPr>
            <a:t>Academic and Learning</a:t>
          </a:r>
        </a:p>
        <a:p>
          <a:pPr>
            <a:lnSpc>
              <a:spcPct val="100000"/>
            </a:lnSpc>
          </a:pPr>
          <a:r>
            <a:rPr lang="en-US" sz="1400" i="1" dirty="0">
              <a:latin typeface="Calibri" panose="020F0502020204030204" pitchFamily="34" charset="0"/>
              <a:cs typeface="Calibri" panose="020F0502020204030204" pitchFamily="34" charset="0"/>
            </a:rPr>
            <a:t>“I am excited to expand my knowledge and be the first of my sisters to get a degree. I am aiming to meet my career goal by transferring to a four-year university after completing my associate’s at a CCC [California Community College].”</a:t>
          </a:r>
          <a:endParaRPr lang="en-US" sz="1400" dirty="0">
            <a:latin typeface="Calibri" panose="020F0502020204030204" pitchFamily="34" charset="0"/>
            <a:cs typeface="Calibri" panose="020F0502020204030204" pitchFamily="34" charset="0"/>
          </a:endParaRPr>
        </a:p>
      </dgm:t>
    </dgm:pt>
    <dgm:pt modelId="{14DCD76E-A193-4605-9B0E-2C1A9886E8CC}" type="parTrans" cxnId="{A5E86D3B-3565-4624-AC13-C1FC6D6897F6}">
      <dgm:prSet/>
      <dgm:spPr/>
      <dgm:t>
        <a:bodyPr/>
        <a:lstStyle/>
        <a:p>
          <a:endParaRPr lang="en-US"/>
        </a:p>
      </dgm:t>
    </dgm:pt>
    <dgm:pt modelId="{464BEC2C-C96C-4907-954D-705AE85C11DD}" type="sibTrans" cxnId="{A5E86D3B-3565-4624-AC13-C1FC6D6897F6}">
      <dgm:prSet/>
      <dgm:spPr/>
      <dgm:t>
        <a:bodyPr/>
        <a:lstStyle/>
        <a:p>
          <a:endParaRPr lang="en-US"/>
        </a:p>
      </dgm:t>
    </dgm:pt>
    <dgm:pt modelId="{38476581-5DA9-4F67-972F-5F3BDC47A4B1}" type="pres">
      <dgm:prSet presAssocID="{35E633FE-D5F9-4BDE-869B-4960094DCD21}" presName="root" presStyleCnt="0">
        <dgm:presLayoutVars>
          <dgm:dir/>
          <dgm:resizeHandles val="exact"/>
        </dgm:presLayoutVars>
      </dgm:prSet>
      <dgm:spPr/>
    </dgm:pt>
    <dgm:pt modelId="{2B11E6B2-B63F-437E-97A0-EA480EE28AC8}" type="pres">
      <dgm:prSet presAssocID="{B88D04EE-A9C5-40BD-B859-C5FDE90B11A7}" presName="compNode" presStyleCnt="0"/>
      <dgm:spPr/>
    </dgm:pt>
    <dgm:pt modelId="{7620D419-645B-4EB7-87CB-BDF7B116C3BD}" type="pres">
      <dgm:prSet presAssocID="{B88D04EE-A9C5-40BD-B859-C5FDE90B11A7}" presName="bgRect" presStyleLbl="bgShp" presStyleIdx="0" presStyleCnt="3"/>
      <dgm:spPr/>
    </dgm:pt>
    <dgm:pt modelId="{2F48B26F-C6BA-4403-8E89-31B3B1F22CA8}" type="pres">
      <dgm:prSet presAssocID="{B88D04EE-A9C5-40BD-B859-C5FDE90B11A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ploma Roll"/>
        </a:ext>
      </dgm:extLst>
    </dgm:pt>
    <dgm:pt modelId="{0E07AF99-C0D4-40AD-B4D7-C2064A4F8043}" type="pres">
      <dgm:prSet presAssocID="{B88D04EE-A9C5-40BD-B859-C5FDE90B11A7}" presName="spaceRect" presStyleCnt="0"/>
      <dgm:spPr/>
    </dgm:pt>
    <dgm:pt modelId="{C9B59B86-03EF-402C-B365-CAB8D0A3C7DE}" type="pres">
      <dgm:prSet presAssocID="{B88D04EE-A9C5-40BD-B859-C5FDE90B11A7}" presName="parTx" presStyleLbl="revTx" presStyleIdx="0" presStyleCnt="3">
        <dgm:presLayoutVars>
          <dgm:chMax val="0"/>
          <dgm:chPref val="0"/>
        </dgm:presLayoutVars>
      </dgm:prSet>
      <dgm:spPr/>
    </dgm:pt>
    <dgm:pt modelId="{40DA97AA-5DC1-A248-B0A7-E297957C3089}" type="pres">
      <dgm:prSet presAssocID="{464BEC2C-C96C-4907-954D-705AE85C11DD}" presName="sibTrans" presStyleCnt="0"/>
      <dgm:spPr/>
    </dgm:pt>
    <dgm:pt modelId="{D7B031D2-6E88-4E5F-9E38-3CDC6A0E7960}" type="pres">
      <dgm:prSet presAssocID="{E620DECF-E647-4ED8-B4D9-0A57F897F6BE}" presName="compNode" presStyleCnt="0"/>
      <dgm:spPr/>
    </dgm:pt>
    <dgm:pt modelId="{C1F0D88E-80BB-47CD-AB93-A379EEC64F8B}" type="pres">
      <dgm:prSet presAssocID="{E620DECF-E647-4ED8-B4D9-0A57F897F6BE}" presName="bgRect" presStyleLbl="bgShp" presStyleIdx="1" presStyleCnt="3"/>
      <dgm:spPr/>
    </dgm:pt>
    <dgm:pt modelId="{80C04715-1D8E-40EE-BEEF-46AA4C1B31D9}" type="pres">
      <dgm:prSet presAssocID="{E620DECF-E647-4ED8-B4D9-0A57F897F6B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spital"/>
        </a:ext>
      </dgm:extLst>
    </dgm:pt>
    <dgm:pt modelId="{7910CC41-1212-4907-9782-A28AC387377F}" type="pres">
      <dgm:prSet presAssocID="{E620DECF-E647-4ED8-B4D9-0A57F897F6BE}" presName="spaceRect" presStyleCnt="0"/>
      <dgm:spPr/>
    </dgm:pt>
    <dgm:pt modelId="{83AF45A5-21A6-415A-9BB3-219D45834390}" type="pres">
      <dgm:prSet presAssocID="{E620DECF-E647-4ED8-B4D9-0A57F897F6BE}" presName="parTx" presStyleLbl="revTx" presStyleIdx="1" presStyleCnt="3">
        <dgm:presLayoutVars>
          <dgm:chMax val="0"/>
          <dgm:chPref val="0"/>
        </dgm:presLayoutVars>
      </dgm:prSet>
      <dgm:spPr/>
    </dgm:pt>
    <dgm:pt modelId="{AA9E556B-4979-4A05-8BD8-FE1AD705B79D}" type="pres">
      <dgm:prSet presAssocID="{862FC3D2-9008-49F5-8172-1376431290E3}" presName="sibTrans" presStyleCnt="0"/>
      <dgm:spPr/>
    </dgm:pt>
    <dgm:pt modelId="{229E12E7-E8D0-4F90-AF96-76E9B285AB73}" type="pres">
      <dgm:prSet presAssocID="{69D57D0C-F448-41DF-9D0B-E8FB0F8D3371}" presName="compNode" presStyleCnt="0"/>
      <dgm:spPr/>
    </dgm:pt>
    <dgm:pt modelId="{9D5B0249-0C09-445A-AC51-073ADFA8A45D}" type="pres">
      <dgm:prSet presAssocID="{69D57D0C-F448-41DF-9D0B-E8FB0F8D3371}" presName="bgRect" presStyleLbl="bgShp" presStyleIdx="2" presStyleCnt="3"/>
      <dgm:spPr/>
    </dgm:pt>
    <dgm:pt modelId="{6CF420CD-5258-4817-BA3C-8D392CF7BD96}" type="pres">
      <dgm:prSet presAssocID="{69D57D0C-F448-41DF-9D0B-E8FB0F8D337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rent and Child"/>
        </a:ext>
      </dgm:extLst>
    </dgm:pt>
    <dgm:pt modelId="{56946DE1-7D9F-4AEE-B380-B1792C5EB257}" type="pres">
      <dgm:prSet presAssocID="{69D57D0C-F448-41DF-9D0B-E8FB0F8D3371}" presName="spaceRect" presStyleCnt="0"/>
      <dgm:spPr/>
    </dgm:pt>
    <dgm:pt modelId="{B0466F58-EBAE-4943-B15D-A01B92D0FD16}" type="pres">
      <dgm:prSet presAssocID="{69D57D0C-F448-41DF-9D0B-E8FB0F8D3371}" presName="parTx" presStyleLbl="revTx" presStyleIdx="2" presStyleCnt="3">
        <dgm:presLayoutVars>
          <dgm:chMax val="0"/>
          <dgm:chPref val="0"/>
        </dgm:presLayoutVars>
      </dgm:prSet>
      <dgm:spPr/>
    </dgm:pt>
  </dgm:ptLst>
  <dgm:cxnLst>
    <dgm:cxn modelId="{546C7327-6E05-8D49-9750-7759E0B3386D}" type="presOf" srcId="{69D57D0C-F448-41DF-9D0B-E8FB0F8D3371}" destId="{B0466F58-EBAE-4943-B15D-A01B92D0FD16}" srcOrd="0" destOrd="0" presId="urn:microsoft.com/office/officeart/2018/2/layout/IconVerticalSolidList"/>
    <dgm:cxn modelId="{A5E86D3B-3565-4624-AC13-C1FC6D6897F6}" srcId="{35E633FE-D5F9-4BDE-869B-4960094DCD21}" destId="{B88D04EE-A9C5-40BD-B859-C5FDE90B11A7}" srcOrd="0" destOrd="0" parTransId="{14DCD76E-A193-4605-9B0E-2C1A9886E8CC}" sibTransId="{464BEC2C-C96C-4907-954D-705AE85C11DD}"/>
    <dgm:cxn modelId="{A603204A-436F-4FA4-8AE6-3E8F8E6ACF19}" srcId="{35E633FE-D5F9-4BDE-869B-4960094DCD21}" destId="{69D57D0C-F448-41DF-9D0B-E8FB0F8D3371}" srcOrd="2" destOrd="0" parTransId="{2CB7D397-D13A-47C0-8012-FCC432E57212}" sibTransId="{15265F97-0562-4BD2-A0E1-10C939934076}"/>
    <dgm:cxn modelId="{8C272E97-6E9F-4D29-9889-53D699AA6CF9}" type="presOf" srcId="{35E633FE-D5F9-4BDE-869B-4960094DCD21}" destId="{38476581-5DA9-4F67-972F-5F3BDC47A4B1}" srcOrd="0" destOrd="0" presId="urn:microsoft.com/office/officeart/2018/2/layout/IconVerticalSolidList"/>
    <dgm:cxn modelId="{6627C2A5-14A2-6144-81AF-E5FC70A3498A}" type="presOf" srcId="{B88D04EE-A9C5-40BD-B859-C5FDE90B11A7}" destId="{C9B59B86-03EF-402C-B365-CAB8D0A3C7DE}" srcOrd="0" destOrd="0" presId="urn:microsoft.com/office/officeart/2018/2/layout/IconVerticalSolidList"/>
    <dgm:cxn modelId="{D8DC9DC5-0528-AB40-9894-91311E34352F}" type="presOf" srcId="{E620DECF-E647-4ED8-B4D9-0A57F897F6BE}" destId="{83AF45A5-21A6-415A-9BB3-219D45834390}" srcOrd="0" destOrd="0" presId="urn:microsoft.com/office/officeart/2018/2/layout/IconVerticalSolidList"/>
    <dgm:cxn modelId="{FD3591CE-AA88-4095-9250-51EEC43D839D}" srcId="{35E633FE-D5F9-4BDE-869B-4960094DCD21}" destId="{E620DECF-E647-4ED8-B4D9-0A57F897F6BE}" srcOrd="1" destOrd="0" parTransId="{6F98CDA8-3FFA-4C67-8382-41A9FC99FAAB}" sibTransId="{862FC3D2-9008-49F5-8172-1376431290E3}"/>
    <dgm:cxn modelId="{60162BA3-71E3-3642-98FC-BE9935186FFF}" type="presParOf" srcId="{38476581-5DA9-4F67-972F-5F3BDC47A4B1}" destId="{2B11E6B2-B63F-437E-97A0-EA480EE28AC8}" srcOrd="0" destOrd="0" presId="urn:microsoft.com/office/officeart/2018/2/layout/IconVerticalSolidList"/>
    <dgm:cxn modelId="{56C0440E-57C1-C148-8588-4012BC38DFE4}" type="presParOf" srcId="{2B11E6B2-B63F-437E-97A0-EA480EE28AC8}" destId="{7620D419-645B-4EB7-87CB-BDF7B116C3BD}" srcOrd="0" destOrd="0" presId="urn:microsoft.com/office/officeart/2018/2/layout/IconVerticalSolidList"/>
    <dgm:cxn modelId="{E4A642C3-0FCF-C543-ACC8-DDC038FB6D52}" type="presParOf" srcId="{2B11E6B2-B63F-437E-97A0-EA480EE28AC8}" destId="{2F48B26F-C6BA-4403-8E89-31B3B1F22CA8}" srcOrd="1" destOrd="0" presId="urn:microsoft.com/office/officeart/2018/2/layout/IconVerticalSolidList"/>
    <dgm:cxn modelId="{4A020D5D-2847-5E4B-8D17-5253B2E7758A}" type="presParOf" srcId="{2B11E6B2-B63F-437E-97A0-EA480EE28AC8}" destId="{0E07AF99-C0D4-40AD-B4D7-C2064A4F8043}" srcOrd="2" destOrd="0" presId="urn:microsoft.com/office/officeart/2018/2/layout/IconVerticalSolidList"/>
    <dgm:cxn modelId="{5E70430A-7ED1-5446-998D-FEEA15B63545}" type="presParOf" srcId="{2B11E6B2-B63F-437E-97A0-EA480EE28AC8}" destId="{C9B59B86-03EF-402C-B365-CAB8D0A3C7DE}" srcOrd="3" destOrd="0" presId="urn:microsoft.com/office/officeart/2018/2/layout/IconVerticalSolidList"/>
    <dgm:cxn modelId="{9FA38468-EE38-E346-BF55-E4A15588A6EF}" type="presParOf" srcId="{38476581-5DA9-4F67-972F-5F3BDC47A4B1}" destId="{40DA97AA-5DC1-A248-B0A7-E297957C3089}" srcOrd="1" destOrd="0" presId="urn:microsoft.com/office/officeart/2018/2/layout/IconVerticalSolidList"/>
    <dgm:cxn modelId="{C4610737-FEF1-D64B-8827-E53FA8906EA7}" type="presParOf" srcId="{38476581-5DA9-4F67-972F-5F3BDC47A4B1}" destId="{D7B031D2-6E88-4E5F-9E38-3CDC6A0E7960}" srcOrd="2" destOrd="0" presId="urn:microsoft.com/office/officeart/2018/2/layout/IconVerticalSolidList"/>
    <dgm:cxn modelId="{37C25B0C-CE83-9447-B433-6B5BB0C01294}" type="presParOf" srcId="{D7B031D2-6E88-4E5F-9E38-3CDC6A0E7960}" destId="{C1F0D88E-80BB-47CD-AB93-A379EEC64F8B}" srcOrd="0" destOrd="0" presId="urn:microsoft.com/office/officeart/2018/2/layout/IconVerticalSolidList"/>
    <dgm:cxn modelId="{0F742C9D-B38C-1F44-8D1B-9DED5E8C6652}" type="presParOf" srcId="{D7B031D2-6E88-4E5F-9E38-3CDC6A0E7960}" destId="{80C04715-1D8E-40EE-BEEF-46AA4C1B31D9}" srcOrd="1" destOrd="0" presId="urn:microsoft.com/office/officeart/2018/2/layout/IconVerticalSolidList"/>
    <dgm:cxn modelId="{AEEEDAAD-6F0F-A24D-8015-7D24C3CB21CC}" type="presParOf" srcId="{D7B031D2-6E88-4E5F-9E38-3CDC6A0E7960}" destId="{7910CC41-1212-4907-9782-A28AC387377F}" srcOrd="2" destOrd="0" presId="urn:microsoft.com/office/officeart/2018/2/layout/IconVerticalSolidList"/>
    <dgm:cxn modelId="{B87719FE-7F57-C74F-A028-A18A49502B70}" type="presParOf" srcId="{D7B031D2-6E88-4E5F-9E38-3CDC6A0E7960}" destId="{83AF45A5-21A6-415A-9BB3-219D45834390}" srcOrd="3" destOrd="0" presId="urn:microsoft.com/office/officeart/2018/2/layout/IconVerticalSolidList"/>
    <dgm:cxn modelId="{5C2D330F-B5CF-EE4C-9D1F-90B9BD7E2DD0}" type="presParOf" srcId="{38476581-5DA9-4F67-972F-5F3BDC47A4B1}" destId="{AA9E556B-4979-4A05-8BD8-FE1AD705B79D}" srcOrd="3" destOrd="0" presId="urn:microsoft.com/office/officeart/2018/2/layout/IconVerticalSolidList"/>
    <dgm:cxn modelId="{946B11A9-4D89-2240-A4DF-46E9453B21C0}" type="presParOf" srcId="{38476581-5DA9-4F67-972F-5F3BDC47A4B1}" destId="{229E12E7-E8D0-4F90-AF96-76E9B285AB73}" srcOrd="4" destOrd="0" presId="urn:microsoft.com/office/officeart/2018/2/layout/IconVerticalSolidList"/>
    <dgm:cxn modelId="{E5217B96-52E8-9A43-A9CB-A28F95D8E297}" type="presParOf" srcId="{229E12E7-E8D0-4F90-AF96-76E9B285AB73}" destId="{9D5B0249-0C09-445A-AC51-073ADFA8A45D}" srcOrd="0" destOrd="0" presId="urn:microsoft.com/office/officeart/2018/2/layout/IconVerticalSolidList"/>
    <dgm:cxn modelId="{1A3581A7-3E02-8B41-BF38-2A300E496101}" type="presParOf" srcId="{229E12E7-E8D0-4F90-AF96-76E9B285AB73}" destId="{6CF420CD-5258-4817-BA3C-8D392CF7BD96}" srcOrd="1" destOrd="0" presId="urn:microsoft.com/office/officeart/2018/2/layout/IconVerticalSolidList"/>
    <dgm:cxn modelId="{95779334-C5AF-004B-AD54-94090F0C607B}" type="presParOf" srcId="{229E12E7-E8D0-4F90-AF96-76E9B285AB73}" destId="{56946DE1-7D9F-4AEE-B380-B1792C5EB257}" srcOrd="2" destOrd="0" presId="urn:microsoft.com/office/officeart/2018/2/layout/IconVerticalSolidList"/>
    <dgm:cxn modelId="{3E63645E-9F3B-2747-806E-F80DA7D73C35}" type="presParOf" srcId="{229E12E7-E8D0-4F90-AF96-76E9B285AB73}" destId="{B0466F58-EBAE-4943-B15D-A01B92D0FD1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20D419-645B-4EB7-87CB-BDF7B116C3BD}">
      <dsp:nvSpPr>
        <dsp:cNvPr id="0" name=""/>
        <dsp:cNvSpPr/>
      </dsp:nvSpPr>
      <dsp:spPr>
        <a:xfrm>
          <a:off x="0" y="55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48B26F-C6BA-4403-8E89-31B3B1F22CA8}">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B59B86-03EF-402C-B365-CAB8D0A3C7DE}">
      <dsp:nvSpPr>
        <dsp:cNvPr id="0" name=""/>
        <dsp:cNvSpPr/>
      </dsp:nvSpPr>
      <dsp:spPr>
        <a:xfrm>
          <a:off x="1493203" y="552"/>
          <a:ext cx="94795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711200">
            <a:lnSpc>
              <a:spcPct val="100000"/>
            </a:lnSpc>
            <a:spcBef>
              <a:spcPct val="0"/>
            </a:spcBef>
            <a:spcAft>
              <a:spcPct val="35000"/>
            </a:spcAft>
            <a:buNone/>
          </a:pPr>
          <a:r>
            <a:rPr lang="en-US" sz="1600" b="1" i="0" kern="1200" dirty="0">
              <a:latin typeface="Calibri" panose="020F0502020204030204" pitchFamily="34" charset="0"/>
              <a:cs typeface="Calibri" panose="020F0502020204030204" pitchFamily="34" charset="0"/>
            </a:rPr>
            <a:t>Academic and Learning</a:t>
          </a:r>
        </a:p>
        <a:p>
          <a:pPr marL="0" lvl="0" indent="0" algn="l" defTabSz="711200">
            <a:lnSpc>
              <a:spcPct val="100000"/>
            </a:lnSpc>
            <a:spcBef>
              <a:spcPct val="0"/>
            </a:spcBef>
            <a:spcAft>
              <a:spcPct val="35000"/>
            </a:spcAft>
            <a:buNone/>
          </a:pPr>
          <a:r>
            <a:rPr lang="en-US" sz="1400" i="1" kern="1200" dirty="0">
              <a:latin typeface="Calibri" panose="020F0502020204030204" pitchFamily="34" charset="0"/>
              <a:cs typeface="Calibri" panose="020F0502020204030204" pitchFamily="34" charset="0"/>
            </a:rPr>
            <a:t>“I am excited to expand my knowledge and be the first of my sisters to get a degree. I am aiming to meet my career goal by transferring to a four-year university after completing my associate’s at a CCC [California Community College].”</a:t>
          </a:r>
          <a:endParaRPr lang="en-US" sz="1400" kern="1200" dirty="0">
            <a:latin typeface="Calibri" panose="020F0502020204030204" pitchFamily="34" charset="0"/>
            <a:cs typeface="Calibri" panose="020F0502020204030204" pitchFamily="34" charset="0"/>
          </a:endParaRPr>
        </a:p>
      </dsp:txBody>
      <dsp:txXfrm>
        <a:off x="1493203" y="552"/>
        <a:ext cx="9479596" cy="1292816"/>
      </dsp:txXfrm>
    </dsp:sp>
    <dsp:sp modelId="{C1F0D88E-80BB-47CD-AB93-A379EEC64F8B}">
      <dsp:nvSpPr>
        <dsp:cNvPr id="0" name=""/>
        <dsp:cNvSpPr/>
      </dsp:nvSpPr>
      <dsp:spPr>
        <a:xfrm>
          <a:off x="0" y="1616573"/>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C04715-1D8E-40EE-BEEF-46AA4C1B31D9}">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AF45A5-21A6-415A-9BB3-219D45834390}">
      <dsp:nvSpPr>
        <dsp:cNvPr id="0" name=""/>
        <dsp:cNvSpPr/>
      </dsp:nvSpPr>
      <dsp:spPr>
        <a:xfrm>
          <a:off x="1493203" y="1616573"/>
          <a:ext cx="94795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711200">
            <a:lnSpc>
              <a:spcPct val="100000"/>
            </a:lnSpc>
            <a:spcBef>
              <a:spcPct val="0"/>
            </a:spcBef>
            <a:spcAft>
              <a:spcPct val="35000"/>
            </a:spcAft>
            <a:buNone/>
          </a:pPr>
          <a:r>
            <a:rPr lang="en-US" sz="1600" b="1" i="0" kern="1200" dirty="0">
              <a:latin typeface="Calibri" panose="020F0502020204030204" pitchFamily="34" charset="0"/>
              <a:cs typeface="Calibri" panose="020F0502020204030204" pitchFamily="34" charset="0"/>
            </a:rPr>
            <a:t>Friends and Community </a:t>
          </a:r>
        </a:p>
        <a:p>
          <a:pPr marL="0" lvl="0" indent="0" algn="l" defTabSz="711200">
            <a:lnSpc>
              <a:spcPct val="100000"/>
            </a:lnSpc>
            <a:spcBef>
              <a:spcPct val="0"/>
            </a:spcBef>
            <a:spcAft>
              <a:spcPct val="35000"/>
            </a:spcAft>
            <a:buNone/>
          </a:pPr>
          <a:r>
            <a:rPr lang="en-US" sz="1400" i="1" kern="1200" dirty="0">
              <a:latin typeface="Calibri" panose="020F0502020204030204" pitchFamily="34" charset="0"/>
              <a:cs typeface="Calibri" panose="020F0502020204030204" pitchFamily="34" charset="0"/>
            </a:rPr>
            <a:t>“I’m most excited to connect with like-minded people. I’m also looking forward to receiving certain medical treatment at my college’s health center that I currently don’t have access to.”</a:t>
          </a:r>
          <a:endParaRPr lang="en-US" sz="1400" kern="1200" dirty="0">
            <a:latin typeface="Calibri" panose="020F0502020204030204" pitchFamily="34" charset="0"/>
            <a:cs typeface="Calibri" panose="020F0502020204030204" pitchFamily="34" charset="0"/>
          </a:endParaRPr>
        </a:p>
      </dsp:txBody>
      <dsp:txXfrm>
        <a:off x="1493203" y="1616573"/>
        <a:ext cx="9479596" cy="1292816"/>
      </dsp:txXfrm>
    </dsp:sp>
    <dsp:sp modelId="{9D5B0249-0C09-445A-AC51-073ADFA8A45D}">
      <dsp:nvSpPr>
        <dsp:cNvPr id="0" name=""/>
        <dsp:cNvSpPr/>
      </dsp:nvSpPr>
      <dsp:spPr>
        <a:xfrm>
          <a:off x="0" y="3232593"/>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F420CD-5258-4817-BA3C-8D392CF7BD96}">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466F58-EBAE-4943-B15D-A01B92D0FD16}">
      <dsp:nvSpPr>
        <dsp:cNvPr id="0" name=""/>
        <dsp:cNvSpPr/>
      </dsp:nvSpPr>
      <dsp:spPr>
        <a:xfrm>
          <a:off x="1493203" y="3232593"/>
          <a:ext cx="94795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711200">
            <a:lnSpc>
              <a:spcPct val="100000"/>
            </a:lnSpc>
            <a:spcBef>
              <a:spcPct val="0"/>
            </a:spcBef>
            <a:spcAft>
              <a:spcPct val="35000"/>
            </a:spcAft>
            <a:buNone/>
          </a:pPr>
          <a:r>
            <a:rPr lang="en-US" sz="1600" b="1" i="0" kern="1200" dirty="0">
              <a:latin typeface="Calibri" panose="020F0502020204030204" pitchFamily="34" charset="0"/>
              <a:cs typeface="Calibri" panose="020F0502020204030204" pitchFamily="34" charset="0"/>
            </a:rPr>
            <a:t>Independence and New Experiences</a:t>
          </a:r>
        </a:p>
        <a:p>
          <a:pPr marL="0" lvl="0" indent="0" algn="l" defTabSz="711200">
            <a:lnSpc>
              <a:spcPct val="100000"/>
            </a:lnSpc>
            <a:spcBef>
              <a:spcPct val="0"/>
            </a:spcBef>
            <a:spcAft>
              <a:spcPct val="35000"/>
            </a:spcAft>
            <a:buNone/>
          </a:pPr>
          <a:r>
            <a:rPr lang="en-US" sz="1400" i="1" kern="1200" dirty="0">
              <a:latin typeface="Calibri" panose="020F0502020204030204" pitchFamily="34" charset="0"/>
              <a:cs typeface="Calibri" panose="020F0502020204030204" pitchFamily="34" charset="0"/>
            </a:rPr>
            <a:t>“I’m excited to be myself. I live in a house of five. I’m the youngest of my three siblings, meaning I’ve had to share a room with my 23-year-old sister since I was born. I’ve never had privacy and I never felt like I could be myself. To use broad terms, I could never properly express myself as a gay, trans teen. I can’t wait to make new friends and enjoy my newfound independence.”</a:t>
          </a:r>
          <a:endParaRPr lang="en-US" sz="1400" kern="1200" dirty="0">
            <a:latin typeface="Calibri" panose="020F0502020204030204" pitchFamily="34" charset="0"/>
            <a:cs typeface="Calibri" panose="020F0502020204030204" pitchFamily="34" charset="0"/>
          </a:endParaRPr>
        </a:p>
      </dsp:txBody>
      <dsp:txXfrm>
        <a:off x="1493203" y="3232593"/>
        <a:ext cx="9479596" cy="12928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EC40DAF-C9C3-4514-874B-4535726919A4}" type="datetimeFigureOut">
              <a:rPr lang="en-US" smtClean="0"/>
              <a:pPr/>
              <a:t>4/19/25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A90B27-3B5B-443C-A326-6050820812EE}" type="slidenum">
              <a:rPr lang="en-US" smtClean="0"/>
              <a:pPr/>
              <a:t>‹#›</a:t>
            </a:fld>
            <a:endParaRPr lang="en-US"/>
          </a:p>
        </p:txBody>
      </p:sp>
    </p:spTree>
    <p:extLst>
      <p:ext uri="{BB962C8B-B14F-4D97-AF65-F5344CB8AC3E}">
        <p14:creationId xmlns:p14="http://schemas.microsoft.com/office/powerpoint/2010/main" val="2238079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68A90B27-3B5B-443C-A326-6050820812EE}"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2</a:t>
            </a:fld>
            <a:endParaRPr lang="en-US"/>
          </a:p>
        </p:txBody>
      </p:sp>
    </p:spTree>
    <p:extLst>
      <p:ext uri="{BB962C8B-B14F-4D97-AF65-F5344CB8AC3E}">
        <p14:creationId xmlns:p14="http://schemas.microsoft.com/office/powerpoint/2010/main" val="2489769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DCD3B-03FB-D1D8-92DB-5E52BE3DC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1C0F1-F2D9-2D7A-1D97-492BEA30F3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FA0057B-135E-B8A5-B89A-CD7AC3823F13}"/>
              </a:ext>
            </a:extLst>
          </p:cNvPr>
          <p:cNvSpPr>
            <a:spLocks noGrp="1"/>
          </p:cNvSpPr>
          <p:nvPr>
            <p:ph type="body" idx="1"/>
          </p:nvPr>
        </p:nvSpPr>
        <p:spPr/>
        <p:txBody>
          <a:bodyPr/>
          <a:lstStyle/>
          <a:p>
            <a:pPr lvl="1">
              <a:buFont typeface="Courier New"/>
              <a:buChar char="o"/>
            </a:pPr>
            <a:endParaRPr lang="en-US" sz="1800" dirty="0"/>
          </a:p>
        </p:txBody>
      </p:sp>
      <p:sp>
        <p:nvSpPr>
          <p:cNvPr id="4" name="Slide Number Placeholder 3">
            <a:extLst>
              <a:ext uri="{FF2B5EF4-FFF2-40B4-BE49-F238E27FC236}">
                <a16:creationId xmlns:a16="http://schemas.microsoft.com/office/drawing/2014/main" id="{E4E61010-30AF-2D27-BDC6-227C1BFE66A8}"/>
              </a:ext>
            </a:extLst>
          </p:cNvPr>
          <p:cNvSpPr>
            <a:spLocks noGrp="1"/>
          </p:cNvSpPr>
          <p:nvPr>
            <p:ph type="sldNum" sz="quarter" idx="5"/>
          </p:nvPr>
        </p:nvSpPr>
        <p:spPr/>
        <p:txBody>
          <a:bodyPr/>
          <a:lstStyle/>
          <a:p>
            <a:fld id="{68A90B27-3B5B-443C-A326-6050820812EE}" type="slidenum">
              <a:rPr lang="en-US" smtClean="0"/>
              <a:pPr/>
              <a:t>3</a:t>
            </a:fld>
            <a:endParaRPr lang="en-US"/>
          </a:p>
        </p:txBody>
      </p:sp>
    </p:spTree>
    <p:extLst>
      <p:ext uri="{BB962C8B-B14F-4D97-AF65-F5344CB8AC3E}">
        <p14:creationId xmlns:p14="http://schemas.microsoft.com/office/powerpoint/2010/main" val="4049519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CDE90-71E8-CF09-35F4-3B6DE7B736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77A84F-C6F0-F910-5616-2CC810A0250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46E17A9-6D7F-BF91-7567-3ACFA04A5262}"/>
              </a:ext>
            </a:extLst>
          </p:cNvPr>
          <p:cNvSpPr>
            <a:spLocks noGrp="1"/>
          </p:cNvSpPr>
          <p:nvPr>
            <p:ph type="body" idx="1"/>
          </p:nvPr>
        </p:nvSpPr>
        <p:spPr/>
        <p:txBody>
          <a:bodyPr/>
          <a:lstStyle/>
          <a:p>
            <a:pPr lvl="1">
              <a:buFont typeface="Courier New"/>
              <a:buChar char="o"/>
            </a:pPr>
            <a:endParaRPr lang="en-US" sz="1800" dirty="0"/>
          </a:p>
        </p:txBody>
      </p:sp>
      <p:sp>
        <p:nvSpPr>
          <p:cNvPr id="4" name="Slide Number Placeholder 3">
            <a:extLst>
              <a:ext uri="{FF2B5EF4-FFF2-40B4-BE49-F238E27FC236}">
                <a16:creationId xmlns:a16="http://schemas.microsoft.com/office/drawing/2014/main" id="{6B905B24-7C6C-D6BF-68EC-8A17E72E04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0718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8</a:t>
            </a:fld>
            <a:endParaRPr lang="en-US"/>
          </a:p>
        </p:txBody>
      </p:sp>
    </p:spTree>
    <p:extLst>
      <p:ext uri="{BB962C8B-B14F-4D97-AF65-F5344CB8AC3E}">
        <p14:creationId xmlns:p14="http://schemas.microsoft.com/office/powerpoint/2010/main" val="4213226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9</a:t>
            </a:fld>
            <a:endParaRPr lang="en-US"/>
          </a:p>
        </p:txBody>
      </p:sp>
    </p:spTree>
    <p:extLst>
      <p:ext uri="{BB962C8B-B14F-4D97-AF65-F5344CB8AC3E}">
        <p14:creationId xmlns:p14="http://schemas.microsoft.com/office/powerpoint/2010/main" val="5174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C08A-AF1C-2777-8AC9-A75422FD3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C300E-FF0E-7E2A-9802-C8B494FF7D3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E3FD300-D5C8-778E-4CEF-CC9668B2613F}"/>
              </a:ext>
            </a:extLst>
          </p:cNvPr>
          <p:cNvSpPr>
            <a:spLocks noGrp="1"/>
          </p:cNvSpPr>
          <p:nvPr>
            <p:ph type="body" idx="1"/>
          </p:nvPr>
        </p:nvSpPr>
        <p:spPr/>
        <p:txBody>
          <a:bodyPr/>
          <a:lstStyle/>
          <a:p>
            <a:pPr lvl="1">
              <a:buFont typeface="Courier New"/>
              <a:buChar char="o"/>
            </a:pPr>
            <a:endParaRPr lang="en-US" sz="1800" dirty="0"/>
          </a:p>
        </p:txBody>
      </p:sp>
      <p:sp>
        <p:nvSpPr>
          <p:cNvPr id="4" name="Slide Number Placeholder 3">
            <a:extLst>
              <a:ext uri="{FF2B5EF4-FFF2-40B4-BE49-F238E27FC236}">
                <a16:creationId xmlns:a16="http://schemas.microsoft.com/office/drawing/2014/main" id="{5867E001-A6B5-9AFE-D202-7F4F6853D9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14925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19D57-BCC9-A066-80D4-FA296A172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12BBE-6CFA-23F9-2257-49340748B76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3790BB7-A04B-7019-9409-82715A724F83}"/>
              </a:ext>
            </a:extLst>
          </p:cNvPr>
          <p:cNvSpPr>
            <a:spLocks noGrp="1"/>
          </p:cNvSpPr>
          <p:nvPr>
            <p:ph type="body" idx="1"/>
          </p:nvPr>
        </p:nvSpPr>
        <p:spPr/>
        <p:txBody>
          <a:bodyPr/>
          <a:lstStyle/>
          <a:p>
            <a:pPr lvl="1">
              <a:buFont typeface="Courier New"/>
              <a:buChar char="o"/>
            </a:pPr>
            <a:endParaRPr lang="en-US" sz="1800" dirty="0"/>
          </a:p>
        </p:txBody>
      </p:sp>
      <p:sp>
        <p:nvSpPr>
          <p:cNvPr id="4" name="Slide Number Placeholder 3">
            <a:extLst>
              <a:ext uri="{FF2B5EF4-FFF2-40B4-BE49-F238E27FC236}">
                <a16:creationId xmlns:a16="http://schemas.microsoft.com/office/drawing/2014/main" id="{A00535F3-A3D5-D4B3-E911-C0074C7BA8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33926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9BAF2-E156-FDF1-3328-12BE2B54D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2F8A8-7E55-F18C-FB74-F5DC42E59AF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5BC5551-49A2-49AA-13F7-F349CA874452}"/>
              </a:ext>
            </a:extLst>
          </p:cNvPr>
          <p:cNvSpPr>
            <a:spLocks noGrp="1"/>
          </p:cNvSpPr>
          <p:nvPr>
            <p:ph type="body" idx="1"/>
          </p:nvPr>
        </p:nvSpPr>
        <p:spPr/>
        <p:txBody>
          <a:bodyPr/>
          <a:lstStyle/>
          <a:p>
            <a:pPr lvl="1">
              <a:buFont typeface="Courier New"/>
              <a:buChar char="o"/>
            </a:pPr>
            <a:endParaRPr lang="en-US" sz="1800" dirty="0"/>
          </a:p>
        </p:txBody>
      </p:sp>
      <p:sp>
        <p:nvSpPr>
          <p:cNvPr id="4" name="Slide Number Placeholder 3">
            <a:extLst>
              <a:ext uri="{FF2B5EF4-FFF2-40B4-BE49-F238E27FC236}">
                <a16:creationId xmlns:a16="http://schemas.microsoft.com/office/drawing/2014/main" id="{72765974-7B16-F509-0B71-4AF8DC4DFE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81658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F2400-2DA6-187A-B179-94198A2E3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C3BAF-DD99-17D8-BE72-CE8B2E66509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2C8A7F6-9148-6FD8-5D39-EAA6B9DB8E65}"/>
              </a:ext>
            </a:extLst>
          </p:cNvPr>
          <p:cNvSpPr>
            <a:spLocks noGrp="1"/>
          </p:cNvSpPr>
          <p:nvPr>
            <p:ph type="body" idx="1"/>
          </p:nvPr>
        </p:nvSpPr>
        <p:spPr/>
        <p:txBody>
          <a:bodyPr/>
          <a:lstStyle/>
          <a:p>
            <a:pPr lvl="1">
              <a:buFont typeface="Courier New"/>
              <a:buChar char="o"/>
            </a:pPr>
            <a:endParaRPr lang="en-US" sz="1800" dirty="0"/>
          </a:p>
        </p:txBody>
      </p:sp>
      <p:sp>
        <p:nvSpPr>
          <p:cNvPr id="4" name="Slide Number Placeholder 3">
            <a:extLst>
              <a:ext uri="{FF2B5EF4-FFF2-40B4-BE49-F238E27FC236}">
                <a16:creationId xmlns:a16="http://schemas.microsoft.com/office/drawing/2014/main" id="{3F7293A5-1A1A-04D1-4970-807E70F0D0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97836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0" y="0"/>
            <a:ext cx="12192000" cy="5562600"/>
          </a:xfrm>
          <a:prstGeom prst="rect">
            <a:avLst/>
          </a:prstGeom>
          <a:solidFill>
            <a:srgbClr val="014B84"/>
          </a:solidFill>
          <a:ln>
            <a:solidFill>
              <a:srgbClr val="014B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8" name="Straight Connector 7"/>
          <p:cNvCxnSpPr>
            <a:cxnSpLocks/>
          </p:cNvCxnSpPr>
          <p:nvPr userDrawn="1"/>
        </p:nvCxnSpPr>
        <p:spPr>
          <a:xfrm>
            <a:off x="-50800" y="5562600"/>
            <a:ext cx="12293600" cy="0"/>
          </a:xfrm>
          <a:prstGeom prst="line">
            <a:avLst/>
          </a:prstGeom>
          <a:ln w="76200">
            <a:solidFill>
              <a:srgbClr val="DFB30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914400" y="381000"/>
            <a:ext cx="10363200" cy="3352799"/>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3759200" y="5638800"/>
            <a:ext cx="4775200" cy="685800"/>
          </a:xfrm>
        </p:spPr>
        <p:txBody>
          <a:bodyPr>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atin typeface="Calibri" panose="020F0502020204030204" pitchFamily="34" charset="0"/>
                <a:cs typeface="Calibri" panose="020F0502020204030204" pitchFamily="34" charset="0"/>
              </a:defRPr>
            </a:lvl1pPr>
          </a:lstStyle>
          <a:p>
            <a:fld id="{51A25E46-52F7-40D6-80E3-CFC117B222A3}" type="datetime1">
              <a:rPr lang="en-US" smtClean="0"/>
              <a:pPr/>
              <a:t>4/19/25</a:t>
            </a:fld>
            <a:endParaRPr lang="en-US"/>
          </a:p>
        </p:txBody>
      </p:sp>
      <p:sp>
        <p:nvSpPr>
          <p:cNvPr id="5" name="Footer Placeholder 4"/>
          <p:cNvSpPr>
            <a:spLocks noGrp="1"/>
          </p:cNvSpPr>
          <p:nvPr>
            <p:ph type="ftr" sz="quarter" idx="11"/>
          </p:nvPr>
        </p:nvSpPr>
        <p:spPr/>
        <p:txBody>
          <a:bodyPr/>
          <a:lstStyle>
            <a:lvl1pPr>
              <a:defRPr>
                <a:latin typeface="Calibri" panose="020F0502020204030204" pitchFamily="34" charset="0"/>
                <a:cs typeface="Calibri" panose="020F0502020204030204" pitchFamily="34" charset="0"/>
              </a:defRPr>
            </a:lvl1pPr>
          </a:lstStyle>
          <a:p>
            <a:endParaRPr lang="en-US" dirty="0"/>
          </a:p>
        </p:txBody>
      </p:sp>
      <p:sp>
        <p:nvSpPr>
          <p:cNvPr id="6" name="Slide Number Placeholder 5"/>
          <p:cNvSpPr>
            <a:spLocks noGrp="1"/>
          </p:cNvSpPr>
          <p:nvPr>
            <p:ph type="sldNum" sz="quarter" idx="12"/>
          </p:nvPr>
        </p:nvSpPr>
        <p:spPr>
          <a:xfrm>
            <a:off x="9144000" y="6400801"/>
            <a:ext cx="2844800" cy="365125"/>
          </a:xfrm>
        </p:spPr>
        <p:txBody>
          <a:bodyPr/>
          <a:lstStyle>
            <a:lvl1pPr>
              <a:defRPr>
                <a:latin typeface="Calibri" panose="020F0502020204030204" pitchFamily="34" charset="0"/>
                <a:cs typeface="Calibri" panose="020F0502020204030204" pitchFamily="34" charset="0"/>
              </a:defRPr>
            </a:lvl1pPr>
          </a:lstStyle>
          <a:p>
            <a:fld id="{02147839-81A2-46CC-A3B2-864012D7A0C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userDrawn="1"/>
        </p:nvSpPr>
        <p:spPr>
          <a:xfrm>
            <a:off x="-23675" y="0"/>
            <a:ext cx="12252960" cy="1295400"/>
          </a:xfrm>
          <a:prstGeom prst="rect">
            <a:avLst/>
          </a:prstGeom>
          <a:solidFill>
            <a:srgbClr val="014B84"/>
          </a:solidFill>
          <a:ln>
            <a:solidFill>
              <a:srgbClr val="014B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76200"/>
            <a:ext cx="10972800" cy="1143000"/>
          </a:xfrm>
        </p:spPr>
        <p:txBody>
          <a:bodyPr>
            <a:normAutofit/>
          </a:bodyPr>
          <a:lstStyle>
            <a:lvl1pPr>
              <a:defRPr sz="4000">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1660253" y="-1"/>
            <a:ext cx="569033" cy="316833"/>
          </a:xfrm>
        </p:spPr>
        <p:txBody>
          <a:bodyPr anchor="ctr"/>
          <a:lstStyle>
            <a:lvl1pPr>
              <a:defRPr sz="1600">
                <a:solidFill>
                  <a:schemeClr val="bg1"/>
                </a:solidFill>
                <a:latin typeface="Calibri" panose="020F0502020204030204" pitchFamily="34" charset="0"/>
                <a:cs typeface="Calibri" panose="020F0502020204030204" pitchFamily="34" charset="0"/>
              </a:defRPr>
            </a:lvl1pPr>
          </a:lstStyle>
          <a:p>
            <a:fld id="{80DD8C35-F8B3-4049-95AF-A34E38FBBA50}" type="slidenum">
              <a:rPr lang="en-US" smtClean="0"/>
              <a:pPr/>
              <a:t>‹#›</a:t>
            </a:fld>
            <a:endParaRPr lang="en-US" dirty="0"/>
          </a:p>
        </p:txBody>
      </p:sp>
      <p:cxnSp>
        <p:nvCxnSpPr>
          <p:cNvPr id="9" name="Straight Connector 8"/>
          <p:cNvCxnSpPr>
            <a:cxnSpLocks/>
          </p:cNvCxnSpPr>
          <p:nvPr userDrawn="1"/>
        </p:nvCxnSpPr>
        <p:spPr>
          <a:xfrm>
            <a:off x="-69443" y="1295400"/>
            <a:ext cx="12330885" cy="0"/>
          </a:xfrm>
          <a:prstGeom prst="line">
            <a:avLst/>
          </a:prstGeom>
          <a:ln w="76200">
            <a:solidFill>
              <a:srgbClr val="DFB30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C71AF5-FE43-43B9-8E53-310B985FEDE8}" type="datetime1">
              <a:rPr lang="en-US" smtClean="0"/>
              <a:pPr/>
              <a:t>4/19/25</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129D738-71E1-481C-97EA-92A151452F98}" type="datetime1">
              <a:rPr lang="en-US" smtClean="0"/>
              <a:pPr/>
              <a:t>4/19/25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023547-C15F-4B70-A988-6D925F4ACFE5}" type="datetime1">
              <a:rPr lang="en-US" smtClean="0"/>
              <a:pPr/>
              <a:t>4/19/25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452610B-CD48-4F1A-8B35-484677D1C3E3}" type="datetime1">
              <a:rPr lang="en-US" smtClean="0"/>
              <a:pPr/>
              <a:t>4/19/25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93F1DB-4C02-44F7-BACD-5CFDB2ED6993}" type="datetime1">
              <a:rPr lang="en-US" smtClean="0"/>
              <a:pPr/>
              <a:t>4/19/25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50B4CC-456C-46C7-BE89-CD5460283B1F}" type="datetime1">
              <a:rPr lang="en-US" smtClean="0"/>
              <a:pPr/>
              <a:t>4/19/25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B12A44-1B13-4F82-BC08-BF64F5C0F261}" type="datetime1">
              <a:rPr lang="en-US" smtClean="0"/>
              <a:pPr/>
              <a:t>4/19/25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DD3E60-3331-4986-B797-3EF559A16933}" type="datetime1">
              <a:rPr lang="en-US" smtClean="0"/>
              <a:pPr/>
              <a:t>4/19/25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08CC57-6400-4AFF-A83A-C347C39AD1CE}" type="datetime1">
              <a:rPr lang="en-US" smtClean="0"/>
              <a:pPr/>
              <a:t>4/19/25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8522F2-FBF5-4F79-9C82-292EEAF9C382}" type="datetime1">
              <a:rPr lang="en-US" smtClean="0"/>
              <a:pPr/>
              <a:t>4/19/25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147839-81A2-46CC-A3B2-864012D7A0C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914400" rtl="0" eaLnBrk="1" latinLnBrk="0" hangingPunct="1">
        <a:spcBef>
          <a:spcPct val="0"/>
        </a:spcBef>
        <a:buNone/>
        <a:defRPr sz="4400" kern="1200">
          <a:solidFill>
            <a:schemeClr val="tx1"/>
          </a:solidFill>
          <a:latin typeface="Calibri" panose="020F0502020204030204" pitchFamily="34" charset="0"/>
          <a:ea typeface="+mj-ea"/>
          <a:cs typeface="Calibri" panose="020F050202020403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3716000" y="3124201"/>
            <a:ext cx="2133600" cy="365125"/>
          </a:xfrm>
        </p:spPr>
        <p:txBody>
          <a:bodyPr/>
          <a:lstStyle/>
          <a:p>
            <a:fld id="{02147839-81A2-46CC-A3B2-864012D7A0C6}" type="slidenum">
              <a:rPr lang="en-US" smtClean="0"/>
              <a:pPr/>
              <a:t>1</a:t>
            </a:fld>
            <a:endParaRPr lang="en-US" dirty="0"/>
          </a:p>
        </p:txBody>
      </p:sp>
      <p:sp>
        <p:nvSpPr>
          <p:cNvPr id="5" name="Subtitle 2"/>
          <p:cNvSpPr txBox="1">
            <a:spLocks/>
          </p:cNvSpPr>
          <p:nvPr/>
        </p:nvSpPr>
        <p:spPr>
          <a:xfrm>
            <a:off x="4191000" y="5599386"/>
            <a:ext cx="4191000" cy="457200"/>
          </a:xfrm>
          <a:prstGeom prst="rect">
            <a:avLst/>
          </a:prstGeom>
        </p:spPr>
        <p:txBody>
          <a:bodyPr vert="horz" lIns="91440" tIns="45720" rIns="91440" bIns="45720" rtlCol="0">
            <a:noAutofit/>
          </a:bodyPr>
          <a:lstStyle/>
          <a:p>
            <a:pPr>
              <a:spcBef>
                <a:spcPct val="20000"/>
              </a:spcBef>
              <a:defRPr/>
            </a:pPr>
            <a:endParaRPr lang="en-US" sz="2400" dirty="0"/>
          </a:p>
        </p:txBody>
      </p:sp>
      <p:sp>
        <p:nvSpPr>
          <p:cNvPr id="6" name="Subtitle 2"/>
          <p:cNvSpPr txBox="1">
            <a:spLocks/>
          </p:cNvSpPr>
          <p:nvPr/>
        </p:nvSpPr>
        <p:spPr>
          <a:xfrm>
            <a:off x="2971800" y="6947338"/>
            <a:ext cx="6629400" cy="457200"/>
          </a:xfrm>
          <a:prstGeom prst="rect">
            <a:avLst/>
          </a:prstGeom>
        </p:spPr>
        <p:txBody>
          <a:bodyPr vert="horz" lIns="91440" tIns="45720" rIns="91440" bIns="45720" rtlCol="0">
            <a:noAutofit/>
          </a:bodyPr>
          <a:lstStyle/>
          <a:p>
            <a:pPr algn="ctr">
              <a:spcBef>
                <a:spcPct val="20000"/>
              </a:spcBef>
              <a:defRPr/>
            </a:pPr>
            <a:endParaRPr lang="en-US" sz="2400" dirty="0"/>
          </a:p>
        </p:txBody>
      </p:sp>
      <p:sp>
        <p:nvSpPr>
          <p:cNvPr id="8" name="Subtitle 2"/>
          <p:cNvSpPr txBox="1">
            <a:spLocks/>
          </p:cNvSpPr>
          <p:nvPr/>
        </p:nvSpPr>
        <p:spPr>
          <a:xfrm>
            <a:off x="3161148" y="3733800"/>
            <a:ext cx="5943600" cy="11430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2200" dirty="0"/>
          </a:p>
          <a:p>
            <a:endParaRPr lang="en-US" sz="2200" dirty="0"/>
          </a:p>
          <a:p>
            <a:endParaRPr lang="en-US" dirty="0"/>
          </a:p>
        </p:txBody>
      </p:sp>
      <p:pic>
        <p:nvPicPr>
          <p:cNvPr id="10" name="Picture 9">
            <a:extLst>
              <a:ext uri="{FF2B5EF4-FFF2-40B4-BE49-F238E27FC236}">
                <a16:creationId xmlns:a16="http://schemas.microsoft.com/office/drawing/2014/main" id="{53CE3EA1-96F6-7C41-BEFA-CDC86A1F3B82}"/>
              </a:ext>
            </a:extLst>
          </p:cNvPr>
          <p:cNvPicPr/>
          <p:nvPr/>
        </p:nvPicPr>
        <p:blipFill>
          <a:blip r:embed="rId3">
            <a:extLst>
              <a:ext uri="{28A0092B-C50C-407E-A947-70E740481C1C}">
                <a14:useLocalDpi xmlns:a14="http://schemas.microsoft.com/office/drawing/2010/main" val="0"/>
              </a:ext>
            </a:extLst>
          </a:blip>
          <a:stretch>
            <a:fillRect/>
          </a:stretch>
        </p:blipFill>
        <p:spPr>
          <a:xfrm>
            <a:off x="5067300" y="5663976"/>
            <a:ext cx="2438399" cy="1026768"/>
          </a:xfrm>
          <a:prstGeom prst="rect">
            <a:avLst/>
          </a:prstGeom>
        </p:spPr>
      </p:pic>
      <p:sp>
        <p:nvSpPr>
          <p:cNvPr id="9" name="Rectangle 8">
            <a:extLst>
              <a:ext uri="{FF2B5EF4-FFF2-40B4-BE49-F238E27FC236}">
                <a16:creationId xmlns:a16="http://schemas.microsoft.com/office/drawing/2014/main" id="{04E094FB-470F-D34D-850D-FAE0D60AF14D}"/>
              </a:ext>
            </a:extLst>
          </p:cNvPr>
          <p:cNvSpPr/>
          <p:nvPr/>
        </p:nvSpPr>
        <p:spPr>
          <a:xfrm>
            <a:off x="2092389" y="939259"/>
            <a:ext cx="8007222" cy="1446550"/>
          </a:xfrm>
          <a:prstGeom prst="rect">
            <a:avLst/>
          </a:prstGeom>
        </p:spPr>
        <p:txBody>
          <a:bodyPr wrap="square" anchor="ctr">
            <a:spAutoFit/>
          </a:bodyPr>
          <a:lstStyle/>
          <a:p>
            <a:pPr algn="ctr"/>
            <a:r>
              <a:rPr lang="en-US" sz="4400" dirty="0">
                <a:solidFill>
                  <a:schemeClr val="bg1"/>
                </a:solidFill>
                <a:latin typeface="Calibri" panose="020F0502020204030204" pitchFamily="34" charset="0"/>
                <a:cs typeface="Calibri" panose="020F0502020204030204" pitchFamily="34" charset="0"/>
              </a:rPr>
              <a:t>The Transition to College for Gender and Sexual Minority Youth</a:t>
            </a:r>
            <a:endParaRPr lang="en-US" sz="4000"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25C5EDD1-D831-4941-BFB6-D4019916F312}"/>
              </a:ext>
            </a:extLst>
          </p:cNvPr>
          <p:cNvSpPr txBox="1"/>
          <p:nvPr/>
        </p:nvSpPr>
        <p:spPr>
          <a:xfrm>
            <a:off x="1903848" y="2659694"/>
            <a:ext cx="8458200" cy="707886"/>
          </a:xfrm>
          <a:prstGeom prst="rect">
            <a:avLst/>
          </a:prstGeom>
          <a:noFill/>
        </p:spPr>
        <p:txBody>
          <a:bodyPr wrap="square" rtlCol="0">
            <a:spAutoFit/>
          </a:bodyPr>
          <a:lstStyle/>
          <a:p>
            <a:pPr algn="ctr"/>
            <a:r>
              <a:rPr lang="en-US" sz="2000" i="1" spc="50" dirty="0">
                <a:solidFill>
                  <a:schemeClr val="bg1"/>
                </a:solidFill>
                <a:latin typeface="Calibri Light" panose="020F0302020204030204" pitchFamily="34" charset="0"/>
                <a:cs typeface="Calibri Light" panose="020F0302020204030204" pitchFamily="34" charset="0"/>
              </a:rPr>
              <a:t>Christina Sun</a:t>
            </a:r>
          </a:p>
          <a:p>
            <a:pPr algn="ctr"/>
            <a:r>
              <a:rPr lang="en-US" sz="2000" i="1" spc="50" dirty="0">
                <a:solidFill>
                  <a:schemeClr val="bg1"/>
                </a:solidFill>
                <a:latin typeface="Calibri Light" panose="020F0302020204030204" pitchFamily="34" charset="0"/>
                <a:cs typeface="Calibri Light" panose="020F0302020204030204" pitchFamily="34" charset="0"/>
              </a:rPr>
              <a:t>With Alexandria Hurtt, Michal </a:t>
            </a:r>
            <a:r>
              <a:rPr lang="en-US" sz="2000" i="1" spc="50" dirty="0" err="1">
                <a:solidFill>
                  <a:schemeClr val="bg1"/>
                </a:solidFill>
                <a:latin typeface="Calibri Light" panose="020F0302020204030204" pitchFamily="34" charset="0"/>
                <a:cs typeface="Calibri Light" panose="020F0302020204030204" pitchFamily="34" charset="0"/>
              </a:rPr>
              <a:t>Kurlaender</a:t>
            </a:r>
            <a:r>
              <a:rPr lang="en-US" sz="2000" i="1" spc="50" dirty="0">
                <a:solidFill>
                  <a:schemeClr val="bg1"/>
                </a:solidFill>
                <a:latin typeface="Calibri Light" panose="020F0302020204030204" pitchFamily="34" charset="0"/>
                <a:cs typeface="Calibri Light" panose="020F0302020204030204" pitchFamily="34" charset="0"/>
              </a:rPr>
              <a:t>, Kairo Weber, and </a:t>
            </a:r>
            <a:r>
              <a:rPr lang="en-US" sz="2000" i="1" spc="50" dirty="0" err="1">
                <a:solidFill>
                  <a:schemeClr val="bg1"/>
                </a:solidFill>
                <a:latin typeface="Calibri Light" panose="020F0302020204030204" pitchFamily="34" charset="0"/>
                <a:cs typeface="Calibri Light" panose="020F0302020204030204" pitchFamily="34" charset="0"/>
              </a:rPr>
              <a:t>Baiyu</a:t>
            </a:r>
            <a:r>
              <a:rPr lang="en-US" sz="2000" i="1" spc="50" dirty="0">
                <a:solidFill>
                  <a:schemeClr val="bg1"/>
                </a:solidFill>
                <a:latin typeface="Calibri Light" panose="020F0302020204030204" pitchFamily="34" charset="0"/>
                <a:cs typeface="Calibri Light" panose="020F0302020204030204" pitchFamily="34" charset="0"/>
              </a:rPr>
              <a:t> Zhou</a:t>
            </a:r>
          </a:p>
        </p:txBody>
      </p:sp>
      <p:sp>
        <p:nvSpPr>
          <p:cNvPr id="14" name="TextBox 13">
            <a:extLst>
              <a:ext uri="{FF2B5EF4-FFF2-40B4-BE49-F238E27FC236}">
                <a16:creationId xmlns:a16="http://schemas.microsoft.com/office/drawing/2014/main" id="{5CA2BD98-D2B6-7A41-8521-90679348B555}"/>
              </a:ext>
            </a:extLst>
          </p:cNvPr>
          <p:cNvSpPr txBox="1"/>
          <p:nvPr/>
        </p:nvSpPr>
        <p:spPr>
          <a:xfrm>
            <a:off x="2590800" y="3487229"/>
            <a:ext cx="7010400" cy="630942"/>
          </a:xfrm>
          <a:prstGeom prst="rect">
            <a:avLst/>
          </a:prstGeom>
          <a:noFill/>
        </p:spPr>
        <p:txBody>
          <a:bodyPr wrap="square" rtlCol="0">
            <a:spAutoFit/>
          </a:bodyPr>
          <a:lstStyle/>
          <a:p>
            <a:pPr algn="ctr"/>
            <a:r>
              <a:rPr lang="en-US" sz="1600" spc="50" dirty="0">
                <a:solidFill>
                  <a:schemeClr val="bg1"/>
                </a:solidFill>
                <a:latin typeface="Calibri Light" panose="020F0302020204030204" pitchFamily="34" charset="0"/>
                <a:cs typeface="Calibri Light" panose="020F0302020204030204" pitchFamily="34" charset="0"/>
              </a:rPr>
              <a:t>University of California, Davis</a:t>
            </a:r>
          </a:p>
          <a:p>
            <a:pPr algn="ctr"/>
            <a:endParaRPr lang="en-US" sz="500" spc="50" dirty="0">
              <a:solidFill>
                <a:schemeClr val="bg1"/>
              </a:solidFill>
              <a:latin typeface="Calibri Light" panose="020F0302020204030204" pitchFamily="34" charset="0"/>
              <a:cs typeface="Calibri Light" panose="020F0302020204030204" pitchFamily="34" charset="0"/>
            </a:endParaRPr>
          </a:p>
          <a:p>
            <a:pPr algn="ctr"/>
            <a:r>
              <a:rPr lang="en-US" sz="1400" spc="50" dirty="0">
                <a:solidFill>
                  <a:schemeClr val="bg1"/>
                </a:solidFill>
                <a:latin typeface="Calibri Light" panose="020F0302020204030204" pitchFamily="34" charset="0"/>
                <a:cs typeface="Calibri Light" panose="020F0302020204030204" pitchFamily="34" charset="0"/>
              </a:rPr>
              <a:t>AERA 2025, Denver, CO</a:t>
            </a:r>
          </a:p>
        </p:txBody>
      </p:sp>
      <p:sp>
        <p:nvSpPr>
          <p:cNvPr id="11" name="Rectangle 10">
            <a:extLst>
              <a:ext uri="{FF2B5EF4-FFF2-40B4-BE49-F238E27FC236}">
                <a16:creationId xmlns:a16="http://schemas.microsoft.com/office/drawing/2014/main" id="{C38E4EAB-A72E-E94E-B1BC-80F1D02515FD}"/>
              </a:ext>
            </a:extLst>
          </p:cNvPr>
          <p:cNvSpPr/>
          <p:nvPr/>
        </p:nvSpPr>
        <p:spPr>
          <a:xfrm>
            <a:off x="1903848" y="4283987"/>
            <a:ext cx="8458200" cy="1015663"/>
          </a:xfrm>
          <a:prstGeom prst="rect">
            <a:avLst/>
          </a:prstGeom>
        </p:spPr>
        <p:txBody>
          <a:bodyPr wrap="square">
            <a:spAutoFit/>
          </a:bodyPr>
          <a:lstStyle/>
          <a:p>
            <a:r>
              <a:rPr lang="en-US" sz="1200" i="1" dirty="0">
                <a:solidFill>
                  <a:schemeClr val="bg1"/>
                </a:solidFill>
                <a:latin typeface="Calibri" panose="020F0502020204030204" pitchFamily="34" charset="0"/>
                <a:ea typeface="Calibri Light" charset="0"/>
                <a:cs typeface="Calibri" panose="020F0502020204030204" pitchFamily="34" charset="0"/>
              </a:rPr>
              <a:t>Note: This research was supported by the College Futures Foundation and conducted in partnership with the California Student Aid Commission. The authors are also grateful for ongoing support from the Stuart Foundation to the California Education Lab. The California Education Lab at the University of California, Davis and Policy Analysis for California Education are also thankful for research dissemination support from the Bill &amp; Melinda Gates Foundation. The findings and conclusions here are those of the authors alone and do not necessarily reflect the positions or policies of the funders or of the California Student Aid Commission.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1143000"/>
          </a:xfrm>
        </p:spPr>
        <p:txBody>
          <a:bodyPr>
            <a:normAutofit/>
          </a:bodyPr>
          <a:lstStyle/>
          <a:p>
            <a:r>
              <a:rPr lang="en-US" dirty="0"/>
              <a:t>Acknowledgements</a:t>
            </a:r>
          </a:p>
        </p:txBody>
      </p:sp>
      <p:sp>
        <p:nvSpPr>
          <p:cNvPr id="4" name="Slide Number Placeholder 3"/>
          <p:cNvSpPr>
            <a:spLocks noGrp="1"/>
          </p:cNvSpPr>
          <p:nvPr>
            <p:ph type="sldNum" sz="quarter" idx="12"/>
          </p:nvPr>
        </p:nvSpPr>
        <p:spPr>
          <a:xfrm>
            <a:off x="7170563" y="-118270"/>
            <a:ext cx="3487444" cy="388939"/>
          </a:xfrm>
        </p:spPr>
        <p:txBody>
          <a:bodyPr/>
          <a:lstStyle/>
          <a:p>
            <a:endParaRPr lang="en-US" dirty="0"/>
          </a:p>
          <a:p>
            <a:fld id="{80DD8C35-F8B3-4049-95AF-A34E38FBBA50}" type="slidenum">
              <a:rPr lang="en-US" smtClean="0"/>
              <a:pPr/>
              <a:t>2</a:t>
            </a:fld>
            <a:endParaRPr lang="en-US" dirty="0"/>
          </a:p>
        </p:txBody>
      </p:sp>
      <p:sp>
        <p:nvSpPr>
          <p:cNvPr id="5" name="Content Placeholder 8">
            <a:extLst>
              <a:ext uri="{FF2B5EF4-FFF2-40B4-BE49-F238E27FC236}">
                <a16:creationId xmlns:a16="http://schemas.microsoft.com/office/drawing/2014/main" id="{276906DF-AC05-514B-9E11-D88C23D12C5B}"/>
              </a:ext>
            </a:extLst>
          </p:cNvPr>
          <p:cNvSpPr txBox="1">
            <a:spLocks/>
          </p:cNvSpPr>
          <p:nvPr/>
        </p:nvSpPr>
        <p:spPr>
          <a:xfrm>
            <a:off x="1905000" y="1524000"/>
            <a:ext cx="8382000" cy="4733604"/>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2800" dirty="0">
                <a:latin typeface="Calibri Light" panose="020F0302020204030204" pitchFamily="34" charset="0"/>
                <a:cs typeface="Calibri Light" panose="020F0302020204030204" pitchFamily="34" charset="0"/>
              </a:rPr>
              <a:t>California Student Aid Commission</a:t>
            </a:r>
          </a:p>
          <a:p>
            <a:pPr lvl="1">
              <a:defRPr/>
            </a:pPr>
            <a:r>
              <a:rPr lang="en-US" sz="2400" dirty="0">
                <a:latin typeface="Calibri Light" panose="020F0302020204030204" pitchFamily="34" charset="0"/>
                <a:cs typeface="Calibri Light" panose="020F0302020204030204" pitchFamily="34" charset="0"/>
              </a:rPr>
              <a:t>Marlene Garcia</a:t>
            </a:r>
          </a:p>
          <a:p>
            <a:pPr lvl="1">
              <a:defRPr/>
            </a:pPr>
            <a:r>
              <a:rPr lang="en-US" sz="2400" dirty="0">
                <a:latin typeface="Calibri Light" panose="020F0302020204030204" pitchFamily="34" charset="0"/>
                <a:cs typeface="Calibri Light" panose="020F0302020204030204" pitchFamily="34" charset="0"/>
              </a:rPr>
              <a:t>Jessica Moldoff</a:t>
            </a:r>
          </a:p>
          <a:p>
            <a:pPr lvl="1">
              <a:defRPr/>
            </a:pPr>
            <a:r>
              <a:rPr lang="en-US" sz="2400" dirty="0">
                <a:latin typeface="Calibri Light" panose="020F0302020204030204" pitchFamily="34" charset="0"/>
                <a:cs typeface="Calibri Light" panose="020F0302020204030204" pitchFamily="34" charset="0"/>
              </a:rPr>
              <a:t>Ryan Fuller</a:t>
            </a:r>
          </a:p>
          <a:p>
            <a:pPr>
              <a:defRPr/>
            </a:pPr>
            <a:r>
              <a:rPr lang="en-US" sz="2800" dirty="0">
                <a:latin typeface="Calibri Light" panose="020F0302020204030204" pitchFamily="34" charset="0"/>
                <a:cs typeface="Calibri Light" panose="020F0302020204030204" pitchFamily="34" charset="0"/>
              </a:rPr>
              <a:t>California Department of Education</a:t>
            </a:r>
          </a:p>
          <a:p>
            <a:pPr>
              <a:defRPr/>
            </a:pPr>
            <a:r>
              <a:rPr lang="en-US" sz="2800" dirty="0">
                <a:latin typeface="Calibri Light" panose="020F0302020204030204" pitchFamily="34" charset="0"/>
                <a:cs typeface="Calibri Light" panose="020F0302020204030204" pitchFamily="34" charset="0"/>
              </a:rPr>
              <a:t>California Education Lab</a:t>
            </a:r>
          </a:p>
          <a:p>
            <a:pPr lvl="1">
              <a:defRPr/>
            </a:pPr>
            <a:r>
              <a:rPr lang="en-US" sz="2400" dirty="0">
                <a:latin typeface="Calibri Light" panose="020F0302020204030204" pitchFamily="34" charset="0"/>
                <a:cs typeface="Calibri Light" panose="020F0302020204030204" pitchFamily="34" charset="0"/>
              </a:rPr>
              <a:t>Elizabeth Friedmann</a:t>
            </a:r>
          </a:p>
          <a:p>
            <a:pPr lvl="1">
              <a:defRPr/>
            </a:pPr>
            <a:r>
              <a:rPr lang="en-US" sz="2400" dirty="0">
                <a:latin typeface="Calibri Light" panose="020F0302020204030204" pitchFamily="34" charset="0"/>
                <a:cs typeface="Calibri Light" panose="020F0302020204030204" pitchFamily="34" charset="0"/>
              </a:rPr>
              <a:t>Sherrie Reed</a:t>
            </a:r>
          </a:p>
          <a:p>
            <a:pPr lvl="1">
              <a:defRPr/>
            </a:pPr>
            <a:r>
              <a:rPr lang="en-US" sz="2400" dirty="0">
                <a:latin typeface="Calibri Light" panose="020F0302020204030204" pitchFamily="34" charset="0"/>
                <a:cs typeface="Calibri Light" panose="020F0302020204030204" pitchFamily="34" charset="0"/>
              </a:rPr>
              <a:t>Paco Martorell</a:t>
            </a:r>
          </a:p>
          <a:p>
            <a:pPr lvl="1">
              <a:defRPr/>
            </a:pPr>
            <a:r>
              <a:rPr lang="en-US" sz="2400" dirty="0">
                <a:latin typeface="Calibri Light" panose="020F0302020204030204" pitchFamily="34" charset="0"/>
                <a:cs typeface="Calibri Light" panose="020F0302020204030204" pitchFamily="34" charset="0"/>
              </a:rPr>
              <a:t>Scott Carrell</a:t>
            </a:r>
          </a:p>
        </p:txBody>
      </p:sp>
    </p:spTree>
    <p:extLst>
      <p:ext uri="{BB962C8B-B14F-4D97-AF65-F5344CB8AC3E}">
        <p14:creationId xmlns:p14="http://schemas.microsoft.com/office/powerpoint/2010/main" val="4162196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37691-DD62-2FB8-C4B1-ACA15EDAA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7E6EB-C968-F0E9-DE80-EA474B2120CD}"/>
              </a:ext>
            </a:extLst>
          </p:cNvPr>
          <p:cNvSpPr>
            <a:spLocks noGrp="1"/>
          </p:cNvSpPr>
          <p:nvPr>
            <p:ph type="title"/>
          </p:nvPr>
        </p:nvSpPr>
        <p:spPr>
          <a:xfrm>
            <a:off x="1981200" y="76200"/>
            <a:ext cx="8229600" cy="1143000"/>
          </a:xfrm>
        </p:spPr>
        <p:txBody>
          <a:bodyPr>
            <a:normAutofit/>
          </a:bodyPr>
          <a:lstStyle/>
          <a:p>
            <a:r>
              <a:rPr lang="en-US" dirty="0"/>
              <a:t>Outline</a:t>
            </a:r>
          </a:p>
        </p:txBody>
      </p:sp>
      <p:sp>
        <p:nvSpPr>
          <p:cNvPr id="4" name="Slide Number Placeholder 3">
            <a:extLst>
              <a:ext uri="{FF2B5EF4-FFF2-40B4-BE49-F238E27FC236}">
                <a16:creationId xmlns:a16="http://schemas.microsoft.com/office/drawing/2014/main" id="{9827E5BC-4231-C287-5311-AB3D31F68405}"/>
              </a:ext>
            </a:extLst>
          </p:cNvPr>
          <p:cNvSpPr>
            <a:spLocks noGrp="1"/>
          </p:cNvSpPr>
          <p:nvPr>
            <p:ph type="sldNum" sz="quarter" idx="12"/>
          </p:nvPr>
        </p:nvSpPr>
        <p:spPr>
          <a:xfrm>
            <a:off x="7170563" y="-118270"/>
            <a:ext cx="3487444" cy="388939"/>
          </a:xfrm>
        </p:spPr>
        <p:txBody>
          <a:bodyPr/>
          <a:lstStyle/>
          <a:p>
            <a:endParaRPr lang="en-US" dirty="0"/>
          </a:p>
          <a:p>
            <a:fld id="{80DD8C35-F8B3-4049-95AF-A34E38FBBA50}" type="slidenum">
              <a:rPr lang="en-US" smtClean="0"/>
              <a:pPr/>
              <a:t>3</a:t>
            </a:fld>
            <a:endParaRPr lang="en-US" dirty="0"/>
          </a:p>
        </p:txBody>
      </p:sp>
      <p:sp>
        <p:nvSpPr>
          <p:cNvPr id="5" name="Content Placeholder 8">
            <a:extLst>
              <a:ext uri="{FF2B5EF4-FFF2-40B4-BE49-F238E27FC236}">
                <a16:creationId xmlns:a16="http://schemas.microsoft.com/office/drawing/2014/main" id="{78D298A9-2C3A-6CCA-DEE2-16A25B9AADB0}"/>
              </a:ext>
            </a:extLst>
          </p:cNvPr>
          <p:cNvSpPr txBox="1">
            <a:spLocks/>
          </p:cNvSpPr>
          <p:nvPr/>
        </p:nvSpPr>
        <p:spPr>
          <a:xfrm>
            <a:off x="1905000" y="1524000"/>
            <a:ext cx="8382000" cy="2074414"/>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2800" dirty="0">
                <a:latin typeface="Calibri Light" panose="020F0302020204030204" pitchFamily="34" charset="0"/>
                <a:cs typeface="Calibri Light" panose="020F0302020204030204" pitchFamily="34" charset="0"/>
              </a:rPr>
              <a:t>Introduction</a:t>
            </a:r>
          </a:p>
          <a:p>
            <a:pPr>
              <a:defRPr/>
            </a:pPr>
            <a:r>
              <a:rPr lang="en-US" sz="2800" dirty="0">
                <a:latin typeface="Calibri Light" panose="020F0302020204030204" pitchFamily="34" charset="0"/>
                <a:cs typeface="Calibri Light" panose="020F0302020204030204" pitchFamily="34" charset="0"/>
              </a:rPr>
              <a:t>Method</a:t>
            </a:r>
          </a:p>
          <a:p>
            <a:pPr>
              <a:defRPr/>
            </a:pPr>
            <a:r>
              <a:rPr lang="en-US" sz="2800" dirty="0">
                <a:latin typeface="Calibri Light" panose="020F0302020204030204" pitchFamily="34" charset="0"/>
                <a:cs typeface="Calibri Light" panose="020F0302020204030204" pitchFamily="34" charset="0"/>
              </a:rPr>
              <a:t>Data</a:t>
            </a:r>
          </a:p>
          <a:p>
            <a:pPr>
              <a:defRPr/>
            </a:pPr>
            <a:r>
              <a:rPr lang="en-US" sz="2800" dirty="0">
                <a:latin typeface="Calibri Light" panose="020F0302020204030204" pitchFamily="34" charset="0"/>
                <a:cs typeface="Calibri Light" panose="020F0302020204030204" pitchFamily="34" charset="0"/>
              </a:rPr>
              <a:t>Findings &amp; Discussion</a:t>
            </a:r>
            <a:endParaRPr lang="en-US" sz="24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213835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a:extLst>
            <a:ext uri="{FF2B5EF4-FFF2-40B4-BE49-F238E27FC236}">
              <a16:creationId xmlns:a16="http://schemas.microsoft.com/office/drawing/2014/main" id="{6369EB11-C257-176A-549A-B21A402563EA}"/>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64B429B-3135-90E9-FD00-5B1489D218C3}"/>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AFDCBAD8-452B-D7DC-8D67-20564EB5FA6A}"/>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6B51C540-37D0-673E-105A-A6D636B86E6A}"/>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A8846482-C5A1-CA95-4898-23FF11831F4C}"/>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B5AFCBF6-B053-D3D9-E44A-8F36929E7DEC}"/>
              </a:ext>
            </a:extLst>
          </p:cNvPr>
          <p:cNvSpPr txBox="1"/>
          <p:nvPr/>
        </p:nvSpPr>
        <p:spPr>
          <a:xfrm>
            <a:off x="3009665" y="2971801"/>
            <a:ext cx="6248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Introduction</a:t>
            </a:r>
          </a:p>
        </p:txBody>
      </p:sp>
    </p:spTree>
    <p:extLst>
      <p:ext uri="{BB962C8B-B14F-4D97-AF65-F5344CB8AC3E}">
        <p14:creationId xmlns:p14="http://schemas.microsoft.com/office/powerpoint/2010/main" val="2498981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28FF-363B-5F32-DD44-39F59D0AC7AC}"/>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0C714A26-BCF0-3F65-4F7B-A2C1EEB6040E}"/>
              </a:ext>
            </a:extLst>
          </p:cNvPr>
          <p:cNvSpPr>
            <a:spLocks noGrp="1"/>
          </p:cNvSpPr>
          <p:nvPr>
            <p:ph idx="1"/>
          </p:nvPr>
        </p:nvSpPr>
        <p:spPr/>
        <p:txBody>
          <a:bodyPr/>
          <a:lstStyle/>
          <a:p>
            <a:r>
              <a:rPr lang="en-US" dirty="0"/>
              <a:t>Transition to college crucial for youth </a:t>
            </a:r>
            <a:r>
              <a:rPr lang="en-US" sz="2400" dirty="0">
                <a:solidFill>
                  <a:schemeClr val="tx1">
                    <a:lumMod val="50000"/>
                    <a:lumOff val="50000"/>
                  </a:schemeClr>
                </a:solidFill>
              </a:rPr>
              <a:t>(Luh et al., 2023)</a:t>
            </a:r>
          </a:p>
          <a:p>
            <a:r>
              <a:rPr lang="en-US" dirty="0"/>
              <a:t>LGBTQ+ youth face significant barriers </a:t>
            </a:r>
            <a:r>
              <a:rPr lang="en-US" sz="2400" dirty="0">
                <a:solidFill>
                  <a:schemeClr val="tx1">
                    <a:lumMod val="50000"/>
                    <a:lumOff val="50000"/>
                  </a:schemeClr>
                </a:solidFill>
              </a:rPr>
              <a:t>(</a:t>
            </a:r>
            <a:r>
              <a:rPr lang="en-US" sz="2400" dirty="0" err="1">
                <a:solidFill>
                  <a:schemeClr val="tx1">
                    <a:lumMod val="50000"/>
                    <a:lumOff val="50000"/>
                  </a:schemeClr>
                </a:solidFill>
              </a:rPr>
              <a:t>Sanlo</a:t>
            </a:r>
            <a:r>
              <a:rPr lang="en-US" sz="2400" dirty="0">
                <a:solidFill>
                  <a:schemeClr val="tx1">
                    <a:lumMod val="50000"/>
                    <a:lumOff val="50000"/>
                  </a:schemeClr>
                </a:solidFill>
              </a:rPr>
              <a:t> 2004; Sansone 2019)</a:t>
            </a:r>
          </a:p>
          <a:p>
            <a:r>
              <a:rPr lang="en-US" dirty="0"/>
              <a:t>Sparse data on LGBTQ+ youth</a:t>
            </a:r>
          </a:p>
          <a:p>
            <a:pPr lvl="1"/>
            <a:r>
              <a:rPr lang="en-US" dirty="0"/>
              <a:t>Narrow/small samples</a:t>
            </a:r>
          </a:p>
          <a:p>
            <a:pPr lvl="1"/>
            <a:r>
              <a:rPr lang="en-US" dirty="0"/>
              <a:t>Lack of detail/nuance</a:t>
            </a:r>
          </a:p>
          <a:p>
            <a:endParaRPr lang="en-US" sz="2800" dirty="0"/>
          </a:p>
        </p:txBody>
      </p:sp>
      <p:sp>
        <p:nvSpPr>
          <p:cNvPr id="4" name="Slide Number Placeholder 3">
            <a:extLst>
              <a:ext uri="{FF2B5EF4-FFF2-40B4-BE49-F238E27FC236}">
                <a16:creationId xmlns:a16="http://schemas.microsoft.com/office/drawing/2014/main" id="{DE18AF9A-8214-6474-F0D3-84F34D55FC1C}"/>
              </a:ext>
            </a:extLst>
          </p:cNvPr>
          <p:cNvSpPr>
            <a:spLocks noGrp="1"/>
          </p:cNvSpPr>
          <p:nvPr>
            <p:ph type="sldNum" sz="quarter" idx="12"/>
          </p:nvPr>
        </p:nvSpPr>
        <p:spPr/>
        <p:txBody>
          <a:bodyPr/>
          <a:lstStyle/>
          <a:p>
            <a:fld id="{80DD8C35-F8B3-4049-95AF-A34E38FBBA50}" type="slidenum">
              <a:rPr lang="en-US" smtClean="0"/>
              <a:pPr/>
              <a:t>5</a:t>
            </a:fld>
            <a:endParaRPr lang="en-US" dirty="0"/>
          </a:p>
        </p:txBody>
      </p:sp>
    </p:spTree>
    <p:extLst>
      <p:ext uri="{BB962C8B-B14F-4D97-AF65-F5344CB8AC3E}">
        <p14:creationId xmlns:p14="http://schemas.microsoft.com/office/powerpoint/2010/main" val="2854500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04D5B-8D93-7FEC-26F6-C5768B68AE25}"/>
              </a:ext>
            </a:extLst>
          </p:cNvPr>
          <p:cNvSpPr>
            <a:spLocks noGrp="1"/>
          </p:cNvSpPr>
          <p:nvPr>
            <p:ph type="title"/>
          </p:nvPr>
        </p:nvSpPr>
        <p:spPr/>
        <p:txBody>
          <a:bodyPr/>
          <a:lstStyle/>
          <a:p>
            <a:r>
              <a:rPr lang="en-US" dirty="0"/>
              <a:t>This Study</a:t>
            </a:r>
          </a:p>
        </p:txBody>
      </p:sp>
      <p:sp>
        <p:nvSpPr>
          <p:cNvPr id="3" name="Content Placeholder 2">
            <a:extLst>
              <a:ext uri="{FF2B5EF4-FFF2-40B4-BE49-F238E27FC236}">
                <a16:creationId xmlns:a16="http://schemas.microsoft.com/office/drawing/2014/main" id="{032DEAE2-4A78-1281-C478-130057A19307}"/>
              </a:ext>
            </a:extLst>
          </p:cNvPr>
          <p:cNvSpPr>
            <a:spLocks noGrp="1"/>
          </p:cNvSpPr>
          <p:nvPr>
            <p:ph idx="1"/>
          </p:nvPr>
        </p:nvSpPr>
        <p:spPr/>
        <p:txBody>
          <a:bodyPr/>
          <a:lstStyle/>
          <a:p>
            <a:r>
              <a:rPr lang="en-US" dirty="0"/>
              <a:t>Large-scale survey of HS seniors in CA</a:t>
            </a:r>
          </a:p>
          <a:p>
            <a:r>
              <a:rPr lang="en-US" dirty="0"/>
              <a:t>Detailed descriptions</a:t>
            </a:r>
          </a:p>
          <a:p>
            <a:pPr lvl="1"/>
            <a:r>
              <a:rPr lang="en-US" dirty="0"/>
              <a:t> Gender</a:t>
            </a:r>
          </a:p>
          <a:p>
            <a:pPr lvl="1"/>
            <a:r>
              <a:rPr lang="en-US" dirty="0"/>
              <a:t> Sexual Orientation</a:t>
            </a:r>
          </a:p>
          <a:p>
            <a:r>
              <a:rPr lang="en-US" dirty="0"/>
              <a:t>Rich data</a:t>
            </a:r>
          </a:p>
          <a:p>
            <a:pPr lvl="1"/>
            <a:r>
              <a:rPr lang="en-US" dirty="0"/>
              <a:t>HS experience</a:t>
            </a:r>
          </a:p>
          <a:p>
            <a:pPr lvl="1"/>
            <a:r>
              <a:rPr lang="en-US" dirty="0"/>
              <a:t>Aspirations</a:t>
            </a:r>
          </a:p>
          <a:p>
            <a:pPr lvl="1"/>
            <a:r>
              <a:rPr lang="en-US" dirty="0"/>
              <a:t>Challenges/Obstacles</a:t>
            </a:r>
          </a:p>
          <a:p>
            <a:endParaRPr lang="en-US" dirty="0"/>
          </a:p>
        </p:txBody>
      </p:sp>
      <p:sp>
        <p:nvSpPr>
          <p:cNvPr id="4" name="Slide Number Placeholder 3">
            <a:extLst>
              <a:ext uri="{FF2B5EF4-FFF2-40B4-BE49-F238E27FC236}">
                <a16:creationId xmlns:a16="http://schemas.microsoft.com/office/drawing/2014/main" id="{6F3C78A2-E45F-4E98-4538-38E2F28FA6BC}"/>
              </a:ext>
            </a:extLst>
          </p:cNvPr>
          <p:cNvSpPr>
            <a:spLocks noGrp="1"/>
          </p:cNvSpPr>
          <p:nvPr>
            <p:ph type="sldNum" sz="quarter" idx="12"/>
          </p:nvPr>
        </p:nvSpPr>
        <p:spPr/>
        <p:txBody>
          <a:bodyPr/>
          <a:lstStyle/>
          <a:p>
            <a:fld id="{80DD8C35-F8B3-4049-95AF-A34E38FBBA50}" type="slidenum">
              <a:rPr lang="en-US" smtClean="0"/>
              <a:pPr/>
              <a:t>6</a:t>
            </a:fld>
            <a:endParaRPr lang="en-US" dirty="0"/>
          </a:p>
        </p:txBody>
      </p:sp>
    </p:spTree>
    <p:extLst>
      <p:ext uri="{BB962C8B-B14F-4D97-AF65-F5344CB8AC3E}">
        <p14:creationId xmlns:p14="http://schemas.microsoft.com/office/powerpoint/2010/main" val="809840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3DBF6-72B1-6E85-ABE7-0217E34BAE88}"/>
              </a:ext>
            </a:extLst>
          </p:cNvPr>
          <p:cNvSpPr>
            <a:spLocks noGrp="1"/>
          </p:cNvSpPr>
          <p:nvPr>
            <p:ph type="title"/>
          </p:nvPr>
        </p:nvSpPr>
        <p:spPr/>
        <p:txBody>
          <a:bodyPr/>
          <a:lstStyle/>
          <a:p>
            <a:r>
              <a:rPr lang="en-US" dirty="0"/>
              <a:t>National Context</a:t>
            </a:r>
          </a:p>
        </p:txBody>
      </p:sp>
      <p:pic>
        <p:nvPicPr>
          <p:cNvPr id="6" name="Content Placeholder 5" descr="A graph of a bar chart&#10;&#10;AI-generated content may be incorrect.">
            <a:extLst>
              <a:ext uri="{FF2B5EF4-FFF2-40B4-BE49-F238E27FC236}">
                <a16:creationId xmlns:a16="http://schemas.microsoft.com/office/drawing/2014/main" id="{5E1EF7C3-C746-BBCF-4916-F1FCFDAF17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00201"/>
            <a:ext cx="8849081" cy="4525963"/>
          </a:xfrm>
        </p:spPr>
      </p:pic>
      <p:sp>
        <p:nvSpPr>
          <p:cNvPr id="4" name="Slide Number Placeholder 3">
            <a:extLst>
              <a:ext uri="{FF2B5EF4-FFF2-40B4-BE49-F238E27FC236}">
                <a16:creationId xmlns:a16="http://schemas.microsoft.com/office/drawing/2014/main" id="{E32389DC-D39C-5EED-0C08-E6DC3AE64CFA}"/>
              </a:ext>
            </a:extLst>
          </p:cNvPr>
          <p:cNvSpPr>
            <a:spLocks noGrp="1"/>
          </p:cNvSpPr>
          <p:nvPr>
            <p:ph type="sldNum" sz="quarter" idx="12"/>
          </p:nvPr>
        </p:nvSpPr>
        <p:spPr/>
        <p:txBody>
          <a:bodyPr/>
          <a:lstStyle/>
          <a:p>
            <a:fld id="{80DD8C35-F8B3-4049-95AF-A34E38FBBA50}" type="slidenum">
              <a:rPr lang="en-US" smtClean="0"/>
              <a:pPr/>
              <a:t>7</a:t>
            </a:fld>
            <a:endParaRPr lang="en-US" dirty="0"/>
          </a:p>
        </p:txBody>
      </p:sp>
      <p:sp>
        <p:nvSpPr>
          <p:cNvPr id="7" name="TextBox 6">
            <a:extLst>
              <a:ext uri="{FF2B5EF4-FFF2-40B4-BE49-F238E27FC236}">
                <a16:creationId xmlns:a16="http://schemas.microsoft.com/office/drawing/2014/main" id="{E5F1495E-B9D4-5AC5-419A-21FCB41BB448}"/>
              </a:ext>
            </a:extLst>
          </p:cNvPr>
          <p:cNvSpPr txBox="1"/>
          <p:nvPr/>
        </p:nvSpPr>
        <p:spPr>
          <a:xfrm>
            <a:off x="1233739" y="1447800"/>
            <a:ext cx="3484800" cy="646331"/>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Number of anti-trans bills in the US</a:t>
            </a:r>
          </a:p>
          <a:p>
            <a:endParaRPr lang="en-US" dirty="0">
              <a:latin typeface="Calibri" panose="020F0502020204030204" pitchFamily="34" charset="0"/>
              <a:cs typeface="Calibri" panose="020F0502020204030204" pitchFamily="34" charset="0"/>
            </a:endParaRPr>
          </a:p>
        </p:txBody>
      </p:sp>
      <p:sp>
        <p:nvSpPr>
          <p:cNvPr id="9" name="Content Placeholder 2">
            <a:extLst>
              <a:ext uri="{FF2B5EF4-FFF2-40B4-BE49-F238E27FC236}">
                <a16:creationId xmlns:a16="http://schemas.microsoft.com/office/drawing/2014/main" id="{7B261E9B-A6B5-063A-F47C-2489C0639D2E}"/>
              </a:ext>
            </a:extLst>
          </p:cNvPr>
          <p:cNvSpPr txBox="1">
            <a:spLocks/>
          </p:cNvSpPr>
          <p:nvPr/>
        </p:nvSpPr>
        <p:spPr>
          <a:xfrm>
            <a:off x="7467600" y="1600201"/>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COVID-19 Pandemic</a:t>
            </a:r>
          </a:p>
          <a:p>
            <a:pPr lvl="1"/>
            <a:r>
              <a:rPr lang="en-US" dirty="0"/>
              <a:t>Remote education in HS</a:t>
            </a:r>
          </a:p>
          <a:p>
            <a:r>
              <a:rPr lang="en-US" dirty="0"/>
              <a:t>Rising backlash to LGBTQ+ people</a:t>
            </a:r>
          </a:p>
          <a:p>
            <a:endParaRPr lang="en-US" dirty="0"/>
          </a:p>
        </p:txBody>
      </p:sp>
      <p:sp>
        <p:nvSpPr>
          <p:cNvPr id="10" name="TextBox 9">
            <a:extLst>
              <a:ext uri="{FF2B5EF4-FFF2-40B4-BE49-F238E27FC236}">
                <a16:creationId xmlns:a16="http://schemas.microsoft.com/office/drawing/2014/main" id="{DB95F340-0A38-0541-562E-3AADDE7D7BA2}"/>
              </a:ext>
            </a:extLst>
          </p:cNvPr>
          <p:cNvSpPr txBox="1"/>
          <p:nvPr/>
        </p:nvSpPr>
        <p:spPr>
          <a:xfrm>
            <a:off x="609600" y="6495536"/>
            <a:ext cx="11335169" cy="276999"/>
          </a:xfrm>
          <a:prstGeom prst="rect">
            <a:avLst/>
          </a:prstGeom>
          <a:noFill/>
        </p:spPr>
        <p:txBody>
          <a:bodyPr wrap="square" rtlCol="0">
            <a:spAutoFit/>
          </a:bodyPr>
          <a:lstStyle/>
          <a:p>
            <a:r>
              <a:rPr lang="en-US" sz="1200" i="1" dirty="0">
                <a:latin typeface="Calibri" panose="020F0502020204030204" pitchFamily="34" charset="0"/>
                <a:cs typeface="Calibri" panose="020F0502020204030204" pitchFamily="34" charset="0"/>
              </a:rPr>
              <a:t>Sources: Trans Legislation Tracker (</a:t>
            </a:r>
            <a:r>
              <a:rPr lang="en-US" sz="1200" i="1" dirty="0" err="1">
                <a:latin typeface="Calibri" panose="020F0502020204030204" pitchFamily="34" charset="0"/>
                <a:cs typeface="Calibri" panose="020F0502020204030204" pitchFamily="34" charset="0"/>
              </a:rPr>
              <a:t>translegislation.com</a:t>
            </a:r>
            <a:r>
              <a:rPr lang="en-US" sz="1200" i="1"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466184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36E27-C2A9-81BE-3BF4-DFA1BAC4A05C}"/>
              </a:ext>
            </a:extLst>
          </p:cNvPr>
          <p:cNvSpPr>
            <a:spLocks noGrp="1"/>
          </p:cNvSpPr>
          <p:nvPr>
            <p:ph type="title"/>
          </p:nvPr>
        </p:nvSpPr>
        <p:spPr/>
        <p:txBody>
          <a:bodyPr/>
          <a:lstStyle/>
          <a:p>
            <a:r>
              <a:rPr lang="en-US" dirty="0"/>
              <a:t>State Context: California</a:t>
            </a:r>
          </a:p>
        </p:txBody>
      </p:sp>
      <p:sp>
        <p:nvSpPr>
          <p:cNvPr id="3" name="Content Placeholder 2">
            <a:extLst>
              <a:ext uri="{FF2B5EF4-FFF2-40B4-BE49-F238E27FC236}">
                <a16:creationId xmlns:a16="http://schemas.microsoft.com/office/drawing/2014/main" id="{81AD270A-4557-1735-F8EC-7CCAAEDE6FF3}"/>
              </a:ext>
            </a:extLst>
          </p:cNvPr>
          <p:cNvSpPr>
            <a:spLocks noGrp="1"/>
          </p:cNvSpPr>
          <p:nvPr>
            <p:ph idx="1"/>
          </p:nvPr>
        </p:nvSpPr>
        <p:spPr>
          <a:xfrm>
            <a:off x="609600" y="1600201"/>
            <a:ext cx="3962400" cy="4525963"/>
          </a:xfrm>
        </p:spPr>
        <p:txBody>
          <a:bodyPr/>
          <a:lstStyle/>
          <a:p>
            <a:r>
              <a:rPr lang="en-US" dirty="0"/>
              <a:t>Diverse political leanings &amp; demographics</a:t>
            </a:r>
          </a:p>
          <a:p>
            <a:r>
              <a:rPr lang="en-US" dirty="0"/>
              <a:t>AB 469 mandates FAFSA or CADAA</a:t>
            </a:r>
          </a:p>
          <a:p>
            <a:pPr lvl="1"/>
            <a:r>
              <a:rPr lang="en-US" dirty="0"/>
              <a:t>Class of 2023 is 1</a:t>
            </a:r>
            <a:r>
              <a:rPr lang="en-US" baseline="30000" dirty="0"/>
              <a:t>st</a:t>
            </a:r>
            <a:r>
              <a:rPr lang="en-US" dirty="0"/>
              <a:t> cohort</a:t>
            </a:r>
          </a:p>
        </p:txBody>
      </p:sp>
      <p:sp>
        <p:nvSpPr>
          <p:cNvPr id="4" name="Slide Number Placeholder 3">
            <a:extLst>
              <a:ext uri="{FF2B5EF4-FFF2-40B4-BE49-F238E27FC236}">
                <a16:creationId xmlns:a16="http://schemas.microsoft.com/office/drawing/2014/main" id="{D39B0F83-030A-4F76-5515-9D55882BFCF8}"/>
              </a:ext>
            </a:extLst>
          </p:cNvPr>
          <p:cNvSpPr>
            <a:spLocks noGrp="1"/>
          </p:cNvSpPr>
          <p:nvPr>
            <p:ph type="sldNum" sz="quarter" idx="12"/>
          </p:nvPr>
        </p:nvSpPr>
        <p:spPr/>
        <p:txBody>
          <a:bodyPr/>
          <a:lstStyle/>
          <a:p>
            <a:fld id="{80DD8C35-F8B3-4049-95AF-A34E38FBBA50}" type="slidenum">
              <a:rPr lang="en-US" smtClean="0"/>
              <a:pPr/>
              <a:t>8</a:t>
            </a:fld>
            <a:endParaRPr lang="en-US" dirty="0"/>
          </a:p>
        </p:txBody>
      </p:sp>
      <p:pic>
        <p:nvPicPr>
          <p:cNvPr id="8" name="Picture 7" descr="2024 Presidential vote shares in California">
            <a:extLst>
              <a:ext uri="{FF2B5EF4-FFF2-40B4-BE49-F238E27FC236}">
                <a16:creationId xmlns:a16="http://schemas.microsoft.com/office/drawing/2014/main" id="{D8D474ED-5B75-71A7-B03D-311A61EA54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0" y="1752600"/>
            <a:ext cx="5092700" cy="4720388"/>
          </a:xfrm>
          <a:prstGeom prst="rect">
            <a:avLst/>
          </a:prstGeom>
        </p:spPr>
      </p:pic>
      <p:sp>
        <p:nvSpPr>
          <p:cNvPr id="9" name="TextBox 8">
            <a:extLst>
              <a:ext uri="{FF2B5EF4-FFF2-40B4-BE49-F238E27FC236}">
                <a16:creationId xmlns:a16="http://schemas.microsoft.com/office/drawing/2014/main" id="{EB238270-D996-CB80-1D25-A90FC056BA52}"/>
              </a:ext>
            </a:extLst>
          </p:cNvPr>
          <p:cNvSpPr txBox="1"/>
          <p:nvPr/>
        </p:nvSpPr>
        <p:spPr>
          <a:xfrm>
            <a:off x="6553200" y="1429433"/>
            <a:ext cx="4267200" cy="64633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2024 Presidential vote shares in California</a:t>
            </a:r>
          </a:p>
          <a:p>
            <a:endParaRPr lang="en-US"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3109108E-BF49-FD9E-A668-2C21700A65D2}"/>
              </a:ext>
            </a:extLst>
          </p:cNvPr>
          <p:cNvSpPr txBox="1"/>
          <p:nvPr/>
        </p:nvSpPr>
        <p:spPr>
          <a:xfrm>
            <a:off x="6553200" y="6504801"/>
            <a:ext cx="2743200" cy="276999"/>
          </a:xfrm>
          <a:prstGeom prst="rect">
            <a:avLst/>
          </a:prstGeom>
          <a:noFill/>
        </p:spPr>
        <p:txBody>
          <a:bodyPr wrap="square" rtlCol="0">
            <a:spAutoFit/>
          </a:bodyPr>
          <a:lstStyle/>
          <a:p>
            <a:r>
              <a:rPr lang="en-US" sz="1200" i="1" dirty="0">
                <a:latin typeface="Calibri" panose="020F0502020204030204" pitchFamily="34" charset="0"/>
                <a:cs typeface="Calibri" panose="020F0502020204030204" pitchFamily="34" charset="0"/>
              </a:rPr>
              <a:t>Sources: The New York Times</a:t>
            </a:r>
          </a:p>
        </p:txBody>
      </p:sp>
    </p:spTree>
    <p:extLst>
      <p:ext uri="{BB962C8B-B14F-4D97-AF65-F5344CB8AC3E}">
        <p14:creationId xmlns:p14="http://schemas.microsoft.com/office/powerpoint/2010/main" val="1046107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3009665" y="2971801"/>
            <a:ext cx="6248389" cy="646331"/>
          </a:xfrm>
          <a:prstGeom prst="rect">
            <a:avLst/>
          </a:prstGeom>
          <a:noFill/>
        </p:spPr>
        <p:txBody>
          <a:bodyPr wrap="square" rtlCol="0">
            <a:spAutoFit/>
          </a:bodyPr>
          <a:lstStyle/>
          <a:p>
            <a:pPr algn="ctr"/>
            <a:r>
              <a:rPr lang="en-US" sz="3600" i="1" spc="300" dirty="0">
                <a:solidFill>
                  <a:schemeClr val="bg1"/>
                </a:solidFill>
                <a:latin typeface="Calibri" panose="020F0502020204030204" pitchFamily="34" charset="0"/>
                <a:cs typeface="Calibri" panose="020F0502020204030204" pitchFamily="34" charset="0"/>
              </a:rPr>
              <a:t>Method</a:t>
            </a:r>
          </a:p>
        </p:txBody>
      </p:sp>
    </p:spTree>
    <p:extLst>
      <p:ext uri="{BB962C8B-B14F-4D97-AF65-F5344CB8AC3E}">
        <p14:creationId xmlns:p14="http://schemas.microsoft.com/office/powerpoint/2010/main" val="1481700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80F1C-3090-F574-B435-297F4C8D7516}"/>
              </a:ext>
            </a:extLst>
          </p:cNvPr>
          <p:cNvSpPr>
            <a:spLocks noGrp="1"/>
          </p:cNvSpPr>
          <p:nvPr>
            <p:ph type="title"/>
          </p:nvPr>
        </p:nvSpPr>
        <p:spPr/>
        <p:txBody>
          <a:bodyPr/>
          <a:lstStyle/>
          <a:p>
            <a:r>
              <a:rPr lang="en-US" dirty="0"/>
              <a:t>Survey Methodology</a:t>
            </a:r>
          </a:p>
        </p:txBody>
      </p:sp>
      <p:sp>
        <p:nvSpPr>
          <p:cNvPr id="3" name="Content Placeholder 2">
            <a:extLst>
              <a:ext uri="{FF2B5EF4-FFF2-40B4-BE49-F238E27FC236}">
                <a16:creationId xmlns:a16="http://schemas.microsoft.com/office/drawing/2014/main" id="{3B2B465D-40F6-BF14-CA64-15D1CF1BC68D}"/>
              </a:ext>
            </a:extLst>
          </p:cNvPr>
          <p:cNvSpPr>
            <a:spLocks noGrp="1"/>
          </p:cNvSpPr>
          <p:nvPr>
            <p:ph idx="1"/>
          </p:nvPr>
        </p:nvSpPr>
        <p:spPr/>
        <p:txBody>
          <a:bodyPr/>
          <a:lstStyle/>
          <a:p>
            <a:r>
              <a:rPr lang="en-US" dirty="0"/>
              <a:t>Internet based survey</a:t>
            </a:r>
          </a:p>
          <a:p>
            <a:pPr lvl="1"/>
            <a:r>
              <a:rPr lang="en-US" dirty="0"/>
              <a:t>May 2023</a:t>
            </a:r>
          </a:p>
          <a:p>
            <a:pPr lvl="1"/>
            <a:r>
              <a:rPr lang="en-US" dirty="0"/>
              <a:t>Partnership with California Student Aid Commission</a:t>
            </a:r>
          </a:p>
          <a:p>
            <a:r>
              <a:rPr lang="en-US" dirty="0"/>
              <a:t>Distribution via email to all HS seniors in CA who submitted</a:t>
            </a:r>
          </a:p>
          <a:p>
            <a:pPr lvl="1"/>
            <a:r>
              <a:rPr lang="en-US" dirty="0"/>
              <a:t>Free Application for Federal Student Aid (FAFSA)</a:t>
            </a:r>
          </a:p>
          <a:p>
            <a:pPr lvl="1"/>
            <a:r>
              <a:rPr lang="en-US" dirty="0"/>
              <a:t>California Dream Act Application (CADAA)</a:t>
            </a:r>
          </a:p>
        </p:txBody>
      </p:sp>
      <p:sp>
        <p:nvSpPr>
          <p:cNvPr id="4" name="Slide Number Placeholder 3">
            <a:extLst>
              <a:ext uri="{FF2B5EF4-FFF2-40B4-BE49-F238E27FC236}">
                <a16:creationId xmlns:a16="http://schemas.microsoft.com/office/drawing/2014/main" id="{4EBE571C-B8B4-B3FE-5BCB-B681EAD196E7}"/>
              </a:ext>
            </a:extLst>
          </p:cNvPr>
          <p:cNvSpPr>
            <a:spLocks noGrp="1"/>
          </p:cNvSpPr>
          <p:nvPr>
            <p:ph type="sldNum" sz="quarter" idx="12"/>
          </p:nvPr>
        </p:nvSpPr>
        <p:spPr/>
        <p:txBody>
          <a:bodyPr/>
          <a:lstStyle/>
          <a:p>
            <a:fld id="{80DD8C35-F8B3-4049-95AF-A34E38FBBA50}" type="slidenum">
              <a:rPr lang="en-US" smtClean="0"/>
              <a:pPr/>
              <a:t>10</a:t>
            </a:fld>
            <a:endParaRPr lang="en-US" dirty="0"/>
          </a:p>
        </p:txBody>
      </p:sp>
    </p:spTree>
    <p:extLst>
      <p:ext uri="{BB962C8B-B14F-4D97-AF65-F5344CB8AC3E}">
        <p14:creationId xmlns:p14="http://schemas.microsoft.com/office/powerpoint/2010/main" val="761278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FA9C1-59C0-54B4-4393-CA79B13A0363}"/>
              </a:ext>
            </a:extLst>
          </p:cNvPr>
          <p:cNvSpPr>
            <a:spLocks noGrp="1"/>
          </p:cNvSpPr>
          <p:nvPr>
            <p:ph type="title"/>
          </p:nvPr>
        </p:nvSpPr>
        <p:spPr/>
        <p:txBody>
          <a:bodyPr/>
          <a:lstStyle/>
          <a:p>
            <a:r>
              <a:rPr lang="en-US" dirty="0"/>
              <a:t>Survey Questions</a:t>
            </a:r>
          </a:p>
        </p:txBody>
      </p:sp>
      <p:sp>
        <p:nvSpPr>
          <p:cNvPr id="3" name="Content Placeholder 2">
            <a:extLst>
              <a:ext uri="{FF2B5EF4-FFF2-40B4-BE49-F238E27FC236}">
                <a16:creationId xmlns:a16="http://schemas.microsoft.com/office/drawing/2014/main" id="{C8498769-12D1-3492-483D-C5407C4AECF8}"/>
              </a:ext>
            </a:extLst>
          </p:cNvPr>
          <p:cNvSpPr>
            <a:spLocks noGrp="1"/>
          </p:cNvSpPr>
          <p:nvPr>
            <p:ph idx="1"/>
          </p:nvPr>
        </p:nvSpPr>
        <p:spPr/>
        <p:txBody>
          <a:bodyPr/>
          <a:lstStyle/>
          <a:p>
            <a:r>
              <a:rPr lang="en-US" dirty="0"/>
              <a:t>Likert-scale questions</a:t>
            </a:r>
          </a:p>
          <a:p>
            <a:pPr lvl="1"/>
            <a:r>
              <a:rPr lang="en-US" dirty="0"/>
              <a:t>HS experience</a:t>
            </a:r>
          </a:p>
          <a:p>
            <a:pPr lvl="1"/>
            <a:r>
              <a:rPr lang="en-US" dirty="0"/>
              <a:t>College plans</a:t>
            </a:r>
          </a:p>
          <a:p>
            <a:pPr lvl="1"/>
            <a:r>
              <a:rPr lang="en-US" dirty="0"/>
              <a:t>Concerns</a:t>
            </a:r>
          </a:p>
          <a:p>
            <a:r>
              <a:rPr lang="en-US" dirty="0"/>
              <a:t>Open-ended questions</a:t>
            </a:r>
          </a:p>
          <a:p>
            <a:pPr lvl="1"/>
            <a:r>
              <a:rPr lang="en-US" dirty="0"/>
              <a:t>Perceived challenges</a:t>
            </a:r>
          </a:p>
          <a:p>
            <a:pPr lvl="1"/>
            <a:r>
              <a:rPr lang="en-US" dirty="0"/>
              <a:t>Excitements</a:t>
            </a:r>
          </a:p>
          <a:p>
            <a:r>
              <a:rPr lang="en-US" dirty="0"/>
              <a:t>Demographics</a:t>
            </a:r>
          </a:p>
        </p:txBody>
      </p:sp>
      <p:sp>
        <p:nvSpPr>
          <p:cNvPr id="4" name="Slide Number Placeholder 3">
            <a:extLst>
              <a:ext uri="{FF2B5EF4-FFF2-40B4-BE49-F238E27FC236}">
                <a16:creationId xmlns:a16="http://schemas.microsoft.com/office/drawing/2014/main" id="{0B3C2413-498E-039A-B9BE-B21E8CCD0D2E}"/>
              </a:ext>
            </a:extLst>
          </p:cNvPr>
          <p:cNvSpPr>
            <a:spLocks noGrp="1"/>
          </p:cNvSpPr>
          <p:nvPr>
            <p:ph type="sldNum" sz="quarter" idx="12"/>
          </p:nvPr>
        </p:nvSpPr>
        <p:spPr/>
        <p:txBody>
          <a:bodyPr/>
          <a:lstStyle/>
          <a:p>
            <a:fld id="{80DD8C35-F8B3-4049-95AF-A34E38FBBA50}" type="slidenum">
              <a:rPr lang="en-US" smtClean="0"/>
              <a:pPr/>
              <a:t>11</a:t>
            </a:fld>
            <a:endParaRPr lang="en-US" dirty="0"/>
          </a:p>
        </p:txBody>
      </p:sp>
    </p:spTree>
    <p:extLst>
      <p:ext uri="{BB962C8B-B14F-4D97-AF65-F5344CB8AC3E}">
        <p14:creationId xmlns:p14="http://schemas.microsoft.com/office/powerpoint/2010/main" val="2555578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C2F3E-58B5-EB42-5386-48B4B56B213B}"/>
              </a:ext>
            </a:extLst>
          </p:cNvPr>
          <p:cNvSpPr>
            <a:spLocks noGrp="1"/>
          </p:cNvSpPr>
          <p:nvPr>
            <p:ph type="title"/>
          </p:nvPr>
        </p:nvSpPr>
        <p:spPr/>
        <p:txBody>
          <a:bodyPr/>
          <a:lstStyle/>
          <a:p>
            <a:r>
              <a:rPr lang="en-US" dirty="0"/>
              <a:t>Gender Identity</a:t>
            </a:r>
          </a:p>
        </p:txBody>
      </p:sp>
      <p:sp>
        <p:nvSpPr>
          <p:cNvPr id="3" name="Content Placeholder 2">
            <a:extLst>
              <a:ext uri="{FF2B5EF4-FFF2-40B4-BE49-F238E27FC236}">
                <a16:creationId xmlns:a16="http://schemas.microsoft.com/office/drawing/2014/main" id="{36ACE5CC-CA8F-FD82-89C1-D5495669E0E5}"/>
              </a:ext>
            </a:extLst>
          </p:cNvPr>
          <p:cNvSpPr>
            <a:spLocks noGrp="1"/>
          </p:cNvSpPr>
          <p:nvPr>
            <p:ph idx="1"/>
          </p:nvPr>
        </p:nvSpPr>
        <p:spPr>
          <a:xfrm>
            <a:off x="609600" y="1600201"/>
            <a:ext cx="4953000" cy="4525963"/>
          </a:xfrm>
        </p:spPr>
        <p:txBody>
          <a:bodyPr/>
          <a:lstStyle/>
          <a:p>
            <a:r>
              <a:rPr lang="en-US" dirty="0"/>
              <a:t>Two-step approach </a:t>
            </a:r>
            <a:r>
              <a:rPr lang="en-US" sz="2400" dirty="0">
                <a:solidFill>
                  <a:schemeClr val="tx1">
                    <a:lumMod val="50000"/>
                    <a:lumOff val="50000"/>
                  </a:schemeClr>
                </a:solidFill>
              </a:rPr>
              <a:t>(Williams Institute)</a:t>
            </a:r>
          </a:p>
          <a:p>
            <a:pPr lvl="1"/>
            <a:r>
              <a:rPr lang="en-US" dirty="0"/>
              <a:t>High sensitivity &amp; specificity</a:t>
            </a:r>
          </a:p>
          <a:p>
            <a:pPr lvl="1"/>
            <a:r>
              <a:rPr lang="en-US" dirty="0"/>
              <a:t>Increased reliability &amp; accuracy</a:t>
            </a:r>
          </a:p>
          <a:p>
            <a:r>
              <a:rPr lang="en-US" dirty="0"/>
              <a:t>Step 1: Sex assigned at birth</a:t>
            </a:r>
          </a:p>
          <a:p>
            <a:r>
              <a:rPr lang="en-US" dirty="0"/>
              <a:t>Step 2: Current gender</a:t>
            </a:r>
          </a:p>
        </p:txBody>
      </p:sp>
      <p:sp>
        <p:nvSpPr>
          <p:cNvPr id="4" name="Slide Number Placeholder 3">
            <a:extLst>
              <a:ext uri="{FF2B5EF4-FFF2-40B4-BE49-F238E27FC236}">
                <a16:creationId xmlns:a16="http://schemas.microsoft.com/office/drawing/2014/main" id="{2037437E-458C-A103-DDE0-4D9E16F2FFA9}"/>
              </a:ext>
            </a:extLst>
          </p:cNvPr>
          <p:cNvSpPr>
            <a:spLocks noGrp="1"/>
          </p:cNvSpPr>
          <p:nvPr>
            <p:ph type="sldNum" sz="quarter" idx="12"/>
          </p:nvPr>
        </p:nvSpPr>
        <p:spPr/>
        <p:txBody>
          <a:bodyPr/>
          <a:lstStyle/>
          <a:p>
            <a:fld id="{80DD8C35-F8B3-4049-95AF-A34E38FBBA50}" type="slidenum">
              <a:rPr lang="en-US" smtClean="0"/>
              <a:pPr/>
              <a:t>12</a:t>
            </a:fld>
            <a:endParaRPr lang="en-US" dirty="0"/>
          </a:p>
        </p:txBody>
      </p:sp>
      <p:pic>
        <p:nvPicPr>
          <p:cNvPr id="5" name="Google Shape;112;p22">
            <a:extLst>
              <a:ext uri="{FF2B5EF4-FFF2-40B4-BE49-F238E27FC236}">
                <a16:creationId xmlns:a16="http://schemas.microsoft.com/office/drawing/2014/main" id="{C4C26F56-E402-8DCE-14FD-CFD7EDF1F567}"/>
              </a:ext>
            </a:extLst>
          </p:cNvPr>
          <p:cNvPicPr preferRelativeResize="0"/>
          <p:nvPr/>
        </p:nvPicPr>
        <p:blipFill>
          <a:blip r:embed="rId2">
            <a:alphaModFix/>
          </a:blip>
          <a:stretch>
            <a:fillRect/>
          </a:stretch>
        </p:blipFill>
        <p:spPr>
          <a:xfrm>
            <a:off x="5715000" y="1752600"/>
            <a:ext cx="5638800" cy="1433218"/>
          </a:xfrm>
          <a:prstGeom prst="rect">
            <a:avLst/>
          </a:prstGeom>
          <a:noFill/>
          <a:ln>
            <a:noFill/>
          </a:ln>
        </p:spPr>
      </p:pic>
      <p:pic>
        <p:nvPicPr>
          <p:cNvPr id="6" name="Google Shape;113;p22">
            <a:extLst>
              <a:ext uri="{FF2B5EF4-FFF2-40B4-BE49-F238E27FC236}">
                <a16:creationId xmlns:a16="http://schemas.microsoft.com/office/drawing/2014/main" id="{29FEE588-5008-CFBE-DC6B-DE83AB4BBBB5}"/>
              </a:ext>
            </a:extLst>
          </p:cNvPr>
          <p:cNvPicPr preferRelativeResize="0"/>
          <p:nvPr/>
        </p:nvPicPr>
        <p:blipFill>
          <a:blip r:embed="rId3">
            <a:alphaModFix/>
          </a:blip>
          <a:stretch>
            <a:fillRect/>
          </a:stretch>
        </p:blipFill>
        <p:spPr>
          <a:xfrm>
            <a:off x="5715000" y="3185829"/>
            <a:ext cx="5638799" cy="2406934"/>
          </a:xfrm>
          <a:prstGeom prst="rect">
            <a:avLst/>
          </a:prstGeom>
          <a:noFill/>
          <a:ln>
            <a:noFill/>
          </a:ln>
        </p:spPr>
      </p:pic>
    </p:spTree>
    <p:extLst>
      <p:ext uri="{BB962C8B-B14F-4D97-AF65-F5344CB8AC3E}">
        <p14:creationId xmlns:p14="http://schemas.microsoft.com/office/powerpoint/2010/main" val="1438826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64757-3B7D-C327-B8A3-3FD9E018A781}"/>
              </a:ext>
            </a:extLst>
          </p:cNvPr>
          <p:cNvSpPr>
            <a:spLocks noGrp="1"/>
          </p:cNvSpPr>
          <p:nvPr>
            <p:ph type="title"/>
          </p:nvPr>
        </p:nvSpPr>
        <p:spPr/>
        <p:txBody>
          <a:bodyPr/>
          <a:lstStyle/>
          <a:p>
            <a:r>
              <a:rPr lang="en-US" dirty="0"/>
              <a:t>Gender Identity</a:t>
            </a:r>
          </a:p>
        </p:txBody>
      </p:sp>
      <p:graphicFrame>
        <p:nvGraphicFramePr>
          <p:cNvPr id="5" name="Content Placeholder 4">
            <a:extLst>
              <a:ext uri="{FF2B5EF4-FFF2-40B4-BE49-F238E27FC236}">
                <a16:creationId xmlns:a16="http://schemas.microsoft.com/office/drawing/2014/main" id="{E75FCF15-F933-09AF-749E-9BAB8C991B86}"/>
              </a:ext>
            </a:extLst>
          </p:cNvPr>
          <p:cNvGraphicFramePr>
            <a:graphicFrameLocks noGrp="1"/>
          </p:cNvGraphicFramePr>
          <p:nvPr>
            <p:ph idx="1"/>
            <p:extLst>
              <p:ext uri="{D42A27DB-BD31-4B8C-83A1-F6EECF244321}">
                <p14:modId xmlns:p14="http://schemas.microsoft.com/office/powerpoint/2010/main" val="918569125"/>
              </p:ext>
            </p:extLst>
          </p:nvPr>
        </p:nvGraphicFramePr>
        <p:xfrm>
          <a:off x="609600" y="1600200"/>
          <a:ext cx="10972800" cy="4966520"/>
        </p:xfrm>
        <a:graphic>
          <a:graphicData uri="http://schemas.openxmlformats.org/drawingml/2006/table">
            <a:tbl>
              <a:tblPr firstRow="1" bandRow="1">
                <a:tableStyleId>{21E4AEA4-8DFA-4A89-87EB-49C32662AFE0}</a:tableStyleId>
              </a:tblPr>
              <a:tblGrid>
                <a:gridCol w="3657600">
                  <a:extLst>
                    <a:ext uri="{9D8B030D-6E8A-4147-A177-3AD203B41FA5}">
                      <a16:colId xmlns:a16="http://schemas.microsoft.com/office/drawing/2014/main" val="1896290637"/>
                    </a:ext>
                  </a:extLst>
                </a:gridCol>
                <a:gridCol w="3657600">
                  <a:extLst>
                    <a:ext uri="{9D8B030D-6E8A-4147-A177-3AD203B41FA5}">
                      <a16:colId xmlns:a16="http://schemas.microsoft.com/office/drawing/2014/main" val="3513422309"/>
                    </a:ext>
                  </a:extLst>
                </a:gridCol>
                <a:gridCol w="3657600">
                  <a:extLst>
                    <a:ext uri="{9D8B030D-6E8A-4147-A177-3AD203B41FA5}">
                      <a16:colId xmlns:a16="http://schemas.microsoft.com/office/drawing/2014/main" val="2753836674"/>
                    </a:ext>
                  </a:extLst>
                </a:gridCol>
              </a:tblGrid>
              <a:tr h="6291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Assigned Sex at Birth</a:t>
                      </a:r>
                    </a:p>
                  </a:txBody>
                  <a:tcPr/>
                </a:tc>
                <a:tc>
                  <a:txBody>
                    <a:bodyPr/>
                    <a:lstStyle/>
                    <a:p>
                      <a:r>
                        <a:rPr lang="en-US" dirty="0"/>
                        <a:t>Current Gender</a:t>
                      </a:r>
                    </a:p>
                  </a:txBody>
                  <a:tcPr/>
                </a:tc>
                <a:tc>
                  <a:txBody>
                    <a:bodyPr/>
                    <a:lstStyle/>
                    <a:p>
                      <a:r>
                        <a:rPr lang="en-US" dirty="0"/>
                        <a:t>Gender Identity Classification</a:t>
                      </a:r>
                    </a:p>
                  </a:txBody>
                  <a:tcPr/>
                </a:tc>
                <a:extLst>
                  <a:ext uri="{0D108BD9-81ED-4DB2-BD59-A6C34878D82A}">
                    <a16:rowId xmlns:a16="http://schemas.microsoft.com/office/drawing/2014/main" val="3735037813"/>
                  </a:ext>
                </a:extLst>
              </a:tr>
              <a:tr h="364485">
                <a:tc>
                  <a:txBody>
                    <a:bodyPr/>
                    <a:lstStyle/>
                    <a:p>
                      <a:r>
                        <a:rPr lang="en-US" dirty="0"/>
                        <a:t>Male</a:t>
                      </a:r>
                    </a:p>
                  </a:txBody>
                  <a:tcPr/>
                </a:tc>
                <a:tc>
                  <a:txBody>
                    <a:bodyPr/>
                    <a:lstStyle/>
                    <a:p>
                      <a:r>
                        <a:rPr lang="en-US" dirty="0"/>
                        <a:t>Man</a:t>
                      </a:r>
                    </a:p>
                  </a:txBody>
                  <a:tcPr/>
                </a:tc>
                <a:tc>
                  <a:txBody>
                    <a:bodyPr/>
                    <a:lstStyle/>
                    <a:p>
                      <a:r>
                        <a:rPr lang="en-US" dirty="0"/>
                        <a:t>Cisgender Man</a:t>
                      </a:r>
                    </a:p>
                  </a:txBody>
                  <a:tcPr/>
                </a:tc>
                <a:extLst>
                  <a:ext uri="{0D108BD9-81ED-4DB2-BD59-A6C34878D82A}">
                    <a16:rowId xmlns:a16="http://schemas.microsoft.com/office/drawing/2014/main" val="1010901252"/>
                  </a:ext>
                </a:extLst>
              </a:tr>
              <a:tr h="364485">
                <a:tc>
                  <a:txBody>
                    <a:bodyPr/>
                    <a:lstStyle/>
                    <a:p>
                      <a:r>
                        <a:rPr lang="en-US" dirty="0"/>
                        <a:t>Female</a:t>
                      </a:r>
                    </a:p>
                  </a:txBody>
                  <a:tcPr/>
                </a:tc>
                <a:tc>
                  <a:txBody>
                    <a:bodyPr/>
                    <a:lstStyle/>
                    <a:p>
                      <a:r>
                        <a:rPr lang="en-US" dirty="0"/>
                        <a:t>Woman</a:t>
                      </a:r>
                    </a:p>
                  </a:txBody>
                  <a:tcPr/>
                </a:tc>
                <a:tc>
                  <a:txBody>
                    <a:bodyPr/>
                    <a:lstStyle/>
                    <a:p>
                      <a:r>
                        <a:rPr lang="en-US" dirty="0"/>
                        <a:t>Cisgender Woman</a:t>
                      </a:r>
                    </a:p>
                  </a:txBody>
                  <a:tcPr/>
                </a:tc>
                <a:extLst>
                  <a:ext uri="{0D108BD9-81ED-4DB2-BD59-A6C34878D82A}">
                    <a16:rowId xmlns:a16="http://schemas.microsoft.com/office/drawing/2014/main" val="521023823"/>
                  </a:ext>
                </a:extLst>
              </a:tr>
              <a:tr h="898730">
                <a:tc>
                  <a:txBody>
                    <a:bodyPr/>
                    <a:lstStyle/>
                    <a:p>
                      <a:r>
                        <a:rPr lang="en-US" dirty="0"/>
                        <a:t>Male</a:t>
                      </a:r>
                    </a:p>
                  </a:txBody>
                  <a:tcPr/>
                </a:tc>
                <a:tc>
                  <a:txBody>
                    <a:bodyPr/>
                    <a:lstStyle/>
                    <a:p>
                      <a:r>
                        <a:rPr lang="en-US" dirty="0"/>
                        <a:t>Woman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Transgender Woman</a:t>
                      </a:r>
                    </a:p>
                  </a:txBody>
                  <a:tcPr/>
                </a:tc>
                <a:extLst>
                  <a:ext uri="{0D108BD9-81ED-4DB2-BD59-A6C34878D82A}">
                    <a16:rowId xmlns:a16="http://schemas.microsoft.com/office/drawing/2014/main" val="3664940681"/>
                  </a:ext>
                </a:extLst>
              </a:tr>
              <a:tr h="629111">
                <a:tc>
                  <a:txBody>
                    <a:bodyPr/>
                    <a:lstStyle/>
                    <a:p>
                      <a:r>
                        <a:rPr lang="en-US" dirty="0"/>
                        <a:t>Female</a:t>
                      </a:r>
                    </a:p>
                  </a:txBody>
                  <a:tcPr/>
                </a:tc>
                <a:tc>
                  <a:txBody>
                    <a:bodyPr/>
                    <a:lstStyle/>
                    <a:p>
                      <a:r>
                        <a:rPr lang="en-US" dirty="0"/>
                        <a:t>Man</a:t>
                      </a:r>
                    </a:p>
                  </a:txBody>
                  <a:tcPr/>
                </a:tc>
                <a:tc>
                  <a:txBody>
                    <a:bodyPr/>
                    <a:lstStyle/>
                    <a:p>
                      <a:r>
                        <a:rPr lang="en-US" dirty="0"/>
                        <a:t>Transgender Man</a:t>
                      </a:r>
                    </a:p>
                  </a:txBody>
                  <a:tcPr/>
                </a:tc>
                <a:extLst>
                  <a:ext uri="{0D108BD9-81ED-4DB2-BD59-A6C34878D82A}">
                    <a16:rowId xmlns:a16="http://schemas.microsoft.com/office/drawing/2014/main" val="3449246696"/>
                  </a:ext>
                </a:extLst>
              </a:tr>
              <a:tr h="1168349">
                <a:tc>
                  <a:txBody>
                    <a:bodyPr/>
                    <a:lstStyle/>
                    <a:p>
                      <a:r>
                        <a:rPr lang="en-US" dirty="0"/>
                        <a:t>Any</a:t>
                      </a:r>
                    </a:p>
                  </a:txBody>
                  <a:tcPr/>
                </a:tc>
                <a:tc>
                  <a:txBody>
                    <a:bodyPr/>
                    <a:lstStyle/>
                    <a:p>
                      <a:r>
                        <a:rPr lang="en-US" dirty="0"/>
                        <a:t>Non-binary/Self Describe/Questioning</a:t>
                      </a:r>
                    </a:p>
                  </a:txBody>
                  <a:tcPr/>
                </a:tc>
                <a:tc>
                  <a:txBody>
                    <a:bodyPr/>
                    <a:lstStyle/>
                    <a:p>
                      <a:r>
                        <a:rPr lang="en-US" dirty="0"/>
                        <a:t>Non-binary/Gender Diverse/Questioning</a:t>
                      </a:r>
                    </a:p>
                  </a:txBody>
                  <a:tcPr/>
                </a:tc>
                <a:extLst>
                  <a:ext uri="{0D108BD9-81ED-4DB2-BD59-A6C34878D82A}">
                    <a16:rowId xmlns:a16="http://schemas.microsoft.com/office/drawing/2014/main" val="474136497"/>
                  </a:ext>
                </a:extLst>
              </a:tr>
              <a:tr h="898730">
                <a:tc>
                  <a:txBody>
                    <a:bodyPr/>
                    <a:lstStyle/>
                    <a:p>
                      <a:r>
                        <a:rPr lang="en-US" dirty="0"/>
                        <a:t>Any</a:t>
                      </a:r>
                    </a:p>
                  </a:txBody>
                  <a:tcPr/>
                </a:tc>
                <a:tc>
                  <a:txBody>
                    <a:bodyPr/>
                    <a:lstStyle/>
                    <a:p>
                      <a:r>
                        <a:rPr lang="en-US" dirty="0"/>
                        <a:t>Prefer not to say/Attack helicopters</a:t>
                      </a:r>
                    </a:p>
                  </a:txBody>
                  <a:tcPr/>
                </a:tc>
                <a:tc>
                  <a:txBody>
                    <a:bodyPr/>
                    <a:lstStyle/>
                    <a:p>
                      <a:r>
                        <a:rPr lang="en-US" dirty="0"/>
                        <a:t>Prefer not to say</a:t>
                      </a:r>
                    </a:p>
                  </a:txBody>
                  <a:tcPr/>
                </a:tc>
                <a:extLst>
                  <a:ext uri="{0D108BD9-81ED-4DB2-BD59-A6C34878D82A}">
                    <a16:rowId xmlns:a16="http://schemas.microsoft.com/office/drawing/2014/main" val="1033562356"/>
                  </a:ext>
                </a:extLst>
              </a:tr>
            </a:tbl>
          </a:graphicData>
        </a:graphic>
      </p:graphicFrame>
      <p:sp>
        <p:nvSpPr>
          <p:cNvPr id="4" name="Slide Number Placeholder 3">
            <a:extLst>
              <a:ext uri="{FF2B5EF4-FFF2-40B4-BE49-F238E27FC236}">
                <a16:creationId xmlns:a16="http://schemas.microsoft.com/office/drawing/2014/main" id="{CB2A00FA-76A2-A0D5-3BE5-27942988F34C}"/>
              </a:ext>
            </a:extLst>
          </p:cNvPr>
          <p:cNvSpPr>
            <a:spLocks noGrp="1"/>
          </p:cNvSpPr>
          <p:nvPr>
            <p:ph type="sldNum" sz="quarter" idx="12"/>
          </p:nvPr>
        </p:nvSpPr>
        <p:spPr/>
        <p:txBody>
          <a:bodyPr/>
          <a:lstStyle/>
          <a:p>
            <a:fld id="{80DD8C35-F8B3-4049-95AF-A34E38FBBA50}" type="slidenum">
              <a:rPr lang="en-US" smtClean="0"/>
              <a:pPr/>
              <a:t>13</a:t>
            </a:fld>
            <a:endParaRPr lang="en-US" dirty="0"/>
          </a:p>
        </p:txBody>
      </p:sp>
    </p:spTree>
    <p:extLst>
      <p:ext uri="{BB962C8B-B14F-4D97-AF65-F5344CB8AC3E}">
        <p14:creationId xmlns:p14="http://schemas.microsoft.com/office/powerpoint/2010/main" val="3787631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9D400-7399-B706-3833-7AD3E468777B}"/>
              </a:ext>
            </a:extLst>
          </p:cNvPr>
          <p:cNvSpPr>
            <a:spLocks noGrp="1"/>
          </p:cNvSpPr>
          <p:nvPr>
            <p:ph type="title"/>
          </p:nvPr>
        </p:nvSpPr>
        <p:spPr/>
        <p:txBody>
          <a:bodyPr/>
          <a:lstStyle/>
          <a:p>
            <a:r>
              <a:rPr lang="en-US" dirty="0"/>
              <a:t>Sexual Orientation</a:t>
            </a:r>
          </a:p>
        </p:txBody>
      </p:sp>
      <p:sp>
        <p:nvSpPr>
          <p:cNvPr id="3" name="Content Placeholder 2">
            <a:extLst>
              <a:ext uri="{FF2B5EF4-FFF2-40B4-BE49-F238E27FC236}">
                <a16:creationId xmlns:a16="http://schemas.microsoft.com/office/drawing/2014/main" id="{73497EB9-00A3-18ED-3FF2-BA1824AADBF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9174199-DC2A-C0DD-6AAD-B23D2660B34C}"/>
              </a:ext>
            </a:extLst>
          </p:cNvPr>
          <p:cNvSpPr>
            <a:spLocks noGrp="1"/>
          </p:cNvSpPr>
          <p:nvPr>
            <p:ph type="sldNum" sz="quarter" idx="12"/>
          </p:nvPr>
        </p:nvSpPr>
        <p:spPr/>
        <p:txBody>
          <a:bodyPr/>
          <a:lstStyle/>
          <a:p>
            <a:fld id="{80DD8C35-F8B3-4049-95AF-A34E38FBBA50}" type="slidenum">
              <a:rPr lang="en-US" smtClean="0"/>
              <a:pPr/>
              <a:t>14</a:t>
            </a:fld>
            <a:endParaRPr lang="en-US" dirty="0"/>
          </a:p>
        </p:txBody>
      </p:sp>
      <p:pic>
        <p:nvPicPr>
          <p:cNvPr id="5" name="Google Shape;120;p23">
            <a:extLst>
              <a:ext uri="{FF2B5EF4-FFF2-40B4-BE49-F238E27FC236}">
                <a16:creationId xmlns:a16="http://schemas.microsoft.com/office/drawing/2014/main" id="{65112889-97FA-97AE-BF9A-6745B125AEA6}"/>
              </a:ext>
            </a:extLst>
          </p:cNvPr>
          <p:cNvPicPr preferRelativeResize="0"/>
          <p:nvPr/>
        </p:nvPicPr>
        <p:blipFill>
          <a:blip r:embed="rId2">
            <a:alphaModFix/>
          </a:blip>
          <a:stretch>
            <a:fillRect/>
          </a:stretch>
        </p:blipFill>
        <p:spPr>
          <a:xfrm>
            <a:off x="644769" y="1600201"/>
            <a:ext cx="5910088" cy="3834275"/>
          </a:xfrm>
          <a:prstGeom prst="rect">
            <a:avLst/>
          </a:prstGeom>
          <a:noFill/>
          <a:ln>
            <a:noFill/>
          </a:ln>
        </p:spPr>
      </p:pic>
    </p:spTree>
    <p:extLst>
      <p:ext uri="{BB962C8B-B14F-4D97-AF65-F5344CB8AC3E}">
        <p14:creationId xmlns:p14="http://schemas.microsoft.com/office/powerpoint/2010/main" val="27120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a:extLst>
            <a:ext uri="{FF2B5EF4-FFF2-40B4-BE49-F238E27FC236}">
              <a16:creationId xmlns:a16="http://schemas.microsoft.com/office/drawing/2014/main" id="{07D1DD10-F871-567E-6281-FF8C5DCFADB5}"/>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D02927A-4AFD-0986-1F0A-1A42880B2B9A}"/>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C9BBFDD6-8683-8549-9CE4-0732F4FB9299}"/>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6420FA83-8D0D-336C-1951-53FAC63468E3}"/>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6E9DE6F3-536E-89FD-42FD-C96097FDD41E}"/>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637A063A-4F5D-90FD-4DAA-5ABDD04CD84C}"/>
              </a:ext>
            </a:extLst>
          </p:cNvPr>
          <p:cNvSpPr txBox="1"/>
          <p:nvPr/>
        </p:nvSpPr>
        <p:spPr>
          <a:xfrm>
            <a:off x="3009665" y="2971801"/>
            <a:ext cx="6248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Data</a:t>
            </a:r>
          </a:p>
        </p:txBody>
      </p:sp>
    </p:spTree>
    <p:extLst>
      <p:ext uri="{BB962C8B-B14F-4D97-AF65-F5344CB8AC3E}">
        <p14:creationId xmlns:p14="http://schemas.microsoft.com/office/powerpoint/2010/main" val="3243773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36AC4-EDE9-85DD-3F8B-D9721A302FF5}"/>
              </a:ext>
            </a:extLst>
          </p:cNvPr>
          <p:cNvSpPr>
            <a:spLocks noGrp="1"/>
          </p:cNvSpPr>
          <p:nvPr>
            <p:ph type="title"/>
          </p:nvPr>
        </p:nvSpPr>
        <p:spPr/>
        <p:txBody>
          <a:bodyPr/>
          <a:lstStyle/>
          <a:p>
            <a:r>
              <a:rPr lang="en-US" dirty="0"/>
              <a:t>Sample Characteristics</a:t>
            </a:r>
          </a:p>
        </p:txBody>
      </p:sp>
      <p:sp>
        <p:nvSpPr>
          <p:cNvPr id="4" name="Slide Number Placeholder 3">
            <a:extLst>
              <a:ext uri="{FF2B5EF4-FFF2-40B4-BE49-F238E27FC236}">
                <a16:creationId xmlns:a16="http://schemas.microsoft.com/office/drawing/2014/main" id="{92E268E9-7C7A-24FD-4FD2-C2DE19EDFFE9}"/>
              </a:ext>
            </a:extLst>
          </p:cNvPr>
          <p:cNvSpPr>
            <a:spLocks noGrp="1"/>
          </p:cNvSpPr>
          <p:nvPr>
            <p:ph type="sldNum" sz="quarter" idx="12"/>
          </p:nvPr>
        </p:nvSpPr>
        <p:spPr/>
        <p:txBody>
          <a:bodyPr/>
          <a:lstStyle/>
          <a:p>
            <a:fld id="{80DD8C35-F8B3-4049-95AF-A34E38FBBA50}" type="slidenum">
              <a:rPr lang="en-US" smtClean="0"/>
              <a:pPr/>
              <a:t>16</a:t>
            </a:fld>
            <a:endParaRPr lang="en-US" dirty="0"/>
          </a:p>
        </p:txBody>
      </p:sp>
      <p:graphicFrame>
        <p:nvGraphicFramePr>
          <p:cNvPr id="7" name="Table 6">
            <a:extLst>
              <a:ext uri="{FF2B5EF4-FFF2-40B4-BE49-F238E27FC236}">
                <a16:creationId xmlns:a16="http://schemas.microsoft.com/office/drawing/2014/main" id="{A15B6D06-F25E-FD61-E613-2DEEFD5DF0C5}"/>
              </a:ext>
            </a:extLst>
          </p:cNvPr>
          <p:cNvGraphicFramePr>
            <a:graphicFrameLocks noGrp="1"/>
          </p:cNvGraphicFramePr>
          <p:nvPr>
            <p:extLst>
              <p:ext uri="{D42A27DB-BD31-4B8C-83A1-F6EECF244321}">
                <p14:modId xmlns:p14="http://schemas.microsoft.com/office/powerpoint/2010/main" val="1007291531"/>
              </p:ext>
            </p:extLst>
          </p:nvPr>
        </p:nvGraphicFramePr>
        <p:xfrm>
          <a:off x="609600" y="1447801"/>
          <a:ext cx="10972800" cy="5173965"/>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1539289675"/>
                    </a:ext>
                  </a:extLst>
                </a:gridCol>
                <a:gridCol w="1828800">
                  <a:extLst>
                    <a:ext uri="{9D8B030D-6E8A-4147-A177-3AD203B41FA5}">
                      <a16:colId xmlns:a16="http://schemas.microsoft.com/office/drawing/2014/main" val="2904235616"/>
                    </a:ext>
                  </a:extLst>
                </a:gridCol>
                <a:gridCol w="1828800">
                  <a:extLst>
                    <a:ext uri="{9D8B030D-6E8A-4147-A177-3AD203B41FA5}">
                      <a16:colId xmlns:a16="http://schemas.microsoft.com/office/drawing/2014/main" val="2321248155"/>
                    </a:ext>
                  </a:extLst>
                </a:gridCol>
                <a:gridCol w="1828800">
                  <a:extLst>
                    <a:ext uri="{9D8B030D-6E8A-4147-A177-3AD203B41FA5}">
                      <a16:colId xmlns:a16="http://schemas.microsoft.com/office/drawing/2014/main" val="401631262"/>
                    </a:ext>
                  </a:extLst>
                </a:gridCol>
                <a:gridCol w="1828800">
                  <a:extLst>
                    <a:ext uri="{9D8B030D-6E8A-4147-A177-3AD203B41FA5}">
                      <a16:colId xmlns:a16="http://schemas.microsoft.com/office/drawing/2014/main" val="719814850"/>
                    </a:ext>
                  </a:extLst>
                </a:gridCol>
                <a:gridCol w="1828800">
                  <a:extLst>
                    <a:ext uri="{9D8B030D-6E8A-4147-A177-3AD203B41FA5}">
                      <a16:colId xmlns:a16="http://schemas.microsoft.com/office/drawing/2014/main" val="3390112835"/>
                    </a:ext>
                  </a:extLst>
                </a:gridCol>
              </a:tblGrid>
              <a:tr h="243458">
                <a:tc>
                  <a:txBody>
                    <a:bodyPr/>
                    <a:lstStyle/>
                    <a:p>
                      <a:pPr algn="l" fontAlgn="b"/>
                      <a:endParaRPr lang="en-US" sz="1400" b="0" i="0" u="none" strike="noStrike" dirty="0">
                        <a:effectLst/>
                        <a:latin typeface="Calibri" panose="020F0502020204030204" pitchFamily="34" charset="0"/>
                      </a:endParaRPr>
                    </a:p>
                  </a:txBody>
                  <a:tcPr marL="9525" marR="9525" marT="9525" marB="0" anchor="b"/>
                </a:tc>
                <a:tc>
                  <a:txBody>
                    <a:bodyPr/>
                    <a:lstStyle/>
                    <a:p>
                      <a:pPr algn="l" fontAlgn="b"/>
                      <a:endParaRPr lang="en-US" sz="1400" b="0" i="0" u="none" strike="noStrike">
                        <a:effectLst/>
                        <a:latin typeface="Calibri" panose="020F0502020204030204" pitchFamily="34" charset="0"/>
                      </a:endParaRPr>
                    </a:p>
                  </a:txBody>
                  <a:tcPr marL="9525" marR="9525" marT="9525" marB="0" anchor="b"/>
                </a:tc>
                <a:tc gridSpan="2">
                  <a:txBody>
                    <a:bodyPr/>
                    <a:lstStyle/>
                    <a:p>
                      <a:pPr algn="ctr" fontAlgn="b"/>
                      <a:r>
                        <a:rPr lang="en-US" sz="1400" b="1" i="0" u="none" strike="noStrike">
                          <a:effectLst/>
                          <a:latin typeface="Calibri" panose="020F0502020204030204" pitchFamily="34" charset="0"/>
                        </a:rPr>
                        <a:t>Survey Respondents</a:t>
                      </a:r>
                    </a:p>
                  </a:txBody>
                  <a:tcPr marL="9525" marR="9525" marT="9525" marB="0" anchor="b"/>
                </a:tc>
                <a:tc hMerge="1">
                  <a:txBody>
                    <a:bodyPr/>
                    <a:lstStyle/>
                    <a:p>
                      <a:endParaRPr lang="en-US"/>
                    </a:p>
                  </a:txBody>
                  <a:tcPr/>
                </a:tc>
                <a:tc>
                  <a:txBody>
                    <a:bodyPr/>
                    <a:lstStyle/>
                    <a:p>
                      <a:pPr algn="l" fontAlgn="b"/>
                      <a:r>
                        <a:rPr lang="en-US" sz="1400" b="0" i="0" u="none" strike="noStrike">
                          <a:effectLst/>
                          <a:latin typeface="Calibri" panose="020F0502020204030204" pitchFamily="34" charset="0"/>
                        </a:rPr>
                        <a:t>Statewide</a:t>
                      </a:r>
                    </a:p>
                  </a:txBody>
                  <a:tcPr marL="9525" marR="9525" marT="9525" marB="0" anchor="b"/>
                </a:tc>
                <a:tc>
                  <a:txBody>
                    <a:bodyPr/>
                    <a:lstStyle/>
                    <a:p>
                      <a:pPr algn="l" fontAlgn="b"/>
                      <a:endParaRPr lang="en-US" sz="1400" b="0" i="0" u="none" strike="noStrike">
                        <a:effectLst/>
                        <a:latin typeface="Calibri" panose="020F0502020204030204" pitchFamily="34" charset="0"/>
                      </a:endParaRPr>
                    </a:p>
                  </a:txBody>
                  <a:tcPr marL="9525" marR="9525" marT="9525" marB="0" anchor="b"/>
                </a:tc>
                <a:extLst>
                  <a:ext uri="{0D108BD9-81ED-4DB2-BD59-A6C34878D82A}">
                    <a16:rowId xmlns:a16="http://schemas.microsoft.com/office/drawing/2014/main" val="1943430351"/>
                  </a:ext>
                </a:extLst>
              </a:tr>
              <a:tr h="243458">
                <a:tc>
                  <a:txBody>
                    <a:bodyPr/>
                    <a:lstStyle/>
                    <a:p>
                      <a:pPr algn="l" fontAlgn="b"/>
                      <a:r>
                        <a:rPr lang="en-US" sz="1400" b="0" i="0" u="none" strike="noStrike">
                          <a:effectLst/>
                          <a:latin typeface="Calibri" panose="020F0502020204030204" pitchFamily="34" charset="0"/>
                        </a:rPr>
                        <a:t> </a:t>
                      </a:r>
                    </a:p>
                  </a:txBody>
                  <a:tcPr marL="9525" marR="9525" marT="9525" marB="0" anchor="b"/>
                </a:tc>
                <a:tc>
                  <a:txBody>
                    <a:bodyPr/>
                    <a:lstStyle/>
                    <a:p>
                      <a:pPr algn="r" fontAlgn="b"/>
                      <a:r>
                        <a:rPr lang="en-US" sz="1400" b="1" i="0" u="none" strike="noStrike">
                          <a:effectLst/>
                          <a:latin typeface="Calibri" panose="020F0502020204030204" pitchFamily="34" charset="0"/>
                        </a:rPr>
                        <a:t> </a:t>
                      </a:r>
                    </a:p>
                  </a:txBody>
                  <a:tcPr marL="9525" marR="9525" marT="9525" marB="0" anchor="b"/>
                </a:tc>
                <a:tc>
                  <a:txBody>
                    <a:bodyPr/>
                    <a:lstStyle/>
                    <a:p>
                      <a:pPr algn="ctr" fontAlgn="b"/>
                      <a:r>
                        <a:rPr lang="en-US" sz="1400" b="1" i="0" u="none" strike="noStrike">
                          <a:effectLst/>
                          <a:latin typeface="Calibri" panose="020F0502020204030204" pitchFamily="34" charset="0"/>
                        </a:rPr>
                        <a:t>N</a:t>
                      </a:r>
                    </a:p>
                  </a:txBody>
                  <a:tcPr marL="9525" marR="9525" marT="9525" marB="0" anchor="b"/>
                </a:tc>
                <a:tc>
                  <a:txBody>
                    <a:bodyPr/>
                    <a:lstStyle/>
                    <a:p>
                      <a:pPr algn="ctr" fontAlgn="b"/>
                      <a:r>
                        <a:rPr lang="en-US" sz="1400" b="1" i="0" u="none" strike="noStrike">
                          <a:effectLst/>
                          <a:latin typeface="Calibri" panose="020F0502020204030204" pitchFamily="34" charset="0"/>
                        </a:rPr>
                        <a:t>Percent </a:t>
                      </a:r>
                    </a:p>
                  </a:txBody>
                  <a:tcPr marL="9525" marR="9525" marT="9525" marB="0" anchor="b"/>
                </a:tc>
                <a:tc>
                  <a:txBody>
                    <a:bodyPr/>
                    <a:lstStyle/>
                    <a:p>
                      <a:pPr algn="ctr" fontAlgn="b"/>
                      <a:r>
                        <a:rPr lang="en-US" sz="1400" b="1" i="0" u="none" strike="noStrike">
                          <a:effectLst/>
                          <a:latin typeface="Calibri" panose="020F0502020204030204" pitchFamily="34" charset="0"/>
                        </a:rPr>
                        <a:t>N</a:t>
                      </a:r>
                    </a:p>
                  </a:txBody>
                  <a:tcPr marL="9525" marR="9525" marT="9525" marB="0" anchor="b"/>
                </a:tc>
                <a:tc>
                  <a:txBody>
                    <a:bodyPr/>
                    <a:lstStyle/>
                    <a:p>
                      <a:pPr algn="ctr" fontAlgn="b"/>
                      <a:r>
                        <a:rPr lang="en-US" sz="1400" b="1" i="0" u="none" strike="noStrike">
                          <a:effectLst/>
                          <a:latin typeface="Calibri" panose="020F0502020204030204" pitchFamily="34" charset="0"/>
                        </a:rPr>
                        <a:t>Percent</a:t>
                      </a:r>
                    </a:p>
                  </a:txBody>
                  <a:tcPr marL="9525" marR="9525" marT="9525" marB="0" anchor="b"/>
                </a:tc>
                <a:extLst>
                  <a:ext uri="{0D108BD9-81ED-4DB2-BD59-A6C34878D82A}">
                    <a16:rowId xmlns:a16="http://schemas.microsoft.com/office/drawing/2014/main" val="1081367858"/>
                  </a:ext>
                </a:extLst>
              </a:tr>
              <a:tr h="243458">
                <a:tc gridSpan="2">
                  <a:txBody>
                    <a:bodyPr/>
                    <a:lstStyle/>
                    <a:p>
                      <a:pPr algn="l" fontAlgn="b"/>
                      <a:r>
                        <a:rPr lang="en-US" sz="1400" b="1" i="0" u="none" strike="noStrike">
                          <a:effectLst/>
                          <a:latin typeface="Calibri" panose="020F0502020204030204" pitchFamily="34" charset="0"/>
                        </a:rPr>
                        <a:t>Total</a:t>
                      </a:r>
                    </a:p>
                  </a:txBody>
                  <a:tcPr marL="9525" marR="9525" marT="9525" marB="0" anchor="b"/>
                </a:tc>
                <a:tc hMerge="1">
                  <a:txBody>
                    <a:bodyPr/>
                    <a:lstStyle/>
                    <a:p>
                      <a:endParaRPr lang="en-US"/>
                    </a:p>
                  </a:txBody>
                  <a:tcPr/>
                </a:tc>
                <a:tc>
                  <a:txBody>
                    <a:bodyPr/>
                    <a:lstStyle/>
                    <a:p>
                      <a:pPr algn="r" fontAlgn="b"/>
                      <a:r>
                        <a:rPr lang="en-US" sz="1400" b="0" i="0" u="none" strike="noStrike">
                          <a:effectLst/>
                          <a:latin typeface="Calibri" panose="020F0502020204030204" pitchFamily="34" charset="0"/>
                        </a:rPr>
                        <a:t>10,221</a:t>
                      </a:r>
                    </a:p>
                  </a:txBody>
                  <a:tcPr marL="9525" marR="9525" marT="9525" marB="0" anchor="b"/>
                </a:tc>
                <a:tc>
                  <a:txBody>
                    <a:bodyPr/>
                    <a:lstStyle/>
                    <a:p>
                      <a:pPr algn="ctr" fontAlgn="b"/>
                      <a:r>
                        <a:rPr lang="en-US" sz="1400" b="0" i="0" u="none" strike="noStrike">
                          <a:effectLst/>
                          <a:latin typeface="Calibri" panose="020F0502020204030204" pitchFamily="34" charset="0"/>
                        </a:rPr>
                        <a:t>-</a:t>
                      </a:r>
                    </a:p>
                  </a:txBody>
                  <a:tcPr marL="9525" marR="9525" marT="9525" marB="0" anchor="b"/>
                </a:tc>
                <a:tc>
                  <a:txBody>
                    <a:bodyPr/>
                    <a:lstStyle/>
                    <a:p>
                      <a:pPr algn="r" fontAlgn="b"/>
                      <a:r>
                        <a:rPr lang="en-US" sz="1400" b="0" i="0" u="none" strike="noStrike">
                          <a:effectLst/>
                          <a:latin typeface="Calibri" panose="020F0502020204030204" pitchFamily="34" charset="0"/>
                        </a:rPr>
                        <a:t>488,936</a:t>
                      </a:r>
                    </a:p>
                  </a:txBody>
                  <a:tcPr marL="9525" marR="9525" marT="9525" marB="0" anchor="b"/>
                </a:tc>
                <a:tc>
                  <a:txBody>
                    <a:bodyPr/>
                    <a:lstStyle/>
                    <a:p>
                      <a:pPr algn="ctr" fontAlgn="b"/>
                      <a:r>
                        <a:rPr lang="en-US" sz="1400" b="0" i="0" u="none" strike="noStrike">
                          <a:effectLst/>
                          <a:latin typeface="Calibri" panose="020F0502020204030204" pitchFamily="34" charset="0"/>
                        </a:rPr>
                        <a:t>-</a:t>
                      </a:r>
                    </a:p>
                  </a:txBody>
                  <a:tcPr marL="9525" marR="9525" marT="9525" marB="0" anchor="b"/>
                </a:tc>
                <a:extLst>
                  <a:ext uri="{0D108BD9-81ED-4DB2-BD59-A6C34878D82A}">
                    <a16:rowId xmlns:a16="http://schemas.microsoft.com/office/drawing/2014/main" val="2783471221"/>
                  </a:ext>
                </a:extLst>
              </a:tr>
              <a:tr h="243458">
                <a:tc gridSpan="2">
                  <a:txBody>
                    <a:bodyPr/>
                    <a:lstStyle/>
                    <a:p>
                      <a:pPr algn="l" fontAlgn="b"/>
                      <a:r>
                        <a:rPr lang="en-US" sz="1400" b="1" i="0" u="none" strike="noStrike">
                          <a:effectLst/>
                          <a:latin typeface="Calibri" panose="020F0502020204030204" pitchFamily="34" charset="0"/>
                        </a:rPr>
                        <a:t>Race/ethnicity</a:t>
                      </a:r>
                    </a:p>
                  </a:txBody>
                  <a:tcPr marL="9525" marR="9525" marT="9525" marB="0" anchor="b"/>
                </a:tc>
                <a:tc hMerge="1">
                  <a:txBody>
                    <a:bodyPr/>
                    <a:lstStyle/>
                    <a:p>
                      <a:endParaRPr lang="en-US"/>
                    </a:p>
                  </a:txBody>
                  <a:tcPr/>
                </a:tc>
                <a:tc>
                  <a:txBody>
                    <a:bodyPr/>
                    <a:lstStyle/>
                    <a:p>
                      <a:pPr algn="ctr" fontAlgn="b"/>
                      <a:r>
                        <a:rPr lang="en-US" sz="1400" b="1" i="0" u="none" strike="noStrike">
                          <a:effectLst/>
                          <a:latin typeface="Calibri" panose="020F0502020204030204" pitchFamily="34" charset="0"/>
                        </a:rPr>
                        <a:t> </a:t>
                      </a:r>
                    </a:p>
                  </a:txBody>
                  <a:tcPr marL="9525" marR="9525" marT="9525" marB="0" anchor="b"/>
                </a:tc>
                <a:tc>
                  <a:txBody>
                    <a:bodyPr/>
                    <a:lstStyle/>
                    <a:p>
                      <a:pPr algn="l" fontAlgn="b"/>
                      <a:r>
                        <a:rPr lang="en-US" sz="1400" b="0" i="0" u="none" strike="noStrike">
                          <a:effectLst/>
                          <a:latin typeface="Calibri" panose="020F0502020204030204" pitchFamily="34" charset="0"/>
                        </a:rPr>
                        <a:t> </a:t>
                      </a:r>
                    </a:p>
                  </a:txBody>
                  <a:tcPr marL="9525" marR="9525" marT="9525" marB="0" anchor="b"/>
                </a:tc>
                <a:tc>
                  <a:txBody>
                    <a:bodyPr/>
                    <a:lstStyle/>
                    <a:p>
                      <a:pPr algn="ctr" fontAlgn="b"/>
                      <a:r>
                        <a:rPr lang="en-US" sz="1400" b="1" i="0" u="none" strike="noStrike">
                          <a:effectLst/>
                          <a:latin typeface="Calibri" panose="020F0502020204030204" pitchFamily="34" charset="0"/>
                        </a:rPr>
                        <a:t> </a:t>
                      </a:r>
                    </a:p>
                  </a:txBody>
                  <a:tcPr marL="9525" marR="9525" marT="9525" marB="0" anchor="b"/>
                </a:tc>
                <a:tc>
                  <a:txBody>
                    <a:bodyPr/>
                    <a:lstStyle/>
                    <a:p>
                      <a:pPr algn="l" fontAlgn="b"/>
                      <a:r>
                        <a:rPr lang="en-US" sz="1400" b="0" i="0" u="none" strike="noStrike">
                          <a:effectLst/>
                          <a:latin typeface="Calibri" panose="020F0502020204030204" pitchFamily="34" charset="0"/>
                        </a:rPr>
                        <a:t> </a:t>
                      </a:r>
                    </a:p>
                  </a:txBody>
                  <a:tcPr marL="9525" marR="9525" marT="9525" marB="0" anchor="b"/>
                </a:tc>
                <a:extLst>
                  <a:ext uri="{0D108BD9-81ED-4DB2-BD59-A6C34878D82A}">
                    <a16:rowId xmlns:a16="http://schemas.microsoft.com/office/drawing/2014/main" val="1956854664"/>
                  </a:ext>
                </a:extLst>
              </a:tr>
              <a:tr h="587820">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r>
                        <a:rPr lang="en-US" sz="1400" b="1" i="0" u="none" strike="noStrike">
                          <a:effectLst/>
                          <a:latin typeface="Calibri" panose="020F0502020204030204" pitchFamily="34" charset="0"/>
                        </a:rPr>
                        <a:t>American Indian/Alaskan Native/Pacific Islander</a:t>
                      </a:r>
                    </a:p>
                  </a:txBody>
                  <a:tcPr marL="9525" marR="9525" marT="9525" marB="0" anchor="b"/>
                </a:tc>
                <a:tc>
                  <a:txBody>
                    <a:bodyPr/>
                    <a:lstStyle/>
                    <a:p>
                      <a:pPr algn="r" fontAlgn="b"/>
                      <a:r>
                        <a:rPr lang="en-US" sz="1400" b="0" i="0" u="none" strike="noStrike">
                          <a:effectLst/>
                          <a:latin typeface="Calibri" panose="020F0502020204030204" pitchFamily="34" charset="0"/>
                        </a:rPr>
                        <a:t>247</a:t>
                      </a:r>
                    </a:p>
                  </a:txBody>
                  <a:tcPr marL="9525" marR="9525" marT="9525" marB="0" anchor="b"/>
                </a:tc>
                <a:tc>
                  <a:txBody>
                    <a:bodyPr/>
                    <a:lstStyle/>
                    <a:p>
                      <a:pPr algn="r" fontAlgn="b"/>
                      <a:r>
                        <a:rPr lang="en-US" sz="1400" b="0" i="0" u="none" strike="noStrike">
                          <a:effectLst/>
                          <a:latin typeface="Calibri" panose="020F0502020204030204" pitchFamily="34" charset="0"/>
                        </a:rPr>
                        <a:t>2.42</a:t>
                      </a:r>
                    </a:p>
                  </a:txBody>
                  <a:tcPr marL="9525" marR="9525" marT="9525" marB="0" anchor="b"/>
                </a:tc>
                <a:tc>
                  <a:txBody>
                    <a:bodyPr/>
                    <a:lstStyle/>
                    <a:p>
                      <a:pPr algn="r" fontAlgn="b"/>
                      <a:r>
                        <a:rPr lang="en-US" sz="1400" b="0" i="0" u="none" strike="noStrike">
                          <a:effectLst/>
                          <a:latin typeface="Calibri" panose="020F0502020204030204" pitchFamily="34" charset="0"/>
                        </a:rPr>
                        <a:t>2,349</a:t>
                      </a:r>
                    </a:p>
                  </a:txBody>
                  <a:tcPr marL="9525" marR="9525" marT="9525" marB="0" anchor="b"/>
                </a:tc>
                <a:tc>
                  <a:txBody>
                    <a:bodyPr/>
                    <a:lstStyle/>
                    <a:p>
                      <a:pPr algn="r" fontAlgn="b"/>
                      <a:r>
                        <a:rPr lang="en-US" sz="1400" b="0" i="0" u="none" strike="noStrike" dirty="0">
                          <a:effectLst/>
                          <a:latin typeface="Calibri" panose="020F0502020204030204" pitchFamily="34" charset="0"/>
                        </a:rPr>
                        <a:t>0.48</a:t>
                      </a:r>
                    </a:p>
                  </a:txBody>
                  <a:tcPr marL="9525" marR="9525" marT="9525" marB="0" anchor="b"/>
                </a:tc>
                <a:extLst>
                  <a:ext uri="{0D108BD9-81ED-4DB2-BD59-A6C34878D82A}">
                    <a16:rowId xmlns:a16="http://schemas.microsoft.com/office/drawing/2014/main" val="888181417"/>
                  </a:ext>
                </a:extLst>
              </a:tr>
              <a:tr h="243458">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r>
                        <a:rPr lang="en-US" sz="1400" b="1" i="0" u="none" strike="noStrike">
                          <a:effectLst/>
                          <a:latin typeface="Calibri" panose="020F0502020204030204" pitchFamily="34" charset="0"/>
                        </a:rPr>
                        <a:t>Black/African American</a:t>
                      </a:r>
                    </a:p>
                  </a:txBody>
                  <a:tcPr marL="9525" marR="9525" marT="9525" marB="0" anchor="b"/>
                </a:tc>
                <a:tc>
                  <a:txBody>
                    <a:bodyPr/>
                    <a:lstStyle/>
                    <a:p>
                      <a:pPr algn="r" fontAlgn="b"/>
                      <a:r>
                        <a:rPr lang="en-US" sz="1400" b="0" i="0" u="none" strike="noStrike">
                          <a:effectLst/>
                          <a:latin typeface="Calibri" panose="020F0502020204030204" pitchFamily="34" charset="0"/>
                        </a:rPr>
                        <a:t>559</a:t>
                      </a:r>
                    </a:p>
                  </a:txBody>
                  <a:tcPr marL="9525" marR="9525" marT="9525" marB="0" anchor="b"/>
                </a:tc>
                <a:tc>
                  <a:txBody>
                    <a:bodyPr/>
                    <a:lstStyle/>
                    <a:p>
                      <a:pPr algn="r" fontAlgn="b"/>
                      <a:r>
                        <a:rPr lang="en-US" sz="1400" b="0" i="0" u="none" strike="noStrike">
                          <a:effectLst/>
                          <a:latin typeface="Calibri" panose="020F0502020204030204" pitchFamily="34" charset="0"/>
                        </a:rPr>
                        <a:t>5.47</a:t>
                      </a:r>
                    </a:p>
                  </a:txBody>
                  <a:tcPr marL="9525" marR="9525" marT="9525" marB="0" anchor="b"/>
                </a:tc>
                <a:tc>
                  <a:txBody>
                    <a:bodyPr/>
                    <a:lstStyle/>
                    <a:p>
                      <a:pPr algn="r" fontAlgn="b"/>
                      <a:r>
                        <a:rPr lang="en-US" sz="1400" b="0" i="0" u="none" strike="noStrike">
                          <a:effectLst/>
                          <a:latin typeface="Calibri" panose="020F0502020204030204" pitchFamily="34" charset="0"/>
                        </a:rPr>
                        <a:t>23,852</a:t>
                      </a:r>
                    </a:p>
                  </a:txBody>
                  <a:tcPr marL="9525" marR="9525" marT="9525" marB="0" anchor="b"/>
                </a:tc>
                <a:tc>
                  <a:txBody>
                    <a:bodyPr/>
                    <a:lstStyle/>
                    <a:p>
                      <a:pPr algn="r" fontAlgn="b"/>
                      <a:r>
                        <a:rPr lang="en-US" sz="1400" b="0" i="0" u="none" strike="noStrike">
                          <a:effectLst/>
                          <a:latin typeface="Calibri" panose="020F0502020204030204" pitchFamily="34" charset="0"/>
                        </a:rPr>
                        <a:t>4.88</a:t>
                      </a:r>
                    </a:p>
                  </a:txBody>
                  <a:tcPr marL="9525" marR="9525" marT="9525" marB="0" anchor="b"/>
                </a:tc>
                <a:extLst>
                  <a:ext uri="{0D108BD9-81ED-4DB2-BD59-A6C34878D82A}">
                    <a16:rowId xmlns:a16="http://schemas.microsoft.com/office/drawing/2014/main" val="1330769566"/>
                  </a:ext>
                </a:extLst>
              </a:tr>
              <a:tr h="243458">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r>
                        <a:rPr lang="en-US" sz="1400" b="1" i="0" u="none" strike="noStrike">
                          <a:effectLst/>
                          <a:latin typeface="Calibri" panose="020F0502020204030204" pitchFamily="34" charset="0"/>
                        </a:rPr>
                        <a:t>Hispanic/Latinx</a:t>
                      </a:r>
                    </a:p>
                  </a:txBody>
                  <a:tcPr marL="9525" marR="9525" marT="9525" marB="0" anchor="b"/>
                </a:tc>
                <a:tc>
                  <a:txBody>
                    <a:bodyPr/>
                    <a:lstStyle/>
                    <a:p>
                      <a:pPr algn="r" fontAlgn="b"/>
                      <a:r>
                        <a:rPr lang="en-US" sz="1400" b="0" i="0" u="none" strike="noStrike">
                          <a:effectLst/>
                          <a:latin typeface="Calibri" panose="020F0502020204030204" pitchFamily="34" charset="0"/>
                        </a:rPr>
                        <a:t>4,066</a:t>
                      </a:r>
                    </a:p>
                  </a:txBody>
                  <a:tcPr marL="9525" marR="9525" marT="9525" marB="0" anchor="b"/>
                </a:tc>
                <a:tc>
                  <a:txBody>
                    <a:bodyPr/>
                    <a:lstStyle/>
                    <a:p>
                      <a:pPr algn="r" fontAlgn="b"/>
                      <a:r>
                        <a:rPr lang="en-US" sz="1400" b="0" i="0" u="none" strike="noStrike">
                          <a:effectLst/>
                          <a:latin typeface="Calibri" panose="020F0502020204030204" pitchFamily="34" charset="0"/>
                        </a:rPr>
                        <a:t>39.78</a:t>
                      </a:r>
                    </a:p>
                  </a:txBody>
                  <a:tcPr marL="9525" marR="9525" marT="9525" marB="0" anchor="b"/>
                </a:tc>
                <a:tc>
                  <a:txBody>
                    <a:bodyPr/>
                    <a:lstStyle/>
                    <a:p>
                      <a:pPr algn="r" fontAlgn="b"/>
                      <a:r>
                        <a:rPr lang="en-US" sz="1400" b="0" i="0" u="none" strike="noStrike">
                          <a:effectLst/>
                          <a:latin typeface="Calibri" panose="020F0502020204030204" pitchFamily="34" charset="0"/>
                        </a:rPr>
                        <a:t>272,323</a:t>
                      </a:r>
                    </a:p>
                  </a:txBody>
                  <a:tcPr marL="9525" marR="9525" marT="9525" marB="0" anchor="b"/>
                </a:tc>
                <a:tc>
                  <a:txBody>
                    <a:bodyPr/>
                    <a:lstStyle/>
                    <a:p>
                      <a:pPr algn="r" fontAlgn="b"/>
                      <a:r>
                        <a:rPr lang="en-US" sz="1400" b="0" i="0" u="none" strike="noStrike">
                          <a:effectLst/>
                          <a:latin typeface="Calibri" panose="020F0502020204030204" pitchFamily="34" charset="0"/>
                        </a:rPr>
                        <a:t>55.70</a:t>
                      </a:r>
                    </a:p>
                  </a:txBody>
                  <a:tcPr marL="9525" marR="9525" marT="9525" marB="0" anchor="b"/>
                </a:tc>
                <a:extLst>
                  <a:ext uri="{0D108BD9-81ED-4DB2-BD59-A6C34878D82A}">
                    <a16:rowId xmlns:a16="http://schemas.microsoft.com/office/drawing/2014/main" val="3996978790"/>
                  </a:ext>
                </a:extLst>
              </a:tr>
              <a:tr h="243458">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r>
                        <a:rPr lang="en-US" sz="1400" b="1" i="0" u="none" strike="noStrike">
                          <a:effectLst/>
                          <a:latin typeface="Calibri" panose="020F0502020204030204" pitchFamily="34" charset="0"/>
                        </a:rPr>
                        <a:t>Filipino</a:t>
                      </a:r>
                    </a:p>
                  </a:txBody>
                  <a:tcPr marL="9525" marR="9525" marT="9525" marB="0" anchor="b"/>
                </a:tc>
                <a:tc>
                  <a:txBody>
                    <a:bodyPr/>
                    <a:lstStyle/>
                    <a:p>
                      <a:pPr algn="r" fontAlgn="b"/>
                      <a:r>
                        <a:rPr lang="en-US" sz="1400" b="0" i="0" u="none" strike="noStrike">
                          <a:effectLst/>
                          <a:latin typeface="Calibri" panose="020F0502020204030204" pitchFamily="34" charset="0"/>
                        </a:rPr>
                        <a:t>244</a:t>
                      </a:r>
                    </a:p>
                  </a:txBody>
                  <a:tcPr marL="9525" marR="9525" marT="9525" marB="0" anchor="b"/>
                </a:tc>
                <a:tc>
                  <a:txBody>
                    <a:bodyPr/>
                    <a:lstStyle/>
                    <a:p>
                      <a:pPr algn="r" fontAlgn="b"/>
                      <a:r>
                        <a:rPr lang="en-US" sz="1400" b="0" i="0" u="none" strike="noStrike">
                          <a:effectLst/>
                          <a:latin typeface="Calibri" panose="020F0502020204030204" pitchFamily="34" charset="0"/>
                        </a:rPr>
                        <a:t>2.39</a:t>
                      </a:r>
                    </a:p>
                  </a:txBody>
                  <a:tcPr marL="9525" marR="9525" marT="9525" marB="0" anchor="b"/>
                </a:tc>
                <a:tc>
                  <a:txBody>
                    <a:bodyPr/>
                    <a:lstStyle/>
                    <a:p>
                      <a:pPr algn="r" fontAlgn="b"/>
                      <a:r>
                        <a:rPr lang="en-US" sz="1400" b="0" i="0" u="none" strike="noStrike">
                          <a:effectLst/>
                          <a:latin typeface="Calibri" panose="020F0502020204030204" pitchFamily="34" charset="0"/>
                        </a:rPr>
                        <a:t>13,231</a:t>
                      </a:r>
                    </a:p>
                  </a:txBody>
                  <a:tcPr marL="9525" marR="9525" marT="9525" marB="0" anchor="b"/>
                </a:tc>
                <a:tc>
                  <a:txBody>
                    <a:bodyPr/>
                    <a:lstStyle/>
                    <a:p>
                      <a:pPr algn="r" fontAlgn="b"/>
                      <a:r>
                        <a:rPr lang="en-US" sz="1400" b="0" i="0" u="none" strike="noStrike">
                          <a:effectLst/>
                          <a:latin typeface="Calibri" panose="020F0502020204030204" pitchFamily="34" charset="0"/>
                        </a:rPr>
                        <a:t>2.71</a:t>
                      </a:r>
                    </a:p>
                  </a:txBody>
                  <a:tcPr marL="9525" marR="9525" marT="9525" marB="0" anchor="b"/>
                </a:tc>
                <a:extLst>
                  <a:ext uri="{0D108BD9-81ED-4DB2-BD59-A6C34878D82A}">
                    <a16:rowId xmlns:a16="http://schemas.microsoft.com/office/drawing/2014/main" val="4261779301"/>
                  </a:ext>
                </a:extLst>
              </a:tr>
              <a:tr h="243458">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r>
                        <a:rPr lang="en-US" sz="1400" b="1" i="0" u="none" strike="noStrike">
                          <a:effectLst/>
                          <a:latin typeface="Calibri" panose="020F0502020204030204" pitchFamily="34" charset="0"/>
                        </a:rPr>
                        <a:t>Asian</a:t>
                      </a:r>
                    </a:p>
                  </a:txBody>
                  <a:tcPr marL="9525" marR="9525" marT="9525" marB="0" anchor="b"/>
                </a:tc>
                <a:tc>
                  <a:txBody>
                    <a:bodyPr/>
                    <a:lstStyle/>
                    <a:p>
                      <a:pPr algn="r" fontAlgn="b"/>
                      <a:r>
                        <a:rPr lang="en-US" sz="1400" b="0" i="0" u="none" strike="noStrike">
                          <a:effectLst/>
                          <a:latin typeface="Calibri" panose="020F0502020204030204" pitchFamily="34" charset="0"/>
                        </a:rPr>
                        <a:t>1,163</a:t>
                      </a:r>
                    </a:p>
                  </a:txBody>
                  <a:tcPr marL="9525" marR="9525" marT="9525" marB="0" anchor="b"/>
                </a:tc>
                <a:tc>
                  <a:txBody>
                    <a:bodyPr/>
                    <a:lstStyle/>
                    <a:p>
                      <a:pPr algn="r" fontAlgn="b"/>
                      <a:r>
                        <a:rPr lang="en-US" sz="1400" b="0" i="0" u="none" strike="noStrike">
                          <a:effectLst/>
                          <a:latin typeface="Calibri" panose="020F0502020204030204" pitchFamily="34" charset="0"/>
                        </a:rPr>
                        <a:t>11.38</a:t>
                      </a:r>
                    </a:p>
                  </a:txBody>
                  <a:tcPr marL="9525" marR="9525" marT="9525" marB="0" anchor="b"/>
                </a:tc>
                <a:tc>
                  <a:txBody>
                    <a:bodyPr/>
                    <a:lstStyle/>
                    <a:p>
                      <a:pPr algn="r" fontAlgn="b"/>
                      <a:r>
                        <a:rPr lang="en-US" sz="1400" b="0" i="0" u="none" strike="noStrike">
                          <a:effectLst/>
                          <a:latin typeface="Calibri" panose="020F0502020204030204" pitchFamily="34" charset="0"/>
                        </a:rPr>
                        <a:t>46,278</a:t>
                      </a:r>
                    </a:p>
                  </a:txBody>
                  <a:tcPr marL="9525" marR="9525" marT="9525" marB="0" anchor="b"/>
                </a:tc>
                <a:tc>
                  <a:txBody>
                    <a:bodyPr/>
                    <a:lstStyle/>
                    <a:p>
                      <a:pPr algn="r" fontAlgn="b"/>
                      <a:r>
                        <a:rPr lang="en-US" sz="1400" b="0" i="0" u="none" strike="noStrike">
                          <a:effectLst/>
                          <a:latin typeface="Calibri" panose="020F0502020204030204" pitchFamily="34" charset="0"/>
                        </a:rPr>
                        <a:t>9.47</a:t>
                      </a:r>
                    </a:p>
                  </a:txBody>
                  <a:tcPr marL="9525" marR="9525" marT="9525" marB="0" anchor="b"/>
                </a:tc>
                <a:extLst>
                  <a:ext uri="{0D108BD9-81ED-4DB2-BD59-A6C34878D82A}">
                    <a16:rowId xmlns:a16="http://schemas.microsoft.com/office/drawing/2014/main" val="4091782506"/>
                  </a:ext>
                </a:extLst>
              </a:tr>
              <a:tr h="243458">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r>
                        <a:rPr lang="en-US" sz="1400" b="1" i="0" u="none" strike="noStrike">
                          <a:effectLst/>
                          <a:latin typeface="Calibri" panose="020F0502020204030204" pitchFamily="34" charset="0"/>
                        </a:rPr>
                        <a:t>Other</a:t>
                      </a:r>
                    </a:p>
                  </a:txBody>
                  <a:tcPr marL="9525" marR="9525" marT="9525" marB="0" anchor="b"/>
                </a:tc>
                <a:tc>
                  <a:txBody>
                    <a:bodyPr/>
                    <a:lstStyle/>
                    <a:p>
                      <a:pPr algn="r" fontAlgn="b"/>
                      <a:r>
                        <a:rPr lang="en-US" sz="1400" b="0" i="0" u="none" strike="noStrike">
                          <a:effectLst/>
                          <a:latin typeface="Calibri" panose="020F0502020204030204" pitchFamily="34" charset="0"/>
                        </a:rPr>
                        <a:t>198</a:t>
                      </a:r>
                    </a:p>
                  </a:txBody>
                  <a:tcPr marL="9525" marR="9525" marT="9525" marB="0" anchor="b"/>
                </a:tc>
                <a:tc>
                  <a:txBody>
                    <a:bodyPr/>
                    <a:lstStyle/>
                    <a:p>
                      <a:pPr algn="r" fontAlgn="b"/>
                      <a:r>
                        <a:rPr lang="en-US" sz="1400" b="0" i="0" u="none" strike="noStrike">
                          <a:effectLst/>
                          <a:latin typeface="Calibri" panose="020F0502020204030204" pitchFamily="34" charset="0"/>
                        </a:rPr>
                        <a:t>1.94</a:t>
                      </a:r>
                    </a:p>
                  </a:txBody>
                  <a:tcPr marL="9525" marR="9525" marT="9525" marB="0" anchor="b"/>
                </a:tc>
                <a:tc>
                  <a:txBody>
                    <a:bodyPr/>
                    <a:lstStyle/>
                    <a:p>
                      <a:pPr algn="r" fontAlgn="b"/>
                      <a:r>
                        <a:rPr lang="en-US" sz="1400" b="0" i="0" u="none" strike="noStrike">
                          <a:effectLst/>
                          <a:latin typeface="Calibri" panose="020F0502020204030204" pitchFamily="34" charset="0"/>
                        </a:rPr>
                        <a:t>17,435</a:t>
                      </a:r>
                    </a:p>
                  </a:txBody>
                  <a:tcPr marL="9525" marR="9525" marT="9525" marB="0" anchor="b"/>
                </a:tc>
                <a:tc>
                  <a:txBody>
                    <a:bodyPr/>
                    <a:lstStyle/>
                    <a:p>
                      <a:pPr algn="r" fontAlgn="b"/>
                      <a:r>
                        <a:rPr lang="en-US" sz="1400" b="0" i="0" u="none" strike="noStrike">
                          <a:effectLst/>
                          <a:latin typeface="Calibri" panose="020F0502020204030204" pitchFamily="34" charset="0"/>
                        </a:rPr>
                        <a:t>3.57</a:t>
                      </a:r>
                    </a:p>
                  </a:txBody>
                  <a:tcPr marL="9525" marR="9525" marT="9525" marB="0" anchor="b"/>
                </a:tc>
                <a:extLst>
                  <a:ext uri="{0D108BD9-81ED-4DB2-BD59-A6C34878D82A}">
                    <a16:rowId xmlns:a16="http://schemas.microsoft.com/office/drawing/2014/main" val="1688677798"/>
                  </a:ext>
                </a:extLst>
              </a:tr>
              <a:tr h="243458">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r>
                        <a:rPr lang="en-US" sz="1400" b="1" i="0" u="none" strike="noStrike">
                          <a:effectLst/>
                          <a:latin typeface="Calibri" panose="020F0502020204030204" pitchFamily="34" charset="0"/>
                        </a:rPr>
                        <a:t>White/Non-Hispanic</a:t>
                      </a:r>
                    </a:p>
                  </a:txBody>
                  <a:tcPr marL="9525" marR="9525" marT="9525" marB="0" anchor="b"/>
                </a:tc>
                <a:tc>
                  <a:txBody>
                    <a:bodyPr/>
                    <a:lstStyle/>
                    <a:p>
                      <a:pPr algn="r" fontAlgn="b"/>
                      <a:r>
                        <a:rPr lang="en-US" sz="1400" b="0" i="0" u="none" strike="noStrike">
                          <a:effectLst/>
                          <a:latin typeface="Calibri" panose="020F0502020204030204" pitchFamily="34" charset="0"/>
                        </a:rPr>
                        <a:t>1,553</a:t>
                      </a:r>
                    </a:p>
                  </a:txBody>
                  <a:tcPr marL="9525" marR="9525" marT="9525" marB="0" anchor="b"/>
                </a:tc>
                <a:tc>
                  <a:txBody>
                    <a:bodyPr/>
                    <a:lstStyle/>
                    <a:p>
                      <a:pPr algn="r" fontAlgn="b"/>
                      <a:r>
                        <a:rPr lang="en-US" sz="1400" b="0" i="0" u="none" strike="noStrike">
                          <a:effectLst/>
                          <a:latin typeface="Calibri" panose="020F0502020204030204" pitchFamily="34" charset="0"/>
                        </a:rPr>
                        <a:t>15.19</a:t>
                      </a:r>
                    </a:p>
                  </a:txBody>
                  <a:tcPr marL="9525" marR="9525" marT="9525" marB="0" anchor="b"/>
                </a:tc>
                <a:tc>
                  <a:txBody>
                    <a:bodyPr/>
                    <a:lstStyle/>
                    <a:p>
                      <a:pPr algn="r" fontAlgn="b"/>
                      <a:r>
                        <a:rPr lang="en-US" sz="1400" b="0" i="0" u="none" strike="noStrike">
                          <a:effectLst/>
                          <a:latin typeface="Calibri" panose="020F0502020204030204" pitchFamily="34" charset="0"/>
                        </a:rPr>
                        <a:t>103,787</a:t>
                      </a:r>
                    </a:p>
                  </a:txBody>
                  <a:tcPr marL="9525" marR="9525" marT="9525" marB="0" anchor="b"/>
                </a:tc>
                <a:tc>
                  <a:txBody>
                    <a:bodyPr/>
                    <a:lstStyle/>
                    <a:p>
                      <a:pPr algn="r" fontAlgn="b"/>
                      <a:r>
                        <a:rPr lang="en-US" sz="1400" b="0" i="0" u="none" strike="noStrike">
                          <a:effectLst/>
                          <a:latin typeface="Calibri" panose="020F0502020204030204" pitchFamily="34" charset="0"/>
                        </a:rPr>
                        <a:t>21.23</a:t>
                      </a:r>
                    </a:p>
                  </a:txBody>
                  <a:tcPr marL="9525" marR="9525" marT="9525" marB="0" anchor="b"/>
                </a:tc>
                <a:extLst>
                  <a:ext uri="{0D108BD9-81ED-4DB2-BD59-A6C34878D82A}">
                    <a16:rowId xmlns:a16="http://schemas.microsoft.com/office/drawing/2014/main" val="3799142968"/>
                  </a:ext>
                </a:extLst>
              </a:tr>
              <a:tr h="243458">
                <a:tc>
                  <a:txBody>
                    <a:bodyPr/>
                    <a:lstStyle/>
                    <a:p>
                      <a:pPr algn="l" fontAlgn="b"/>
                      <a:r>
                        <a:rPr lang="en-US" sz="1400" b="0" i="0" u="none" strike="noStrike">
                          <a:effectLst/>
                          <a:latin typeface="Calibri" panose="020F0502020204030204" pitchFamily="34" charset="0"/>
                        </a:rPr>
                        <a:t> </a:t>
                      </a:r>
                    </a:p>
                  </a:txBody>
                  <a:tcPr marL="9525" marR="9525" marT="9525" marB="0" anchor="b"/>
                </a:tc>
                <a:tc>
                  <a:txBody>
                    <a:bodyPr/>
                    <a:lstStyle/>
                    <a:p>
                      <a:pPr algn="l" fontAlgn="b"/>
                      <a:r>
                        <a:rPr lang="en-US" sz="1400" b="1" i="0" u="none" strike="noStrike">
                          <a:effectLst/>
                          <a:latin typeface="Calibri" panose="020F0502020204030204" pitchFamily="34" charset="0"/>
                        </a:rPr>
                        <a:t>Not reported</a:t>
                      </a:r>
                    </a:p>
                  </a:txBody>
                  <a:tcPr marL="9525" marR="9525" marT="9525" marB="0" anchor="b"/>
                </a:tc>
                <a:tc>
                  <a:txBody>
                    <a:bodyPr/>
                    <a:lstStyle/>
                    <a:p>
                      <a:pPr algn="r" fontAlgn="b"/>
                      <a:r>
                        <a:rPr lang="en-US" sz="1400" b="0" i="0" u="none" strike="noStrike">
                          <a:effectLst/>
                          <a:latin typeface="Calibri" panose="020F0502020204030204" pitchFamily="34" charset="0"/>
                        </a:rPr>
                        <a:t>2,191</a:t>
                      </a:r>
                    </a:p>
                  </a:txBody>
                  <a:tcPr marL="9525" marR="9525" marT="9525" marB="0" anchor="b"/>
                </a:tc>
                <a:tc>
                  <a:txBody>
                    <a:bodyPr/>
                    <a:lstStyle/>
                    <a:p>
                      <a:pPr algn="r" fontAlgn="b"/>
                      <a:r>
                        <a:rPr lang="en-US" sz="1400" b="0" i="0" u="none" strike="noStrike">
                          <a:effectLst/>
                          <a:latin typeface="Calibri" panose="020F0502020204030204" pitchFamily="34" charset="0"/>
                        </a:rPr>
                        <a:t>21.44</a:t>
                      </a:r>
                    </a:p>
                  </a:txBody>
                  <a:tcPr marL="9525" marR="9525" marT="9525" marB="0" anchor="b"/>
                </a:tc>
                <a:tc>
                  <a:txBody>
                    <a:bodyPr/>
                    <a:lstStyle/>
                    <a:p>
                      <a:pPr algn="r" fontAlgn="b"/>
                      <a:r>
                        <a:rPr lang="en-US" sz="1400" b="0" i="0" u="none" strike="noStrike">
                          <a:effectLst/>
                          <a:latin typeface="Calibri" panose="020F0502020204030204" pitchFamily="34" charset="0"/>
                        </a:rPr>
                        <a:t>7,576</a:t>
                      </a:r>
                    </a:p>
                  </a:txBody>
                  <a:tcPr marL="9525" marR="9525" marT="9525" marB="0" anchor="b"/>
                </a:tc>
                <a:tc>
                  <a:txBody>
                    <a:bodyPr/>
                    <a:lstStyle/>
                    <a:p>
                      <a:pPr algn="r" fontAlgn="b"/>
                      <a:r>
                        <a:rPr lang="en-US" sz="1400" b="0" i="0" u="none" strike="noStrike">
                          <a:effectLst/>
                          <a:latin typeface="Calibri" panose="020F0502020204030204" pitchFamily="34" charset="0"/>
                        </a:rPr>
                        <a:t>1.55</a:t>
                      </a:r>
                    </a:p>
                  </a:txBody>
                  <a:tcPr marL="9525" marR="9525" marT="9525" marB="0" anchor="b"/>
                </a:tc>
                <a:extLst>
                  <a:ext uri="{0D108BD9-81ED-4DB2-BD59-A6C34878D82A}">
                    <a16:rowId xmlns:a16="http://schemas.microsoft.com/office/drawing/2014/main" val="2305044481"/>
                  </a:ext>
                </a:extLst>
              </a:tr>
              <a:tr h="243458">
                <a:tc gridSpan="2">
                  <a:txBody>
                    <a:bodyPr/>
                    <a:lstStyle/>
                    <a:p>
                      <a:pPr algn="l" fontAlgn="b"/>
                      <a:r>
                        <a:rPr lang="en-US" sz="1400" b="1" i="0" u="none" strike="noStrike">
                          <a:effectLst/>
                          <a:latin typeface="Calibri" panose="020F0502020204030204" pitchFamily="34" charset="0"/>
                        </a:rPr>
                        <a:t>Gender</a:t>
                      </a:r>
                    </a:p>
                  </a:txBody>
                  <a:tcPr marL="9525" marR="9525" marT="9525" marB="0" anchor="b"/>
                </a:tc>
                <a:tc hMerge="1">
                  <a:txBody>
                    <a:bodyPr/>
                    <a:lstStyle/>
                    <a:p>
                      <a:endParaRPr lang="en-US"/>
                    </a:p>
                  </a:txBody>
                  <a:tcPr/>
                </a:tc>
                <a:tc>
                  <a:txBody>
                    <a:bodyPr/>
                    <a:lstStyle/>
                    <a:p>
                      <a:pPr algn="l" fontAlgn="b"/>
                      <a:r>
                        <a:rPr lang="en-US" sz="1400" b="0" i="0" u="none" strike="noStrike">
                          <a:effectLst/>
                          <a:latin typeface="Calibri" panose="020F0502020204030204" pitchFamily="34" charset="0"/>
                        </a:rPr>
                        <a:t> </a:t>
                      </a:r>
                    </a:p>
                  </a:txBody>
                  <a:tcPr marL="9525" marR="9525" marT="9525" marB="0" anchor="b"/>
                </a:tc>
                <a:tc>
                  <a:txBody>
                    <a:bodyPr/>
                    <a:lstStyle/>
                    <a:p>
                      <a:pPr algn="r" fontAlgn="b"/>
                      <a:r>
                        <a:rPr lang="en-US" sz="1400" b="0" i="0" u="none" strike="noStrike">
                          <a:effectLst/>
                          <a:latin typeface="Calibri" panose="020F0502020204030204" pitchFamily="34" charset="0"/>
                        </a:rPr>
                        <a:t> </a:t>
                      </a:r>
                    </a:p>
                  </a:txBody>
                  <a:tcPr marL="9525" marR="9525" marT="9525" marB="0" anchor="b"/>
                </a:tc>
                <a:tc>
                  <a:txBody>
                    <a:bodyPr/>
                    <a:lstStyle/>
                    <a:p>
                      <a:pPr algn="ctr" fontAlgn="b"/>
                      <a:r>
                        <a:rPr lang="en-US" sz="1400" b="1" i="0" u="none" strike="noStrike">
                          <a:effectLst/>
                          <a:latin typeface="Calibri" panose="020F0502020204030204" pitchFamily="34" charset="0"/>
                        </a:rPr>
                        <a:t> </a:t>
                      </a:r>
                    </a:p>
                  </a:txBody>
                  <a:tcPr marL="9525" marR="9525" marT="9525" marB="0" anchor="b"/>
                </a:tc>
                <a:tc>
                  <a:txBody>
                    <a:bodyPr/>
                    <a:lstStyle/>
                    <a:p>
                      <a:pPr algn="l" fontAlgn="b"/>
                      <a:r>
                        <a:rPr lang="en-US" sz="1400" b="0" i="0" u="none" strike="noStrike">
                          <a:effectLst/>
                          <a:latin typeface="Calibri" panose="020F0502020204030204" pitchFamily="34" charset="0"/>
                        </a:rPr>
                        <a:t> </a:t>
                      </a:r>
                    </a:p>
                  </a:txBody>
                  <a:tcPr marL="9525" marR="9525" marT="9525" marB="0" anchor="b"/>
                </a:tc>
                <a:extLst>
                  <a:ext uri="{0D108BD9-81ED-4DB2-BD59-A6C34878D82A}">
                    <a16:rowId xmlns:a16="http://schemas.microsoft.com/office/drawing/2014/main" val="55905994"/>
                  </a:ext>
                </a:extLst>
              </a:tr>
              <a:tr h="243458">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r>
                        <a:rPr lang="en-US" sz="1400" b="1" i="0" u="none" strike="noStrike">
                          <a:effectLst/>
                          <a:latin typeface="Calibri" panose="020F0502020204030204" pitchFamily="34" charset="0"/>
                        </a:rPr>
                        <a:t>Cis woman</a:t>
                      </a:r>
                    </a:p>
                  </a:txBody>
                  <a:tcPr marL="9525" marR="9525" marT="9525" marB="0" anchor="b"/>
                </a:tc>
                <a:tc>
                  <a:txBody>
                    <a:bodyPr/>
                    <a:lstStyle/>
                    <a:p>
                      <a:pPr algn="r" fontAlgn="b"/>
                      <a:r>
                        <a:rPr lang="en-US" sz="1400" b="0" i="0" u="none" strike="noStrike">
                          <a:effectLst/>
                          <a:latin typeface="Calibri" panose="020F0502020204030204" pitchFamily="34" charset="0"/>
                        </a:rPr>
                        <a:t>4,503</a:t>
                      </a:r>
                    </a:p>
                  </a:txBody>
                  <a:tcPr marL="9525" marR="9525" marT="9525" marB="0" anchor="b"/>
                </a:tc>
                <a:tc>
                  <a:txBody>
                    <a:bodyPr/>
                    <a:lstStyle/>
                    <a:p>
                      <a:pPr algn="r" fontAlgn="b"/>
                      <a:r>
                        <a:rPr lang="en-US" sz="1400" b="0" i="0" u="none" strike="noStrike">
                          <a:effectLst/>
                          <a:latin typeface="Calibri" panose="020F0502020204030204" pitchFamily="34" charset="0"/>
                        </a:rPr>
                        <a:t>44.06</a:t>
                      </a:r>
                    </a:p>
                  </a:txBody>
                  <a:tcPr marL="9525" marR="9525" marT="9525" marB="0" anchor="b"/>
                </a:tc>
                <a:tc>
                  <a:txBody>
                    <a:bodyPr/>
                    <a:lstStyle/>
                    <a:p>
                      <a:pPr algn="ctr" fontAlgn="b"/>
                      <a:r>
                        <a:rPr lang="en-US" sz="1400" b="0" i="0" u="none" strike="noStrike" dirty="0">
                          <a:effectLst/>
                          <a:latin typeface="Calibri" panose="020F0502020204030204" pitchFamily="34" charset="0"/>
                        </a:rPr>
                        <a:t>Female</a:t>
                      </a:r>
                    </a:p>
                  </a:txBody>
                  <a:tcPr marL="9525" marR="9525" marT="9525" marB="0" anchor="b"/>
                </a:tc>
                <a:tc>
                  <a:txBody>
                    <a:bodyPr/>
                    <a:lstStyle/>
                    <a:p>
                      <a:pPr algn="r" fontAlgn="b"/>
                      <a:r>
                        <a:rPr lang="en-US" sz="1400" b="0" i="0" u="none" strike="noStrike">
                          <a:effectLst/>
                          <a:latin typeface="Calibri" panose="020F0502020204030204" pitchFamily="34" charset="0"/>
                        </a:rPr>
                        <a:t>48</a:t>
                      </a:r>
                    </a:p>
                  </a:txBody>
                  <a:tcPr marL="9525" marR="9525" marT="9525" marB="0" anchor="b"/>
                </a:tc>
                <a:extLst>
                  <a:ext uri="{0D108BD9-81ED-4DB2-BD59-A6C34878D82A}">
                    <a16:rowId xmlns:a16="http://schemas.microsoft.com/office/drawing/2014/main" val="963240040"/>
                  </a:ext>
                </a:extLst>
              </a:tr>
              <a:tr h="243458">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r>
                        <a:rPr lang="en-US" sz="1400" b="1" i="0" u="none" strike="noStrike">
                          <a:effectLst/>
                          <a:latin typeface="Calibri" panose="020F0502020204030204" pitchFamily="34" charset="0"/>
                        </a:rPr>
                        <a:t>Cis man</a:t>
                      </a:r>
                    </a:p>
                  </a:txBody>
                  <a:tcPr marL="9525" marR="9525" marT="9525" marB="0" anchor="b"/>
                </a:tc>
                <a:tc>
                  <a:txBody>
                    <a:bodyPr/>
                    <a:lstStyle/>
                    <a:p>
                      <a:pPr algn="r" fontAlgn="b"/>
                      <a:r>
                        <a:rPr lang="en-US" sz="1400" b="0" i="0" u="none" strike="noStrike">
                          <a:effectLst/>
                          <a:latin typeface="Calibri" panose="020F0502020204030204" pitchFamily="34" charset="0"/>
                        </a:rPr>
                        <a:t>2,864</a:t>
                      </a:r>
                    </a:p>
                  </a:txBody>
                  <a:tcPr marL="9525" marR="9525" marT="9525" marB="0" anchor="b"/>
                </a:tc>
                <a:tc>
                  <a:txBody>
                    <a:bodyPr/>
                    <a:lstStyle/>
                    <a:p>
                      <a:pPr algn="r" fontAlgn="b"/>
                      <a:r>
                        <a:rPr lang="en-US" sz="1400" b="0" i="0" u="none" strike="noStrike">
                          <a:effectLst/>
                          <a:latin typeface="Calibri" panose="020F0502020204030204" pitchFamily="34" charset="0"/>
                        </a:rPr>
                        <a:t>28.02</a:t>
                      </a:r>
                    </a:p>
                  </a:txBody>
                  <a:tcPr marL="9525" marR="9525" marT="9525" marB="0" anchor="b"/>
                </a:tc>
                <a:tc>
                  <a:txBody>
                    <a:bodyPr/>
                    <a:lstStyle/>
                    <a:p>
                      <a:pPr algn="ctr" fontAlgn="b"/>
                      <a:r>
                        <a:rPr lang="en-US" sz="1400" b="0" i="0" u="none" strike="noStrike">
                          <a:effectLst/>
                          <a:latin typeface="Calibri" panose="020F0502020204030204" pitchFamily="34" charset="0"/>
                        </a:rPr>
                        <a:t>Male</a:t>
                      </a:r>
                    </a:p>
                  </a:txBody>
                  <a:tcPr marL="9525" marR="9525" marT="9525" marB="0" anchor="b"/>
                </a:tc>
                <a:tc>
                  <a:txBody>
                    <a:bodyPr/>
                    <a:lstStyle/>
                    <a:p>
                      <a:pPr algn="r" fontAlgn="b"/>
                      <a:r>
                        <a:rPr lang="en-US" sz="1400" b="0" i="0" u="none" strike="noStrike">
                          <a:effectLst/>
                          <a:latin typeface="Calibri" panose="020F0502020204030204" pitchFamily="34" charset="0"/>
                        </a:rPr>
                        <a:t>51.5</a:t>
                      </a:r>
                    </a:p>
                  </a:txBody>
                  <a:tcPr marL="9525" marR="9525" marT="9525" marB="0" anchor="b"/>
                </a:tc>
                <a:extLst>
                  <a:ext uri="{0D108BD9-81ED-4DB2-BD59-A6C34878D82A}">
                    <a16:rowId xmlns:a16="http://schemas.microsoft.com/office/drawing/2014/main" val="461968355"/>
                  </a:ext>
                </a:extLst>
              </a:tr>
              <a:tr h="394753">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r>
                        <a:rPr lang="en-US" sz="1400" b="1" i="0" u="none" strike="noStrike">
                          <a:effectLst/>
                          <a:latin typeface="Calibri" panose="020F0502020204030204" pitchFamily="34" charset="0"/>
                        </a:rPr>
                        <a:t>Non-binary/Gender variant</a:t>
                      </a:r>
                    </a:p>
                  </a:txBody>
                  <a:tcPr marL="9525" marR="9525" marT="9525" marB="0" anchor="b"/>
                </a:tc>
                <a:tc>
                  <a:txBody>
                    <a:bodyPr/>
                    <a:lstStyle/>
                    <a:p>
                      <a:pPr algn="r" fontAlgn="b"/>
                      <a:r>
                        <a:rPr lang="en-US" sz="1400" b="0" i="0" u="none" strike="noStrike">
                          <a:effectLst/>
                          <a:latin typeface="Calibri" panose="020F0502020204030204" pitchFamily="34" charset="0"/>
                        </a:rPr>
                        <a:t>418</a:t>
                      </a:r>
                    </a:p>
                  </a:txBody>
                  <a:tcPr marL="9525" marR="9525" marT="9525" marB="0" anchor="b"/>
                </a:tc>
                <a:tc>
                  <a:txBody>
                    <a:bodyPr/>
                    <a:lstStyle/>
                    <a:p>
                      <a:pPr algn="r" fontAlgn="b"/>
                      <a:r>
                        <a:rPr lang="en-US" sz="1400" b="0" i="0" u="none" strike="noStrike">
                          <a:effectLst/>
                          <a:latin typeface="Calibri" panose="020F0502020204030204" pitchFamily="34" charset="0"/>
                        </a:rPr>
                        <a:t>4.09</a:t>
                      </a:r>
                    </a:p>
                  </a:txBody>
                  <a:tcPr marL="9525" marR="9525" marT="9525" marB="0" anchor="b"/>
                </a:tc>
                <a:tc>
                  <a:txBody>
                    <a:bodyPr/>
                    <a:lstStyle/>
                    <a:p>
                      <a:pPr algn="ctr" fontAlgn="b"/>
                      <a:r>
                        <a:rPr lang="en-US" sz="1400" b="0" i="0" u="none" strike="noStrike" dirty="0">
                          <a:effectLst/>
                          <a:latin typeface="Calibri" panose="020F0502020204030204" pitchFamily="34" charset="0"/>
                        </a:rPr>
                        <a:t>Non-binary</a:t>
                      </a:r>
                    </a:p>
                  </a:txBody>
                  <a:tcPr marL="9525" marR="9525" marT="9525" marB="0" anchor="b"/>
                </a:tc>
                <a:tc>
                  <a:txBody>
                    <a:bodyPr/>
                    <a:lstStyle/>
                    <a:p>
                      <a:pPr algn="r" fontAlgn="b"/>
                      <a:r>
                        <a:rPr lang="en-US" sz="1400" b="0" i="0" u="none" strike="noStrike">
                          <a:effectLst/>
                          <a:latin typeface="Calibri" panose="020F0502020204030204" pitchFamily="34" charset="0"/>
                        </a:rPr>
                        <a:t>&lt; 0.5</a:t>
                      </a:r>
                    </a:p>
                  </a:txBody>
                  <a:tcPr marL="9525" marR="9525" marT="9525" marB="0" anchor="b"/>
                </a:tc>
                <a:extLst>
                  <a:ext uri="{0D108BD9-81ED-4DB2-BD59-A6C34878D82A}">
                    <a16:rowId xmlns:a16="http://schemas.microsoft.com/office/drawing/2014/main" val="3673108740"/>
                  </a:ext>
                </a:extLst>
              </a:tr>
              <a:tr h="394753">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r>
                        <a:rPr lang="en-US" sz="1400" b="1" i="0" u="none" strike="noStrike">
                          <a:effectLst/>
                          <a:latin typeface="Calibri" panose="020F0502020204030204" pitchFamily="34" charset="0"/>
                        </a:rPr>
                        <a:t>Unsure/prefer not to say</a:t>
                      </a:r>
                    </a:p>
                  </a:txBody>
                  <a:tcPr marL="9525" marR="9525" marT="9525" marB="0" anchor="b"/>
                </a:tc>
                <a:tc>
                  <a:txBody>
                    <a:bodyPr/>
                    <a:lstStyle/>
                    <a:p>
                      <a:pPr algn="r" fontAlgn="b"/>
                      <a:r>
                        <a:rPr lang="en-US" sz="1400" b="0" i="0" u="none" strike="noStrike">
                          <a:effectLst/>
                          <a:latin typeface="Calibri" panose="020F0502020204030204" pitchFamily="34" charset="0"/>
                        </a:rPr>
                        <a:t>191</a:t>
                      </a:r>
                    </a:p>
                  </a:txBody>
                  <a:tcPr marL="9525" marR="9525" marT="9525" marB="0" anchor="b"/>
                </a:tc>
                <a:tc>
                  <a:txBody>
                    <a:bodyPr/>
                    <a:lstStyle/>
                    <a:p>
                      <a:pPr algn="r" fontAlgn="b"/>
                      <a:r>
                        <a:rPr lang="en-US" sz="1400" b="0" i="0" u="none" strike="noStrike">
                          <a:effectLst/>
                          <a:latin typeface="Calibri" panose="020F0502020204030204" pitchFamily="34" charset="0"/>
                        </a:rPr>
                        <a:t>1.87</a:t>
                      </a:r>
                    </a:p>
                  </a:txBody>
                  <a:tcPr marL="9525" marR="9525" marT="9525" marB="0" anchor="b"/>
                </a:tc>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endParaRPr lang="en-US" sz="1400" b="0" i="0" u="none" strike="noStrike">
                        <a:effectLst/>
                        <a:latin typeface="Calibri" panose="020F0502020204030204" pitchFamily="34" charset="0"/>
                      </a:endParaRPr>
                    </a:p>
                  </a:txBody>
                  <a:tcPr marL="9525" marR="9525" marT="9525" marB="0" anchor="b"/>
                </a:tc>
                <a:extLst>
                  <a:ext uri="{0D108BD9-81ED-4DB2-BD59-A6C34878D82A}">
                    <a16:rowId xmlns:a16="http://schemas.microsoft.com/office/drawing/2014/main" val="3766773426"/>
                  </a:ext>
                </a:extLst>
              </a:tr>
              <a:tr h="243458">
                <a:tc>
                  <a:txBody>
                    <a:bodyPr/>
                    <a:lstStyle/>
                    <a:p>
                      <a:pPr algn="l" fontAlgn="b"/>
                      <a:r>
                        <a:rPr lang="en-US" sz="1400" b="0" i="0" u="none" strike="noStrike">
                          <a:effectLst/>
                          <a:latin typeface="Calibri" panose="020F0502020204030204" pitchFamily="34" charset="0"/>
                        </a:rPr>
                        <a:t> </a:t>
                      </a:r>
                    </a:p>
                  </a:txBody>
                  <a:tcPr marL="9525" marR="9525" marT="9525" marB="0" anchor="b"/>
                </a:tc>
                <a:tc>
                  <a:txBody>
                    <a:bodyPr/>
                    <a:lstStyle/>
                    <a:p>
                      <a:pPr algn="l" fontAlgn="b"/>
                      <a:r>
                        <a:rPr lang="en-US" sz="1400" b="1" i="0" u="none" strike="noStrike">
                          <a:effectLst/>
                          <a:latin typeface="Calibri" panose="020F0502020204030204" pitchFamily="34" charset="0"/>
                        </a:rPr>
                        <a:t>Not reported</a:t>
                      </a:r>
                    </a:p>
                  </a:txBody>
                  <a:tcPr marL="9525" marR="9525" marT="9525" marB="0" anchor="b"/>
                </a:tc>
                <a:tc>
                  <a:txBody>
                    <a:bodyPr/>
                    <a:lstStyle/>
                    <a:p>
                      <a:pPr algn="r" fontAlgn="b"/>
                      <a:r>
                        <a:rPr lang="en-US" sz="1400" b="0" i="0" u="none" strike="noStrike">
                          <a:effectLst/>
                          <a:latin typeface="Calibri" panose="020F0502020204030204" pitchFamily="34" charset="0"/>
                        </a:rPr>
                        <a:t>2,245</a:t>
                      </a:r>
                    </a:p>
                  </a:txBody>
                  <a:tcPr marL="9525" marR="9525" marT="9525" marB="0" anchor="b"/>
                </a:tc>
                <a:tc>
                  <a:txBody>
                    <a:bodyPr/>
                    <a:lstStyle/>
                    <a:p>
                      <a:pPr algn="r" fontAlgn="b"/>
                      <a:r>
                        <a:rPr lang="en-US" sz="1400" b="0" i="0" u="none" strike="noStrike">
                          <a:effectLst/>
                          <a:latin typeface="Calibri" panose="020F0502020204030204" pitchFamily="34" charset="0"/>
                        </a:rPr>
                        <a:t>21.96</a:t>
                      </a:r>
                    </a:p>
                  </a:txBody>
                  <a:tcPr marL="9525" marR="9525" marT="9525" marB="0" anchor="b"/>
                </a:tc>
                <a:tc>
                  <a:txBody>
                    <a:bodyPr/>
                    <a:lstStyle/>
                    <a:p>
                      <a:pPr algn="l" fontAlgn="b"/>
                      <a:endParaRPr lang="en-US" sz="1400" b="0" i="0" u="none" strike="noStrike">
                        <a:effectLst/>
                        <a:latin typeface="Calibri" panose="020F0502020204030204" pitchFamily="34" charset="0"/>
                      </a:endParaRPr>
                    </a:p>
                  </a:txBody>
                  <a:tcPr marL="9525" marR="9525" marT="9525" marB="0" anchor="b"/>
                </a:tc>
                <a:tc>
                  <a:txBody>
                    <a:bodyPr/>
                    <a:lstStyle/>
                    <a:p>
                      <a:pPr algn="l" fontAlgn="b"/>
                      <a:endParaRPr lang="en-US" sz="1400" b="0" i="0" u="none" strike="noStrike" dirty="0">
                        <a:effectLst/>
                        <a:latin typeface="Calibri" panose="020F0502020204030204" pitchFamily="34" charset="0"/>
                      </a:endParaRPr>
                    </a:p>
                  </a:txBody>
                  <a:tcPr marL="9525" marR="9525" marT="9525" marB="0" anchor="b"/>
                </a:tc>
                <a:extLst>
                  <a:ext uri="{0D108BD9-81ED-4DB2-BD59-A6C34878D82A}">
                    <a16:rowId xmlns:a16="http://schemas.microsoft.com/office/drawing/2014/main" val="1926675947"/>
                  </a:ext>
                </a:extLst>
              </a:tr>
            </a:tbl>
          </a:graphicData>
        </a:graphic>
      </p:graphicFrame>
    </p:spTree>
    <p:extLst>
      <p:ext uri="{BB962C8B-B14F-4D97-AF65-F5344CB8AC3E}">
        <p14:creationId xmlns:p14="http://schemas.microsoft.com/office/powerpoint/2010/main" val="3384284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229A4-63D3-F33F-D931-41C864D8F8B9}"/>
              </a:ext>
            </a:extLst>
          </p:cNvPr>
          <p:cNvSpPr>
            <a:spLocks noGrp="1"/>
          </p:cNvSpPr>
          <p:nvPr>
            <p:ph type="title"/>
          </p:nvPr>
        </p:nvSpPr>
        <p:spPr/>
        <p:txBody>
          <a:bodyPr/>
          <a:lstStyle/>
          <a:p>
            <a:r>
              <a:rPr lang="en-US" dirty="0"/>
              <a:t>Analytic Sample</a:t>
            </a:r>
          </a:p>
        </p:txBody>
      </p:sp>
      <p:sp>
        <p:nvSpPr>
          <p:cNvPr id="3" name="Content Placeholder 2">
            <a:extLst>
              <a:ext uri="{FF2B5EF4-FFF2-40B4-BE49-F238E27FC236}">
                <a16:creationId xmlns:a16="http://schemas.microsoft.com/office/drawing/2014/main" id="{2F16B611-6A0A-66CB-557D-593A0B0C4B49}"/>
              </a:ext>
            </a:extLst>
          </p:cNvPr>
          <p:cNvSpPr>
            <a:spLocks noGrp="1"/>
          </p:cNvSpPr>
          <p:nvPr>
            <p:ph idx="1"/>
          </p:nvPr>
        </p:nvSpPr>
        <p:spPr/>
        <p:txBody>
          <a:bodyPr/>
          <a:lstStyle/>
          <a:p>
            <a:pPr marL="457200">
              <a:spcBef>
                <a:spcPts val="0"/>
              </a:spcBef>
              <a:spcAft>
                <a:spcPts val="600"/>
              </a:spcAft>
              <a:buClr>
                <a:schemeClr val="dk1"/>
              </a:buClr>
              <a:buSzPts val="1800"/>
              <a:buChar char="●"/>
            </a:pPr>
            <a:r>
              <a:rPr lang="en-US" sz="2800" dirty="0">
                <a:solidFill>
                  <a:schemeClr val="dk1"/>
                </a:solidFill>
              </a:rPr>
              <a:t>1,828 LGBTQ+ students (excluding </a:t>
            </a:r>
            <a:r>
              <a:rPr lang="en-US" sz="2800" i="1" dirty="0">
                <a:solidFill>
                  <a:schemeClr val="dk1"/>
                </a:solidFill>
              </a:rPr>
              <a:t>Prefer Not to Say</a:t>
            </a:r>
            <a:r>
              <a:rPr lang="en-US" sz="2800" dirty="0">
                <a:solidFill>
                  <a:schemeClr val="dk1"/>
                </a:solidFill>
              </a:rPr>
              <a:t>)</a:t>
            </a:r>
          </a:p>
          <a:p>
            <a:pPr marL="914400" lvl="1" indent="-317500">
              <a:spcBef>
                <a:spcPts val="0"/>
              </a:spcBef>
              <a:spcAft>
                <a:spcPts val="600"/>
              </a:spcAft>
              <a:buClr>
                <a:schemeClr val="dk1"/>
              </a:buClr>
              <a:buSzPts val="1400"/>
              <a:buChar char="○"/>
            </a:pPr>
            <a:r>
              <a:rPr lang="en-US" sz="2400" dirty="0">
                <a:solidFill>
                  <a:schemeClr val="dk1"/>
                </a:solidFill>
              </a:rPr>
              <a:t>417 non-cisgender</a:t>
            </a:r>
          </a:p>
          <a:p>
            <a:pPr marL="914400" lvl="1" indent="-317500">
              <a:spcBef>
                <a:spcPts val="0"/>
              </a:spcBef>
              <a:spcAft>
                <a:spcPts val="600"/>
              </a:spcAft>
              <a:buClr>
                <a:schemeClr val="dk1"/>
              </a:buClr>
              <a:buSzPts val="1400"/>
              <a:buChar char="○"/>
            </a:pPr>
            <a:r>
              <a:rPr lang="en-US" sz="2400" dirty="0">
                <a:solidFill>
                  <a:schemeClr val="dk1"/>
                </a:solidFill>
              </a:rPr>
              <a:t>1,782 non-heterosexual </a:t>
            </a:r>
          </a:p>
          <a:p>
            <a:endParaRPr lang="en-US" dirty="0"/>
          </a:p>
        </p:txBody>
      </p:sp>
      <p:sp>
        <p:nvSpPr>
          <p:cNvPr id="4" name="Slide Number Placeholder 3">
            <a:extLst>
              <a:ext uri="{FF2B5EF4-FFF2-40B4-BE49-F238E27FC236}">
                <a16:creationId xmlns:a16="http://schemas.microsoft.com/office/drawing/2014/main" id="{B142117C-3CDD-367F-64D9-824CADA79DEA}"/>
              </a:ext>
            </a:extLst>
          </p:cNvPr>
          <p:cNvSpPr>
            <a:spLocks noGrp="1"/>
          </p:cNvSpPr>
          <p:nvPr>
            <p:ph type="sldNum" sz="quarter" idx="12"/>
          </p:nvPr>
        </p:nvSpPr>
        <p:spPr/>
        <p:txBody>
          <a:bodyPr/>
          <a:lstStyle/>
          <a:p>
            <a:fld id="{80DD8C35-F8B3-4049-95AF-A34E38FBBA50}" type="slidenum">
              <a:rPr lang="en-US" smtClean="0"/>
              <a:pPr/>
              <a:t>17</a:t>
            </a:fld>
            <a:endParaRPr lang="en-US" dirty="0"/>
          </a:p>
        </p:txBody>
      </p:sp>
    </p:spTree>
    <p:extLst>
      <p:ext uri="{BB962C8B-B14F-4D97-AF65-F5344CB8AC3E}">
        <p14:creationId xmlns:p14="http://schemas.microsoft.com/office/powerpoint/2010/main" val="1366447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a:extLst>
            <a:ext uri="{FF2B5EF4-FFF2-40B4-BE49-F238E27FC236}">
              <a16:creationId xmlns:a16="http://schemas.microsoft.com/office/drawing/2014/main" id="{C3B97885-FE89-84E8-FD02-62C771691577}"/>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31A8230-D4E5-7CA6-9A34-285D50B8B849}"/>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6ECFAF9E-3383-B52B-E4D1-E41D83296C23}"/>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2DDD353C-805F-5AA8-6D6F-C7ADBD23DD21}"/>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B6008B17-B926-BA54-5C16-3DF4E3A9C154}"/>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8937E1-B13D-90A3-756B-1EA0033BC32A}"/>
              </a:ext>
            </a:extLst>
          </p:cNvPr>
          <p:cNvSpPr txBox="1"/>
          <p:nvPr/>
        </p:nvSpPr>
        <p:spPr>
          <a:xfrm>
            <a:off x="3009665" y="2971801"/>
            <a:ext cx="6248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Findings &amp; Discussion</a:t>
            </a:r>
          </a:p>
        </p:txBody>
      </p:sp>
    </p:spTree>
    <p:extLst>
      <p:ext uri="{BB962C8B-B14F-4D97-AF65-F5344CB8AC3E}">
        <p14:creationId xmlns:p14="http://schemas.microsoft.com/office/powerpoint/2010/main" val="1799123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0E2EE-41B1-B198-03E3-4AF9E8F4DEC0}"/>
              </a:ext>
            </a:extLst>
          </p:cNvPr>
          <p:cNvSpPr>
            <a:spLocks noGrp="1"/>
          </p:cNvSpPr>
          <p:nvPr>
            <p:ph type="title"/>
          </p:nvPr>
        </p:nvSpPr>
        <p:spPr/>
        <p:txBody>
          <a:bodyPr/>
          <a:lstStyle/>
          <a:p>
            <a:r>
              <a:rPr lang="en-US" dirty="0"/>
              <a:t>Diversity of Self-Descriptions</a:t>
            </a:r>
          </a:p>
        </p:txBody>
      </p:sp>
      <p:sp>
        <p:nvSpPr>
          <p:cNvPr id="4" name="Slide Number Placeholder 3">
            <a:extLst>
              <a:ext uri="{FF2B5EF4-FFF2-40B4-BE49-F238E27FC236}">
                <a16:creationId xmlns:a16="http://schemas.microsoft.com/office/drawing/2014/main" id="{8DDFFCCF-27C6-2AB1-6D8A-28E0C3583C6B}"/>
              </a:ext>
            </a:extLst>
          </p:cNvPr>
          <p:cNvSpPr>
            <a:spLocks noGrp="1"/>
          </p:cNvSpPr>
          <p:nvPr>
            <p:ph type="sldNum" sz="quarter" idx="12"/>
          </p:nvPr>
        </p:nvSpPr>
        <p:spPr/>
        <p:txBody>
          <a:bodyPr/>
          <a:lstStyle/>
          <a:p>
            <a:fld id="{80DD8C35-F8B3-4049-95AF-A34E38FBBA50}" type="slidenum">
              <a:rPr lang="en-US" smtClean="0"/>
              <a:pPr/>
              <a:t>19</a:t>
            </a:fld>
            <a:endParaRPr lang="en-US" dirty="0"/>
          </a:p>
        </p:txBody>
      </p:sp>
      <p:pic>
        <p:nvPicPr>
          <p:cNvPr id="5" name="Picture 4" descr="A person's head with words&#10;&#10;Description automatically generated">
            <a:extLst>
              <a:ext uri="{FF2B5EF4-FFF2-40B4-BE49-F238E27FC236}">
                <a16:creationId xmlns:a16="http://schemas.microsoft.com/office/drawing/2014/main" id="{3114A06B-96E9-13FF-3FE7-56C20D8178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453356"/>
            <a:ext cx="5257802" cy="4819652"/>
          </a:xfrm>
          <a:prstGeom prst="rect">
            <a:avLst/>
          </a:prstGeom>
        </p:spPr>
      </p:pic>
      <p:pic>
        <p:nvPicPr>
          <p:cNvPr id="6" name="Picture 5" descr="A heart shaped sign with words&#10;&#10;Description automatically generated">
            <a:extLst>
              <a:ext uri="{FF2B5EF4-FFF2-40B4-BE49-F238E27FC236}">
                <a16:creationId xmlns:a16="http://schemas.microsoft.com/office/drawing/2014/main" id="{AB8D543D-FB16-C403-85E4-962D25B992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5127" y="1453356"/>
            <a:ext cx="5590309" cy="5124450"/>
          </a:xfrm>
          <a:prstGeom prst="rect">
            <a:avLst/>
          </a:prstGeom>
        </p:spPr>
      </p:pic>
    </p:spTree>
    <p:extLst>
      <p:ext uri="{BB962C8B-B14F-4D97-AF65-F5344CB8AC3E}">
        <p14:creationId xmlns:p14="http://schemas.microsoft.com/office/powerpoint/2010/main" val="2116953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8CB93-639C-35CB-D486-2DA80AB49EAA}"/>
              </a:ext>
            </a:extLst>
          </p:cNvPr>
          <p:cNvSpPr>
            <a:spLocks noGrp="1"/>
          </p:cNvSpPr>
          <p:nvPr>
            <p:ph type="title"/>
          </p:nvPr>
        </p:nvSpPr>
        <p:spPr>
          <a:xfrm>
            <a:off x="609600" y="76200"/>
            <a:ext cx="10972800" cy="1143000"/>
          </a:xfrm>
        </p:spPr>
        <p:txBody>
          <a:bodyPr anchor="ctr">
            <a:normAutofit/>
          </a:bodyPr>
          <a:lstStyle/>
          <a:p>
            <a:r>
              <a:rPr lang="en-US" dirty="0"/>
              <a:t>Plans for College Enrollment</a:t>
            </a:r>
          </a:p>
        </p:txBody>
      </p:sp>
      <p:pic>
        <p:nvPicPr>
          <p:cNvPr id="5" name="Picture 4" descr="A graph with numbers and a bar&#10;&#10;Description automatically generated with medium confidence">
            <a:extLst>
              <a:ext uri="{FF2B5EF4-FFF2-40B4-BE49-F238E27FC236}">
                <a16:creationId xmlns:a16="http://schemas.microsoft.com/office/drawing/2014/main" id="{C86509D5-9027-B19E-24BF-1AC943B5E5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6225" y="1600201"/>
            <a:ext cx="8539550" cy="4525963"/>
          </a:xfrm>
          <a:prstGeom prst="rect">
            <a:avLst/>
          </a:prstGeom>
          <a:noFill/>
        </p:spPr>
      </p:pic>
      <p:sp>
        <p:nvSpPr>
          <p:cNvPr id="4" name="Slide Number Placeholder 3">
            <a:extLst>
              <a:ext uri="{FF2B5EF4-FFF2-40B4-BE49-F238E27FC236}">
                <a16:creationId xmlns:a16="http://schemas.microsoft.com/office/drawing/2014/main" id="{A4047F72-A51F-C4D0-41A7-CE701290A515}"/>
              </a:ext>
            </a:extLst>
          </p:cNvPr>
          <p:cNvSpPr>
            <a:spLocks noGrp="1"/>
          </p:cNvSpPr>
          <p:nvPr>
            <p:ph type="sldNum" sz="quarter" idx="12"/>
          </p:nvPr>
        </p:nvSpPr>
        <p:spPr>
          <a:xfrm>
            <a:off x="11660253" y="-1"/>
            <a:ext cx="569033"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20</a:t>
            </a:fld>
            <a:endParaRPr lang="en-US"/>
          </a:p>
        </p:txBody>
      </p:sp>
    </p:spTree>
    <p:extLst>
      <p:ext uri="{BB962C8B-B14F-4D97-AF65-F5344CB8AC3E}">
        <p14:creationId xmlns:p14="http://schemas.microsoft.com/office/powerpoint/2010/main" val="3179649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8A563-32F5-7801-8B11-4B3869FF401D}"/>
              </a:ext>
            </a:extLst>
          </p:cNvPr>
          <p:cNvSpPr>
            <a:spLocks noGrp="1"/>
          </p:cNvSpPr>
          <p:nvPr>
            <p:ph type="title"/>
          </p:nvPr>
        </p:nvSpPr>
        <p:spPr>
          <a:xfrm>
            <a:off x="609600" y="76200"/>
            <a:ext cx="10972800" cy="1143000"/>
          </a:xfrm>
        </p:spPr>
        <p:txBody>
          <a:bodyPr anchor="ctr">
            <a:normAutofit/>
          </a:bodyPr>
          <a:lstStyle/>
          <a:p>
            <a:r>
              <a:rPr lang="en-US" dirty="0"/>
              <a:t>Degree Aspirations</a:t>
            </a:r>
          </a:p>
        </p:txBody>
      </p:sp>
      <p:sp>
        <p:nvSpPr>
          <p:cNvPr id="4" name="Slide Number Placeholder 3">
            <a:extLst>
              <a:ext uri="{FF2B5EF4-FFF2-40B4-BE49-F238E27FC236}">
                <a16:creationId xmlns:a16="http://schemas.microsoft.com/office/drawing/2014/main" id="{5A74ECB8-BBA9-84DA-6E28-4294D165D4A6}"/>
              </a:ext>
            </a:extLst>
          </p:cNvPr>
          <p:cNvSpPr>
            <a:spLocks noGrp="1"/>
          </p:cNvSpPr>
          <p:nvPr>
            <p:ph type="sldNum" sz="quarter" idx="12"/>
          </p:nvPr>
        </p:nvSpPr>
        <p:spPr>
          <a:xfrm>
            <a:off x="11660253" y="-1"/>
            <a:ext cx="569033"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21</a:t>
            </a:fld>
            <a:endParaRPr lang="en-US"/>
          </a:p>
        </p:txBody>
      </p:sp>
      <p:graphicFrame>
        <p:nvGraphicFramePr>
          <p:cNvPr id="5" name="Chart 4">
            <a:extLst>
              <a:ext uri="{FF2B5EF4-FFF2-40B4-BE49-F238E27FC236}">
                <a16:creationId xmlns:a16="http://schemas.microsoft.com/office/drawing/2014/main" id="{48DB99AF-36C4-834D-93D4-411C7F05068E}"/>
              </a:ext>
            </a:extLst>
          </p:cNvPr>
          <p:cNvGraphicFramePr>
            <a:graphicFrameLocks/>
          </p:cNvGraphicFramePr>
          <p:nvPr>
            <p:extLst>
              <p:ext uri="{D42A27DB-BD31-4B8C-83A1-F6EECF244321}">
                <p14:modId xmlns:p14="http://schemas.microsoft.com/office/powerpoint/2010/main" val="1124115426"/>
              </p:ext>
            </p:extLst>
          </p:nvPr>
        </p:nvGraphicFramePr>
        <p:xfrm>
          <a:off x="609600" y="1600201"/>
          <a:ext cx="10972800" cy="45259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95896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FB9E6-7F46-5BD1-39D1-85429C563879}"/>
              </a:ext>
            </a:extLst>
          </p:cNvPr>
          <p:cNvSpPr>
            <a:spLocks noGrp="1"/>
          </p:cNvSpPr>
          <p:nvPr>
            <p:ph type="title"/>
          </p:nvPr>
        </p:nvSpPr>
        <p:spPr/>
        <p:txBody>
          <a:bodyPr/>
          <a:lstStyle/>
          <a:p>
            <a:r>
              <a:rPr lang="en-US" dirty="0"/>
              <a:t>College Majors</a:t>
            </a:r>
          </a:p>
        </p:txBody>
      </p:sp>
      <p:sp>
        <p:nvSpPr>
          <p:cNvPr id="4" name="Slide Number Placeholder 3">
            <a:extLst>
              <a:ext uri="{FF2B5EF4-FFF2-40B4-BE49-F238E27FC236}">
                <a16:creationId xmlns:a16="http://schemas.microsoft.com/office/drawing/2014/main" id="{19E28F32-538D-513A-41C9-62BD55A10170}"/>
              </a:ext>
            </a:extLst>
          </p:cNvPr>
          <p:cNvSpPr>
            <a:spLocks noGrp="1"/>
          </p:cNvSpPr>
          <p:nvPr>
            <p:ph type="sldNum" sz="quarter" idx="12"/>
          </p:nvPr>
        </p:nvSpPr>
        <p:spPr/>
        <p:txBody>
          <a:bodyPr/>
          <a:lstStyle/>
          <a:p>
            <a:fld id="{80DD8C35-F8B3-4049-95AF-A34E38FBBA50}" type="slidenum">
              <a:rPr lang="en-US" smtClean="0"/>
              <a:pPr/>
              <a:t>22</a:t>
            </a:fld>
            <a:endParaRPr lang="en-US" dirty="0"/>
          </a:p>
        </p:txBody>
      </p:sp>
      <p:pic>
        <p:nvPicPr>
          <p:cNvPr id="5" name="Picture 4">
            <a:extLst>
              <a:ext uri="{FF2B5EF4-FFF2-40B4-BE49-F238E27FC236}">
                <a16:creationId xmlns:a16="http://schemas.microsoft.com/office/drawing/2014/main" id="{B6C67855-70E9-A4F4-D5C1-48ED977F1327}"/>
              </a:ext>
            </a:extLst>
          </p:cNvPr>
          <p:cNvPicPr>
            <a:picLocks noChangeAspect="1"/>
          </p:cNvPicPr>
          <p:nvPr/>
        </p:nvPicPr>
        <p:blipFill>
          <a:blip r:embed="rId2"/>
          <a:stretch>
            <a:fillRect/>
          </a:stretch>
        </p:blipFill>
        <p:spPr>
          <a:xfrm>
            <a:off x="244122" y="1524000"/>
            <a:ext cx="11703756" cy="5029200"/>
          </a:xfrm>
          <a:prstGeom prst="rect">
            <a:avLst/>
          </a:prstGeom>
        </p:spPr>
      </p:pic>
    </p:spTree>
    <p:extLst>
      <p:ext uri="{BB962C8B-B14F-4D97-AF65-F5344CB8AC3E}">
        <p14:creationId xmlns:p14="http://schemas.microsoft.com/office/powerpoint/2010/main" val="1533876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6819D-730E-32E1-7512-DB70930EA2B9}"/>
              </a:ext>
            </a:extLst>
          </p:cNvPr>
          <p:cNvSpPr>
            <a:spLocks noGrp="1"/>
          </p:cNvSpPr>
          <p:nvPr>
            <p:ph type="title"/>
          </p:nvPr>
        </p:nvSpPr>
        <p:spPr/>
        <p:txBody>
          <a:bodyPr/>
          <a:lstStyle/>
          <a:p>
            <a:r>
              <a:rPr lang="en-US" dirty="0"/>
              <a:t>High School Experience Index</a:t>
            </a:r>
          </a:p>
        </p:txBody>
      </p:sp>
      <p:sp>
        <p:nvSpPr>
          <p:cNvPr id="3" name="Content Placeholder 2">
            <a:extLst>
              <a:ext uri="{FF2B5EF4-FFF2-40B4-BE49-F238E27FC236}">
                <a16:creationId xmlns:a16="http://schemas.microsoft.com/office/drawing/2014/main" id="{73E2078B-F1BF-4EFF-DFD2-F39E6E80C297}"/>
              </a:ext>
            </a:extLst>
          </p:cNvPr>
          <p:cNvSpPr>
            <a:spLocks noGrp="1"/>
          </p:cNvSpPr>
          <p:nvPr>
            <p:ph idx="1"/>
          </p:nvPr>
        </p:nvSpPr>
        <p:spPr/>
        <p:txBody>
          <a:bodyPr/>
          <a:lstStyle/>
          <a:p>
            <a:r>
              <a:rPr lang="en-US" dirty="0"/>
              <a:t>Construct an index from survey questions</a:t>
            </a:r>
          </a:p>
          <a:p>
            <a:pPr lvl="1"/>
            <a:r>
              <a:rPr lang="en-US" dirty="0"/>
              <a:t>HS social &amp; academic experience</a:t>
            </a:r>
          </a:p>
          <a:p>
            <a:pPr lvl="1"/>
            <a:r>
              <a:rPr lang="en-US" dirty="0"/>
              <a:t>Interaction with teacher/staff</a:t>
            </a:r>
          </a:p>
          <a:p>
            <a:pPr lvl="1"/>
            <a:r>
              <a:rPr lang="en-US" dirty="0"/>
              <a:t>Preparation for college</a:t>
            </a:r>
          </a:p>
          <a:p>
            <a:r>
              <a:rPr lang="en-US" dirty="0"/>
              <a:t>Index Range: -12 to 12</a:t>
            </a:r>
          </a:p>
          <a:p>
            <a:pPr lvl="1"/>
            <a:r>
              <a:rPr lang="en-US" dirty="0"/>
              <a:t>Index &lt; 0: negative experience</a:t>
            </a:r>
          </a:p>
          <a:p>
            <a:pPr lvl="1"/>
            <a:r>
              <a:rPr lang="en-US" dirty="0"/>
              <a:t>Index = 0: neutral</a:t>
            </a:r>
          </a:p>
          <a:p>
            <a:pPr lvl="1"/>
            <a:r>
              <a:rPr lang="en-US" dirty="0"/>
              <a:t>Index &gt; 0: positive experience</a:t>
            </a:r>
          </a:p>
        </p:txBody>
      </p:sp>
      <p:sp>
        <p:nvSpPr>
          <p:cNvPr id="4" name="Slide Number Placeholder 3">
            <a:extLst>
              <a:ext uri="{FF2B5EF4-FFF2-40B4-BE49-F238E27FC236}">
                <a16:creationId xmlns:a16="http://schemas.microsoft.com/office/drawing/2014/main" id="{ECE9AAB1-1AC5-05A5-4E82-D5A111995647}"/>
              </a:ext>
            </a:extLst>
          </p:cNvPr>
          <p:cNvSpPr>
            <a:spLocks noGrp="1"/>
          </p:cNvSpPr>
          <p:nvPr>
            <p:ph type="sldNum" sz="quarter" idx="12"/>
          </p:nvPr>
        </p:nvSpPr>
        <p:spPr/>
        <p:txBody>
          <a:bodyPr/>
          <a:lstStyle/>
          <a:p>
            <a:fld id="{80DD8C35-F8B3-4049-95AF-A34E38FBBA50}" type="slidenum">
              <a:rPr lang="en-US" smtClean="0"/>
              <a:pPr/>
              <a:t>23</a:t>
            </a:fld>
            <a:endParaRPr lang="en-US" dirty="0"/>
          </a:p>
        </p:txBody>
      </p:sp>
    </p:spTree>
    <p:extLst>
      <p:ext uri="{BB962C8B-B14F-4D97-AF65-F5344CB8AC3E}">
        <p14:creationId xmlns:p14="http://schemas.microsoft.com/office/powerpoint/2010/main" val="3422845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CD78D-CB9E-7D7A-3D3E-034F322040F2}"/>
              </a:ext>
            </a:extLst>
          </p:cNvPr>
          <p:cNvSpPr>
            <a:spLocks noGrp="1"/>
          </p:cNvSpPr>
          <p:nvPr>
            <p:ph type="title"/>
          </p:nvPr>
        </p:nvSpPr>
        <p:spPr/>
        <p:txBody>
          <a:bodyPr/>
          <a:lstStyle/>
          <a:p>
            <a:r>
              <a:rPr lang="en-US" dirty="0"/>
              <a:t>High School Experience by Gender</a:t>
            </a:r>
          </a:p>
        </p:txBody>
      </p:sp>
      <p:sp>
        <p:nvSpPr>
          <p:cNvPr id="3" name="Content Placeholder 2">
            <a:extLst>
              <a:ext uri="{FF2B5EF4-FFF2-40B4-BE49-F238E27FC236}">
                <a16:creationId xmlns:a16="http://schemas.microsoft.com/office/drawing/2014/main" id="{569900E8-3C5E-EA43-1C01-5427905BC159}"/>
              </a:ext>
            </a:extLst>
          </p:cNvPr>
          <p:cNvSpPr>
            <a:spLocks noGrp="1"/>
          </p:cNvSpPr>
          <p:nvPr>
            <p:ph idx="1"/>
          </p:nvPr>
        </p:nvSpPr>
        <p:spPr>
          <a:xfrm>
            <a:off x="609600" y="6160167"/>
            <a:ext cx="11201400" cy="487363"/>
          </a:xfrm>
        </p:spPr>
        <p:txBody>
          <a:bodyPr>
            <a:normAutofit lnSpcReduction="10000"/>
          </a:bodyPr>
          <a:lstStyle/>
          <a:p>
            <a:pPr marL="0" indent="0">
              <a:buNone/>
            </a:pPr>
            <a:r>
              <a:rPr lang="en-US" sz="1400" i="1" dirty="0">
                <a:effectLst/>
                <a:ea typeface="Times New Roman" panose="02020603050405020304" pitchFamily="18" charset="0"/>
              </a:rPr>
              <a:t>Note: </a:t>
            </a:r>
            <a:r>
              <a:rPr lang="en-US" sz="1400" dirty="0">
                <a:effectLst/>
                <a:ea typeface="Times New Roman" panose="02020603050405020304" pitchFamily="18" charset="0"/>
              </a:rPr>
              <a:t>For the unconditional model, </a:t>
            </a:r>
            <a:r>
              <a:rPr lang="en-US" sz="1400" i="1" dirty="0">
                <a:effectLst/>
                <a:ea typeface="Times New Roman" panose="02020603050405020304" pitchFamily="18" charset="0"/>
              </a:rPr>
              <a:t>n</a:t>
            </a:r>
            <a:r>
              <a:rPr lang="en-US" sz="1400" dirty="0">
                <a:effectLst/>
                <a:ea typeface="Times New Roman" panose="02020603050405020304" pitchFamily="18" charset="0"/>
              </a:rPr>
              <a:t> = 7,483. For the model controlling for demographics (race/ethnicity and parental level of education), </a:t>
            </a:r>
            <a:r>
              <a:rPr lang="en-US" sz="1400" i="1" dirty="0">
                <a:effectLst/>
                <a:ea typeface="Times New Roman" panose="02020603050405020304" pitchFamily="18" charset="0"/>
              </a:rPr>
              <a:t>n</a:t>
            </a:r>
            <a:r>
              <a:rPr lang="en-US" sz="1400" dirty="0">
                <a:effectLst/>
                <a:ea typeface="Times New Roman" panose="02020603050405020304" pitchFamily="18" charset="0"/>
              </a:rPr>
              <a:t> = 7,464. The lines indicate 95 percent confidence </a:t>
            </a:r>
            <a:r>
              <a:rPr lang="en-US" sz="1100" dirty="0">
                <a:effectLst/>
                <a:ea typeface="Times New Roman" panose="02020603050405020304" pitchFamily="18" charset="0"/>
              </a:rPr>
              <a:t>intervals</a:t>
            </a:r>
            <a:r>
              <a:rPr lang="en-US" sz="1400" dirty="0">
                <a:effectLst/>
                <a:ea typeface="Times New Roman" panose="02020603050405020304" pitchFamily="18" charset="0"/>
              </a:rPr>
              <a:t> while the sample frequency and mean index of each gender identity are reported in parentheses. </a:t>
            </a:r>
            <a:endParaRPr lang="en-US" sz="2400" dirty="0"/>
          </a:p>
        </p:txBody>
      </p:sp>
      <p:sp>
        <p:nvSpPr>
          <p:cNvPr id="4" name="Slide Number Placeholder 3">
            <a:extLst>
              <a:ext uri="{FF2B5EF4-FFF2-40B4-BE49-F238E27FC236}">
                <a16:creationId xmlns:a16="http://schemas.microsoft.com/office/drawing/2014/main" id="{1CC10FF2-831B-029E-F220-AED155BB52A9}"/>
              </a:ext>
            </a:extLst>
          </p:cNvPr>
          <p:cNvSpPr>
            <a:spLocks noGrp="1"/>
          </p:cNvSpPr>
          <p:nvPr>
            <p:ph type="sldNum" sz="quarter" idx="12"/>
          </p:nvPr>
        </p:nvSpPr>
        <p:spPr/>
        <p:txBody>
          <a:bodyPr/>
          <a:lstStyle/>
          <a:p>
            <a:fld id="{80DD8C35-F8B3-4049-95AF-A34E38FBBA50}" type="slidenum">
              <a:rPr lang="en-US" smtClean="0"/>
              <a:pPr/>
              <a:t>24</a:t>
            </a:fld>
            <a:endParaRPr lang="en-US" dirty="0"/>
          </a:p>
        </p:txBody>
      </p:sp>
      <p:pic>
        <p:nvPicPr>
          <p:cNvPr id="5" name="Picture 4" descr="A graph with black and white lines&#10;&#10;Description automatically generated">
            <a:extLst>
              <a:ext uri="{FF2B5EF4-FFF2-40B4-BE49-F238E27FC236}">
                <a16:creationId xmlns:a16="http://schemas.microsoft.com/office/drawing/2014/main" id="{E365F489-B317-72F2-0CFB-6295E30EC99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24199" y="1600200"/>
            <a:ext cx="6077193" cy="4419600"/>
          </a:xfrm>
          <a:prstGeom prst="rect">
            <a:avLst/>
          </a:prstGeom>
          <a:noFill/>
          <a:ln>
            <a:noFill/>
          </a:ln>
        </p:spPr>
      </p:pic>
    </p:spTree>
    <p:extLst>
      <p:ext uri="{BB962C8B-B14F-4D97-AF65-F5344CB8AC3E}">
        <p14:creationId xmlns:p14="http://schemas.microsoft.com/office/powerpoint/2010/main" val="235852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DC001-6C5B-4354-320B-B1923593AE9A}"/>
              </a:ext>
            </a:extLst>
          </p:cNvPr>
          <p:cNvSpPr>
            <a:spLocks noGrp="1"/>
          </p:cNvSpPr>
          <p:nvPr>
            <p:ph type="title"/>
          </p:nvPr>
        </p:nvSpPr>
        <p:spPr/>
        <p:txBody>
          <a:bodyPr/>
          <a:lstStyle/>
          <a:p>
            <a:r>
              <a:rPr lang="en-US" dirty="0"/>
              <a:t>College Worries Index</a:t>
            </a:r>
          </a:p>
        </p:txBody>
      </p:sp>
      <p:sp>
        <p:nvSpPr>
          <p:cNvPr id="3" name="Content Placeholder 2">
            <a:extLst>
              <a:ext uri="{FF2B5EF4-FFF2-40B4-BE49-F238E27FC236}">
                <a16:creationId xmlns:a16="http://schemas.microsoft.com/office/drawing/2014/main" id="{97733EED-6E12-ED11-486B-901DDCAB28CC}"/>
              </a:ext>
            </a:extLst>
          </p:cNvPr>
          <p:cNvSpPr>
            <a:spLocks noGrp="1"/>
          </p:cNvSpPr>
          <p:nvPr>
            <p:ph idx="1"/>
          </p:nvPr>
        </p:nvSpPr>
        <p:spPr/>
        <p:txBody>
          <a:bodyPr/>
          <a:lstStyle/>
          <a:p>
            <a:r>
              <a:rPr lang="en-US" dirty="0"/>
              <a:t>PCA of questions on worries about college</a:t>
            </a:r>
          </a:p>
          <a:p>
            <a:pPr lvl="1"/>
            <a:r>
              <a:rPr lang="en-US" dirty="0"/>
              <a:t>Academic and social </a:t>
            </a:r>
          </a:p>
          <a:p>
            <a:pPr lvl="1"/>
            <a:r>
              <a:rPr lang="en-US" dirty="0"/>
              <a:t>Personal, family, financial</a:t>
            </a:r>
          </a:p>
          <a:p>
            <a:pPr lvl="1"/>
            <a:r>
              <a:rPr lang="en-US" dirty="0"/>
              <a:t>Discrimination</a:t>
            </a:r>
          </a:p>
          <a:p>
            <a:r>
              <a:rPr lang="en-US" dirty="0"/>
              <a:t>3 indices for worries (56% of variance)</a:t>
            </a:r>
          </a:p>
          <a:p>
            <a:pPr lvl="1"/>
            <a:r>
              <a:rPr lang="en-US" dirty="0"/>
              <a:t>General worries</a:t>
            </a:r>
          </a:p>
          <a:p>
            <a:pPr lvl="1"/>
            <a:r>
              <a:rPr lang="en-US" dirty="0"/>
              <a:t>Worries about discrimination</a:t>
            </a:r>
          </a:p>
          <a:p>
            <a:pPr lvl="1"/>
            <a:r>
              <a:rPr lang="en-US" dirty="0"/>
              <a:t>Worries about financial burdens</a:t>
            </a:r>
          </a:p>
        </p:txBody>
      </p:sp>
      <p:sp>
        <p:nvSpPr>
          <p:cNvPr id="4" name="Slide Number Placeholder 3">
            <a:extLst>
              <a:ext uri="{FF2B5EF4-FFF2-40B4-BE49-F238E27FC236}">
                <a16:creationId xmlns:a16="http://schemas.microsoft.com/office/drawing/2014/main" id="{10C439B0-7E2F-ED4C-9DAD-4D30FB46731A}"/>
              </a:ext>
            </a:extLst>
          </p:cNvPr>
          <p:cNvSpPr>
            <a:spLocks noGrp="1"/>
          </p:cNvSpPr>
          <p:nvPr>
            <p:ph type="sldNum" sz="quarter" idx="12"/>
          </p:nvPr>
        </p:nvSpPr>
        <p:spPr/>
        <p:txBody>
          <a:bodyPr/>
          <a:lstStyle/>
          <a:p>
            <a:fld id="{80DD8C35-F8B3-4049-95AF-A34E38FBBA50}" type="slidenum">
              <a:rPr lang="en-US" smtClean="0"/>
              <a:pPr/>
              <a:t>25</a:t>
            </a:fld>
            <a:endParaRPr lang="en-US" dirty="0"/>
          </a:p>
        </p:txBody>
      </p:sp>
    </p:spTree>
    <p:extLst>
      <p:ext uri="{BB962C8B-B14F-4D97-AF65-F5344CB8AC3E}">
        <p14:creationId xmlns:p14="http://schemas.microsoft.com/office/powerpoint/2010/main" val="462026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1745-1C40-E60F-02EB-012C8E910D1C}"/>
              </a:ext>
            </a:extLst>
          </p:cNvPr>
          <p:cNvSpPr>
            <a:spLocks noGrp="1"/>
          </p:cNvSpPr>
          <p:nvPr>
            <p:ph type="title"/>
          </p:nvPr>
        </p:nvSpPr>
        <p:spPr>
          <a:xfrm>
            <a:off x="609600" y="76200"/>
            <a:ext cx="10972800" cy="1143000"/>
          </a:xfrm>
        </p:spPr>
        <p:txBody>
          <a:bodyPr anchor="ctr">
            <a:normAutofit/>
          </a:bodyPr>
          <a:lstStyle/>
          <a:p>
            <a:r>
              <a:rPr lang="en-US" dirty="0"/>
              <a:t>General Worries</a:t>
            </a:r>
          </a:p>
        </p:txBody>
      </p:sp>
      <p:pic>
        <p:nvPicPr>
          <p:cNvPr id="5" name="Picture 4" descr="A graph with black and white lines&#10;&#10;Description automatically generated">
            <a:extLst>
              <a:ext uri="{FF2B5EF4-FFF2-40B4-BE49-F238E27FC236}">
                <a16:creationId xmlns:a16="http://schemas.microsoft.com/office/drawing/2014/main" id="{3F6834E6-EB3C-0482-4FD1-8F0B73B51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985373" y="1600201"/>
            <a:ext cx="6221254" cy="4525963"/>
          </a:xfrm>
          <a:prstGeom prst="rect">
            <a:avLst/>
          </a:prstGeom>
          <a:noFill/>
          <a:ln>
            <a:noFill/>
          </a:ln>
        </p:spPr>
      </p:pic>
      <p:sp>
        <p:nvSpPr>
          <p:cNvPr id="4" name="Slide Number Placeholder 3">
            <a:extLst>
              <a:ext uri="{FF2B5EF4-FFF2-40B4-BE49-F238E27FC236}">
                <a16:creationId xmlns:a16="http://schemas.microsoft.com/office/drawing/2014/main" id="{FF0E5078-3B60-0D5D-B273-1A4348D6011A}"/>
              </a:ext>
            </a:extLst>
          </p:cNvPr>
          <p:cNvSpPr>
            <a:spLocks noGrp="1"/>
          </p:cNvSpPr>
          <p:nvPr>
            <p:ph type="sldNum" sz="quarter" idx="12"/>
          </p:nvPr>
        </p:nvSpPr>
        <p:spPr>
          <a:xfrm>
            <a:off x="11660253" y="-1"/>
            <a:ext cx="569033"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26</a:t>
            </a:fld>
            <a:endParaRPr lang="en-US"/>
          </a:p>
        </p:txBody>
      </p:sp>
    </p:spTree>
    <p:extLst>
      <p:ext uri="{BB962C8B-B14F-4D97-AF65-F5344CB8AC3E}">
        <p14:creationId xmlns:p14="http://schemas.microsoft.com/office/powerpoint/2010/main" val="41115802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22EB4-E9A1-6E01-FEB9-848FF1E10AB2}"/>
              </a:ext>
            </a:extLst>
          </p:cNvPr>
          <p:cNvSpPr>
            <a:spLocks noGrp="1"/>
          </p:cNvSpPr>
          <p:nvPr>
            <p:ph type="title"/>
          </p:nvPr>
        </p:nvSpPr>
        <p:spPr>
          <a:xfrm>
            <a:off x="609600" y="76200"/>
            <a:ext cx="10972800" cy="1143000"/>
          </a:xfrm>
        </p:spPr>
        <p:txBody>
          <a:bodyPr anchor="ctr">
            <a:normAutofit/>
          </a:bodyPr>
          <a:lstStyle/>
          <a:p>
            <a:r>
              <a:rPr lang="en-US" dirty="0"/>
              <a:t>Worries about Discrimination</a:t>
            </a:r>
          </a:p>
        </p:txBody>
      </p:sp>
      <p:pic>
        <p:nvPicPr>
          <p:cNvPr id="5" name="Picture 4" descr="A graph with black and white lines&#10;&#10;Description automatically generated">
            <a:extLst>
              <a:ext uri="{FF2B5EF4-FFF2-40B4-BE49-F238E27FC236}">
                <a16:creationId xmlns:a16="http://schemas.microsoft.com/office/drawing/2014/main" id="{2C65BFFD-8C8F-64DC-6C78-93F1D7578B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985373" y="1600201"/>
            <a:ext cx="6221254" cy="4525963"/>
          </a:xfrm>
          <a:prstGeom prst="rect">
            <a:avLst/>
          </a:prstGeom>
          <a:noFill/>
          <a:ln>
            <a:noFill/>
          </a:ln>
        </p:spPr>
      </p:pic>
      <p:sp>
        <p:nvSpPr>
          <p:cNvPr id="4" name="Slide Number Placeholder 3">
            <a:extLst>
              <a:ext uri="{FF2B5EF4-FFF2-40B4-BE49-F238E27FC236}">
                <a16:creationId xmlns:a16="http://schemas.microsoft.com/office/drawing/2014/main" id="{39002BB6-3AA4-1F14-203B-E9FED0845F20}"/>
              </a:ext>
            </a:extLst>
          </p:cNvPr>
          <p:cNvSpPr>
            <a:spLocks noGrp="1"/>
          </p:cNvSpPr>
          <p:nvPr>
            <p:ph type="sldNum" sz="quarter" idx="12"/>
          </p:nvPr>
        </p:nvSpPr>
        <p:spPr>
          <a:xfrm>
            <a:off x="11660253" y="-1"/>
            <a:ext cx="569033"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27</a:t>
            </a:fld>
            <a:endParaRPr lang="en-US"/>
          </a:p>
        </p:txBody>
      </p:sp>
    </p:spTree>
    <p:extLst>
      <p:ext uri="{BB962C8B-B14F-4D97-AF65-F5344CB8AC3E}">
        <p14:creationId xmlns:p14="http://schemas.microsoft.com/office/powerpoint/2010/main" val="5327131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DDDE5-EAFA-C072-3A51-5E438268BFAE}"/>
              </a:ext>
            </a:extLst>
          </p:cNvPr>
          <p:cNvSpPr>
            <a:spLocks noGrp="1"/>
          </p:cNvSpPr>
          <p:nvPr>
            <p:ph type="title"/>
          </p:nvPr>
        </p:nvSpPr>
        <p:spPr>
          <a:xfrm>
            <a:off x="609600" y="76200"/>
            <a:ext cx="10972800" cy="1143000"/>
          </a:xfrm>
        </p:spPr>
        <p:txBody>
          <a:bodyPr anchor="ctr">
            <a:normAutofit/>
          </a:bodyPr>
          <a:lstStyle/>
          <a:p>
            <a:r>
              <a:rPr lang="en-US" dirty="0"/>
              <a:t>Worries about Financial Burdens</a:t>
            </a:r>
          </a:p>
        </p:txBody>
      </p:sp>
      <p:pic>
        <p:nvPicPr>
          <p:cNvPr id="5" name="Picture 4" descr="A graph with black and white lines&#10;&#10;Description automatically generated">
            <a:extLst>
              <a:ext uri="{FF2B5EF4-FFF2-40B4-BE49-F238E27FC236}">
                <a16:creationId xmlns:a16="http://schemas.microsoft.com/office/drawing/2014/main" id="{8D7F2F14-F451-B22F-05AE-1A414BF98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985373" y="1600201"/>
            <a:ext cx="6221254" cy="4525963"/>
          </a:xfrm>
          <a:prstGeom prst="rect">
            <a:avLst/>
          </a:prstGeom>
          <a:noFill/>
          <a:ln>
            <a:noFill/>
          </a:ln>
        </p:spPr>
      </p:pic>
      <p:sp>
        <p:nvSpPr>
          <p:cNvPr id="4" name="Slide Number Placeholder 3">
            <a:extLst>
              <a:ext uri="{FF2B5EF4-FFF2-40B4-BE49-F238E27FC236}">
                <a16:creationId xmlns:a16="http://schemas.microsoft.com/office/drawing/2014/main" id="{9AA674A0-7614-6FDE-6937-BBB09F78F3F4}"/>
              </a:ext>
            </a:extLst>
          </p:cNvPr>
          <p:cNvSpPr>
            <a:spLocks noGrp="1"/>
          </p:cNvSpPr>
          <p:nvPr>
            <p:ph type="sldNum" sz="quarter" idx="12"/>
          </p:nvPr>
        </p:nvSpPr>
        <p:spPr>
          <a:xfrm>
            <a:off x="11660253" y="-1"/>
            <a:ext cx="569033"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28</a:t>
            </a:fld>
            <a:endParaRPr lang="en-US"/>
          </a:p>
        </p:txBody>
      </p:sp>
    </p:spTree>
    <p:extLst>
      <p:ext uri="{BB962C8B-B14F-4D97-AF65-F5344CB8AC3E}">
        <p14:creationId xmlns:p14="http://schemas.microsoft.com/office/powerpoint/2010/main" val="3775122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502C2-D188-EF0C-4067-A3507A104AA2}"/>
              </a:ext>
            </a:extLst>
          </p:cNvPr>
          <p:cNvSpPr>
            <a:spLocks noGrp="1"/>
          </p:cNvSpPr>
          <p:nvPr>
            <p:ph type="title"/>
          </p:nvPr>
        </p:nvSpPr>
        <p:spPr>
          <a:xfrm>
            <a:off x="609600" y="76200"/>
            <a:ext cx="10972800" cy="1143000"/>
          </a:xfrm>
        </p:spPr>
        <p:txBody>
          <a:bodyPr anchor="ctr">
            <a:normAutofit/>
          </a:bodyPr>
          <a:lstStyle/>
          <a:p>
            <a:r>
              <a:rPr lang="en-US" dirty="0"/>
              <a:t>Student Voices</a:t>
            </a:r>
          </a:p>
        </p:txBody>
      </p:sp>
      <p:sp>
        <p:nvSpPr>
          <p:cNvPr id="4" name="Slide Number Placeholder 3">
            <a:extLst>
              <a:ext uri="{FF2B5EF4-FFF2-40B4-BE49-F238E27FC236}">
                <a16:creationId xmlns:a16="http://schemas.microsoft.com/office/drawing/2014/main" id="{988F44D1-D054-F428-D95D-57D33A6B394F}"/>
              </a:ext>
            </a:extLst>
          </p:cNvPr>
          <p:cNvSpPr>
            <a:spLocks noGrp="1"/>
          </p:cNvSpPr>
          <p:nvPr>
            <p:ph type="sldNum" sz="quarter" idx="12"/>
          </p:nvPr>
        </p:nvSpPr>
        <p:spPr>
          <a:xfrm>
            <a:off x="11660253" y="-1"/>
            <a:ext cx="569033"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29</a:t>
            </a:fld>
            <a:endParaRPr lang="en-US"/>
          </a:p>
        </p:txBody>
      </p:sp>
      <p:graphicFrame>
        <p:nvGraphicFramePr>
          <p:cNvPr id="6" name="Content Placeholder 2">
            <a:extLst>
              <a:ext uri="{FF2B5EF4-FFF2-40B4-BE49-F238E27FC236}">
                <a16:creationId xmlns:a16="http://schemas.microsoft.com/office/drawing/2014/main" id="{0B2234A6-5181-FD7D-77AA-5E01D3E5C57E}"/>
              </a:ext>
            </a:extLst>
          </p:cNvPr>
          <p:cNvGraphicFramePr>
            <a:graphicFrameLocks noGrp="1"/>
          </p:cNvGraphicFramePr>
          <p:nvPr>
            <p:ph idx="1"/>
            <p:extLst>
              <p:ext uri="{D42A27DB-BD31-4B8C-83A1-F6EECF244321}">
                <p14:modId xmlns:p14="http://schemas.microsoft.com/office/powerpoint/2010/main" val="142733825"/>
              </p:ext>
            </p:extLst>
          </p:nvPr>
        </p:nvGraphicFramePr>
        <p:xfrm>
          <a:off x="609600" y="1600201"/>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0989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E4FF9-3DE4-6DE6-3C74-38561A9DC8C1}"/>
              </a:ext>
            </a:extLst>
          </p:cNvPr>
          <p:cNvSpPr>
            <a:spLocks noGrp="1"/>
          </p:cNvSpPr>
          <p:nvPr>
            <p:ph type="title"/>
          </p:nvPr>
        </p:nvSpPr>
        <p:spPr/>
        <p:txBody>
          <a:bodyPr/>
          <a:lstStyle/>
          <a:p>
            <a:r>
              <a:rPr lang="en-US" dirty="0"/>
              <a:t>Discussions</a:t>
            </a:r>
          </a:p>
        </p:txBody>
      </p:sp>
      <p:sp>
        <p:nvSpPr>
          <p:cNvPr id="3" name="Content Placeholder 2">
            <a:extLst>
              <a:ext uri="{FF2B5EF4-FFF2-40B4-BE49-F238E27FC236}">
                <a16:creationId xmlns:a16="http://schemas.microsoft.com/office/drawing/2014/main" id="{DA7D2370-B734-F52E-4E3D-690C8E0BE141}"/>
              </a:ext>
            </a:extLst>
          </p:cNvPr>
          <p:cNvSpPr>
            <a:spLocks noGrp="1"/>
          </p:cNvSpPr>
          <p:nvPr>
            <p:ph idx="1"/>
          </p:nvPr>
        </p:nvSpPr>
        <p:spPr/>
        <p:txBody>
          <a:bodyPr/>
          <a:lstStyle/>
          <a:p>
            <a:r>
              <a:rPr lang="en-US" dirty="0"/>
              <a:t>Students hold diverse identities</a:t>
            </a:r>
          </a:p>
          <a:p>
            <a:r>
              <a:rPr lang="en-US" dirty="0"/>
              <a:t>Different patterns of educational aspirations</a:t>
            </a:r>
          </a:p>
          <a:p>
            <a:r>
              <a:rPr lang="en-US" dirty="0"/>
              <a:t>Significant differences in HS experience and worries about college</a:t>
            </a:r>
          </a:p>
          <a:p>
            <a:r>
              <a:rPr lang="en-US" dirty="0"/>
              <a:t>Students also hold much excitement for college</a:t>
            </a:r>
          </a:p>
          <a:p>
            <a:pPr lvl="1"/>
            <a:r>
              <a:rPr lang="en-US" dirty="0"/>
              <a:t>Learning</a:t>
            </a:r>
          </a:p>
          <a:p>
            <a:pPr lvl="1"/>
            <a:r>
              <a:rPr lang="en-US" dirty="0"/>
              <a:t>Community</a:t>
            </a:r>
          </a:p>
          <a:p>
            <a:pPr lvl="1"/>
            <a:r>
              <a:rPr lang="en-US" dirty="0"/>
              <a:t>Independence</a:t>
            </a:r>
          </a:p>
        </p:txBody>
      </p:sp>
      <p:sp>
        <p:nvSpPr>
          <p:cNvPr id="4" name="Slide Number Placeholder 3">
            <a:extLst>
              <a:ext uri="{FF2B5EF4-FFF2-40B4-BE49-F238E27FC236}">
                <a16:creationId xmlns:a16="http://schemas.microsoft.com/office/drawing/2014/main" id="{7CFB4BD3-A6B2-A26F-ABCB-E6C9E871357E}"/>
              </a:ext>
            </a:extLst>
          </p:cNvPr>
          <p:cNvSpPr>
            <a:spLocks noGrp="1"/>
          </p:cNvSpPr>
          <p:nvPr>
            <p:ph type="sldNum" sz="quarter" idx="12"/>
          </p:nvPr>
        </p:nvSpPr>
        <p:spPr/>
        <p:txBody>
          <a:bodyPr/>
          <a:lstStyle/>
          <a:p>
            <a:fld id="{80DD8C35-F8B3-4049-95AF-A34E38FBBA50}" type="slidenum">
              <a:rPr lang="en-US" smtClean="0"/>
              <a:pPr/>
              <a:t>30</a:t>
            </a:fld>
            <a:endParaRPr lang="en-US" dirty="0"/>
          </a:p>
        </p:txBody>
      </p:sp>
    </p:spTree>
    <p:extLst>
      <p:ext uri="{BB962C8B-B14F-4D97-AF65-F5344CB8AC3E}">
        <p14:creationId xmlns:p14="http://schemas.microsoft.com/office/powerpoint/2010/main" val="36204437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a:extLst>
            <a:ext uri="{FF2B5EF4-FFF2-40B4-BE49-F238E27FC236}">
              <a16:creationId xmlns:a16="http://schemas.microsoft.com/office/drawing/2014/main" id="{78150827-C9D1-CC2A-2556-8908039F57D6}"/>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741AFBB-3C12-454D-B26A-1A7E8BD4384F}"/>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4A319D20-F215-CA96-4F31-B6E8F7B3C493}"/>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13C7E3A1-39F5-C0F1-5F58-E093B2A53F5F}"/>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B27CF484-173C-A75C-5009-961AE4743513}"/>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B1735092-339F-2CAC-9C0F-03C8AA851C8D}"/>
              </a:ext>
            </a:extLst>
          </p:cNvPr>
          <p:cNvSpPr txBox="1"/>
          <p:nvPr/>
        </p:nvSpPr>
        <p:spPr>
          <a:xfrm>
            <a:off x="3009665" y="2971801"/>
            <a:ext cx="6248389"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Thank You!</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i="1" spc="300" dirty="0">
              <a:solidFill>
                <a:prstClr val="white"/>
              </a:solidFill>
              <a:latin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ucsun@ucdavis.edu</a:t>
            </a:r>
            <a:endPar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240627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a:extLst>
            <a:ext uri="{FF2B5EF4-FFF2-40B4-BE49-F238E27FC236}">
              <a16:creationId xmlns:a16="http://schemas.microsoft.com/office/drawing/2014/main" id="{E5D29DD2-FD24-CEA9-AE54-8CBF3CDD5406}"/>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4CCAB72-AE8E-D14A-E739-C27EFB03CBFC}"/>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446FBA0C-A23A-A8C5-3EF9-68FD5B8558CA}"/>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5FF721B4-C96E-7A36-290D-8A5330358A5A}"/>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B084236C-766A-80FD-56F5-9A4BCB949A1E}"/>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BDC30BF8-E1BB-14CF-8AF7-27CC945A1078}"/>
              </a:ext>
            </a:extLst>
          </p:cNvPr>
          <p:cNvSpPr txBox="1"/>
          <p:nvPr/>
        </p:nvSpPr>
        <p:spPr>
          <a:xfrm>
            <a:off x="3009665" y="2971801"/>
            <a:ext cx="6248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Appendix</a:t>
            </a:r>
          </a:p>
        </p:txBody>
      </p:sp>
    </p:spTree>
    <p:extLst>
      <p:ext uri="{BB962C8B-B14F-4D97-AF65-F5344CB8AC3E}">
        <p14:creationId xmlns:p14="http://schemas.microsoft.com/office/powerpoint/2010/main" val="3503582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EEEB-E6DE-6B11-847C-355A5F8022EB}"/>
              </a:ext>
            </a:extLst>
          </p:cNvPr>
          <p:cNvSpPr>
            <a:spLocks noGrp="1"/>
          </p:cNvSpPr>
          <p:nvPr>
            <p:ph type="title"/>
          </p:nvPr>
        </p:nvSpPr>
        <p:spPr/>
        <p:txBody>
          <a:bodyPr/>
          <a:lstStyle/>
          <a:p>
            <a:r>
              <a:rPr lang="en-US" dirty="0"/>
              <a:t>High School Experience Questions</a:t>
            </a:r>
          </a:p>
        </p:txBody>
      </p:sp>
      <p:sp>
        <p:nvSpPr>
          <p:cNvPr id="3" name="Content Placeholder 2">
            <a:extLst>
              <a:ext uri="{FF2B5EF4-FFF2-40B4-BE49-F238E27FC236}">
                <a16:creationId xmlns:a16="http://schemas.microsoft.com/office/drawing/2014/main" id="{267A865F-EEE1-345E-DEEF-639E46906BA7}"/>
              </a:ext>
            </a:extLst>
          </p:cNvPr>
          <p:cNvSpPr>
            <a:spLocks noGrp="1"/>
          </p:cNvSpPr>
          <p:nvPr>
            <p:ph idx="1"/>
          </p:nvPr>
        </p:nvSpPr>
        <p:spPr/>
        <p:txBody>
          <a:bodyPr>
            <a:normAutofit/>
          </a:bodyPr>
          <a:lstStyle/>
          <a:p>
            <a:r>
              <a:rPr lang="en-US" sz="2400" dirty="0"/>
              <a:t>How would you rate your academic performance in high school? </a:t>
            </a:r>
            <a:r>
              <a:rPr lang="en-US" sz="2400" dirty="0">
                <a:solidFill>
                  <a:schemeClr val="tx1">
                    <a:lumMod val="50000"/>
                    <a:lumOff val="50000"/>
                  </a:schemeClr>
                </a:solidFill>
              </a:rPr>
              <a:t>(</a:t>
            </a:r>
            <a:r>
              <a:rPr lang="en-US" sz="2000" dirty="0">
                <a:solidFill>
                  <a:schemeClr val="tx1">
                    <a:lumMod val="50000"/>
                    <a:lumOff val="50000"/>
                  </a:schemeClr>
                </a:solidFill>
              </a:rPr>
              <a:t>Poor, Fair, Good, Very Good, Excellent)</a:t>
            </a:r>
          </a:p>
          <a:p>
            <a:r>
              <a:rPr lang="en-US" sz="2400" dirty="0"/>
              <a:t>How would you rate your social experience in high school? </a:t>
            </a:r>
            <a:r>
              <a:rPr lang="en-US" sz="2400" dirty="0">
                <a:solidFill>
                  <a:schemeClr val="tx1">
                    <a:lumMod val="50000"/>
                    <a:lumOff val="50000"/>
                  </a:schemeClr>
                </a:solidFill>
              </a:rPr>
              <a:t>(</a:t>
            </a:r>
            <a:r>
              <a:rPr lang="en-US" sz="2000" dirty="0">
                <a:solidFill>
                  <a:schemeClr val="tx1">
                    <a:lumMod val="50000"/>
                    <a:lumOff val="50000"/>
                  </a:schemeClr>
                </a:solidFill>
              </a:rPr>
              <a:t>Very negative, Somewhat negative, Neutral, Somewhat positive, Very positive)</a:t>
            </a:r>
          </a:p>
          <a:p>
            <a:r>
              <a:rPr lang="en-US" sz="2400" dirty="0"/>
              <a:t>Please indicate your agreement with the following statements</a:t>
            </a:r>
            <a:r>
              <a:rPr lang="en-US" sz="2400" dirty="0">
                <a:solidFill>
                  <a:schemeClr val="tx1">
                    <a:lumMod val="50000"/>
                    <a:lumOff val="50000"/>
                  </a:schemeClr>
                </a:solidFill>
              </a:rPr>
              <a:t> </a:t>
            </a:r>
            <a:r>
              <a:rPr lang="en-US" sz="2000" dirty="0">
                <a:solidFill>
                  <a:schemeClr val="tx1">
                    <a:lumMod val="50000"/>
                    <a:lumOff val="50000"/>
                  </a:schemeClr>
                </a:solidFill>
              </a:rPr>
              <a:t>(Strongly disagree, Somewhat disagree, Neither agree nor disagree, Somewhat agree, Strongly agree)</a:t>
            </a:r>
          </a:p>
          <a:p>
            <a:pPr lvl="1"/>
            <a:r>
              <a:rPr lang="en-US" sz="2000" dirty="0"/>
              <a:t>I feel that I belong in my high school community</a:t>
            </a:r>
          </a:p>
          <a:p>
            <a:pPr lvl="1"/>
            <a:r>
              <a:rPr lang="en-US" sz="2000" dirty="0"/>
              <a:t>Teachers and staff at my high school care about my future</a:t>
            </a:r>
          </a:p>
          <a:p>
            <a:pPr lvl="1"/>
            <a:r>
              <a:rPr lang="en-US" sz="2000" dirty="0"/>
              <a:t>I received good advising from my high school about my college plans</a:t>
            </a:r>
          </a:p>
          <a:p>
            <a:pPr lvl="1"/>
            <a:r>
              <a:rPr lang="en-US" sz="2000" dirty="0"/>
              <a:t>I feel prepared for college</a:t>
            </a:r>
            <a:br>
              <a:rPr lang="en-US" sz="2400" dirty="0">
                <a:solidFill>
                  <a:schemeClr val="tx1">
                    <a:lumMod val="50000"/>
                    <a:lumOff val="50000"/>
                  </a:schemeClr>
                </a:solidFill>
              </a:rPr>
            </a:br>
            <a:br>
              <a:rPr lang="en-US" sz="2400" dirty="0">
                <a:solidFill>
                  <a:schemeClr val="tx1">
                    <a:lumMod val="50000"/>
                    <a:lumOff val="50000"/>
                  </a:schemeClr>
                </a:solidFill>
              </a:rPr>
            </a:br>
            <a:endParaRPr lang="en-US" sz="2400" dirty="0">
              <a:solidFill>
                <a:schemeClr val="tx1">
                  <a:lumMod val="50000"/>
                  <a:lumOff val="50000"/>
                </a:schemeClr>
              </a:solidFill>
            </a:endParaRPr>
          </a:p>
        </p:txBody>
      </p:sp>
      <p:sp>
        <p:nvSpPr>
          <p:cNvPr id="4" name="Slide Number Placeholder 3">
            <a:extLst>
              <a:ext uri="{FF2B5EF4-FFF2-40B4-BE49-F238E27FC236}">
                <a16:creationId xmlns:a16="http://schemas.microsoft.com/office/drawing/2014/main" id="{950EB67C-1625-8501-CB2A-F627AD45F1C4}"/>
              </a:ext>
            </a:extLst>
          </p:cNvPr>
          <p:cNvSpPr>
            <a:spLocks noGrp="1"/>
          </p:cNvSpPr>
          <p:nvPr>
            <p:ph type="sldNum" sz="quarter" idx="12"/>
          </p:nvPr>
        </p:nvSpPr>
        <p:spPr/>
        <p:txBody>
          <a:bodyPr/>
          <a:lstStyle/>
          <a:p>
            <a:fld id="{80DD8C35-F8B3-4049-95AF-A34E38FBBA50}" type="slidenum">
              <a:rPr lang="en-US" smtClean="0"/>
              <a:pPr/>
              <a:t>33</a:t>
            </a:fld>
            <a:endParaRPr lang="en-US" dirty="0"/>
          </a:p>
        </p:txBody>
      </p:sp>
    </p:spTree>
    <p:extLst>
      <p:ext uri="{BB962C8B-B14F-4D97-AF65-F5344CB8AC3E}">
        <p14:creationId xmlns:p14="http://schemas.microsoft.com/office/powerpoint/2010/main" val="19044215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8780F-BDC0-4E80-8FE7-2492147AF0E4}"/>
              </a:ext>
            </a:extLst>
          </p:cNvPr>
          <p:cNvSpPr>
            <a:spLocks noGrp="1"/>
          </p:cNvSpPr>
          <p:nvPr>
            <p:ph type="title"/>
          </p:nvPr>
        </p:nvSpPr>
        <p:spPr/>
        <p:txBody>
          <a:bodyPr/>
          <a:lstStyle/>
          <a:p>
            <a:r>
              <a:rPr lang="en-US" dirty="0"/>
              <a:t>College Worries Items</a:t>
            </a:r>
          </a:p>
        </p:txBody>
      </p:sp>
      <p:graphicFrame>
        <p:nvGraphicFramePr>
          <p:cNvPr id="5" name="Content Placeholder 4">
            <a:extLst>
              <a:ext uri="{FF2B5EF4-FFF2-40B4-BE49-F238E27FC236}">
                <a16:creationId xmlns:a16="http://schemas.microsoft.com/office/drawing/2014/main" id="{E66D6ED9-AA05-A1A1-BEA9-9B34E7CB5630}"/>
              </a:ext>
            </a:extLst>
          </p:cNvPr>
          <p:cNvGraphicFramePr>
            <a:graphicFrameLocks noGrp="1"/>
          </p:cNvGraphicFramePr>
          <p:nvPr>
            <p:ph idx="1"/>
            <p:extLst>
              <p:ext uri="{D42A27DB-BD31-4B8C-83A1-F6EECF244321}">
                <p14:modId xmlns:p14="http://schemas.microsoft.com/office/powerpoint/2010/main" val="1488464344"/>
              </p:ext>
            </p:extLst>
          </p:nvPr>
        </p:nvGraphicFramePr>
        <p:xfrm>
          <a:off x="380999" y="1447160"/>
          <a:ext cx="11279253" cy="4572644"/>
        </p:xfrm>
        <a:graphic>
          <a:graphicData uri="http://schemas.openxmlformats.org/drawingml/2006/table">
            <a:tbl>
              <a:tblPr firstRow="1" firstCol="1" bandRow="1">
                <a:tableStyleId>{5C22544A-7EE6-4342-B048-85BDC9FD1C3A}</a:tableStyleId>
              </a:tblPr>
              <a:tblGrid>
                <a:gridCol w="6172201">
                  <a:extLst>
                    <a:ext uri="{9D8B030D-6E8A-4147-A177-3AD203B41FA5}">
                      <a16:colId xmlns:a16="http://schemas.microsoft.com/office/drawing/2014/main" val="3759353710"/>
                    </a:ext>
                  </a:extLst>
                </a:gridCol>
                <a:gridCol w="1347301">
                  <a:extLst>
                    <a:ext uri="{9D8B030D-6E8A-4147-A177-3AD203B41FA5}">
                      <a16:colId xmlns:a16="http://schemas.microsoft.com/office/drawing/2014/main" val="2684937246"/>
                    </a:ext>
                  </a:extLst>
                </a:gridCol>
                <a:gridCol w="3759751">
                  <a:extLst>
                    <a:ext uri="{9D8B030D-6E8A-4147-A177-3AD203B41FA5}">
                      <a16:colId xmlns:a16="http://schemas.microsoft.com/office/drawing/2014/main" val="2559022936"/>
                    </a:ext>
                  </a:extLst>
                </a:gridCol>
              </a:tblGrid>
              <a:tr h="202536">
                <a:tc>
                  <a:txBody>
                    <a:bodyPr/>
                    <a:lstStyle/>
                    <a:p>
                      <a:pPr marL="0" marR="0" algn="r">
                        <a:lnSpc>
                          <a:spcPct val="115000"/>
                        </a:lnSpc>
                        <a:buNone/>
                      </a:pPr>
                      <a:r>
                        <a:rPr lang="en-US" sz="1200" dirty="0">
                          <a:effectLst/>
                          <a:latin typeface="Calibri" panose="020F0502020204030204" pitchFamily="34" charset="0"/>
                          <a:cs typeface="Calibri" panose="020F0502020204030204" pitchFamily="34" charset="0"/>
                        </a:rPr>
                        <a:t> </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  N</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  Mean</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3257040260"/>
                  </a:ext>
                </a:extLst>
              </a:tr>
              <a:tr h="202536">
                <a:tc>
                  <a:txBody>
                    <a:bodyPr/>
                    <a:lstStyle/>
                    <a:p>
                      <a:pPr marL="0" marR="0">
                        <a:lnSpc>
                          <a:spcPct val="115000"/>
                        </a:lnSpc>
                        <a:buNone/>
                      </a:pPr>
                      <a:r>
                        <a:rPr lang="en-US" sz="1200">
                          <a:effectLst/>
                          <a:latin typeface="Calibri" panose="020F0502020204030204" pitchFamily="34" charset="0"/>
                          <a:cs typeface="Calibri" panose="020F0502020204030204" pitchFamily="34" charset="0"/>
                        </a:rPr>
                        <a:t>Items:</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 </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 </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101410279"/>
                  </a:ext>
                </a:extLst>
              </a:tr>
              <a:tr h="202536">
                <a:tc>
                  <a:txBody>
                    <a:bodyPr/>
                    <a:lstStyle/>
                    <a:p>
                      <a:pPr marL="0" marR="0">
                        <a:lnSpc>
                          <a:spcPct val="115000"/>
                        </a:lnSpc>
                        <a:buNone/>
                      </a:pPr>
                      <a:r>
                        <a:rPr lang="en-US" sz="1200">
                          <a:effectLst/>
                          <a:latin typeface="Calibri" panose="020F0502020204030204" pitchFamily="34" charset="0"/>
                          <a:cs typeface="Calibri" panose="020F0502020204030204" pitchFamily="34" charset="0"/>
                        </a:rPr>
                        <a:t>  How worried are you about affording tuition fees</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7957</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1.827</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401207065"/>
                  </a:ext>
                </a:extLst>
              </a:tr>
              <a:tr h="201028">
                <a:tc>
                  <a:txBody>
                    <a:bodyPr/>
                    <a:lstStyle/>
                    <a:p>
                      <a:pPr marL="0" marR="0">
                        <a:lnSpc>
                          <a:spcPct val="115000"/>
                        </a:lnSpc>
                        <a:buNone/>
                      </a:pPr>
                      <a:r>
                        <a:rPr lang="en-US" sz="1200">
                          <a:effectLst/>
                          <a:latin typeface="Calibri" panose="020F0502020204030204" pitchFamily="34" charset="0"/>
                          <a:cs typeface="Calibri" panose="020F0502020204030204" pitchFamily="34" charset="0"/>
                        </a:rPr>
                        <a:t>  How worried are you about living expenses</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7956</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1.676</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2696043748"/>
                  </a:ext>
                </a:extLst>
              </a:tr>
              <a:tr h="420244">
                <a:tc>
                  <a:txBody>
                    <a:bodyPr/>
                    <a:lstStyle/>
                    <a:p>
                      <a:pPr marL="0" marR="0">
                        <a:lnSpc>
                          <a:spcPct val="115000"/>
                        </a:lnSpc>
                        <a:buNone/>
                      </a:pPr>
                      <a:r>
                        <a:rPr lang="en-US" sz="1200" dirty="0">
                          <a:effectLst/>
                          <a:latin typeface="Calibri" panose="020F0502020204030204" pitchFamily="34" charset="0"/>
                          <a:cs typeface="Calibri" panose="020F0502020204030204" pitchFamily="34" charset="0"/>
                        </a:rPr>
                        <a:t>  How worried are you about performing well academically</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7958</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1.502</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3719900601"/>
                  </a:ext>
                </a:extLst>
              </a:tr>
              <a:tr h="420244">
                <a:tc>
                  <a:txBody>
                    <a:bodyPr/>
                    <a:lstStyle/>
                    <a:p>
                      <a:pPr marL="0" marR="0">
                        <a:lnSpc>
                          <a:spcPct val="115000"/>
                        </a:lnSpc>
                        <a:buNone/>
                      </a:pPr>
                      <a:r>
                        <a:rPr lang="en-US" sz="1200">
                          <a:effectLst/>
                          <a:latin typeface="Calibri" panose="020F0502020204030204" pitchFamily="34" charset="0"/>
                          <a:cs typeface="Calibri" panose="020F0502020204030204" pitchFamily="34" charset="0"/>
                        </a:rPr>
                        <a:t>  How worried are you about balancing work obligations</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7943</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1.557</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2946833932"/>
                  </a:ext>
                </a:extLst>
              </a:tr>
              <a:tr h="420244">
                <a:tc>
                  <a:txBody>
                    <a:bodyPr/>
                    <a:lstStyle/>
                    <a:p>
                      <a:pPr marL="0" marR="0">
                        <a:lnSpc>
                          <a:spcPct val="115000"/>
                        </a:lnSpc>
                        <a:buNone/>
                      </a:pPr>
                      <a:r>
                        <a:rPr lang="en-US" sz="1200">
                          <a:effectLst/>
                          <a:latin typeface="Calibri" panose="020F0502020204030204" pitchFamily="34" charset="0"/>
                          <a:cs typeface="Calibri" panose="020F0502020204030204" pitchFamily="34" charset="0"/>
                        </a:rPr>
                        <a:t>  How worried are you about balancing family obligations</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7941</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1.055</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3977272493"/>
                  </a:ext>
                </a:extLst>
              </a:tr>
              <a:tr h="201028">
                <a:tc>
                  <a:txBody>
                    <a:bodyPr/>
                    <a:lstStyle/>
                    <a:p>
                      <a:pPr marL="0" marR="0">
                        <a:lnSpc>
                          <a:spcPct val="115000"/>
                        </a:lnSpc>
                        <a:buNone/>
                      </a:pPr>
                      <a:r>
                        <a:rPr lang="en-US" sz="1200">
                          <a:effectLst/>
                          <a:latin typeface="Calibri" panose="020F0502020204030204" pitchFamily="34" charset="0"/>
                          <a:cs typeface="Calibri" panose="020F0502020204030204" pitchFamily="34" charset="0"/>
                        </a:rPr>
                        <a:t>  How worried are you about finding community</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7934</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1.316</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3325181678"/>
                  </a:ext>
                </a:extLst>
              </a:tr>
              <a:tr h="201028">
                <a:tc>
                  <a:txBody>
                    <a:bodyPr/>
                    <a:lstStyle/>
                    <a:p>
                      <a:pPr marL="0" marR="0">
                        <a:lnSpc>
                          <a:spcPct val="115000"/>
                        </a:lnSpc>
                        <a:buNone/>
                      </a:pPr>
                      <a:r>
                        <a:rPr lang="en-US" sz="1200">
                          <a:effectLst/>
                          <a:latin typeface="Calibri" panose="020F0502020204030204" pitchFamily="34" charset="0"/>
                          <a:cs typeface="Calibri" panose="020F0502020204030204" pitchFamily="34" charset="0"/>
                        </a:rPr>
                        <a:t>  How worried are you about living away from home</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7948</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.908</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18654106"/>
                  </a:ext>
                </a:extLst>
              </a:tr>
              <a:tr h="420244">
                <a:tc>
                  <a:txBody>
                    <a:bodyPr/>
                    <a:lstStyle/>
                    <a:p>
                      <a:pPr marL="0" marR="0">
                        <a:lnSpc>
                          <a:spcPct val="115000"/>
                        </a:lnSpc>
                        <a:buNone/>
                      </a:pPr>
                      <a:r>
                        <a:rPr lang="en-US" sz="1200">
                          <a:effectLst/>
                          <a:latin typeface="Calibri" panose="020F0502020204030204" pitchFamily="34" charset="0"/>
                          <a:cs typeface="Calibri" panose="020F0502020204030204" pitchFamily="34" charset="0"/>
                        </a:rPr>
                        <a:t>  How worried are you about having adequate support for emotional and mental health needs</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7944</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1.127</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1487232021"/>
                  </a:ext>
                </a:extLst>
              </a:tr>
              <a:tr h="420244">
                <a:tc>
                  <a:txBody>
                    <a:bodyPr/>
                    <a:lstStyle/>
                    <a:p>
                      <a:pPr marL="0" marR="0">
                        <a:lnSpc>
                          <a:spcPct val="115000"/>
                        </a:lnSpc>
                        <a:buNone/>
                      </a:pPr>
                      <a:r>
                        <a:rPr lang="en-US" sz="1200" dirty="0">
                          <a:effectLst/>
                          <a:latin typeface="Calibri" panose="020F0502020204030204" pitchFamily="34" charset="0"/>
                          <a:cs typeface="Calibri" panose="020F0502020204030204" pitchFamily="34" charset="0"/>
                        </a:rPr>
                        <a:t>  How worried are you about discrimination based on gender</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7886</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.436</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1615915812"/>
                  </a:ext>
                </a:extLst>
              </a:tr>
              <a:tr h="420244">
                <a:tc>
                  <a:txBody>
                    <a:bodyPr/>
                    <a:lstStyle/>
                    <a:p>
                      <a:pPr marL="0" marR="0">
                        <a:lnSpc>
                          <a:spcPct val="115000"/>
                        </a:lnSpc>
                        <a:buNone/>
                      </a:pPr>
                      <a:r>
                        <a:rPr lang="en-US" sz="1200">
                          <a:effectLst/>
                          <a:latin typeface="Calibri" panose="020F0502020204030204" pitchFamily="34" charset="0"/>
                          <a:cs typeface="Calibri" panose="020F0502020204030204" pitchFamily="34" charset="0"/>
                        </a:rPr>
                        <a:t>  How worried are you about discrimination based on sexual orientation</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7876</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.333</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379204310"/>
                  </a:ext>
                </a:extLst>
              </a:tr>
              <a:tr h="420244">
                <a:tc>
                  <a:txBody>
                    <a:bodyPr/>
                    <a:lstStyle/>
                    <a:p>
                      <a:pPr marL="0" marR="0">
                        <a:lnSpc>
                          <a:spcPct val="115000"/>
                        </a:lnSpc>
                        <a:buNone/>
                      </a:pPr>
                      <a:r>
                        <a:rPr lang="en-US" sz="1200">
                          <a:effectLst/>
                          <a:latin typeface="Calibri" panose="020F0502020204030204" pitchFamily="34" charset="0"/>
                          <a:cs typeface="Calibri" panose="020F0502020204030204" pitchFamily="34" charset="0"/>
                        </a:rPr>
                        <a:t>  How worried are you about discrimination based on race</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7895</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.514</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3086879979"/>
                  </a:ext>
                </a:extLst>
              </a:tr>
              <a:tr h="420244">
                <a:tc>
                  <a:txBody>
                    <a:bodyPr/>
                    <a:lstStyle/>
                    <a:p>
                      <a:pPr marL="0" marR="0">
                        <a:lnSpc>
                          <a:spcPct val="115000"/>
                        </a:lnSpc>
                        <a:buNone/>
                      </a:pPr>
                      <a:r>
                        <a:rPr lang="en-US" sz="1200">
                          <a:effectLst/>
                          <a:latin typeface="Calibri" panose="020F0502020204030204" pitchFamily="34" charset="0"/>
                          <a:cs typeface="Calibri" panose="020F0502020204030204" pitchFamily="34" charset="0"/>
                        </a:rPr>
                        <a:t>  How worried are you about discrimination based on religion</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a:effectLst/>
                          <a:latin typeface="Calibri" panose="020F0502020204030204" pitchFamily="34" charset="0"/>
                          <a:cs typeface="Calibri" panose="020F0502020204030204" pitchFamily="34" charset="0"/>
                        </a:rPr>
                        <a:t>7891</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dirty="0">
                          <a:effectLst/>
                          <a:latin typeface="Calibri" panose="020F0502020204030204" pitchFamily="34" charset="0"/>
                          <a:cs typeface="Calibri" panose="020F0502020204030204" pitchFamily="34" charset="0"/>
                        </a:rPr>
                        <a:t>.232</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1871592687"/>
                  </a:ext>
                </a:extLst>
              </a:tr>
            </a:tbl>
          </a:graphicData>
        </a:graphic>
      </p:graphicFrame>
      <p:sp>
        <p:nvSpPr>
          <p:cNvPr id="4" name="Slide Number Placeholder 3">
            <a:extLst>
              <a:ext uri="{FF2B5EF4-FFF2-40B4-BE49-F238E27FC236}">
                <a16:creationId xmlns:a16="http://schemas.microsoft.com/office/drawing/2014/main" id="{D4D084E7-ED73-7565-FE20-0CC21D5F5E9D}"/>
              </a:ext>
            </a:extLst>
          </p:cNvPr>
          <p:cNvSpPr>
            <a:spLocks noGrp="1"/>
          </p:cNvSpPr>
          <p:nvPr>
            <p:ph type="sldNum" sz="quarter" idx="12"/>
          </p:nvPr>
        </p:nvSpPr>
        <p:spPr/>
        <p:txBody>
          <a:bodyPr/>
          <a:lstStyle/>
          <a:p>
            <a:fld id="{80DD8C35-F8B3-4049-95AF-A34E38FBBA50}" type="slidenum">
              <a:rPr lang="en-US" smtClean="0"/>
              <a:pPr/>
              <a:t>34</a:t>
            </a:fld>
            <a:endParaRPr lang="en-US" dirty="0"/>
          </a:p>
        </p:txBody>
      </p:sp>
      <p:sp>
        <p:nvSpPr>
          <p:cNvPr id="6" name="Rectangle 1">
            <a:extLst>
              <a:ext uri="{FF2B5EF4-FFF2-40B4-BE49-F238E27FC236}">
                <a16:creationId xmlns:a16="http://schemas.microsoft.com/office/drawing/2014/main" id="{AD329949-AF13-F1D3-0B48-62084E258975}"/>
              </a:ext>
            </a:extLst>
          </p:cNvPr>
          <p:cNvSpPr>
            <a:spLocks noChangeArrowheads="1"/>
          </p:cNvSpPr>
          <p:nvPr/>
        </p:nvSpPr>
        <p:spPr bwMode="auto">
          <a:xfrm>
            <a:off x="262722" y="6221940"/>
            <a:ext cx="1165860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Note. </a:t>
            </a:r>
            <a:r>
              <a:rPr kumimoji="0" lang="en-US" altLang="en-US" sz="1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 first twelve rows are items related to college worries included in the survey. Each item ranges from 0 to 3, where 0 represents not worried at all and 3 represents very worried.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15628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324D6-A6F3-1C13-3C5C-6F739A1717BA}"/>
              </a:ext>
            </a:extLst>
          </p:cNvPr>
          <p:cNvSpPr>
            <a:spLocks noGrp="1"/>
          </p:cNvSpPr>
          <p:nvPr>
            <p:ph type="title"/>
          </p:nvPr>
        </p:nvSpPr>
        <p:spPr/>
        <p:txBody>
          <a:bodyPr>
            <a:normAutofit fontScale="90000"/>
          </a:bodyPr>
          <a:lstStyle/>
          <a:p>
            <a:r>
              <a:rPr lang="en-US" dirty="0"/>
              <a:t>Two-Way Tabulation of Gender and Sexual Orientation</a:t>
            </a:r>
          </a:p>
        </p:txBody>
      </p:sp>
      <p:graphicFrame>
        <p:nvGraphicFramePr>
          <p:cNvPr id="5" name="Content Placeholder 4">
            <a:extLst>
              <a:ext uri="{FF2B5EF4-FFF2-40B4-BE49-F238E27FC236}">
                <a16:creationId xmlns:a16="http://schemas.microsoft.com/office/drawing/2014/main" id="{2C513B88-A9FC-E502-CFD8-8FC596DC71BF}"/>
              </a:ext>
            </a:extLst>
          </p:cNvPr>
          <p:cNvGraphicFramePr>
            <a:graphicFrameLocks noGrp="1"/>
          </p:cNvGraphicFramePr>
          <p:nvPr>
            <p:ph idx="1"/>
            <p:extLst>
              <p:ext uri="{D42A27DB-BD31-4B8C-83A1-F6EECF244321}">
                <p14:modId xmlns:p14="http://schemas.microsoft.com/office/powerpoint/2010/main" val="1412225636"/>
              </p:ext>
            </p:extLst>
          </p:nvPr>
        </p:nvGraphicFramePr>
        <p:xfrm>
          <a:off x="609600" y="1600200"/>
          <a:ext cx="10972801" cy="4659628"/>
        </p:xfrm>
        <a:graphic>
          <a:graphicData uri="http://schemas.openxmlformats.org/drawingml/2006/table">
            <a:tbl>
              <a:tblPr firstRow="1" firstCol="1" bandRow="1">
                <a:tableStyleId>{5C22544A-7EE6-4342-B048-85BDC9FD1C3A}</a:tableStyleId>
              </a:tblPr>
              <a:tblGrid>
                <a:gridCol w="2040045">
                  <a:extLst>
                    <a:ext uri="{9D8B030D-6E8A-4147-A177-3AD203B41FA5}">
                      <a16:colId xmlns:a16="http://schemas.microsoft.com/office/drawing/2014/main" val="2923016237"/>
                    </a:ext>
                  </a:extLst>
                </a:gridCol>
                <a:gridCol w="1586701">
                  <a:extLst>
                    <a:ext uri="{9D8B030D-6E8A-4147-A177-3AD203B41FA5}">
                      <a16:colId xmlns:a16="http://schemas.microsoft.com/office/drawing/2014/main" val="3319877057"/>
                    </a:ext>
                  </a:extLst>
                </a:gridCol>
                <a:gridCol w="1435587">
                  <a:extLst>
                    <a:ext uri="{9D8B030D-6E8A-4147-A177-3AD203B41FA5}">
                      <a16:colId xmlns:a16="http://schemas.microsoft.com/office/drawing/2014/main" val="639817034"/>
                    </a:ext>
                  </a:extLst>
                </a:gridCol>
                <a:gridCol w="1435587">
                  <a:extLst>
                    <a:ext uri="{9D8B030D-6E8A-4147-A177-3AD203B41FA5}">
                      <a16:colId xmlns:a16="http://schemas.microsoft.com/office/drawing/2014/main" val="149867125"/>
                    </a:ext>
                  </a:extLst>
                </a:gridCol>
                <a:gridCol w="1360030">
                  <a:extLst>
                    <a:ext uri="{9D8B030D-6E8A-4147-A177-3AD203B41FA5}">
                      <a16:colId xmlns:a16="http://schemas.microsoft.com/office/drawing/2014/main" val="3072143844"/>
                    </a:ext>
                  </a:extLst>
                </a:gridCol>
                <a:gridCol w="1284473">
                  <a:extLst>
                    <a:ext uri="{9D8B030D-6E8A-4147-A177-3AD203B41FA5}">
                      <a16:colId xmlns:a16="http://schemas.microsoft.com/office/drawing/2014/main" val="1396178590"/>
                    </a:ext>
                  </a:extLst>
                </a:gridCol>
                <a:gridCol w="1284473">
                  <a:extLst>
                    <a:ext uri="{9D8B030D-6E8A-4147-A177-3AD203B41FA5}">
                      <a16:colId xmlns:a16="http://schemas.microsoft.com/office/drawing/2014/main" val="2000177084"/>
                    </a:ext>
                  </a:extLst>
                </a:gridCol>
                <a:gridCol w="545905">
                  <a:extLst>
                    <a:ext uri="{9D8B030D-6E8A-4147-A177-3AD203B41FA5}">
                      <a16:colId xmlns:a16="http://schemas.microsoft.com/office/drawing/2014/main" val="2392242204"/>
                    </a:ext>
                  </a:extLst>
                </a:gridCol>
              </a:tblGrid>
              <a:tr h="1290019">
                <a:tc>
                  <a:txBody>
                    <a:bodyPr/>
                    <a:lstStyle/>
                    <a:p>
                      <a:pPr algn="r"/>
                      <a:r>
                        <a:rPr lang="en-US" sz="1400" dirty="0"/>
                        <a:t>          Sexual                 Orientation</a:t>
                      </a:r>
                    </a:p>
                    <a:p>
                      <a:endParaRPr lang="en-US" dirty="0"/>
                    </a:p>
                    <a:p>
                      <a:endParaRPr lang="en-US" sz="1400" dirty="0"/>
                    </a:p>
                    <a:p>
                      <a:r>
                        <a:rPr lang="en-US" sz="1400" dirty="0"/>
                        <a:t>Gender Identity</a:t>
                      </a:r>
                    </a:p>
                  </a:txBody>
                  <a:tcPr>
                    <a:lnTlToBr w="12700" cap="flat" cmpd="sng" algn="ctr">
                      <a:solidFill>
                        <a:schemeClr val="bg1"/>
                      </a:solidFill>
                      <a:prstDash val="solid"/>
                      <a:round/>
                      <a:headEnd type="none" w="med" len="med"/>
                      <a:tailEnd type="none" w="med" len="med"/>
                    </a:lnTlToBr>
                  </a:tcPr>
                </a:tc>
                <a:tc>
                  <a:txBody>
                    <a:bodyPr/>
                    <a:lstStyle/>
                    <a:p>
                      <a:pPr marL="0" marR="0">
                        <a:lnSpc>
                          <a:spcPct val="115000"/>
                        </a:lnSpc>
                        <a:buNone/>
                      </a:pPr>
                      <a:r>
                        <a:rPr lang="en-US" sz="1400" b="1" dirty="0">
                          <a:effectLst/>
                          <a:latin typeface="Calibri" panose="020F0502020204030204" pitchFamily="34" charset="0"/>
                          <a:cs typeface="Calibri" panose="020F0502020204030204" pitchFamily="34" charset="0"/>
                        </a:rPr>
                        <a:t>Straight/heterosexual</a:t>
                      </a:r>
                      <a:endParaRPr lang="en-US" sz="1400" b="1"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400" b="1" dirty="0">
                          <a:effectLst/>
                          <a:latin typeface="Calibri" panose="020F0502020204030204" pitchFamily="34" charset="0"/>
                          <a:cs typeface="Calibri" panose="020F0502020204030204" pitchFamily="34" charset="0"/>
                        </a:rPr>
                        <a:t>Gay or lesbian</a:t>
                      </a:r>
                      <a:endParaRPr lang="en-US" sz="1400" b="1"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400" b="1" dirty="0">
                          <a:effectLst/>
                          <a:latin typeface="Calibri" panose="020F0502020204030204" pitchFamily="34" charset="0"/>
                          <a:cs typeface="Calibri" panose="020F0502020204030204" pitchFamily="34" charset="0"/>
                        </a:rPr>
                        <a:t>Bisexual/pansexual/omnisexual</a:t>
                      </a:r>
                      <a:endParaRPr lang="en-US" sz="1400" b="1"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400" b="1" dirty="0">
                          <a:effectLst/>
                          <a:latin typeface="Calibri" panose="020F0502020204030204" pitchFamily="34" charset="0"/>
                          <a:cs typeface="Calibri" panose="020F0502020204030204" pitchFamily="34" charset="0"/>
                        </a:rPr>
                        <a:t>Asexual/aromantic/demisexual</a:t>
                      </a:r>
                      <a:endParaRPr lang="en-US" sz="1400" b="1"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400" b="1" dirty="0">
                          <a:effectLst/>
                          <a:latin typeface="Calibri" panose="020F0502020204030204" pitchFamily="34" charset="0"/>
                          <a:cs typeface="Calibri" panose="020F0502020204030204" pitchFamily="34" charset="0"/>
                        </a:rPr>
                        <a:t>Other/queer/</a:t>
                      </a:r>
                    </a:p>
                    <a:p>
                      <a:pPr marL="0" marR="0" algn="r">
                        <a:lnSpc>
                          <a:spcPct val="115000"/>
                        </a:lnSpc>
                        <a:buNone/>
                      </a:pPr>
                      <a:r>
                        <a:rPr lang="en-US" sz="1400" b="1" dirty="0">
                          <a:effectLst/>
                          <a:latin typeface="Calibri" panose="020F0502020204030204" pitchFamily="34" charset="0"/>
                          <a:cs typeface="Calibri" panose="020F0502020204030204" pitchFamily="34" charset="0"/>
                        </a:rPr>
                        <a:t>questioning</a:t>
                      </a:r>
                      <a:endParaRPr lang="en-US" sz="1400" b="1"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400" b="1" dirty="0">
                          <a:effectLst/>
                          <a:latin typeface="Calibri" panose="020F0502020204030204" pitchFamily="34" charset="0"/>
                          <a:cs typeface="Calibri" panose="020F0502020204030204" pitchFamily="34" charset="0"/>
                        </a:rPr>
                        <a:t>Prefer not to say</a:t>
                      </a:r>
                      <a:endParaRPr lang="en-US" sz="1400" b="1"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200" dirty="0">
                          <a:effectLst/>
                          <a:latin typeface="Calibri" panose="020F0502020204030204" pitchFamily="34" charset="0"/>
                          <a:cs typeface="Calibri" panose="020F0502020204030204" pitchFamily="34" charset="0"/>
                        </a:rPr>
                        <a:t>Total</a:t>
                      </a:r>
                      <a:endParaRPr lang="en-US" sz="18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3937750509"/>
                  </a:ext>
                </a:extLst>
              </a:tr>
              <a:tr h="386845">
                <a:tc>
                  <a:txBody>
                    <a:bodyPr/>
                    <a:lstStyle/>
                    <a:p>
                      <a:pPr marL="0" marR="0">
                        <a:lnSpc>
                          <a:spcPct val="115000"/>
                        </a:lnSpc>
                        <a:buNone/>
                      </a:pPr>
                      <a:r>
                        <a:rPr lang="en-US" sz="1600">
                          <a:effectLst/>
                          <a:latin typeface="Calibri" panose="020F0502020204030204" pitchFamily="34" charset="0"/>
                          <a:cs typeface="Calibri" panose="020F0502020204030204" pitchFamily="34" charset="0"/>
                        </a:rPr>
                        <a:t>  Cisgender man</a:t>
                      </a:r>
                      <a:endParaRPr lang="en-US" sz="24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85.03</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4.03</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5.09</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0.75</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0.57</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4.52</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100.00</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1922666333"/>
                  </a:ext>
                </a:extLst>
              </a:tr>
              <a:tr h="386845">
                <a:tc>
                  <a:txBody>
                    <a:bodyPr/>
                    <a:lstStyle/>
                    <a:p>
                      <a:pPr marL="0" marR="0">
                        <a:lnSpc>
                          <a:spcPct val="115000"/>
                        </a:lnSpc>
                        <a:buNone/>
                      </a:pPr>
                      <a:r>
                        <a:rPr lang="en-US" sz="1600">
                          <a:effectLst/>
                          <a:latin typeface="Calibri" panose="020F0502020204030204" pitchFamily="34" charset="0"/>
                          <a:cs typeface="Calibri" panose="020F0502020204030204" pitchFamily="34" charset="0"/>
                        </a:rPr>
                        <a:t>  Cisgender woman</a:t>
                      </a:r>
                      <a:endParaRPr lang="en-US" sz="24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68.05</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3.03</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17.85</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2.25</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1.50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7.32</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100.00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63560541"/>
                  </a:ext>
                </a:extLst>
              </a:tr>
              <a:tr h="386845">
                <a:tc>
                  <a:txBody>
                    <a:bodyPr/>
                    <a:lstStyle/>
                    <a:p>
                      <a:pPr marL="0" marR="0">
                        <a:lnSpc>
                          <a:spcPct val="115000"/>
                        </a:lnSpc>
                        <a:buNone/>
                      </a:pPr>
                      <a:r>
                        <a:rPr lang="en-US" sz="1600" dirty="0">
                          <a:effectLst/>
                          <a:latin typeface="Calibri" panose="020F0502020204030204" pitchFamily="34" charset="0"/>
                          <a:cs typeface="Calibri" panose="020F0502020204030204" pitchFamily="34" charset="0"/>
                        </a:rPr>
                        <a:t>  Transgender man</a:t>
                      </a:r>
                      <a:endParaRPr lang="en-US" sz="24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6.90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32.76</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32.76</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6.90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12.07</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8.62</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100.00</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2055390947"/>
                  </a:ext>
                </a:extLst>
              </a:tr>
              <a:tr h="386845">
                <a:tc>
                  <a:txBody>
                    <a:bodyPr/>
                    <a:lstStyle/>
                    <a:p>
                      <a:pPr marL="0" marR="0">
                        <a:lnSpc>
                          <a:spcPct val="115000"/>
                        </a:lnSpc>
                        <a:buNone/>
                      </a:pPr>
                      <a:r>
                        <a:rPr lang="en-US" sz="1600">
                          <a:effectLst/>
                          <a:latin typeface="Calibri" panose="020F0502020204030204" pitchFamily="34" charset="0"/>
                          <a:cs typeface="Calibri" panose="020F0502020204030204" pitchFamily="34" charset="0"/>
                        </a:rPr>
                        <a:t>  Transgender woman</a:t>
                      </a:r>
                      <a:endParaRPr lang="en-US" sz="24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20.00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40.00</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25.00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10.00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0.00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5.00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100.00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2563677988"/>
                  </a:ext>
                </a:extLst>
              </a:tr>
              <a:tr h="386845">
                <a:tc>
                  <a:txBody>
                    <a:bodyPr/>
                    <a:lstStyle/>
                    <a:p>
                      <a:pPr marL="0" marR="0">
                        <a:lnSpc>
                          <a:spcPct val="115000"/>
                        </a:lnSpc>
                        <a:buNone/>
                      </a:pPr>
                      <a:r>
                        <a:rPr lang="en-US" sz="1600">
                          <a:effectLst/>
                          <a:latin typeface="Calibri" panose="020F0502020204030204" pitchFamily="34" charset="0"/>
                          <a:cs typeface="Calibri" panose="020F0502020204030204" pitchFamily="34" charset="0"/>
                        </a:rPr>
                        <a:t>  Nonbinary</a:t>
                      </a:r>
                      <a:endParaRPr lang="en-US" sz="24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1.92</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18.77</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50.19</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13.41</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9.58</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6.13</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100.00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2882213397"/>
                  </a:ext>
                </a:extLst>
              </a:tr>
              <a:tr h="661694">
                <a:tc>
                  <a:txBody>
                    <a:bodyPr/>
                    <a:lstStyle/>
                    <a:p>
                      <a:pPr marL="0" marR="0">
                        <a:lnSpc>
                          <a:spcPct val="115000"/>
                        </a:lnSpc>
                        <a:buNone/>
                      </a:pPr>
                      <a:r>
                        <a:rPr lang="en-US" sz="1600">
                          <a:effectLst/>
                          <a:latin typeface="Calibri" panose="020F0502020204030204" pitchFamily="34" charset="0"/>
                          <a:cs typeface="Calibri" panose="020F0502020204030204" pitchFamily="34" charset="0"/>
                        </a:rPr>
                        <a:t>  Gender diverse/questioning</a:t>
                      </a:r>
                      <a:endParaRPr lang="en-US" sz="24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2.90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13.04</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50.72</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14.49</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18.84</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0.00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100.00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2811261304"/>
                  </a:ext>
                </a:extLst>
              </a:tr>
              <a:tr h="386845">
                <a:tc>
                  <a:txBody>
                    <a:bodyPr/>
                    <a:lstStyle/>
                    <a:p>
                      <a:pPr marL="0" marR="0">
                        <a:lnSpc>
                          <a:spcPct val="115000"/>
                        </a:lnSpc>
                        <a:buNone/>
                      </a:pPr>
                      <a:r>
                        <a:rPr lang="en-US" sz="1600">
                          <a:effectLst/>
                          <a:latin typeface="Calibri" panose="020F0502020204030204" pitchFamily="34" charset="0"/>
                          <a:cs typeface="Calibri" panose="020F0502020204030204" pitchFamily="34" charset="0"/>
                        </a:rPr>
                        <a:t>  Prefer not to say</a:t>
                      </a:r>
                      <a:endParaRPr lang="en-US" sz="24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7.91</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6.47</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33.09</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10.07</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4.32</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38.13</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100.00</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301939341"/>
                  </a:ext>
                </a:extLst>
              </a:tr>
              <a:tr h="386845">
                <a:tc>
                  <a:txBody>
                    <a:bodyPr/>
                    <a:lstStyle/>
                    <a:p>
                      <a:pPr marL="0" marR="0">
                        <a:lnSpc>
                          <a:spcPct val="115000"/>
                        </a:lnSpc>
                        <a:buNone/>
                      </a:pPr>
                      <a:r>
                        <a:rPr lang="en-US" sz="1600" dirty="0">
                          <a:effectLst/>
                          <a:latin typeface="Calibri" panose="020F0502020204030204" pitchFamily="34" charset="0"/>
                          <a:cs typeface="Calibri" panose="020F0502020204030204" pitchFamily="34" charset="0"/>
                        </a:rPr>
                        <a:t>  Total</a:t>
                      </a:r>
                      <a:endParaRPr lang="en-US" sz="24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a:effectLst/>
                          <a:latin typeface="Calibri" panose="020F0502020204030204" pitchFamily="34" charset="0"/>
                          <a:cs typeface="Calibri" panose="020F0502020204030204" pitchFamily="34" charset="0"/>
                        </a:rPr>
                        <a:t>69.45</a:t>
                      </a:r>
                      <a:endParaRPr lang="en-US" sz="160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4.42</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15.17</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2.43</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1.74</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6.79</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tc>
                  <a:txBody>
                    <a:bodyPr/>
                    <a:lstStyle/>
                    <a:p>
                      <a:pPr marL="0" marR="0" algn="r">
                        <a:lnSpc>
                          <a:spcPct val="115000"/>
                        </a:lnSpc>
                        <a:buNone/>
                      </a:pPr>
                      <a:r>
                        <a:rPr lang="en-US" sz="1100" dirty="0">
                          <a:effectLst/>
                          <a:latin typeface="Calibri" panose="020F0502020204030204" pitchFamily="34" charset="0"/>
                          <a:cs typeface="Calibri" panose="020F0502020204030204" pitchFamily="34" charset="0"/>
                        </a:rPr>
                        <a:t>100.00</a:t>
                      </a: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txBody>
                  <a:tcPr marL="63500" marR="63500" marT="0" marB="0"/>
                </a:tc>
                <a:extLst>
                  <a:ext uri="{0D108BD9-81ED-4DB2-BD59-A6C34878D82A}">
                    <a16:rowId xmlns:a16="http://schemas.microsoft.com/office/drawing/2014/main" val="2487311810"/>
                  </a:ext>
                </a:extLst>
              </a:tr>
            </a:tbl>
          </a:graphicData>
        </a:graphic>
      </p:graphicFrame>
      <p:sp>
        <p:nvSpPr>
          <p:cNvPr id="4" name="Slide Number Placeholder 3">
            <a:extLst>
              <a:ext uri="{FF2B5EF4-FFF2-40B4-BE49-F238E27FC236}">
                <a16:creationId xmlns:a16="http://schemas.microsoft.com/office/drawing/2014/main" id="{C1EB89AA-E8FD-7DF3-5A52-FCF311D582B8}"/>
              </a:ext>
            </a:extLst>
          </p:cNvPr>
          <p:cNvSpPr>
            <a:spLocks noGrp="1"/>
          </p:cNvSpPr>
          <p:nvPr>
            <p:ph type="sldNum" sz="quarter" idx="12"/>
          </p:nvPr>
        </p:nvSpPr>
        <p:spPr/>
        <p:txBody>
          <a:bodyPr/>
          <a:lstStyle/>
          <a:p>
            <a:fld id="{80DD8C35-F8B3-4049-95AF-A34E38FBBA50}" type="slidenum">
              <a:rPr lang="en-US" smtClean="0"/>
              <a:pPr/>
              <a:t>35</a:t>
            </a:fld>
            <a:endParaRPr lang="en-US" dirty="0"/>
          </a:p>
        </p:txBody>
      </p:sp>
    </p:spTree>
    <p:extLst>
      <p:ext uri="{BB962C8B-B14F-4D97-AF65-F5344CB8AC3E}">
        <p14:creationId xmlns:p14="http://schemas.microsoft.com/office/powerpoint/2010/main" val="1247604250"/>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F271C"/>
      </a:dk2>
      <a:lt2>
        <a:srgbClr val="E7DEC9"/>
      </a:lt2>
      <a:accent1>
        <a:srgbClr val="354369"/>
      </a:accent1>
      <a:accent2>
        <a:srgbClr val="C58C00"/>
      </a:accent2>
      <a:accent3>
        <a:srgbClr val="C32D2E"/>
      </a:accent3>
      <a:accent4>
        <a:srgbClr val="446E27"/>
      </a:accent4>
      <a:accent5>
        <a:srgbClr val="964305"/>
      </a:accent5>
      <a:accent6>
        <a:srgbClr val="3891A7"/>
      </a:accent6>
      <a:hlink>
        <a:srgbClr val="8DC765"/>
      </a:hlink>
      <a:folHlink>
        <a:srgbClr val="AA8A14"/>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2860</TotalTime>
  <Words>1431</Words>
  <Application>Microsoft Macintosh PowerPoint</Application>
  <PresentationFormat>Widescreen</PresentationFormat>
  <Paragraphs>407</Paragraphs>
  <Slides>35</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Courier New</vt:lpstr>
      <vt:lpstr>Georgia</vt:lpstr>
      <vt:lpstr>Times New Roman</vt:lpstr>
      <vt:lpstr>Office Theme</vt:lpstr>
      <vt:lpstr>PowerPoint Presentation</vt:lpstr>
      <vt:lpstr>Acknowledgements</vt:lpstr>
      <vt:lpstr>Outline</vt:lpstr>
      <vt:lpstr>PowerPoint Presentation</vt:lpstr>
      <vt:lpstr>Motivation</vt:lpstr>
      <vt:lpstr>This Study</vt:lpstr>
      <vt:lpstr>National Context</vt:lpstr>
      <vt:lpstr>State Context: California</vt:lpstr>
      <vt:lpstr>PowerPoint Presentation</vt:lpstr>
      <vt:lpstr>Survey Methodology</vt:lpstr>
      <vt:lpstr>Survey Questions</vt:lpstr>
      <vt:lpstr>Gender Identity</vt:lpstr>
      <vt:lpstr>Gender Identity</vt:lpstr>
      <vt:lpstr>Sexual Orientation</vt:lpstr>
      <vt:lpstr>PowerPoint Presentation</vt:lpstr>
      <vt:lpstr>Sample Characteristics</vt:lpstr>
      <vt:lpstr>Analytic Sample</vt:lpstr>
      <vt:lpstr>PowerPoint Presentation</vt:lpstr>
      <vt:lpstr>Diversity of Self-Descriptions</vt:lpstr>
      <vt:lpstr>Plans for College Enrollment</vt:lpstr>
      <vt:lpstr>Degree Aspirations</vt:lpstr>
      <vt:lpstr>College Majors</vt:lpstr>
      <vt:lpstr>High School Experience Index</vt:lpstr>
      <vt:lpstr>High School Experience by Gender</vt:lpstr>
      <vt:lpstr>College Worries Index</vt:lpstr>
      <vt:lpstr>General Worries</vt:lpstr>
      <vt:lpstr>Worries about Discrimination</vt:lpstr>
      <vt:lpstr>Worries about Financial Burdens</vt:lpstr>
      <vt:lpstr>Student Voices</vt:lpstr>
      <vt:lpstr>Discussions</vt:lpstr>
      <vt:lpstr>PowerPoint Presentation</vt:lpstr>
      <vt:lpstr>PowerPoint Presentation</vt:lpstr>
      <vt:lpstr>High School Experience Questions</vt:lpstr>
      <vt:lpstr>College Worries Items</vt:lpstr>
      <vt:lpstr>Two-Way Tabulation of Gender and Sexual Orientation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Pandemic Response in California:  Identifying the Structural &amp; Instructional Changes in K-12 After COVID-19 </dc:title>
  <dc:creator>Alexandria Maylen Hurtt</dc:creator>
  <cp:lastModifiedBy>Christina Sun</cp:lastModifiedBy>
  <cp:revision>71</cp:revision>
  <dcterms:created xsi:type="dcterms:W3CDTF">2020-06-29T15:40:49Z</dcterms:created>
  <dcterms:modified xsi:type="dcterms:W3CDTF">2025-04-19T22:31:25Z</dcterms:modified>
</cp:coreProperties>
</file>