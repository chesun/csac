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41"/>
  </p:notesMasterIdLst>
  <p:sldIdLst>
    <p:sldId id="256" r:id="rId2"/>
    <p:sldId id="549" r:id="rId3"/>
    <p:sldId id="517" r:id="rId4"/>
    <p:sldId id="518" r:id="rId5"/>
    <p:sldId id="543" r:id="rId6"/>
    <p:sldId id="519" r:id="rId7"/>
    <p:sldId id="548" r:id="rId8"/>
    <p:sldId id="520" r:id="rId9"/>
    <p:sldId id="521" r:id="rId10"/>
    <p:sldId id="522" r:id="rId11"/>
    <p:sldId id="545" r:id="rId12"/>
    <p:sldId id="544" r:id="rId13"/>
    <p:sldId id="523" r:id="rId14"/>
    <p:sldId id="524" r:id="rId15"/>
    <p:sldId id="546" r:id="rId16"/>
    <p:sldId id="525" r:id="rId17"/>
    <p:sldId id="547" r:id="rId18"/>
    <p:sldId id="526" r:id="rId19"/>
    <p:sldId id="551" r:id="rId20"/>
    <p:sldId id="493" r:id="rId21"/>
    <p:sldId id="527" r:id="rId22"/>
    <p:sldId id="528" r:id="rId23"/>
    <p:sldId id="529" r:id="rId24"/>
    <p:sldId id="530" r:id="rId25"/>
    <p:sldId id="532" r:id="rId26"/>
    <p:sldId id="534" r:id="rId27"/>
    <p:sldId id="531" r:id="rId28"/>
    <p:sldId id="533" r:id="rId29"/>
    <p:sldId id="535" r:id="rId30"/>
    <p:sldId id="538" r:id="rId31"/>
    <p:sldId id="536" r:id="rId32"/>
    <p:sldId id="537" r:id="rId33"/>
    <p:sldId id="539" r:id="rId34"/>
    <p:sldId id="550" r:id="rId35"/>
    <p:sldId id="553" r:id="rId36"/>
    <p:sldId id="541" r:id="rId37"/>
    <p:sldId id="542" r:id="rId38"/>
    <p:sldId id="540" r:id="rId39"/>
    <p:sldId id="32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a Maylen Hurtt" initials="AMH" lastIdx="6" clrIdx="0"/>
  <p:cmAuthor id="2" name="Microsoft Office User" initials="MOU" lastIdx="1" clrIdx="1"/>
  <p:cmAuthor id="3" name="Jill Huynh" initials="JH" lastIdx="1" clrIdx="2">
    <p:extLst>
      <p:ext uri="{19B8F6BF-5375-455C-9EA6-DF929625EA0E}">
        <p15:presenceInfo xmlns:p15="http://schemas.microsoft.com/office/powerpoint/2012/main" userId="S::jilhuy@ucdavis.edu::2220f398-e2ac-4ade-9aa3-3ebdf0a3b4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B84"/>
    <a:srgbClr val="DFB305"/>
    <a:srgbClr val="929292"/>
    <a:srgbClr val="354369"/>
    <a:srgbClr val="000000"/>
    <a:srgbClr val="FFFFFF"/>
    <a:srgbClr val="E2A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3" autoAdjust="0"/>
    <p:restoredTop sz="85986" autoAdjust="0"/>
  </p:normalViewPr>
  <p:slideViewPr>
    <p:cSldViewPr>
      <p:cViewPr varScale="1">
        <p:scale>
          <a:sx n="109" d="100"/>
          <a:sy n="109" d="100"/>
        </p:scale>
        <p:origin x="1544" y="192"/>
      </p:cViewPr>
      <p:guideLst>
        <p:guide orient="horz" pos="2160"/>
        <p:guide pos="3840"/>
      </p:guideLst>
    </p:cSldViewPr>
  </p:slideViewPr>
  <p:outlineViewPr>
    <p:cViewPr>
      <p:scale>
        <a:sx n="33" d="100"/>
        <a:sy n="33" d="100"/>
      </p:scale>
      <p:origin x="0" y="5952"/>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41" d="100"/>
          <a:sy n="41" d="100"/>
        </p:scale>
        <p:origin x="-2347"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C40DAF-C9C3-4514-874B-4535726919A4}" type="datetimeFigureOut">
              <a:rPr lang="en-US" smtClean="0"/>
              <a:pPr/>
              <a:t>3/5/24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A90B27-3B5B-443C-A326-6050820812EE}" type="slidenum">
              <a:rPr lang="en-US" smtClean="0"/>
              <a:pPr/>
              <a:t>‹#›</a:t>
            </a:fld>
            <a:endParaRPr lang="en-US"/>
          </a:p>
        </p:txBody>
      </p:sp>
    </p:spTree>
    <p:extLst>
      <p:ext uri="{BB962C8B-B14F-4D97-AF65-F5344CB8AC3E}">
        <p14:creationId xmlns:p14="http://schemas.microsoft.com/office/powerpoint/2010/main" val="223807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68A90B27-3B5B-443C-A326-6050820812E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a:t>
            </a:fld>
            <a:endParaRPr lang="en-US"/>
          </a:p>
        </p:txBody>
      </p:sp>
    </p:spTree>
    <p:extLst>
      <p:ext uri="{BB962C8B-B14F-4D97-AF65-F5344CB8AC3E}">
        <p14:creationId xmlns:p14="http://schemas.microsoft.com/office/powerpoint/2010/main" val="248976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r>
              <a:rPr lang="en-US" sz="1800" dirty="0"/>
              <a:t>Research tends to consider the LGBTQ+ community as whole rather than examine subgroup differences based on sexual orientation or gender identity</a:t>
            </a:r>
          </a:p>
          <a:p>
            <a:pPr lvl="2">
              <a:buFont typeface="Courier New"/>
              <a:buChar char="o"/>
            </a:pPr>
            <a:r>
              <a:rPr lang="en-US" sz="1800" dirty="0"/>
              <a:t>From Feldman (2022): “This practice creates the problematic ideology that supporting gay and lesbian students looks the same as supporting transgender students. In addition, this practice assumes that various sexual minority groups face the same difficulties and have the same needs.”</a:t>
            </a:r>
          </a:p>
          <a:p>
            <a:pPr lvl="1">
              <a:buFont typeface="Courier New"/>
              <a:buChar char="o"/>
            </a:pPr>
            <a:r>
              <a:rPr lang="en-US" sz="1800" dirty="0"/>
              <a:t>The transgender and non-binary experience has been overlooked in education research (</a:t>
            </a:r>
            <a:r>
              <a:rPr lang="en-US" sz="1800" dirty="0" err="1"/>
              <a:t>Glavinic</a:t>
            </a:r>
            <a:r>
              <a:rPr lang="en-US" sz="1800" dirty="0"/>
              <a:t>, 2010; Goldberg &amp; </a:t>
            </a:r>
            <a:r>
              <a:rPr lang="en-US" sz="1800" dirty="0" err="1"/>
              <a:t>Kuvalanka</a:t>
            </a:r>
            <a:r>
              <a:rPr lang="en-US" sz="1800" dirty="0"/>
              <a:t>, 2018; Marine, 2017). </a:t>
            </a:r>
          </a:p>
        </p:txBody>
      </p:sp>
      <p:sp>
        <p:nvSpPr>
          <p:cNvPr id="4" name="Slide Number Placeholder 3"/>
          <p:cNvSpPr>
            <a:spLocks noGrp="1"/>
          </p:cNvSpPr>
          <p:nvPr>
            <p:ph type="sldNum" sz="quarter" idx="5"/>
          </p:nvPr>
        </p:nvSpPr>
        <p:spPr/>
        <p:txBody>
          <a:bodyPr/>
          <a:lstStyle/>
          <a:p>
            <a:fld id="{68A90B27-3B5B-443C-A326-6050820812EE}" type="slidenum">
              <a:rPr lang="en-US" smtClean="0"/>
              <a:pPr/>
              <a:t>4</a:t>
            </a:fld>
            <a:endParaRPr lang="en-US"/>
          </a:p>
        </p:txBody>
      </p:sp>
    </p:spTree>
    <p:extLst>
      <p:ext uri="{BB962C8B-B14F-4D97-AF65-F5344CB8AC3E}">
        <p14:creationId xmlns:p14="http://schemas.microsoft.com/office/powerpoint/2010/main" val="233416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r>
              <a:rPr lang="en-US" sz="1800" dirty="0"/>
              <a:t> Marine (2017) argued that “genderism occurs at three critical junctures in the pathway to college. First, high school guidance counsellors may not have training to allow them to better advocate for, affirm, and support transgender students. Second, genderism permeates the college application process, as students are required to self-identify their gender with limited choices such as “male”, “female”, and at best, “other”. The third occurs in the transition to and engagement in college, which still contains gendered practices, such as institutional forms, intercollegiate athletics, residence life, and health insurance forms.” </a:t>
            </a:r>
          </a:p>
        </p:txBody>
      </p:sp>
      <p:sp>
        <p:nvSpPr>
          <p:cNvPr id="4" name="Slide Number Placeholder 3"/>
          <p:cNvSpPr>
            <a:spLocks noGrp="1"/>
          </p:cNvSpPr>
          <p:nvPr>
            <p:ph type="sldNum" sz="quarter" idx="5"/>
          </p:nvPr>
        </p:nvSpPr>
        <p:spPr/>
        <p:txBody>
          <a:bodyPr/>
          <a:lstStyle/>
          <a:p>
            <a:fld id="{68A90B27-3B5B-443C-A326-6050820812EE}" type="slidenum">
              <a:rPr lang="en-US" smtClean="0"/>
              <a:pPr/>
              <a:t>5</a:t>
            </a:fld>
            <a:endParaRPr lang="en-US"/>
          </a:p>
        </p:txBody>
      </p:sp>
    </p:spTree>
    <p:extLst>
      <p:ext uri="{BB962C8B-B14F-4D97-AF65-F5344CB8AC3E}">
        <p14:creationId xmlns:p14="http://schemas.microsoft.com/office/powerpoint/2010/main" val="1453239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representation of how respondents identify</a:t>
            </a:r>
          </a:p>
        </p:txBody>
      </p:sp>
      <p:sp>
        <p:nvSpPr>
          <p:cNvPr id="4" name="Slide Number Placeholder 3"/>
          <p:cNvSpPr>
            <a:spLocks noGrp="1"/>
          </p:cNvSpPr>
          <p:nvPr>
            <p:ph type="sldNum" sz="quarter" idx="5"/>
          </p:nvPr>
        </p:nvSpPr>
        <p:spPr/>
        <p:txBody>
          <a:bodyPr/>
          <a:lstStyle/>
          <a:p>
            <a:fld id="{68A90B27-3B5B-443C-A326-6050820812EE}" type="slidenum">
              <a:rPr lang="en-US" smtClean="0"/>
              <a:pPr/>
              <a:t>18</a:t>
            </a:fld>
            <a:endParaRPr lang="en-US"/>
          </a:p>
        </p:txBody>
      </p:sp>
    </p:spTree>
    <p:extLst>
      <p:ext uri="{BB962C8B-B14F-4D97-AF65-F5344CB8AC3E}">
        <p14:creationId xmlns:p14="http://schemas.microsoft.com/office/powerpoint/2010/main" val="3042881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20</a:t>
            </a:fld>
            <a:endParaRPr lang="en-US"/>
          </a:p>
        </p:txBody>
      </p:sp>
    </p:spTree>
    <p:extLst>
      <p:ext uri="{BB962C8B-B14F-4D97-AF65-F5344CB8AC3E}">
        <p14:creationId xmlns:p14="http://schemas.microsoft.com/office/powerpoint/2010/main" val="5174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9888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7958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534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244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37</a:t>
            </a:fld>
            <a:endParaRPr lang="en-US"/>
          </a:p>
        </p:txBody>
      </p:sp>
    </p:spTree>
    <p:extLst>
      <p:ext uri="{BB962C8B-B14F-4D97-AF65-F5344CB8AC3E}">
        <p14:creationId xmlns:p14="http://schemas.microsoft.com/office/powerpoint/2010/main" val="3277766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8541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C743164-120C-744D-80E9-F21388A20B80}" type="slidenum">
              <a:rPr lang="en-US" smtClean="0"/>
              <a:pPr>
                <a:defRPr/>
              </a:pPr>
              <a:t>39</a:t>
            </a:fld>
            <a:endParaRPr lang="en-US"/>
          </a:p>
        </p:txBody>
      </p:sp>
    </p:spTree>
    <p:extLst>
      <p:ext uri="{BB962C8B-B14F-4D97-AF65-F5344CB8AC3E}">
        <p14:creationId xmlns:p14="http://schemas.microsoft.com/office/powerpoint/2010/main" val="313808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0"/>
            <a:ext cx="12192000" cy="55626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8" name="Straight Connector 7"/>
          <p:cNvCxnSpPr>
            <a:cxnSpLocks/>
          </p:cNvCxnSpPr>
          <p:nvPr userDrawn="1"/>
        </p:nvCxnSpPr>
        <p:spPr>
          <a:xfrm>
            <a:off x="-50800" y="5562600"/>
            <a:ext cx="12293600"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381000"/>
            <a:ext cx="10363200" cy="3352799"/>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3759200" y="5638800"/>
            <a:ext cx="4775200" cy="685800"/>
          </a:xfrm>
        </p:spPr>
        <p:txBody>
          <a:bodyPr>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Calibri" panose="020F0502020204030204" pitchFamily="34" charset="0"/>
                <a:cs typeface="Calibri" panose="020F0502020204030204" pitchFamily="34" charset="0"/>
              </a:defRPr>
            </a:lvl1pPr>
          </a:lstStyle>
          <a:p>
            <a:endParaRPr lang="en-US"/>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a:xfrm>
            <a:off x="9144000" y="6400801"/>
            <a:ext cx="2844800" cy="365125"/>
          </a:xfrm>
        </p:spPr>
        <p:txBody>
          <a:bodyPr/>
          <a:lstStyle>
            <a:lvl1pPr>
              <a:defRPr>
                <a:latin typeface="Calibri" panose="020F0502020204030204" pitchFamily="34" charset="0"/>
                <a:cs typeface="Calibri" panose="020F0502020204030204" pitchFamily="34" charset="0"/>
              </a:defRPr>
            </a:lvl1pPr>
          </a:lstStyle>
          <a:p>
            <a:fld id="{02147839-81A2-46CC-A3B2-864012D7A0C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23675" y="0"/>
            <a:ext cx="12252960" cy="12954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76200"/>
            <a:ext cx="10972800" cy="1143000"/>
          </a:xfrm>
        </p:spPr>
        <p:txBody>
          <a:bodyPr>
            <a:normAutofit/>
          </a:bodyPr>
          <a:lstStyle>
            <a:lvl1pPr>
              <a:defRPr sz="4000">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660253" y="-1"/>
            <a:ext cx="569033" cy="316833"/>
          </a:xfrm>
        </p:spPr>
        <p:txBody>
          <a:bodyPr anchor="ctr"/>
          <a:lstStyle>
            <a:lvl1pPr>
              <a:defRPr sz="1600">
                <a:solidFill>
                  <a:schemeClr val="bg1"/>
                </a:solidFill>
                <a:latin typeface="Calibri" panose="020F0502020204030204" pitchFamily="34" charset="0"/>
                <a:cs typeface="Calibri" panose="020F0502020204030204" pitchFamily="34" charset="0"/>
              </a:defRPr>
            </a:lvl1pPr>
          </a:lstStyle>
          <a:p>
            <a:fld id="{80DD8C35-F8B3-4049-95AF-A34E38FBBA50}" type="slidenum">
              <a:rPr lang="en-US" smtClean="0"/>
              <a:pPr/>
              <a:t>‹#›</a:t>
            </a:fld>
            <a:endParaRPr lang="en-US" dirty="0"/>
          </a:p>
        </p:txBody>
      </p:sp>
      <p:cxnSp>
        <p:nvCxnSpPr>
          <p:cNvPr id="9" name="Straight Connector 8"/>
          <p:cNvCxnSpPr>
            <a:cxnSpLocks/>
          </p:cNvCxnSpPr>
          <p:nvPr userDrawn="1"/>
        </p:nvCxnSpPr>
        <p:spPr>
          <a:xfrm>
            <a:off x="-69443" y="1295400"/>
            <a:ext cx="12330885"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47839-81A2-46CC-A3B2-864012D7A0C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191000" y="5599386"/>
            <a:ext cx="4191000" cy="457200"/>
          </a:xfrm>
          <a:prstGeom prst="rect">
            <a:avLst/>
          </a:prstGeom>
        </p:spPr>
        <p:txBody>
          <a:bodyPr vert="horz" lIns="91440" tIns="45720" rIns="91440" bIns="45720" rtlCol="0">
            <a:noAutofit/>
          </a:bodyPr>
          <a:lstStyle/>
          <a:p>
            <a:pPr>
              <a:spcBef>
                <a:spcPct val="20000"/>
              </a:spcBef>
              <a:defRPr/>
            </a:pPr>
            <a:endParaRPr lang="en-US" sz="2400" dirty="0"/>
          </a:p>
        </p:txBody>
      </p:sp>
      <p:sp>
        <p:nvSpPr>
          <p:cNvPr id="6" name="Subtitle 2"/>
          <p:cNvSpPr txBox="1">
            <a:spLocks/>
          </p:cNvSpPr>
          <p:nvPr/>
        </p:nvSpPr>
        <p:spPr>
          <a:xfrm>
            <a:off x="2971800" y="6947338"/>
            <a:ext cx="6629400" cy="457200"/>
          </a:xfrm>
          <a:prstGeom prst="rect">
            <a:avLst/>
          </a:prstGeom>
        </p:spPr>
        <p:txBody>
          <a:bodyPr vert="horz" lIns="91440" tIns="45720" rIns="91440" bIns="45720" rtlCol="0">
            <a:noAutofit/>
          </a:bodyPr>
          <a:lstStyle/>
          <a:p>
            <a:pPr algn="ctr">
              <a:spcBef>
                <a:spcPct val="20000"/>
              </a:spcBef>
              <a:defRPr/>
            </a:pPr>
            <a:endParaRPr lang="en-US" sz="2400" dirty="0"/>
          </a:p>
        </p:txBody>
      </p:sp>
      <p:sp>
        <p:nvSpPr>
          <p:cNvPr id="8" name="Subtitle 2"/>
          <p:cNvSpPr txBox="1">
            <a:spLocks/>
          </p:cNvSpPr>
          <p:nvPr/>
        </p:nvSpPr>
        <p:spPr>
          <a:xfrm>
            <a:off x="3161148" y="3733800"/>
            <a:ext cx="5943600" cy="11430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200" dirty="0"/>
          </a:p>
          <a:p>
            <a:endParaRPr lang="en-US" sz="2200" dirty="0"/>
          </a:p>
          <a:p>
            <a:endParaRPr lang="en-US" dirty="0"/>
          </a:p>
        </p:txBody>
      </p:sp>
      <p:pic>
        <p:nvPicPr>
          <p:cNvPr id="10" name="Picture 9">
            <a:extLst>
              <a:ext uri="{FF2B5EF4-FFF2-40B4-BE49-F238E27FC236}">
                <a16:creationId xmlns:a16="http://schemas.microsoft.com/office/drawing/2014/main" id="{53CE3EA1-96F6-7C41-BEFA-CDC86A1F3B82}"/>
              </a:ext>
            </a:extLst>
          </p:cNvPr>
          <p:cNvPicPr/>
          <p:nvPr/>
        </p:nvPicPr>
        <p:blipFill>
          <a:blip r:embed="rId3">
            <a:extLst>
              <a:ext uri="{28A0092B-C50C-407E-A947-70E740481C1C}">
                <a14:useLocalDpi xmlns:a14="http://schemas.microsoft.com/office/drawing/2010/main" val="0"/>
              </a:ext>
            </a:extLst>
          </a:blip>
          <a:stretch>
            <a:fillRect/>
          </a:stretch>
        </p:blipFill>
        <p:spPr>
          <a:xfrm>
            <a:off x="5067300" y="5663976"/>
            <a:ext cx="2438399" cy="1026768"/>
          </a:xfrm>
          <a:prstGeom prst="rect">
            <a:avLst/>
          </a:prstGeom>
        </p:spPr>
      </p:pic>
      <p:sp>
        <p:nvSpPr>
          <p:cNvPr id="9" name="Rectangle 8">
            <a:extLst>
              <a:ext uri="{FF2B5EF4-FFF2-40B4-BE49-F238E27FC236}">
                <a16:creationId xmlns:a16="http://schemas.microsoft.com/office/drawing/2014/main" id="{04E094FB-470F-D34D-850D-FAE0D60AF14D}"/>
              </a:ext>
            </a:extLst>
          </p:cNvPr>
          <p:cNvSpPr/>
          <p:nvPr/>
        </p:nvSpPr>
        <p:spPr>
          <a:xfrm>
            <a:off x="762000" y="754592"/>
            <a:ext cx="10668000" cy="1815882"/>
          </a:xfrm>
          <a:prstGeom prst="rect">
            <a:avLst/>
          </a:prstGeom>
        </p:spPr>
        <p:txBody>
          <a:bodyPr wrap="square" anchor="ctr">
            <a:spAutoFit/>
          </a:bodyPr>
          <a:lstStyle/>
          <a:p>
            <a:pPr algn="ctr"/>
            <a:r>
              <a:rPr lang="en-US" sz="4400" dirty="0">
                <a:solidFill>
                  <a:schemeClr val="bg1"/>
                </a:solidFill>
                <a:latin typeface="Calibri" panose="020F0502020204030204" pitchFamily="34" charset="0"/>
                <a:cs typeface="Calibri" panose="020F0502020204030204" pitchFamily="34" charset="0"/>
              </a:rPr>
              <a:t>Challenges and Disparities Faced by LGBTQ+ Students in the Transition to College</a:t>
            </a:r>
            <a:br>
              <a:rPr lang="en-US" sz="4400" dirty="0">
                <a:solidFill>
                  <a:schemeClr val="bg1"/>
                </a:solidFill>
                <a:latin typeface="Calibri" panose="020F0502020204030204" pitchFamily="34" charset="0"/>
                <a:cs typeface="Calibri" panose="020F0502020204030204" pitchFamily="34" charset="0"/>
              </a:rPr>
            </a:br>
            <a:r>
              <a:rPr lang="en-US" sz="2400" dirty="0">
                <a:solidFill>
                  <a:schemeClr val="bg1"/>
                </a:solidFill>
                <a:latin typeface="Calibri" panose="020F0502020204030204" pitchFamily="34" charset="0"/>
                <a:cs typeface="Calibri" panose="020F0502020204030204" pitchFamily="34" charset="0"/>
              </a:rPr>
              <a:t>Survey Evidence from the California High School Class of 2023</a:t>
            </a:r>
            <a:endParaRPr lang="en-US" sz="4400"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5CA2BD98-D2B6-7A41-8521-90679348B555}"/>
              </a:ext>
            </a:extLst>
          </p:cNvPr>
          <p:cNvSpPr txBox="1"/>
          <p:nvPr/>
        </p:nvSpPr>
        <p:spPr>
          <a:xfrm>
            <a:off x="2379693" y="2771061"/>
            <a:ext cx="7813611" cy="1138773"/>
          </a:xfrm>
          <a:prstGeom prst="rect">
            <a:avLst/>
          </a:prstGeom>
          <a:noFill/>
        </p:spPr>
        <p:txBody>
          <a:bodyPr wrap="square" rtlCol="0">
            <a:spAutoFit/>
          </a:bodyPr>
          <a:lstStyle/>
          <a:p>
            <a:pPr algn="ctr"/>
            <a:r>
              <a:rPr lang="en-US" i="1" spc="50" dirty="0">
                <a:solidFill>
                  <a:schemeClr val="bg1"/>
                </a:solidFill>
                <a:latin typeface="Calibri Light" panose="020F0302020204030204" pitchFamily="34" charset="0"/>
                <a:cs typeface="Calibri Light" panose="020F0302020204030204" pitchFamily="34" charset="0"/>
              </a:rPr>
              <a:t>Christina Sun</a:t>
            </a:r>
          </a:p>
          <a:p>
            <a:pPr algn="ctr"/>
            <a:r>
              <a:rPr lang="en-US" i="1" spc="50" dirty="0">
                <a:solidFill>
                  <a:schemeClr val="bg1"/>
                </a:solidFill>
                <a:latin typeface="Calibri Light" panose="020F0302020204030204" pitchFamily="34" charset="0"/>
                <a:cs typeface="Calibri Light" panose="020F0302020204030204" pitchFamily="34" charset="0"/>
              </a:rPr>
              <a:t>With Alexandria Hurtt, Michal </a:t>
            </a:r>
            <a:r>
              <a:rPr lang="en-US" i="1" spc="50" dirty="0" err="1">
                <a:solidFill>
                  <a:schemeClr val="bg1"/>
                </a:solidFill>
                <a:latin typeface="Calibri Light" panose="020F0302020204030204" pitchFamily="34" charset="0"/>
                <a:cs typeface="Calibri Light" panose="020F0302020204030204" pitchFamily="34" charset="0"/>
              </a:rPr>
              <a:t>Kurlaender</a:t>
            </a:r>
            <a:r>
              <a:rPr lang="en-US" i="1" spc="50" dirty="0">
                <a:solidFill>
                  <a:schemeClr val="bg1"/>
                </a:solidFill>
                <a:latin typeface="Calibri Light" panose="020F0302020204030204" pitchFamily="34" charset="0"/>
                <a:cs typeface="Calibri Light" panose="020F0302020204030204" pitchFamily="34" charset="0"/>
              </a:rPr>
              <a:t>, Kairo Weber, and </a:t>
            </a:r>
            <a:r>
              <a:rPr lang="en-US" i="1" spc="50" dirty="0" err="1">
                <a:solidFill>
                  <a:schemeClr val="bg1"/>
                </a:solidFill>
                <a:latin typeface="Calibri Light" panose="020F0302020204030204" pitchFamily="34" charset="0"/>
                <a:cs typeface="Calibri Light" panose="020F0302020204030204" pitchFamily="34" charset="0"/>
              </a:rPr>
              <a:t>Baiyu</a:t>
            </a:r>
            <a:r>
              <a:rPr lang="en-US" i="1" spc="50" dirty="0">
                <a:solidFill>
                  <a:schemeClr val="bg1"/>
                </a:solidFill>
                <a:latin typeface="Calibri Light" panose="020F0302020204030204" pitchFamily="34" charset="0"/>
                <a:cs typeface="Calibri Light" panose="020F0302020204030204" pitchFamily="34" charset="0"/>
              </a:rPr>
              <a:t> Zhou</a:t>
            </a:r>
          </a:p>
          <a:p>
            <a:pPr algn="ctr"/>
            <a:endParaRPr lang="en-US" sz="1200" i="1" spc="50" dirty="0">
              <a:solidFill>
                <a:schemeClr val="bg1"/>
              </a:solidFill>
              <a:latin typeface="Calibri Light" panose="020F0302020204030204" pitchFamily="34" charset="0"/>
              <a:cs typeface="Calibri Light" panose="020F0302020204030204" pitchFamily="34" charset="0"/>
            </a:endParaRPr>
          </a:p>
          <a:p>
            <a:pPr algn="ctr"/>
            <a:r>
              <a:rPr lang="en-US" spc="50" dirty="0">
                <a:solidFill>
                  <a:schemeClr val="bg1"/>
                </a:solidFill>
                <a:latin typeface="Calibri Light" panose="020F0302020204030204" pitchFamily="34" charset="0"/>
                <a:cs typeface="Calibri Light" panose="020F0302020204030204" pitchFamily="34" charset="0"/>
              </a:rPr>
              <a:t>University of California, Davis</a:t>
            </a:r>
          </a:p>
        </p:txBody>
      </p:sp>
      <p:sp>
        <p:nvSpPr>
          <p:cNvPr id="11" name="Rectangle 10">
            <a:extLst>
              <a:ext uri="{FF2B5EF4-FFF2-40B4-BE49-F238E27FC236}">
                <a16:creationId xmlns:a16="http://schemas.microsoft.com/office/drawing/2014/main" id="{C38E4EAB-A72E-E94E-B1BC-80F1D02515FD}"/>
              </a:ext>
            </a:extLst>
          </p:cNvPr>
          <p:cNvSpPr/>
          <p:nvPr/>
        </p:nvSpPr>
        <p:spPr>
          <a:xfrm>
            <a:off x="1143000" y="3987225"/>
            <a:ext cx="10058400" cy="1384995"/>
          </a:xfrm>
          <a:prstGeom prst="rect">
            <a:avLst/>
          </a:prstGeom>
        </p:spPr>
        <p:txBody>
          <a:bodyPr wrap="square">
            <a:spAutoFit/>
          </a:bodyPr>
          <a:lstStyle/>
          <a:p>
            <a:r>
              <a:rPr lang="en-US" sz="1400" i="1" dirty="0">
                <a:solidFill>
                  <a:schemeClr val="bg1"/>
                </a:solidFill>
                <a:latin typeface="Calibri" panose="020F0502020204030204" pitchFamily="34" charset="0"/>
                <a:ea typeface="Calibri Light" charset="0"/>
                <a:cs typeface="Calibri" panose="020F0502020204030204" pitchFamily="34" charset="0"/>
              </a:rPr>
              <a:t>Note: This research was supported by the College Futures Foundation and conducted in partnership with the California Student Aid Commission. The authors are also grateful for ongoing support from the Stuart Foundation to the California Education Lab. 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a:p>
            <a:endParaRPr lang="en-US" sz="1400" i="1" dirty="0">
              <a:solidFill>
                <a:schemeClr val="bg1"/>
              </a:solidFill>
              <a:latin typeface="Calibri" panose="020F0502020204030204" pitchFamily="34" charset="0"/>
              <a:ea typeface="Calibri Light"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5F58-A517-0E4A-DAB4-0FD710BAA93F}"/>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800CB78C-4777-687F-E9C8-A99936A6207F}"/>
              </a:ext>
            </a:extLst>
          </p:cNvPr>
          <p:cNvSpPr>
            <a:spLocks noGrp="1"/>
          </p:cNvSpPr>
          <p:nvPr>
            <p:ph idx="1"/>
          </p:nvPr>
        </p:nvSpPr>
        <p:spPr/>
        <p:txBody>
          <a:bodyPr/>
          <a:lstStyle/>
          <a:p>
            <a:pPr marL="314325" indent="-257175">
              <a:spcBef>
                <a:spcPts val="0"/>
              </a:spcBef>
              <a:buFont typeface="Wingdings" charset="2"/>
              <a:buChar char="§"/>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California Student Aid Commission</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Marlene Garcia</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Jessica Moldoff</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Ryan Fuller</a:t>
            </a: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endParaRPr>
          </a:p>
          <a:p>
            <a:pPr marL="314325" indent="-257175">
              <a:spcBef>
                <a:spcPts val="0"/>
              </a:spcBef>
              <a:buFont typeface="Wingdings" charset="2"/>
              <a:buChar char="§"/>
              <a:defRPr/>
            </a:pPr>
            <a:r>
              <a:rPr lang="en-US" sz="2400" dirty="0">
                <a:solidFill>
                  <a:prstClr val="black"/>
                </a:solidFill>
                <a:ea typeface="Calibri Light" charset="0"/>
              </a:rPr>
              <a:t>California Department of Education</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endParaRPr>
          </a:p>
          <a:p>
            <a:pPr marL="314325" indent="-257175">
              <a:spcBef>
                <a:spcPts val="0"/>
              </a:spcBef>
              <a:buFont typeface="Wingdings" charset="2"/>
              <a:buChar char="§"/>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California Education Lab</a:t>
            </a:r>
          </a:p>
          <a:p>
            <a:pPr marL="714375" marR="0" lvl="1" indent="-257175" algn="l" defTabSz="914400" rtl="0" eaLnBrk="1" fontAlgn="auto" latinLnBrk="0" hangingPunct="1">
              <a:lnSpc>
                <a:spcPct val="100000"/>
              </a:lnSpc>
              <a:spcBef>
                <a:spcPts val="0"/>
              </a:spcBef>
              <a:spcAft>
                <a:spcPts val="0"/>
              </a:spcAft>
              <a:buClrTx/>
              <a:buSzTx/>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Elizabeth Friedmann</a:t>
            </a:r>
          </a:p>
          <a:p>
            <a:pPr marL="714375" marR="0" lvl="1" indent="-257175" algn="l" defTabSz="914400" rtl="0" eaLnBrk="1" fontAlgn="auto" latinLnBrk="0" hangingPunct="1">
              <a:lnSpc>
                <a:spcPct val="100000"/>
              </a:lnSpc>
              <a:spcBef>
                <a:spcPts val="0"/>
              </a:spcBef>
              <a:spcAft>
                <a:spcPts val="0"/>
              </a:spcAft>
              <a:buClrTx/>
              <a:buSzTx/>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Sherrie Reed</a:t>
            </a:r>
          </a:p>
          <a:p>
            <a:pPr marL="714375" marR="0" lvl="1" indent="-257175" algn="l" defTabSz="914400" rtl="0" eaLnBrk="1" fontAlgn="auto" latinLnBrk="0" hangingPunct="1">
              <a:lnSpc>
                <a:spcPct val="100000"/>
              </a:lnSpc>
              <a:spcBef>
                <a:spcPts val="0"/>
              </a:spcBef>
              <a:spcAft>
                <a:spcPts val="0"/>
              </a:spcAft>
              <a:buClrTx/>
              <a:buSzTx/>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Paco Martorell</a:t>
            </a:r>
          </a:p>
          <a:p>
            <a:pPr marL="714375" marR="0" lvl="1" indent="-257175" algn="l" defTabSz="914400" rtl="0" eaLnBrk="1" fontAlgn="auto" latinLnBrk="0" hangingPunct="1">
              <a:lnSpc>
                <a:spcPct val="100000"/>
              </a:lnSpc>
              <a:spcBef>
                <a:spcPts val="0"/>
              </a:spcBef>
              <a:spcAft>
                <a:spcPts val="0"/>
              </a:spcAft>
              <a:buClrTx/>
              <a:buSzTx/>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Light" charset="0"/>
                <a:cs typeface="Calibri" panose="020F0502020204030204" pitchFamily="34" charset="0"/>
              </a:rPr>
              <a:t>Scott Carrell</a:t>
            </a:r>
          </a:p>
          <a:p>
            <a:endParaRPr lang="en-US" dirty="0"/>
          </a:p>
        </p:txBody>
      </p:sp>
      <p:sp>
        <p:nvSpPr>
          <p:cNvPr id="4" name="Slide Number Placeholder 3">
            <a:extLst>
              <a:ext uri="{FF2B5EF4-FFF2-40B4-BE49-F238E27FC236}">
                <a16:creationId xmlns:a16="http://schemas.microsoft.com/office/drawing/2014/main" id="{0C5D76E7-692D-0B45-1432-903731B99BFF}"/>
              </a:ext>
            </a:extLst>
          </p:cNvPr>
          <p:cNvSpPr>
            <a:spLocks noGrp="1"/>
          </p:cNvSpPr>
          <p:nvPr>
            <p:ph type="sldNum" sz="quarter" idx="12"/>
          </p:nvPr>
        </p:nvSpPr>
        <p:spPr/>
        <p:txBody>
          <a:bodyPr/>
          <a:lstStyle/>
          <a:p>
            <a:fld id="{80DD8C35-F8B3-4049-95AF-A34E38FBBA50}" type="slidenum">
              <a:rPr lang="en-US" smtClean="0"/>
              <a:pPr/>
              <a:t>2</a:t>
            </a:fld>
            <a:endParaRPr lang="en-US" dirty="0"/>
          </a:p>
        </p:txBody>
      </p:sp>
    </p:spTree>
    <p:extLst>
      <p:ext uri="{BB962C8B-B14F-4D97-AF65-F5344CB8AC3E}">
        <p14:creationId xmlns:p14="http://schemas.microsoft.com/office/powerpoint/2010/main" val="42553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Overview</a:t>
            </a:r>
          </a:p>
        </p:txBody>
      </p:sp>
      <p:sp>
        <p:nvSpPr>
          <p:cNvPr id="4" name="Slide Number Placeholder 3"/>
          <p:cNvSpPr>
            <a:spLocks noGrp="1"/>
          </p:cNvSpPr>
          <p:nvPr>
            <p:ph type="sldNum" sz="quarter" idx="12"/>
          </p:nvPr>
        </p:nvSpPr>
        <p:spPr>
          <a:xfrm>
            <a:off x="8704556" y="-118270"/>
            <a:ext cx="3487444" cy="388939"/>
          </a:xfrm>
        </p:spPr>
        <p:txBody>
          <a:bodyPr/>
          <a:lstStyle/>
          <a:p>
            <a:endParaRPr lang="en-US" dirty="0"/>
          </a:p>
          <a:p>
            <a:fld id="{80DD8C35-F8B3-4049-95AF-A34E38FBBA50}" type="slidenum">
              <a:rPr lang="en-US" smtClean="0"/>
              <a:pPr/>
              <a:t>3</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676400" y="1524001"/>
            <a:ext cx="8839200" cy="4585871"/>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2800" dirty="0"/>
              <a:t>This project is the first to utilize a large student survey to explore high school student experiences and postsecondary plans by a diverse set of gender identities and sexual orientations.</a:t>
            </a:r>
          </a:p>
          <a:p>
            <a:pPr marL="0" indent="0">
              <a:buNone/>
              <a:defRPr/>
            </a:pPr>
            <a:endParaRPr lang="en-US" sz="1000" dirty="0"/>
          </a:p>
          <a:p>
            <a:pPr marL="288925" indent="-288925">
              <a:defRPr/>
            </a:pPr>
            <a:r>
              <a:rPr lang="en-US" sz="2800" dirty="0"/>
              <a:t>Motivation</a:t>
            </a:r>
          </a:p>
          <a:p>
            <a:pPr marL="288925" indent="-288925">
              <a:defRPr/>
            </a:pPr>
            <a:r>
              <a:rPr lang="en-US" sz="2800" dirty="0"/>
              <a:t>Methodology</a:t>
            </a:r>
          </a:p>
          <a:p>
            <a:pPr marL="288925" indent="-288925">
              <a:defRPr/>
            </a:pPr>
            <a:r>
              <a:rPr lang="en-US" sz="2800" dirty="0"/>
              <a:t>Data</a:t>
            </a:r>
          </a:p>
          <a:p>
            <a:pPr marL="288925" indent="-288925">
              <a:defRPr/>
            </a:pPr>
            <a:r>
              <a:rPr lang="en-US" sz="2800"/>
              <a:t>Findings</a:t>
            </a:r>
            <a:endParaRPr lang="en-US" sz="2800" dirty="0"/>
          </a:p>
          <a:p>
            <a:pPr marL="288925" indent="-288925">
              <a:defRPr/>
            </a:pPr>
            <a:r>
              <a:rPr lang="en-US" sz="2800" dirty="0"/>
              <a:t>Discussion</a:t>
            </a:r>
          </a:p>
        </p:txBody>
      </p:sp>
    </p:spTree>
    <p:extLst>
      <p:ext uri="{BB962C8B-B14F-4D97-AF65-F5344CB8AC3E}">
        <p14:creationId xmlns:p14="http://schemas.microsoft.com/office/powerpoint/2010/main" val="4162196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Motivation</a:t>
            </a:r>
          </a:p>
        </p:txBody>
      </p:sp>
      <p:sp>
        <p:nvSpPr>
          <p:cNvPr id="4" name="Slide Number Placeholder 3"/>
          <p:cNvSpPr>
            <a:spLocks noGrp="1"/>
          </p:cNvSpPr>
          <p:nvPr>
            <p:ph type="sldNum" sz="quarter" idx="12"/>
          </p:nvPr>
        </p:nvSpPr>
        <p:spPr>
          <a:xfrm>
            <a:off x="8704556" y="-118270"/>
            <a:ext cx="3487444" cy="388939"/>
          </a:xfrm>
        </p:spPr>
        <p:txBody>
          <a:bodyPr/>
          <a:lstStyle/>
          <a:p>
            <a:endParaRPr lang="en-US" dirty="0"/>
          </a:p>
          <a:p>
            <a:fld id="{80DD8C35-F8B3-4049-95AF-A34E38FBBA50}" type="slidenum">
              <a:rPr lang="en-US" smtClean="0"/>
              <a:pPr/>
              <a:t>4</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990600" y="1401947"/>
            <a:ext cx="10210800" cy="5115246"/>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t>The high school to college transition is crucial for young adults (</a:t>
            </a:r>
            <a:r>
              <a:rPr lang="en-US" sz="2800" dirty="0" err="1"/>
              <a:t>Luh</a:t>
            </a:r>
            <a:r>
              <a:rPr lang="en-US" sz="2800" dirty="0"/>
              <a:t> et al., 2023)</a:t>
            </a:r>
          </a:p>
          <a:p>
            <a:pPr>
              <a:defRPr/>
            </a:pPr>
            <a:r>
              <a:rPr lang="en-US" sz="2800" dirty="0"/>
              <a:t>Schools shape students’ perceptions of college and future educational attainment (Lynn et al., 2010; </a:t>
            </a:r>
            <a:r>
              <a:rPr lang="en-US" sz="2800" dirty="0" err="1"/>
              <a:t>Uwah</a:t>
            </a:r>
            <a:r>
              <a:rPr lang="en-US" sz="2800" dirty="0"/>
              <a:t> et al., 2008)</a:t>
            </a:r>
          </a:p>
          <a:p>
            <a:pPr>
              <a:defRPr/>
            </a:pPr>
            <a:r>
              <a:rPr lang="en-US" sz="2800" dirty="0"/>
              <a:t>Existing research documents differences in outcomes among historically underserved groups</a:t>
            </a:r>
          </a:p>
          <a:p>
            <a:pPr lvl="1">
              <a:defRPr/>
            </a:pPr>
            <a:r>
              <a:rPr lang="en-US" sz="2400" dirty="0"/>
              <a:t>Limited evidence regarding LGBTQ+ students</a:t>
            </a:r>
          </a:p>
          <a:p>
            <a:pPr lvl="1">
              <a:defRPr/>
            </a:pPr>
            <a:r>
              <a:rPr lang="en-US" sz="2400" dirty="0"/>
              <a:t>Research tends to consider the community as a whole</a:t>
            </a:r>
          </a:p>
          <a:p>
            <a:pPr>
              <a:defRPr/>
            </a:pPr>
            <a:r>
              <a:rPr lang="en-US" sz="2800" dirty="0"/>
              <a:t>This study provides direct descriptive evidence on LGBTQ+ students’ experiences before college, and examine subgroup differences within the community</a:t>
            </a:r>
          </a:p>
        </p:txBody>
      </p:sp>
    </p:spTree>
    <p:extLst>
      <p:ext uri="{BB962C8B-B14F-4D97-AF65-F5344CB8AC3E}">
        <p14:creationId xmlns:p14="http://schemas.microsoft.com/office/powerpoint/2010/main" val="139288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a:t>Literature Review</a:t>
            </a:r>
            <a:endParaRPr lang="en-US" dirty="0"/>
          </a:p>
        </p:txBody>
      </p:sp>
      <p:sp>
        <p:nvSpPr>
          <p:cNvPr id="4" name="Slide Number Placeholder 3"/>
          <p:cNvSpPr>
            <a:spLocks noGrp="1"/>
          </p:cNvSpPr>
          <p:nvPr>
            <p:ph type="sldNum" sz="quarter" idx="12"/>
          </p:nvPr>
        </p:nvSpPr>
        <p:spPr>
          <a:xfrm>
            <a:off x="8704556" y="-118270"/>
            <a:ext cx="3487444" cy="388939"/>
          </a:xfrm>
        </p:spPr>
        <p:txBody>
          <a:bodyPr/>
          <a:lstStyle/>
          <a:p>
            <a:endParaRPr lang="en-US" dirty="0"/>
          </a:p>
          <a:p>
            <a:fld id="{80DD8C35-F8B3-4049-95AF-A34E38FBBA50}" type="slidenum">
              <a:rPr lang="en-US" smtClean="0"/>
              <a:pPr/>
              <a:t>5</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676400" y="1348078"/>
            <a:ext cx="8839200" cy="4179606"/>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400" dirty="0"/>
              <a:t>Gender and sexual minority students experience differences in outcomes compared to their cisgender, heterosexual peers</a:t>
            </a:r>
          </a:p>
          <a:p>
            <a:pPr lvl="1">
              <a:defRPr/>
            </a:pPr>
            <a:r>
              <a:rPr lang="en-US" sz="2000" dirty="0"/>
              <a:t>Academic performance, including college admission (Aragon et al., 2014; Feldman et al., 2022; Wilkinson et al., 2021)</a:t>
            </a:r>
          </a:p>
          <a:p>
            <a:pPr lvl="1">
              <a:defRPr/>
            </a:pPr>
            <a:r>
              <a:rPr lang="en-US" sz="2000" dirty="0"/>
              <a:t>Mental health (Kirsch et al., 2015; Marshal et al., 2011)</a:t>
            </a:r>
          </a:p>
          <a:p>
            <a:pPr>
              <a:defRPr/>
            </a:pPr>
            <a:r>
              <a:rPr lang="en-US" sz="2400" dirty="0"/>
              <a:t>Transgender youth often face additional barriers to educational success, including bullying/harassment and genderist practices (Marine, 2017)</a:t>
            </a:r>
          </a:p>
          <a:p>
            <a:pPr>
              <a:defRPr/>
            </a:pPr>
            <a:r>
              <a:rPr lang="en-US" sz="2400" dirty="0"/>
              <a:t>Differential impact of COVID-19</a:t>
            </a:r>
          </a:p>
          <a:p>
            <a:pPr lvl="1">
              <a:defRPr/>
            </a:pPr>
            <a:r>
              <a:rPr lang="en-US" sz="2000" dirty="0"/>
              <a:t>Compounded difficult relationships between gender and sexual minority youth and rejecting parents (Fish et al., 2020)</a:t>
            </a:r>
          </a:p>
        </p:txBody>
      </p:sp>
    </p:spTree>
    <p:extLst>
      <p:ext uri="{BB962C8B-B14F-4D97-AF65-F5344CB8AC3E}">
        <p14:creationId xmlns:p14="http://schemas.microsoft.com/office/powerpoint/2010/main" val="407709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27E8-9273-BA49-497A-D35E01CFCC59}"/>
              </a:ext>
            </a:extLst>
          </p:cNvPr>
          <p:cNvSpPr>
            <a:spLocks noGrp="1"/>
          </p:cNvSpPr>
          <p:nvPr>
            <p:ph type="title"/>
          </p:nvPr>
        </p:nvSpPr>
        <p:spPr/>
        <p:txBody>
          <a:bodyPr/>
          <a:lstStyle/>
          <a:p>
            <a:r>
              <a:rPr lang="en-US" dirty="0"/>
              <a:t>Institutional and Social Context</a:t>
            </a:r>
          </a:p>
        </p:txBody>
      </p:sp>
      <p:sp>
        <p:nvSpPr>
          <p:cNvPr id="3" name="Content Placeholder 2">
            <a:extLst>
              <a:ext uri="{FF2B5EF4-FFF2-40B4-BE49-F238E27FC236}">
                <a16:creationId xmlns:a16="http://schemas.microsoft.com/office/drawing/2014/main" id="{9AA4CAC7-FEC1-9917-2A76-696FEB589334}"/>
              </a:ext>
            </a:extLst>
          </p:cNvPr>
          <p:cNvSpPr>
            <a:spLocks noGrp="1"/>
          </p:cNvSpPr>
          <p:nvPr>
            <p:ph idx="1"/>
          </p:nvPr>
        </p:nvSpPr>
        <p:spPr>
          <a:xfrm>
            <a:off x="1123950" y="1447800"/>
            <a:ext cx="9944100" cy="5410200"/>
          </a:xfrm>
        </p:spPr>
        <p:txBody>
          <a:bodyPr>
            <a:normAutofit/>
          </a:bodyPr>
          <a:lstStyle/>
          <a:p>
            <a:r>
              <a:rPr lang="en-US" dirty="0"/>
              <a:t>COVID-19 Pandemic</a:t>
            </a:r>
          </a:p>
          <a:p>
            <a:pPr lvl="1"/>
            <a:r>
              <a:rPr lang="en-US" dirty="0"/>
              <a:t>Remote start to high school</a:t>
            </a:r>
          </a:p>
          <a:p>
            <a:pPr lvl="1"/>
            <a:r>
              <a:rPr lang="en-US" dirty="0"/>
              <a:t>Significant portion of high school was conducted online</a:t>
            </a:r>
          </a:p>
          <a:p>
            <a:pPr lvl="1"/>
            <a:endParaRPr lang="en-US" sz="2100" dirty="0"/>
          </a:p>
          <a:p>
            <a:r>
              <a:rPr lang="en-US" dirty="0"/>
              <a:t>Policy changes in financial aid application submission</a:t>
            </a:r>
          </a:p>
          <a:p>
            <a:pPr lvl="1"/>
            <a:r>
              <a:rPr lang="en-US" dirty="0"/>
              <a:t>AB 469 (2021) mandates graduating high school seniors to complete a FAFSA or CADAA (with opt-out waivers)</a:t>
            </a:r>
          </a:p>
          <a:p>
            <a:pPr lvl="1"/>
            <a:r>
              <a:rPr lang="en-US" dirty="0"/>
              <a:t>Class of 2023 is first cohort </a:t>
            </a:r>
          </a:p>
        </p:txBody>
      </p:sp>
      <p:sp>
        <p:nvSpPr>
          <p:cNvPr id="4" name="Slide Number Placeholder 3">
            <a:extLst>
              <a:ext uri="{FF2B5EF4-FFF2-40B4-BE49-F238E27FC236}">
                <a16:creationId xmlns:a16="http://schemas.microsoft.com/office/drawing/2014/main" id="{21AED131-0CA8-2808-3904-B8E149002F30}"/>
              </a:ext>
            </a:extLst>
          </p:cNvPr>
          <p:cNvSpPr>
            <a:spLocks noGrp="1"/>
          </p:cNvSpPr>
          <p:nvPr>
            <p:ph type="sldNum" sz="quarter" idx="12"/>
          </p:nvPr>
        </p:nvSpPr>
        <p:spPr/>
        <p:txBody>
          <a:bodyPr/>
          <a:lstStyle/>
          <a:p>
            <a:fld id="{80DD8C35-F8B3-4049-95AF-A34E38FBBA50}" type="slidenum">
              <a:rPr lang="en-US" smtClean="0"/>
              <a:pPr/>
              <a:t>6</a:t>
            </a:fld>
            <a:endParaRPr lang="en-US" dirty="0"/>
          </a:p>
        </p:txBody>
      </p:sp>
    </p:spTree>
    <p:extLst>
      <p:ext uri="{BB962C8B-B14F-4D97-AF65-F5344CB8AC3E}">
        <p14:creationId xmlns:p14="http://schemas.microsoft.com/office/powerpoint/2010/main" val="134561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BFC6-3976-0F7A-B822-77B125EB602B}"/>
              </a:ext>
            </a:extLst>
          </p:cNvPr>
          <p:cNvSpPr>
            <a:spLocks noGrp="1"/>
          </p:cNvSpPr>
          <p:nvPr>
            <p:ph type="title"/>
          </p:nvPr>
        </p:nvSpPr>
        <p:spPr/>
        <p:txBody>
          <a:bodyPr/>
          <a:lstStyle/>
          <a:p>
            <a:r>
              <a:rPr lang="en-US" dirty="0"/>
              <a:t>Institutional and Social Context</a:t>
            </a:r>
          </a:p>
        </p:txBody>
      </p:sp>
      <p:sp>
        <p:nvSpPr>
          <p:cNvPr id="3" name="Content Placeholder 2">
            <a:extLst>
              <a:ext uri="{FF2B5EF4-FFF2-40B4-BE49-F238E27FC236}">
                <a16:creationId xmlns:a16="http://schemas.microsoft.com/office/drawing/2014/main" id="{8A6D252E-B446-8924-5586-6290A9F48726}"/>
              </a:ext>
            </a:extLst>
          </p:cNvPr>
          <p:cNvSpPr>
            <a:spLocks noGrp="1"/>
          </p:cNvSpPr>
          <p:nvPr>
            <p:ph idx="1"/>
          </p:nvPr>
        </p:nvSpPr>
        <p:spPr>
          <a:xfrm>
            <a:off x="609600" y="1600201"/>
            <a:ext cx="5217088" cy="1371599"/>
          </a:xfrm>
        </p:spPr>
        <p:txBody>
          <a:bodyPr/>
          <a:lstStyle/>
          <a:p>
            <a:r>
              <a:rPr lang="en-US" sz="2400" dirty="0"/>
              <a:t>Heightened visibility of and backlash against LGBTQ+ people</a:t>
            </a:r>
          </a:p>
          <a:p>
            <a:pPr lvl="1"/>
            <a:endParaRPr lang="en-US" dirty="0"/>
          </a:p>
          <a:p>
            <a:endParaRPr lang="en-US" dirty="0"/>
          </a:p>
        </p:txBody>
      </p:sp>
      <p:sp>
        <p:nvSpPr>
          <p:cNvPr id="4" name="Slide Number Placeholder 3">
            <a:extLst>
              <a:ext uri="{FF2B5EF4-FFF2-40B4-BE49-F238E27FC236}">
                <a16:creationId xmlns:a16="http://schemas.microsoft.com/office/drawing/2014/main" id="{1705CBDC-A6C8-2682-B6D2-FBB79AAC1762}"/>
              </a:ext>
            </a:extLst>
          </p:cNvPr>
          <p:cNvSpPr>
            <a:spLocks noGrp="1"/>
          </p:cNvSpPr>
          <p:nvPr>
            <p:ph type="sldNum" sz="quarter" idx="12"/>
          </p:nvPr>
        </p:nvSpPr>
        <p:spPr/>
        <p:txBody>
          <a:bodyPr/>
          <a:lstStyle/>
          <a:p>
            <a:fld id="{80DD8C35-F8B3-4049-95AF-A34E38FBBA50}" type="slidenum">
              <a:rPr lang="en-US" smtClean="0"/>
              <a:pPr/>
              <a:t>7</a:t>
            </a:fld>
            <a:endParaRPr lang="en-US" dirty="0"/>
          </a:p>
        </p:txBody>
      </p:sp>
      <p:pic>
        <p:nvPicPr>
          <p:cNvPr id="5" name="Picture 4" descr="Presidential vote share in California counties">
            <a:extLst>
              <a:ext uri="{FF2B5EF4-FFF2-40B4-BE49-F238E27FC236}">
                <a16:creationId xmlns:a16="http://schemas.microsoft.com/office/drawing/2014/main" id="{1BCFAFF9-5BA4-B30D-6A55-A3C7D0AE8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903" y="1577585"/>
            <a:ext cx="5276866" cy="2747717"/>
          </a:xfrm>
          <a:prstGeom prst="rect">
            <a:avLst/>
          </a:prstGeom>
        </p:spPr>
      </p:pic>
      <p:sp>
        <p:nvSpPr>
          <p:cNvPr id="6" name="TextBox 5">
            <a:extLst>
              <a:ext uri="{FF2B5EF4-FFF2-40B4-BE49-F238E27FC236}">
                <a16:creationId xmlns:a16="http://schemas.microsoft.com/office/drawing/2014/main" id="{CDC6C85D-AF15-FE1D-E904-8189301AD671}"/>
              </a:ext>
            </a:extLst>
          </p:cNvPr>
          <p:cNvSpPr txBox="1"/>
          <p:nvPr/>
        </p:nvSpPr>
        <p:spPr>
          <a:xfrm>
            <a:off x="609600" y="6495536"/>
            <a:ext cx="11335169" cy="276999"/>
          </a:xfrm>
          <a:prstGeom prst="rect">
            <a:avLst/>
          </a:prstGeom>
          <a:noFill/>
        </p:spPr>
        <p:txBody>
          <a:bodyPr wrap="square" rtlCol="0">
            <a:spAutoFit/>
          </a:bodyPr>
          <a:lstStyle/>
          <a:p>
            <a:r>
              <a:rPr lang="en-US" sz="1200" i="1" dirty="0">
                <a:latin typeface="Calibri" panose="020F0502020204030204" pitchFamily="34" charset="0"/>
                <a:cs typeface="Calibri" panose="020F0502020204030204" pitchFamily="34" charset="0"/>
              </a:rPr>
              <a:t>Sources: Trans Legislation Tracker (</a:t>
            </a:r>
            <a:r>
              <a:rPr lang="en-US" sz="1200" i="1" dirty="0" err="1">
                <a:latin typeface="Calibri" panose="020F0502020204030204" pitchFamily="34" charset="0"/>
                <a:cs typeface="Calibri" panose="020F0502020204030204" pitchFamily="34" charset="0"/>
              </a:rPr>
              <a:t>translegislation.com</a:t>
            </a:r>
            <a:r>
              <a:rPr lang="en-US" sz="1200" i="1" dirty="0">
                <a:latin typeface="Calibri" panose="020F0502020204030204" pitchFamily="34" charset="0"/>
                <a:cs typeface="Calibri" panose="020F0502020204030204" pitchFamily="34" charset="0"/>
              </a:rPr>
              <a:t>) and Public Policy Institute of California</a:t>
            </a:r>
          </a:p>
        </p:txBody>
      </p:sp>
      <p:pic>
        <p:nvPicPr>
          <p:cNvPr id="8" name="Picture 7" descr="A graph of a person with different colored bars&#10;&#10;Description automatically generated with medium confidence">
            <a:extLst>
              <a:ext uri="{FF2B5EF4-FFF2-40B4-BE49-F238E27FC236}">
                <a16:creationId xmlns:a16="http://schemas.microsoft.com/office/drawing/2014/main" id="{03CE6753-C5A2-46F7-D51A-45F50062E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475" y="3158761"/>
            <a:ext cx="5331169" cy="2747717"/>
          </a:xfrm>
          <a:prstGeom prst="rect">
            <a:avLst/>
          </a:prstGeom>
        </p:spPr>
      </p:pic>
      <p:sp>
        <p:nvSpPr>
          <p:cNvPr id="9" name="TextBox 8">
            <a:extLst>
              <a:ext uri="{FF2B5EF4-FFF2-40B4-BE49-F238E27FC236}">
                <a16:creationId xmlns:a16="http://schemas.microsoft.com/office/drawing/2014/main" id="{EC3F2658-6010-8EF8-E3BD-84DF4F0CBD38}"/>
              </a:ext>
            </a:extLst>
          </p:cNvPr>
          <p:cNvSpPr txBox="1"/>
          <p:nvPr/>
        </p:nvSpPr>
        <p:spPr>
          <a:xfrm>
            <a:off x="6553200" y="4724401"/>
            <a:ext cx="4876800" cy="206210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Study conducted in California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Diverse demographics and political leanings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a:solidFill>
                  <a:prstClr val="black"/>
                </a:solidFill>
                <a:latin typeface="Calibri" panose="020F0502020204030204" pitchFamily="34" charset="0"/>
                <a:cs typeface="Calibri" panose="020F0502020204030204" pitchFamily="34" charset="0"/>
              </a:rPr>
              <a:t>Rise of anti-trans hate groups like “Moms for Liberty”</a:t>
            </a: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endParaRPr lang="en-US" sz="1600" dirty="0"/>
          </a:p>
        </p:txBody>
      </p:sp>
      <p:sp>
        <p:nvSpPr>
          <p:cNvPr id="10" name="TextBox 9">
            <a:extLst>
              <a:ext uri="{FF2B5EF4-FFF2-40B4-BE49-F238E27FC236}">
                <a16:creationId xmlns:a16="http://schemas.microsoft.com/office/drawing/2014/main" id="{3920C92C-6FFF-2545-6FF3-ACC620C41572}"/>
              </a:ext>
            </a:extLst>
          </p:cNvPr>
          <p:cNvSpPr txBox="1"/>
          <p:nvPr/>
        </p:nvSpPr>
        <p:spPr>
          <a:xfrm>
            <a:off x="1132059" y="2846580"/>
            <a:ext cx="4572000" cy="369332"/>
          </a:xfrm>
          <a:prstGeom prst="rect">
            <a:avLst/>
          </a:prstGeom>
          <a:noFill/>
        </p:spPr>
        <p:txBody>
          <a:bodyPr wrap="square" rtlCol="0">
            <a:spAutoFit/>
          </a:bodyPr>
          <a:lstStyle/>
          <a:p>
            <a:r>
              <a:rPr lang="en-US" dirty="0"/>
              <a:t>Number of anti-trans bills in the US</a:t>
            </a:r>
          </a:p>
        </p:txBody>
      </p:sp>
    </p:spTree>
    <p:extLst>
      <p:ext uri="{BB962C8B-B14F-4D97-AF65-F5344CB8AC3E}">
        <p14:creationId xmlns:p14="http://schemas.microsoft.com/office/powerpoint/2010/main" val="540230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B443-F429-E6F5-0426-85EF2492DEAA}"/>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2A33E6B-EBCC-043F-5F74-93725807FCC2}"/>
              </a:ext>
            </a:extLst>
          </p:cNvPr>
          <p:cNvSpPr>
            <a:spLocks noGrp="1"/>
          </p:cNvSpPr>
          <p:nvPr>
            <p:ph idx="1"/>
          </p:nvPr>
        </p:nvSpPr>
        <p:spPr>
          <a:xfrm>
            <a:off x="1828800" y="1600200"/>
            <a:ext cx="8382000" cy="4800600"/>
          </a:xfrm>
        </p:spPr>
        <p:txBody>
          <a:bodyPr>
            <a:normAutofit/>
          </a:bodyPr>
          <a:lstStyle/>
          <a:p>
            <a:pPr>
              <a:spcBef>
                <a:spcPts val="0"/>
              </a:spcBef>
              <a:spcAft>
                <a:spcPts val="600"/>
              </a:spcAft>
            </a:pPr>
            <a:r>
              <a:rPr lang="en-US" dirty="0"/>
              <a:t>How do high school students today define their own gender identity and sexual orientation?</a:t>
            </a:r>
          </a:p>
          <a:p>
            <a:pPr>
              <a:spcBef>
                <a:spcPts val="0"/>
              </a:spcBef>
              <a:spcAft>
                <a:spcPts val="600"/>
              </a:spcAft>
            </a:pPr>
            <a:endParaRPr lang="en-US" sz="900" dirty="0"/>
          </a:p>
          <a:p>
            <a:pPr>
              <a:spcBef>
                <a:spcPts val="0"/>
              </a:spcBef>
              <a:spcAft>
                <a:spcPts val="600"/>
              </a:spcAft>
            </a:pPr>
            <a:r>
              <a:rPr lang="en-US" dirty="0"/>
              <a:t>Are there different patterns in experiences and aspirations among sexual and gender minority students?</a:t>
            </a:r>
          </a:p>
          <a:p>
            <a:pPr>
              <a:spcBef>
                <a:spcPts val="0"/>
              </a:spcBef>
              <a:spcAft>
                <a:spcPts val="600"/>
              </a:spcAft>
            </a:pPr>
            <a:endParaRPr lang="en-US" sz="900" dirty="0"/>
          </a:p>
          <a:p>
            <a:pPr>
              <a:spcBef>
                <a:spcPts val="0"/>
              </a:spcBef>
              <a:spcAft>
                <a:spcPts val="600"/>
              </a:spcAft>
            </a:pPr>
            <a:r>
              <a:rPr lang="en-US" dirty="0"/>
              <a:t>What are the challenges faced by sexual and gender minority students in the transition to college?</a:t>
            </a:r>
          </a:p>
        </p:txBody>
      </p:sp>
      <p:sp>
        <p:nvSpPr>
          <p:cNvPr id="4" name="Slide Number Placeholder 3">
            <a:extLst>
              <a:ext uri="{FF2B5EF4-FFF2-40B4-BE49-F238E27FC236}">
                <a16:creationId xmlns:a16="http://schemas.microsoft.com/office/drawing/2014/main" id="{9632F04E-8E97-8830-F4DF-1FF8C4D9D852}"/>
              </a:ext>
            </a:extLst>
          </p:cNvPr>
          <p:cNvSpPr>
            <a:spLocks noGrp="1"/>
          </p:cNvSpPr>
          <p:nvPr>
            <p:ph type="sldNum" sz="quarter" idx="12"/>
          </p:nvPr>
        </p:nvSpPr>
        <p:spPr/>
        <p:txBody>
          <a:bodyPr/>
          <a:lstStyle/>
          <a:p>
            <a:fld id="{80DD8C35-F8B3-4049-95AF-A34E38FBBA50}" type="slidenum">
              <a:rPr lang="en-US" smtClean="0"/>
              <a:pPr/>
              <a:t>8</a:t>
            </a:fld>
            <a:endParaRPr lang="en-US" dirty="0"/>
          </a:p>
        </p:txBody>
      </p:sp>
    </p:spTree>
    <p:extLst>
      <p:ext uri="{BB962C8B-B14F-4D97-AF65-F5344CB8AC3E}">
        <p14:creationId xmlns:p14="http://schemas.microsoft.com/office/powerpoint/2010/main" val="2940081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79DD-2057-1666-3B6F-D0F3ADF74AB8}"/>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3C947DDA-8364-DCF0-14DD-A5FCE33B0C38}"/>
              </a:ext>
            </a:extLst>
          </p:cNvPr>
          <p:cNvSpPr>
            <a:spLocks noGrp="1"/>
          </p:cNvSpPr>
          <p:nvPr>
            <p:ph idx="1"/>
          </p:nvPr>
        </p:nvSpPr>
        <p:spPr>
          <a:xfrm>
            <a:off x="1676401" y="1447800"/>
            <a:ext cx="8623269" cy="5105400"/>
          </a:xfrm>
        </p:spPr>
        <p:txBody>
          <a:bodyPr>
            <a:normAutofit fontScale="85000" lnSpcReduction="20000"/>
          </a:bodyPr>
          <a:lstStyle/>
          <a:p>
            <a:pPr>
              <a:spcBef>
                <a:spcPts val="0"/>
              </a:spcBef>
              <a:spcAft>
                <a:spcPts val="600"/>
              </a:spcAft>
            </a:pPr>
            <a:r>
              <a:rPr lang="en-US" dirty="0"/>
              <a:t>Use validated survey instruments to collect nuanced data on gender identity and sexual orientation from a large sample of high school seniors</a:t>
            </a:r>
          </a:p>
          <a:p>
            <a:pPr>
              <a:spcBef>
                <a:spcPts val="0"/>
              </a:spcBef>
              <a:spcAft>
                <a:spcPts val="600"/>
              </a:spcAft>
            </a:pPr>
            <a:endParaRPr lang="en-US" sz="200" dirty="0"/>
          </a:p>
          <a:p>
            <a:pPr lvl="1">
              <a:spcBef>
                <a:spcPts val="0"/>
              </a:spcBef>
              <a:spcAft>
                <a:spcPts val="600"/>
              </a:spcAft>
            </a:pPr>
            <a:r>
              <a:rPr lang="en-US" sz="2400" dirty="0"/>
              <a:t>Recent surveys tend to draw on a narrow sample of students, students predominantly enrolled in earlier grades, or data collected pre-pandemic (Austin et al., 2023; Horowitz &amp; Graf, 2019; </a:t>
            </a:r>
            <a:r>
              <a:rPr lang="en-US" sz="2400" dirty="0" err="1"/>
              <a:t>Kosciw</a:t>
            </a:r>
            <a:r>
              <a:rPr lang="en-US" sz="2400" dirty="0"/>
              <a:t> et al., 2022; </a:t>
            </a:r>
            <a:r>
              <a:rPr lang="en-US" sz="2400" dirty="0" err="1"/>
              <a:t>Reber</a:t>
            </a:r>
            <a:r>
              <a:rPr lang="en-US" sz="2400" dirty="0"/>
              <a:t> &amp; Smith, 2023; </a:t>
            </a:r>
            <a:r>
              <a:rPr lang="en-US" sz="2400" dirty="0" err="1"/>
              <a:t>YouScience</a:t>
            </a:r>
            <a:r>
              <a:rPr lang="en-US" sz="2400" dirty="0"/>
              <a:t>, 2023)</a:t>
            </a:r>
          </a:p>
          <a:p>
            <a:pPr lvl="1">
              <a:spcBef>
                <a:spcPts val="0"/>
              </a:spcBef>
              <a:spcAft>
                <a:spcPts val="600"/>
              </a:spcAft>
            </a:pPr>
            <a:endParaRPr lang="en-US" sz="400" dirty="0"/>
          </a:p>
          <a:p>
            <a:pPr>
              <a:spcBef>
                <a:spcPts val="0"/>
              </a:spcBef>
              <a:spcAft>
                <a:spcPts val="600"/>
              </a:spcAft>
            </a:pPr>
            <a:r>
              <a:rPr lang="en-US" dirty="0"/>
              <a:t>Add to the growing literature on the academic and social experiences of LGBTQ+ students in high school and college (e.g., Austin et al., 2023; Feldman et al., 2023; </a:t>
            </a:r>
            <a:r>
              <a:rPr lang="en-US" dirty="0" err="1"/>
              <a:t>Kosciw</a:t>
            </a:r>
            <a:r>
              <a:rPr lang="en-US" dirty="0"/>
              <a:t> et al., 2022; </a:t>
            </a:r>
            <a:r>
              <a:rPr lang="en-US" dirty="0" err="1"/>
              <a:t>Reber</a:t>
            </a:r>
            <a:r>
              <a:rPr lang="en-US" dirty="0"/>
              <a:t> &amp; Smith, 2023)</a:t>
            </a:r>
          </a:p>
          <a:p>
            <a:pPr>
              <a:spcBef>
                <a:spcPts val="0"/>
              </a:spcBef>
              <a:spcAft>
                <a:spcPts val="600"/>
              </a:spcAft>
            </a:pPr>
            <a:endParaRPr lang="en-US" sz="700" dirty="0"/>
          </a:p>
          <a:p>
            <a:pPr>
              <a:spcBef>
                <a:spcPts val="0"/>
              </a:spcBef>
              <a:spcAft>
                <a:spcPts val="600"/>
              </a:spcAft>
            </a:pPr>
            <a:r>
              <a:rPr lang="en-US" dirty="0"/>
              <a:t>Contribute to the broader literature on the transition to college by adding new evidence on the experiences of underserved students</a:t>
            </a:r>
          </a:p>
          <a:p>
            <a:endParaRPr lang="en-US" dirty="0"/>
          </a:p>
        </p:txBody>
      </p:sp>
      <p:sp>
        <p:nvSpPr>
          <p:cNvPr id="4" name="Slide Number Placeholder 3">
            <a:extLst>
              <a:ext uri="{FF2B5EF4-FFF2-40B4-BE49-F238E27FC236}">
                <a16:creationId xmlns:a16="http://schemas.microsoft.com/office/drawing/2014/main" id="{A9B025E8-4766-08A0-15F5-DBD89914788B}"/>
              </a:ext>
            </a:extLst>
          </p:cNvPr>
          <p:cNvSpPr>
            <a:spLocks noGrp="1"/>
          </p:cNvSpPr>
          <p:nvPr>
            <p:ph type="sldNum" sz="quarter" idx="12"/>
          </p:nvPr>
        </p:nvSpPr>
        <p:spPr/>
        <p:txBody>
          <a:bodyPr/>
          <a:lstStyle/>
          <a:p>
            <a:fld id="{80DD8C35-F8B3-4049-95AF-A34E38FBBA50}" type="slidenum">
              <a:rPr lang="en-US" smtClean="0"/>
              <a:pPr/>
              <a:t>9</a:t>
            </a:fld>
            <a:endParaRPr lang="en-US" dirty="0"/>
          </a:p>
        </p:txBody>
      </p:sp>
    </p:spTree>
    <p:extLst>
      <p:ext uri="{BB962C8B-B14F-4D97-AF65-F5344CB8AC3E}">
        <p14:creationId xmlns:p14="http://schemas.microsoft.com/office/powerpoint/2010/main" val="4263110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711CD9D-1359-73E6-6415-8A8A46985DCF}"/>
              </a:ext>
            </a:extLst>
          </p:cNvPr>
          <p:cNvSpPr>
            <a:spLocks noGrp="1"/>
          </p:cNvSpPr>
          <p:nvPr>
            <p:ph idx="1"/>
          </p:nvPr>
        </p:nvSpPr>
        <p:spPr>
          <a:xfrm>
            <a:off x="995052" y="1524000"/>
            <a:ext cx="10201895" cy="5556504"/>
          </a:xfrm>
        </p:spPr>
        <p:txBody>
          <a:bodyPr>
            <a:normAutofit/>
          </a:bodyPr>
          <a:lstStyle/>
          <a:p>
            <a:pPr marL="457200" indent="-336550">
              <a:lnSpc>
                <a:spcPct val="105000"/>
              </a:lnSpc>
              <a:spcBef>
                <a:spcPts val="0"/>
              </a:spcBef>
              <a:buClr>
                <a:schemeClr val="dk1"/>
              </a:buClr>
              <a:buSzPts val="1700"/>
              <a:buChar char="●"/>
            </a:pPr>
            <a:r>
              <a:rPr lang="en-US" sz="2000" dirty="0">
                <a:solidFill>
                  <a:schemeClr val="dk1"/>
                </a:solidFill>
              </a:rPr>
              <a:t>Launched an internet-based survey in May 2023 in partnership with the California Student Aid Commission (CSAC)</a:t>
            </a:r>
          </a:p>
          <a:p>
            <a:pPr marL="457200" indent="-336550">
              <a:lnSpc>
                <a:spcPct val="105000"/>
              </a:lnSpc>
              <a:spcBef>
                <a:spcPts val="1000"/>
              </a:spcBef>
              <a:buClr>
                <a:schemeClr val="dk1"/>
              </a:buClr>
              <a:buSzPts val="1700"/>
              <a:buChar char="●"/>
            </a:pPr>
            <a:r>
              <a:rPr lang="en-US" sz="2000" dirty="0">
                <a:solidFill>
                  <a:schemeClr val="dk1"/>
                </a:solidFill>
              </a:rPr>
              <a:t>Distributed by email to all high school seniors in California that submitted a Free Application for Federal Student Aid (FAFSA) or California Dream Act Application (CADAA) for the 2023-24 academic year</a:t>
            </a:r>
          </a:p>
          <a:p>
            <a:pPr marL="857250" lvl="1" indent="-209550">
              <a:lnSpc>
                <a:spcPct val="105000"/>
              </a:lnSpc>
              <a:spcBef>
                <a:spcPts val="1000"/>
              </a:spcBef>
              <a:buClr>
                <a:schemeClr val="dk1"/>
              </a:buClr>
              <a:buSzPts val="1500"/>
              <a:buChar char="○"/>
            </a:pPr>
            <a:r>
              <a:rPr lang="en-US" sz="1800" dirty="0">
                <a:solidFill>
                  <a:schemeClr val="dk1"/>
                </a:solidFill>
              </a:rPr>
              <a:t>Response rate of 3.5%, yet the sample represents a diverse group of students from many different backgrounds and geographic regions throughout the state</a:t>
            </a:r>
          </a:p>
          <a:p>
            <a:pPr marL="857250" lvl="1" indent="-209550">
              <a:lnSpc>
                <a:spcPct val="105000"/>
              </a:lnSpc>
              <a:spcBef>
                <a:spcPts val="1000"/>
              </a:spcBef>
              <a:buClr>
                <a:schemeClr val="dk1"/>
              </a:buClr>
              <a:buSzPts val="1500"/>
              <a:buChar char="○"/>
            </a:pPr>
            <a:r>
              <a:rPr lang="en-US" sz="1800" dirty="0">
                <a:solidFill>
                  <a:schemeClr val="dk1"/>
                </a:solidFill>
              </a:rPr>
              <a:t>Convenience sample but large</a:t>
            </a:r>
            <a:endParaRPr lang="en-US" sz="4000" dirty="0">
              <a:solidFill>
                <a:schemeClr val="dk1"/>
              </a:solidFill>
            </a:endParaRPr>
          </a:p>
          <a:p>
            <a:pPr marL="457200" indent="-209550">
              <a:lnSpc>
                <a:spcPct val="105000"/>
              </a:lnSpc>
              <a:spcBef>
                <a:spcPts val="1000"/>
              </a:spcBef>
              <a:buClr>
                <a:schemeClr val="dk1"/>
              </a:buClr>
              <a:buSzPts val="1500"/>
              <a:buChar char="○"/>
            </a:pPr>
            <a:r>
              <a:rPr lang="en-US" sz="2200" dirty="0">
                <a:solidFill>
                  <a:schemeClr val="dk1"/>
                </a:solidFill>
              </a:rPr>
              <a:t>The survey’s main components were questions that gather evidence on student experiences navigating the financial aid system</a:t>
            </a:r>
          </a:p>
          <a:p>
            <a:pPr marL="457200" indent="-209550">
              <a:lnSpc>
                <a:spcPct val="105000"/>
              </a:lnSpc>
              <a:spcBef>
                <a:spcPts val="1000"/>
              </a:spcBef>
              <a:buClr>
                <a:schemeClr val="dk1"/>
              </a:buClr>
              <a:buSzPts val="1500"/>
              <a:buChar char="○"/>
            </a:pPr>
            <a:r>
              <a:rPr lang="en-US" sz="2200" dirty="0">
                <a:solidFill>
                  <a:schemeClr val="dk1"/>
                </a:solidFill>
              </a:rPr>
              <a:t>We included questions on social and academic experiences to provide broader and more diverse evidence on student life</a:t>
            </a:r>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10</a:t>
            </a:fld>
            <a:endParaRPr lang="en-US" dirty="0"/>
          </a:p>
        </p:txBody>
      </p:sp>
    </p:spTree>
    <p:extLst>
      <p:ext uri="{BB962C8B-B14F-4D97-AF65-F5344CB8AC3E}">
        <p14:creationId xmlns:p14="http://schemas.microsoft.com/office/powerpoint/2010/main" val="825801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711CD9D-1359-73E6-6415-8A8A46985DCF}"/>
              </a:ext>
            </a:extLst>
          </p:cNvPr>
          <p:cNvSpPr>
            <a:spLocks noGrp="1"/>
          </p:cNvSpPr>
          <p:nvPr>
            <p:ph idx="1"/>
          </p:nvPr>
        </p:nvSpPr>
        <p:spPr>
          <a:xfrm>
            <a:off x="1761506" y="1371600"/>
            <a:ext cx="8668989" cy="5556504"/>
          </a:xfrm>
        </p:spPr>
        <p:txBody>
          <a:bodyPr>
            <a:normAutofit/>
          </a:bodyPr>
          <a:lstStyle/>
          <a:p>
            <a:pPr marL="457200" indent="-336550">
              <a:lnSpc>
                <a:spcPct val="105000"/>
              </a:lnSpc>
              <a:spcBef>
                <a:spcPts val="1000"/>
              </a:spcBef>
              <a:buClr>
                <a:schemeClr val="dk1"/>
              </a:buClr>
              <a:buSzPts val="1700"/>
              <a:buChar char="●"/>
            </a:pPr>
            <a:r>
              <a:rPr lang="en-US" sz="2000" dirty="0">
                <a:solidFill>
                  <a:schemeClr val="dk1"/>
                </a:solidFill>
              </a:rPr>
              <a:t>Likert-scale questions </a:t>
            </a:r>
          </a:p>
          <a:p>
            <a:pPr marL="914400" lvl="1" indent="-266700">
              <a:lnSpc>
                <a:spcPct val="105000"/>
              </a:lnSpc>
              <a:spcBef>
                <a:spcPts val="1000"/>
              </a:spcBef>
              <a:buClr>
                <a:schemeClr val="dk1"/>
              </a:buClr>
              <a:buSzPts val="1500"/>
              <a:buChar char="○"/>
            </a:pPr>
            <a:r>
              <a:rPr lang="en-US" sz="1800" dirty="0">
                <a:solidFill>
                  <a:schemeClr val="dk1"/>
                </a:solidFill>
              </a:rPr>
              <a:t>Students’ high school experiences, college preparation and plans, concerns about college</a:t>
            </a:r>
          </a:p>
          <a:p>
            <a:pPr marL="457200" indent="-336550">
              <a:lnSpc>
                <a:spcPct val="105000"/>
              </a:lnSpc>
              <a:spcBef>
                <a:spcPts val="1000"/>
              </a:spcBef>
              <a:buClr>
                <a:schemeClr val="dk1"/>
              </a:buClr>
              <a:buSzPts val="1700"/>
              <a:buChar char="●"/>
            </a:pPr>
            <a:r>
              <a:rPr lang="en-US" sz="2000" dirty="0">
                <a:solidFill>
                  <a:schemeClr val="dk1"/>
                </a:solidFill>
              </a:rPr>
              <a:t>Demographic questions </a:t>
            </a:r>
          </a:p>
          <a:p>
            <a:pPr marL="457200" indent="-336550">
              <a:lnSpc>
                <a:spcPct val="105000"/>
              </a:lnSpc>
              <a:spcBef>
                <a:spcPts val="1000"/>
              </a:spcBef>
              <a:buClr>
                <a:schemeClr val="dk1"/>
              </a:buClr>
              <a:buSzPts val="1700"/>
              <a:buChar char="●"/>
            </a:pPr>
            <a:r>
              <a:rPr lang="en-US" sz="2000" dirty="0">
                <a:solidFill>
                  <a:schemeClr val="dk1"/>
                </a:solidFill>
              </a:rPr>
              <a:t>Open-ended questions</a:t>
            </a:r>
          </a:p>
          <a:p>
            <a:pPr marL="914400" lvl="1" indent="-266700">
              <a:lnSpc>
                <a:spcPct val="105000"/>
              </a:lnSpc>
              <a:spcBef>
                <a:spcPts val="1000"/>
              </a:spcBef>
              <a:spcAft>
                <a:spcPts val="1000"/>
              </a:spcAft>
              <a:buClr>
                <a:schemeClr val="dk1"/>
              </a:buClr>
              <a:buSzPts val="1500"/>
              <a:buChar char="○"/>
            </a:pPr>
            <a:r>
              <a:rPr lang="en-US" sz="1800" dirty="0">
                <a:solidFill>
                  <a:schemeClr val="dk1"/>
                </a:solidFill>
              </a:rPr>
              <a:t>Perceived challenges and excitement about college</a:t>
            </a:r>
          </a:p>
          <a:p>
            <a:endParaRPr lang="en-US" sz="4000" dirty="0"/>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11</a:t>
            </a:fld>
            <a:endParaRPr lang="en-US" dirty="0"/>
          </a:p>
        </p:txBody>
      </p:sp>
    </p:spTree>
    <p:extLst>
      <p:ext uri="{BB962C8B-B14F-4D97-AF65-F5344CB8AC3E}">
        <p14:creationId xmlns:p14="http://schemas.microsoft.com/office/powerpoint/2010/main" val="185936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8354-9D4E-DD11-CA2F-CBB6D5955656}"/>
              </a:ext>
            </a:extLst>
          </p:cNvPr>
          <p:cNvSpPr>
            <a:spLocks noGrp="1"/>
          </p:cNvSpPr>
          <p:nvPr>
            <p:ph type="title"/>
          </p:nvPr>
        </p:nvSpPr>
        <p:spPr/>
        <p:txBody>
          <a:bodyPr/>
          <a:lstStyle/>
          <a:p>
            <a:r>
              <a:rPr lang="en-US" dirty="0"/>
              <a:t>Sample Characteristics</a:t>
            </a:r>
          </a:p>
        </p:txBody>
      </p:sp>
      <p:graphicFrame>
        <p:nvGraphicFramePr>
          <p:cNvPr id="6" name="Content Placeholder 5">
            <a:extLst>
              <a:ext uri="{FF2B5EF4-FFF2-40B4-BE49-F238E27FC236}">
                <a16:creationId xmlns:a16="http://schemas.microsoft.com/office/drawing/2014/main" id="{89386A15-5850-1C10-567B-AEB7DA257C5A}"/>
              </a:ext>
            </a:extLst>
          </p:cNvPr>
          <p:cNvGraphicFramePr>
            <a:graphicFrameLocks noGrp="1"/>
          </p:cNvGraphicFramePr>
          <p:nvPr>
            <p:ph idx="1"/>
            <p:extLst>
              <p:ext uri="{D42A27DB-BD31-4B8C-83A1-F6EECF244321}">
                <p14:modId xmlns:p14="http://schemas.microsoft.com/office/powerpoint/2010/main" val="1369224437"/>
              </p:ext>
            </p:extLst>
          </p:nvPr>
        </p:nvGraphicFramePr>
        <p:xfrm>
          <a:off x="362505" y="1371600"/>
          <a:ext cx="6495496" cy="5333999"/>
        </p:xfrm>
        <a:graphic>
          <a:graphicData uri="http://schemas.openxmlformats.org/drawingml/2006/table">
            <a:tbl>
              <a:tblPr/>
              <a:tblGrid>
                <a:gridCol w="217146">
                  <a:extLst>
                    <a:ext uri="{9D8B030D-6E8A-4147-A177-3AD203B41FA5}">
                      <a16:colId xmlns:a16="http://schemas.microsoft.com/office/drawing/2014/main" val="4141389349"/>
                    </a:ext>
                  </a:extLst>
                </a:gridCol>
                <a:gridCol w="2870102">
                  <a:extLst>
                    <a:ext uri="{9D8B030D-6E8A-4147-A177-3AD203B41FA5}">
                      <a16:colId xmlns:a16="http://schemas.microsoft.com/office/drawing/2014/main" val="2197951119"/>
                    </a:ext>
                  </a:extLst>
                </a:gridCol>
                <a:gridCol w="859143">
                  <a:extLst>
                    <a:ext uri="{9D8B030D-6E8A-4147-A177-3AD203B41FA5}">
                      <a16:colId xmlns:a16="http://schemas.microsoft.com/office/drawing/2014/main" val="1387991838"/>
                    </a:ext>
                  </a:extLst>
                </a:gridCol>
                <a:gridCol w="906349">
                  <a:extLst>
                    <a:ext uri="{9D8B030D-6E8A-4147-A177-3AD203B41FA5}">
                      <a16:colId xmlns:a16="http://schemas.microsoft.com/office/drawing/2014/main" val="422527557"/>
                    </a:ext>
                  </a:extLst>
                </a:gridCol>
                <a:gridCol w="821378">
                  <a:extLst>
                    <a:ext uri="{9D8B030D-6E8A-4147-A177-3AD203B41FA5}">
                      <a16:colId xmlns:a16="http://schemas.microsoft.com/office/drawing/2014/main" val="1874896247"/>
                    </a:ext>
                  </a:extLst>
                </a:gridCol>
                <a:gridCol w="821378">
                  <a:extLst>
                    <a:ext uri="{9D8B030D-6E8A-4147-A177-3AD203B41FA5}">
                      <a16:colId xmlns:a16="http://schemas.microsoft.com/office/drawing/2014/main" val="1834706841"/>
                    </a:ext>
                  </a:extLst>
                </a:gridCol>
              </a:tblGrid>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gridSpan="2">
                  <a:txBody>
                    <a:bodyPr/>
                    <a:lstStyle/>
                    <a:p>
                      <a:pPr algn="ctr" fontAlgn="b"/>
                      <a:r>
                        <a:rPr lang="en-US" sz="900" b="1" i="0" u="none" strike="noStrike">
                          <a:effectLst/>
                          <a:latin typeface="Calibri" panose="020F0502020204030204" pitchFamily="34" charset="0"/>
                        </a:rPr>
                        <a:t>Survey Respondents</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fontAlgn="b"/>
                      <a:r>
                        <a:rPr lang="en-US" sz="900" b="1" i="0" u="none" strike="noStrike" dirty="0">
                          <a:effectLst/>
                          <a:latin typeface="Calibri" panose="020F0502020204030204" pitchFamily="34" charset="0"/>
                        </a:rPr>
                        <a:t>Statewide</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pPr algn="l" fontAlgn="b"/>
                      <a:endParaRPr lang="en-US" sz="900" b="0" i="0" u="none" strike="noStrike" dirty="0">
                        <a:effectLst/>
                        <a:latin typeface="Calibri" panose="020F0502020204030204" pitchFamily="34" charset="0"/>
                      </a:endParaRP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7316227"/>
                  </a:ext>
                </a:extLst>
              </a:tr>
              <a:tr h="328636">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1" i="0" u="none" strike="noStrike">
                          <a:effectLst/>
                          <a:latin typeface="Calibri" panose="020F0502020204030204" pitchFamily="34"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US" sz="900" b="1" i="0" u="none" strike="noStrike">
                          <a:effectLst/>
                          <a:latin typeface="Calibri" panose="020F0502020204030204" pitchFamily="34" charset="0"/>
                        </a:rPr>
                        <a:t>N</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1" i="0" u="none" strike="noStrike">
                          <a:effectLst/>
                          <a:latin typeface="Calibri" panose="020F0502020204030204" pitchFamily="34" charset="0"/>
                        </a:rPr>
                        <a:t>Percent </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1" i="0" u="none" strike="noStrike">
                          <a:effectLst/>
                          <a:latin typeface="Calibri" panose="020F0502020204030204" pitchFamily="34" charset="0"/>
                        </a:rPr>
                        <a:t>N</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1" i="0" u="none" strike="noStrike">
                          <a:effectLst/>
                          <a:latin typeface="Calibri" panose="020F0502020204030204" pitchFamily="34" charset="0"/>
                        </a:rPr>
                        <a:t>Percent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2930509"/>
                  </a:ext>
                </a:extLst>
              </a:tr>
              <a:tr h="240157">
                <a:tc gridSpan="2">
                  <a:txBody>
                    <a:bodyPr/>
                    <a:lstStyle/>
                    <a:p>
                      <a:pPr algn="l" fontAlgn="b"/>
                      <a:r>
                        <a:rPr lang="en-US" sz="900" b="1" i="0" u="none" strike="noStrike">
                          <a:effectLst/>
                          <a:latin typeface="Calibri" panose="020F0502020204030204" pitchFamily="34" charset="0"/>
                        </a:rPr>
                        <a:t>Total</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r" fontAlgn="b"/>
                      <a:r>
                        <a:rPr lang="en-US" sz="900" b="0" i="0" u="none" strike="noStrike">
                          <a:effectLst/>
                          <a:latin typeface="Calibri" panose="020F0502020204030204" pitchFamily="34" charset="0"/>
                        </a:rPr>
                        <a:t>10,221</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effectLst/>
                          <a:latin typeface="Calibri" panose="020F0502020204030204" pitchFamily="34" charset="0"/>
                        </a:rPr>
                        <a: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Calibri" panose="020F0502020204030204" pitchFamily="34" charset="0"/>
                        </a:rPr>
                        <a:t>488936</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effectLst/>
                          <a:latin typeface="Calibri" panose="020F0502020204030204" pitchFamily="34" charset="0"/>
                        </a:rPr>
                        <a: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9893915"/>
                  </a:ext>
                </a:extLst>
              </a:tr>
              <a:tr h="214878">
                <a:tc gridSpan="2">
                  <a:txBody>
                    <a:bodyPr/>
                    <a:lstStyle/>
                    <a:p>
                      <a:pPr algn="l" fontAlgn="b"/>
                      <a:r>
                        <a:rPr lang="en-US" sz="900" b="1" i="0" u="none" strike="noStrike">
                          <a:effectLst/>
                          <a:latin typeface="Calibri" panose="020F0502020204030204" pitchFamily="34" charset="0"/>
                        </a:rPr>
                        <a:t>Race/ethnicity</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ctr" fontAlgn="b"/>
                      <a:r>
                        <a:rPr lang="en-US" sz="900" b="1"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1"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2102655243"/>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American Indian/Alaskan Native/Pacific Islander</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247</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2.42</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2349</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0.48</a:t>
                      </a:r>
                    </a:p>
                  </a:txBody>
                  <a:tcPr marL="8044" marR="8044" marT="8044" marB="0" anchor="b">
                    <a:lnL>
                      <a:noFill/>
                    </a:lnL>
                    <a:lnR>
                      <a:noFill/>
                    </a:lnR>
                    <a:lnT>
                      <a:noFill/>
                    </a:lnT>
                    <a:lnB>
                      <a:noFill/>
                    </a:lnB>
                    <a:noFill/>
                  </a:tcPr>
                </a:tc>
                <a:extLst>
                  <a:ext uri="{0D108BD9-81ED-4DB2-BD59-A6C34878D82A}">
                    <a16:rowId xmlns:a16="http://schemas.microsoft.com/office/drawing/2014/main" val="2936504454"/>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Black/African American</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559</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5.47</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23852</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4.88</a:t>
                      </a:r>
                    </a:p>
                  </a:txBody>
                  <a:tcPr marL="8044" marR="8044" marT="8044" marB="0" anchor="b">
                    <a:lnL>
                      <a:noFill/>
                    </a:lnL>
                    <a:lnR>
                      <a:noFill/>
                    </a:lnR>
                    <a:lnT>
                      <a:noFill/>
                    </a:lnT>
                    <a:lnB>
                      <a:noFill/>
                    </a:lnB>
                    <a:noFill/>
                  </a:tcPr>
                </a:tc>
                <a:extLst>
                  <a:ext uri="{0D108BD9-81ED-4DB2-BD59-A6C34878D82A}">
                    <a16:rowId xmlns:a16="http://schemas.microsoft.com/office/drawing/2014/main" val="3575621036"/>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Hispanic/Latinx</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4066</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39.78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272323</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55.70</a:t>
                      </a:r>
                    </a:p>
                  </a:txBody>
                  <a:tcPr marL="8044" marR="8044" marT="8044" marB="0" anchor="b">
                    <a:lnL>
                      <a:noFill/>
                    </a:lnL>
                    <a:lnR>
                      <a:noFill/>
                    </a:lnR>
                    <a:lnT>
                      <a:noFill/>
                    </a:lnT>
                    <a:lnB>
                      <a:noFill/>
                    </a:lnB>
                    <a:noFill/>
                  </a:tcPr>
                </a:tc>
                <a:extLst>
                  <a:ext uri="{0D108BD9-81ED-4DB2-BD59-A6C34878D82A}">
                    <a16:rowId xmlns:a16="http://schemas.microsoft.com/office/drawing/2014/main" val="3848481240"/>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Filipino</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244</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2.39</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13231</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2.71</a:t>
                      </a:r>
                    </a:p>
                  </a:txBody>
                  <a:tcPr marL="8044" marR="8044" marT="8044" marB="0" anchor="b">
                    <a:lnL>
                      <a:noFill/>
                    </a:lnL>
                    <a:lnR>
                      <a:noFill/>
                    </a:lnR>
                    <a:lnT>
                      <a:noFill/>
                    </a:lnT>
                    <a:lnB>
                      <a:noFill/>
                    </a:lnB>
                    <a:noFill/>
                  </a:tcPr>
                </a:tc>
                <a:extLst>
                  <a:ext uri="{0D108BD9-81ED-4DB2-BD59-A6C34878D82A}">
                    <a16:rowId xmlns:a16="http://schemas.microsoft.com/office/drawing/2014/main" val="443180574"/>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Asian</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1163</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11.38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46278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9.47</a:t>
                      </a:r>
                    </a:p>
                  </a:txBody>
                  <a:tcPr marL="8044" marR="8044" marT="8044" marB="0" anchor="b">
                    <a:lnL>
                      <a:noFill/>
                    </a:lnL>
                    <a:lnR>
                      <a:noFill/>
                    </a:lnR>
                    <a:lnT>
                      <a:noFill/>
                    </a:lnT>
                    <a:lnB>
                      <a:noFill/>
                    </a:lnB>
                    <a:noFill/>
                  </a:tcPr>
                </a:tc>
                <a:extLst>
                  <a:ext uri="{0D108BD9-81ED-4DB2-BD59-A6C34878D82A}">
                    <a16:rowId xmlns:a16="http://schemas.microsoft.com/office/drawing/2014/main" val="1322325008"/>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Other</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198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1.94</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17435</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3.57</a:t>
                      </a:r>
                    </a:p>
                  </a:txBody>
                  <a:tcPr marL="8044" marR="8044" marT="8044" marB="0" anchor="b">
                    <a:lnL>
                      <a:noFill/>
                    </a:lnL>
                    <a:lnR>
                      <a:noFill/>
                    </a:lnR>
                    <a:lnT>
                      <a:noFill/>
                    </a:lnT>
                    <a:lnB>
                      <a:noFill/>
                    </a:lnB>
                    <a:noFill/>
                  </a:tcPr>
                </a:tc>
                <a:extLst>
                  <a:ext uri="{0D108BD9-81ED-4DB2-BD59-A6C34878D82A}">
                    <a16:rowId xmlns:a16="http://schemas.microsoft.com/office/drawing/2014/main" val="4148895951"/>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White/Non-Hispanic</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1553</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15.19</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103787</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21.23</a:t>
                      </a:r>
                    </a:p>
                  </a:txBody>
                  <a:tcPr marL="8044" marR="8044" marT="8044" marB="0" anchor="b">
                    <a:lnL>
                      <a:noFill/>
                    </a:lnL>
                    <a:lnR>
                      <a:noFill/>
                    </a:lnR>
                    <a:lnT>
                      <a:noFill/>
                    </a:lnT>
                    <a:lnB>
                      <a:noFill/>
                    </a:lnB>
                    <a:noFill/>
                  </a:tcPr>
                </a:tc>
                <a:extLst>
                  <a:ext uri="{0D108BD9-81ED-4DB2-BD59-A6C34878D82A}">
                    <a16:rowId xmlns:a16="http://schemas.microsoft.com/office/drawing/2014/main" val="2781872016"/>
                  </a:ext>
                </a:extLst>
              </a:tr>
              <a:tr h="189597">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1" i="0" u="none" strike="noStrike">
                          <a:effectLst/>
                          <a:latin typeface="Calibri" panose="020F0502020204030204" pitchFamily="34"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2191</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21.44</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7576</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1.55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246080"/>
                  </a:ext>
                </a:extLst>
              </a:tr>
              <a:tr h="189597">
                <a:tc gridSpan="2">
                  <a:txBody>
                    <a:bodyPr/>
                    <a:lstStyle/>
                    <a:p>
                      <a:pPr algn="l" fontAlgn="b"/>
                      <a:r>
                        <a:rPr lang="en-US" sz="900" b="1" i="0" u="none" strike="noStrike">
                          <a:effectLst/>
                          <a:latin typeface="Calibri" panose="020F0502020204030204" pitchFamily="34" charset="0"/>
                        </a:rPr>
                        <a:t>Gender</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r"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1"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1121661510"/>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Cis woman</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4503</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44.06</a:t>
                      </a:r>
                    </a:p>
                  </a:txBody>
                  <a:tcPr marL="8044" marR="8044" marT="8044" marB="0" anchor="b">
                    <a:lnL>
                      <a:noFill/>
                    </a:lnL>
                    <a:lnR>
                      <a:noFill/>
                    </a:lnR>
                    <a:lnT>
                      <a:noFill/>
                    </a:lnT>
                    <a:lnB>
                      <a:noFill/>
                    </a:lnB>
                    <a:noFill/>
                  </a:tcPr>
                </a:tc>
                <a:tc>
                  <a:txBody>
                    <a:bodyPr/>
                    <a:lstStyle/>
                    <a:p>
                      <a:pPr algn="r" fontAlgn="b"/>
                      <a:r>
                        <a:rPr lang="en-US" sz="900" b="1" i="0" u="none" strike="noStrike" dirty="0">
                          <a:effectLst/>
                          <a:latin typeface="Calibri" panose="020F0502020204030204" pitchFamily="34" charset="0"/>
                        </a:rPr>
                        <a:t>Female</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48</a:t>
                      </a:r>
                    </a:p>
                  </a:txBody>
                  <a:tcPr marL="8044" marR="8044" marT="8044" marB="0" anchor="b">
                    <a:lnL>
                      <a:noFill/>
                    </a:lnL>
                    <a:lnR>
                      <a:noFill/>
                    </a:lnR>
                    <a:lnT>
                      <a:noFill/>
                    </a:lnT>
                    <a:lnB>
                      <a:noFill/>
                    </a:lnB>
                    <a:noFill/>
                  </a:tcPr>
                </a:tc>
                <a:extLst>
                  <a:ext uri="{0D108BD9-81ED-4DB2-BD59-A6C34878D82A}">
                    <a16:rowId xmlns:a16="http://schemas.microsoft.com/office/drawing/2014/main" val="718521647"/>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Cis man</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2864</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28.02</a:t>
                      </a:r>
                    </a:p>
                  </a:txBody>
                  <a:tcPr marL="8044" marR="8044" marT="8044" marB="0" anchor="b">
                    <a:lnL>
                      <a:noFill/>
                    </a:lnL>
                    <a:lnR>
                      <a:noFill/>
                    </a:lnR>
                    <a:lnT>
                      <a:noFill/>
                    </a:lnT>
                    <a:lnB>
                      <a:noFill/>
                    </a:lnB>
                    <a:noFill/>
                  </a:tcPr>
                </a:tc>
                <a:tc>
                  <a:txBody>
                    <a:bodyPr/>
                    <a:lstStyle/>
                    <a:p>
                      <a:pPr algn="r" fontAlgn="b"/>
                      <a:r>
                        <a:rPr lang="en-US" sz="900" b="1" i="0" u="none" strike="noStrike" dirty="0">
                          <a:effectLst/>
                          <a:latin typeface="Calibri" panose="020F0502020204030204" pitchFamily="34" charset="0"/>
                        </a:rPr>
                        <a:t>Male</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51.5</a:t>
                      </a:r>
                    </a:p>
                  </a:txBody>
                  <a:tcPr marL="8044" marR="8044" marT="8044" marB="0" anchor="b">
                    <a:lnL>
                      <a:noFill/>
                    </a:lnL>
                    <a:lnR>
                      <a:noFill/>
                    </a:lnR>
                    <a:lnT>
                      <a:noFill/>
                    </a:lnT>
                    <a:lnB>
                      <a:noFill/>
                    </a:lnB>
                    <a:noFill/>
                  </a:tcPr>
                </a:tc>
                <a:extLst>
                  <a:ext uri="{0D108BD9-81ED-4DB2-BD59-A6C34878D82A}">
                    <a16:rowId xmlns:a16="http://schemas.microsoft.com/office/drawing/2014/main" val="1398408186"/>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Non-binary/Gender variant</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418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4.09</a:t>
                      </a:r>
                    </a:p>
                  </a:txBody>
                  <a:tcPr marL="8044" marR="8044" marT="8044" marB="0" anchor="b">
                    <a:lnL>
                      <a:noFill/>
                    </a:lnL>
                    <a:lnR>
                      <a:noFill/>
                    </a:lnR>
                    <a:lnT>
                      <a:noFill/>
                    </a:lnT>
                    <a:lnB>
                      <a:noFill/>
                    </a:lnB>
                    <a:noFill/>
                  </a:tcPr>
                </a:tc>
                <a:tc>
                  <a:txBody>
                    <a:bodyPr/>
                    <a:lstStyle/>
                    <a:p>
                      <a:pPr algn="r" fontAlgn="b"/>
                      <a:r>
                        <a:rPr lang="en-US" sz="900" b="1" i="0" u="none" strike="noStrike" dirty="0">
                          <a:effectLst/>
                          <a:latin typeface="Calibri" panose="020F0502020204030204" pitchFamily="34" charset="0"/>
                        </a:rPr>
                        <a:t>Non-binary</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&lt; 0.5</a:t>
                      </a:r>
                    </a:p>
                  </a:txBody>
                  <a:tcPr marL="8044" marR="8044" marT="8044" marB="0" anchor="b">
                    <a:lnL>
                      <a:noFill/>
                    </a:lnL>
                    <a:lnR>
                      <a:noFill/>
                    </a:lnR>
                    <a:lnT>
                      <a:noFill/>
                    </a:lnT>
                    <a:lnB>
                      <a:noFill/>
                    </a:lnB>
                    <a:noFill/>
                  </a:tcPr>
                </a:tc>
                <a:extLst>
                  <a:ext uri="{0D108BD9-81ED-4DB2-BD59-A6C34878D82A}">
                    <a16:rowId xmlns:a16="http://schemas.microsoft.com/office/drawing/2014/main" val="779386919"/>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Unsure/prefer not to say</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191</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1.87</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508541772"/>
                  </a:ext>
                </a:extLst>
              </a:tr>
              <a:tr h="189597">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1" i="0" u="none" strike="noStrike">
                          <a:effectLst/>
                          <a:latin typeface="Calibri" panose="020F0502020204030204" pitchFamily="34"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2245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21.96</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723785182"/>
                  </a:ext>
                </a:extLst>
              </a:tr>
              <a:tr h="189597">
                <a:tc gridSpan="2">
                  <a:txBody>
                    <a:bodyPr/>
                    <a:lstStyle/>
                    <a:p>
                      <a:pPr algn="l" fontAlgn="b"/>
                      <a:r>
                        <a:rPr lang="en-US" sz="900" b="1" i="0" u="none" strike="noStrike">
                          <a:effectLst/>
                          <a:latin typeface="Calibri" panose="020F0502020204030204" pitchFamily="34" charset="0"/>
                        </a:rPr>
                        <a:t>Parent level of education</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r" fontAlgn="b"/>
                      <a:r>
                        <a:rPr lang="en-US" sz="900" b="0" i="0" u="none" strike="noStrike">
                          <a:effectLst/>
                          <a:latin typeface="Calibri" panose="020F0502020204030204" pitchFamily="34"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1" i="0" u="none" strike="noStrike">
                          <a:effectLst/>
                          <a:latin typeface="Calibri" panose="020F0502020204030204" pitchFamily="34" charset="0"/>
                        </a:rPr>
                        <a:t> </a:t>
                      </a:r>
                    </a:p>
                  </a:txBody>
                  <a:tcPr marL="8044" marR="8044" marT="8044" marB="0" anchor="b">
                    <a:lnL>
                      <a:noFill/>
                    </a:lnL>
                    <a:lnR>
                      <a:noFill/>
                    </a:lnR>
                    <a:lnT>
                      <a:noFill/>
                    </a:lnT>
                    <a:lnB>
                      <a:noFill/>
                    </a:lnB>
                    <a:solidFill>
                      <a:srgbClr val="E7E6E6"/>
                    </a:solidFill>
                  </a:tcPr>
                </a:tc>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a:noFill/>
                    </a:lnT>
                    <a:lnB>
                      <a:noFill/>
                    </a:lnB>
                    <a:solidFill>
                      <a:srgbClr val="E7E6E6"/>
                    </a:solidFill>
                  </a:tcPr>
                </a:tc>
                <a:extLst>
                  <a:ext uri="{0D108BD9-81ED-4DB2-BD59-A6C34878D82A}">
                    <a16:rowId xmlns:a16="http://schemas.microsoft.com/office/drawing/2014/main" val="2786121315"/>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Did not complete high school</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Calibri" panose="020F0502020204030204" pitchFamily="34" charset="0"/>
                        </a:rPr>
                        <a:t>1467</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14.35</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1510082180"/>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High school diploma</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1708</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16.71</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343661734"/>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Some college, no college degree</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1023</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10.01</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1022611398"/>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Associate degree</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474</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4.64</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914567752"/>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Bachelor's degree</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1394</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13.64</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783521892"/>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Graduate/professional degree </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1485</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14.53</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784530849"/>
                  </a:ext>
                </a:extLst>
              </a:tr>
              <a:tr h="189597">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r>
                        <a:rPr lang="en-US" sz="900" b="1" i="0" u="none" strike="noStrike">
                          <a:effectLst/>
                          <a:latin typeface="Calibri" panose="020F0502020204030204" pitchFamily="34" charset="0"/>
                        </a:rPr>
                        <a:t>Don't know</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447</a:t>
                      </a:r>
                    </a:p>
                  </a:txBody>
                  <a:tcPr marL="8044" marR="8044" marT="8044" marB="0" anchor="b">
                    <a:lnL>
                      <a:noFill/>
                    </a:lnL>
                    <a:lnR>
                      <a:noFill/>
                    </a:lnR>
                    <a:lnT>
                      <a:noFill/>
                    </a:lnT>
                    <a:lnB>
                      <a:noFill/>
                    </a:lnB>
                    <a:noFill/>
                  </a:tcPr>
                </a:tc>
                <a:tc>
                  <a:txBody>
                    <a:bodyPr/>
                    <a:lstStyle/>
                    <a:p>
                      <a:pPr algn="r" fontAlgn="b"/>
                      <a:r>
                        <a:rPr lang="en-US" sz="900" b="0" i="0" u="none" strike="noStrike">
                          <a:effectLst/>
                          <a:latin typeface="Calibri" panose="020F0502020204030204" pitchFamily="34" charset="0"/>
                        </a:rPr>
                        <a:t>4.37</a:t>
                      </a: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298599764"/>
                  </a:ext>
                </a:extLst>
              </a:tr>
              <a:tr h="189597">
                <a:tc>
                  <a:txBody>
                    <a:bodyPr/>
                    <a:lstStyle/>
                    <a:p>
                      <a:pPr algn="l" fontAlgn="b"/>
                      <a:r>
                        <a:rPr lang="en-US" sz="900" b="0" i="0" u="none" strike="noStrike">
                          <a:effectLst/>
                          <a:latin typeface="Calibri" panose="020F0502020204030204" pitchFamily="34"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1" i="0" u="none" strike="noStrike">
                          <a:effectLst/>
                          <a:latin typeface="Calibri" panose="020F0502020204030204" pitchFamily="34"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2223</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a:effectLst/>
                          <a:latin typeface="Calibri" panose="020F0502020204030204" pitchFamily="34" charset="0"/>
                        </a:rPr>
                        <a:t>21.75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effectLst/>
                        <a:latin typeface="Calibri" panose="020F0502020204030204" pitchFamily="34"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Calibri" panose="020F0502020204030204" pitchFamily="34"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97316607"/>
                  </a:ext>
                </a:extLst>
              </a:tr>
            </a:tbl>
          </a:graphicData>
        </a:graphic>
      </p:graphicFrame>
      <p:sp>
        <p:nvSpPr>
          <p:cNvPr id="4" name="Slide Number Placeholder 3">
            <a:extLst>
              <a:ext uri="{FF2B5EF4-FFF2-40B4-BE49-F238E27FC236}">
                <a16:creationId xmlns:a16="http://schemas.microsoft.com/office/drawing/2014/main" id="{3506257C-B94F-E120-E7B4-50598765E34E}"/>
              </a:ext>
            </a:extLst>
          </p:cNvPr>
          <p:cNvSpPr>
            <a:spLocks noGrp="1"/>
          </p:cNvSpPr>
          <p:nvPr>
            <p:ph type="sldNum" sz="quarter" idx="12"/>
          </p:nvPr>
        </p:nvSpPr>
        <p:spPr/>
        <p:txBody>
          <a:bodyPr/>
          <a:lstStyle/>
          <a:p>
            <a:fld id="{80DD8C35-F8B3-4049-95AF-A34E38FBBA50}" type="slidenum">
              <a:rPr lang="en-US" smtClean="0"/>
              <a:pPr/>
              <a:t>12</a:t>
            </a:fld>
            <a:endParaRPr lang="en-US" dirty="0"/>
          </a:p>
        </p:txBody>
      </p:sp>
      <p:sp>
        <p:nvSpPr>
          <p:cNvPr id="7" name="TextBox 6">
            <a:extLst>
              <a:ext uri="{FF2B5EF4-FFF2-40B4-BE49-F238E27FC236}">
                <a16:creationId xmlns:a16="http://schemas.microsoft.com/office/drawing/2014/main" id="{9A52E66D-78E8-CD5D-2637-5DB605D76C15}"/>
              </a:ext>
            </a:extLst>
          </p:cNvPr>
          <p:cNvSpPr txBox="1"/>
          <p:nvPr/>
        </p:nvSpPr>
        <p:spPr>
          <a:xfrm>
            <a:off x="7467600" y="1752600"/>
            <a:ext cx="4192653" cy="3170099"/>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Compared to all 12</a:t>
            </a:r>
            <a:r>
              <a:rPr lang="en-US" baseline="30000" dirty="0">
                <a:latin typeface="Calibri" panose="020F0502020204030204" pitchFamily="34" charset="0"/>
                <a:cs typeface="Calibri" panose="020F0502020204030204" pitchFamily="34" charset="0"/>
              </a:rPr>
              <a:t>th</a:t>
            </a:r>
            <a:r>
              <a:rPr lang="en-US" dirty="0">
                <a:latin typeface="Calibri" panose="020F0502020204030204" pitchFamily="34" charset="0"/>
                <a:cs typeface="Calibri" panose="020F0502020204030204" pitchFamily="34" charset="0"/>
              </a:rPr>
              <a:t> graders enrolled in California public high schools, our sample:</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Overrepresents American Indian/Alaskan Native/Pacific Islanders</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Overrepresents Black/African Americans</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Underrepresents Hispanic/Latinx students</a:t>
            </a:r>
          </a:p>
          <a:p>
            <a:pPr marL="285750" indent="-285750">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The state only includes 3 categories for the gender identity information it collects:</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Male</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Female</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Non-binary</a:t>
            </a:r>
          </a:p>
        </p:txBody>
      </p:sp>
    </p:spTree>
    <p:extLst>
      <p:ext uri="{BB962C8B-B14F-4D97-AF65-F5344CB8AC3E}">
        <p14:creationId xmlns:p14="http://schemas.microsoft.com/office/powerpoint/2010/main" val="2234372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452B-246D-9E1D-7BD1-669988BC6399}"/>
              </a:ext>
            </a:extLst>
          </p:cNvPr>
          <p:cNvSpPr>
            <a:spLocks noGrp="1"/>
          </p:cNvSpPr>
          <p:nvPr>
            <p:ph type="title"/>
          </p:nvPr>
        </p:nvSpPr>
        <p:spPr/>
        <p:txBody>
          <a:bodyPr>
            <a:normAutofit/>
          </a:bodyPr>
          <a:lstStyle/>
          <a:p>
            <a:r>
              <a:rPr lang="en-US" dirty="0"/>
              <a:t>Data</a:t>
            </a:r>
          </a:p>
        </p:txBody>
      </p:sp>
      <p:sp>
        <p:nvSpPr>
          <p:cNvPr id="3" name="Content Placeholder 2">
            <a:extLst>
              <a:ext uri="{FF2B5EF4-FFF2-40B4-BE49-F238E27FC236}">
                <a16:creationId xmlns:a16="http://schemas.microsoft.com/office/drawing/2014/main" id="{653B61DE-228D-44E4-125E-A61489E4E78E}"/>
              </a:ext>
            </a:extLst>
          </p:cNvPr>
          <p:cNvSpPr>
            <a:spLocks noGrp="1"/>
          </p:cNvSpPr>
          <p:nvPr>
            <p:ph idx="1"/>
          </p:nvPr>
        </p:nvSpPr>
        <p:spPr>
          <a:xfrm>
            <a:off x="1676400" y="1447800"/>
            <a:ext cx="8839200" cy="5181600"/>
          </a:xfrm>
        </p:spPr>
        <p:txBody>
          <a:bodyPr>
            <a:normAutofit/>
          </a:bodyPr>
          <a:lstStyle/>
          <a:p>
            <a:pPr marL="457200">
              <a:spcBef>
                <a:spcPts val="0"/>
              </a:spcBef>
              <a:spcAft>
                <a:spcPts val="600"/>
              </a:spcAft>
              <a:buClr>
                <a:schemeClr val="dk1"/>
              </a:buClr>
              <a:buSzPts val="1800"/>
              <a:buChar char="●"/>
            </a:pPr>
            <a:r>
              <a:rPr lang="en-US" sz="2800" dirty="0">
                <a:solidFill>
                  <a:schemeClr val="dk1"/>
                </a:solidFill>
              </a:rPr>
              <a:t>The raw sample includes a total of 10,221 complete responses</a:t>
            </a:r>
          </a:p>
          <a:p>
            <a:pPr marL="457200">
              <a:spcBef>
                <a:spcPts val="0"/>
              </a:spcBef>
              <a:spcAft>
                <a:spcPts val="600"/>
              </a:spcAft>
              <a:buClr>
                <a:schemeClr val="dk1"/>
              </a:buClr>
              <a:buSzPts val="1800"/>
              <a:buChar char="●"/>
            </a:pPr>
            <a:r>
              <a:rPr lang="en-US" sz="2800" dirty="0">
                <a:solidFill>
                  <a:schemeClr val="dk1"/>
                </a:solidFill>
              </a:rPr>
              <a:t>Our sample includes around 9,230 college-bound HS seniors </a:t>
            </a:r>
          </a:p>
          <a:p>
            <a:pPr marL="914400" lvl="1" indent="-317500">
              <a:spcBef>
                <a:spcPts val="0"/>
              </a:spcBef>
              <a:spcAft>
                <a:spcPts val="600"/>
              </a:spcAft>
              <a:buClr>
                <a:schemeClr val="dk1"/>
              </a:buClr>
              <a:buSzPts val="1400"/>
              <a:buChar char="○"/>
            </a:pPr>
            <a:r>
              <a:rPr lang="en-US" sz="2400" dirty="0">
                <a:solidFill>
                  <a:schemeClr val="dk1"/>
                </a:solidFill>
              </a:rPr>
              <a:t>7,522 who reported gender identity</a:t>
            </a:r>
          </a:p>
          <a:p>
            <a:pPr marL="914400" lvl="1" indent="-317500">
              <a:spcBef>
                <a:spcPts val="0"/>
              </a:spcBef>
              <a:spcAft>
                <a:spcPts val="600"/>
              </a:spcAft>
              <a:buClr>
                <a:schemeClr val="dk1"/>
              </a:buClr>
              <a:buSzPts val="1400"/>
              <a:buChar char="○"/>
            </a:pPr>
            <a:r>
              <a:rPr lang="en-US" sz="2400" dirty="0">
                <a:solidFill>
                  <a:schemeClr val="dk1"/>
                </a:solidFill>
              </a:rPr>
              <a:t>7,481 who reported sexual orientation</a:t>
            </a:r>
          </a:p>
          <a:p>
            <a:pPr marL="457200">
              <a:spcBef>
                <a:spcPts val="0"/>
              </a:spcBef>
              <a:spcAft>
                <a:spcPts val="600"/>
              </a:spcAft>
              <a:buClr>
                <a:schemeClr val="dk1"/>
              </a:buClr>
              <a:buSzPts val="1800"/>
              <a:buChar char="●"/>
            </a:pPr>
            <a:r>
              <a:rPr lang="en-US" sz="2800" dirty="0">
                <a:solidFill>
                  <a:schemeClr val="dk1"/>
                </a:solidFill>
              </a:rPr>
              <a:t>Our sample includes 1,828 LGBTQ+ students (excluding </a:t>
            </a:r>
            <a:r>
              <a:rPr lang="en-US" sz="2800" i="1" dirty="0">
                <a:solidFill>
                  <a:schemeClr val="dk1"/>
                </a:solidFill>
              </a:rPr>
              <a:t>Prefer Not to Say</a:t>
            </a:r>
            <a:r>
              <a:rPr lang="en-US" sz="2800" dirty="0">
                <a:solidFill>
                  <a:schemeClr val="dk1"/>
                </a:solidFill>
              </a:rPr>
              <a:t>)</a:t>
            </a:r>
          </a:p>
          <a:p>
            <a:pPr marL="914400" lvl="1" indent="-317500">
              <a:spcBef>
                <a:spcPts val="0"/>
              </a:spcBef>
              <a:spcAft>
                <a:spcPts val="600"/>
              </a:spcAft>
              <a:buClr>
                <a:schemeClr val="dk1"/>
              </a:buClr>
              <a:buSzPts val="1400"/>
              <a:buChar char="○"/>
            </a:pPr>
            <a:r>
              <a:rPr lang="en-US" sz="2400" dirty="0">
                <a:solidFill>
                  <a:schemeClr val="dk1"/>
                </a:solidFill>
              </a:rPr>
              <a:t>417 who we classify as being non-cisgender</a:t>
            </a:r>
          </a:p>
          <a:p>
            <a:pPr marL="914400" lvl="1" indent="-317500">
              <a:spcBef>
                <a:spcPts val="0"/>
              </a:spcBef>
              <a:spcAft>
                <a:spcPts val="600"/>
              </a:spcAft>
              <a:buClr>
                <a:schemeClr val="dk1"/>
              </a:buClr>
              <a:buSzPts val="1400"/>
              <a:buChar char="○"/>
            </a:pPr>
            <a:r>
              <a:rPr lang="en-US" sz="2400" dirty="0">
                <a:solidFill>
                  <a:schemeClr val="dk1"/>
                </a:solidFill>
              </a:rPr>
              <a:t>1,782 who we classify as being non-heterosexual </a:t>
            </a:r>
          </a:p>
          <a:p>
            <a:endParaRPr lang="en-US" sz="2800" dirty="0"/>
          </a:p>
        </p:txBody>
      </p:sp>
      <p:sp>
        <p:nvSpPr>
          <p:cNvPr id="4" name="Slide Number Placeholder 3">
            <a:extLst>
              <a:ext uri="{FF2B5EF4-FFF2-40B4-BE49-F238E27FC236}">
                <a16:creationId xmlns:a16="http://schemas.microsoft.com/office/drawing/2014/main" id="{E3D90B5A-980A-F4E4-CECA-584A746C26A7}"/>
              </a:ext>
            </a:extLst>
          </p:cNvPr>
          <p:cNvSpPr>
            <a:spLocks noGrp="1"/>
          </p:cNvSpPr>
          <p:nvPr>
            <p:ph type="sldNum" sz="quarter" idx="12"/>
          </p:nvPr>
        </p:nvSpPr>
        <p:spPr/>
        <p:txBody>
          <a:bodyPr/>
          <a:lstStyle/>
          <a:p>
            <a:fld id="{80DD8C35-F8B3-4049-95AF-A34E38FBBA50}" type="slidenum">
              <a:rPr lang="en-US" smtClean="0"/>
              <a:pPr/>
              <a:t>13</a:t>
            </a:fld>
            <a:endParaRPr lang="en-US" dirty="0"/>
          </a:p>
        </p:txBody>
      </p:sp>
    </p:spTree>
    <p:extLst>
      <p:ext uri="{BB962C8B-B14F-4D97-AF65-F5344CB8AC3E}">
        <p14:creationId xmlns:p14="http://schemas.microsoft.com/office/powerpoint/2010/main" val="2061770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Classification of Gender Identity</a:t>
            </a:r>
          </a:p>
        </p:txBody>
      </p:sp>
      <p:sp>
        <p:nvSpPr>
          <p:cNvPr id="3" name="Content Placeholder 2">
            <a:extLst>
              <a:ext uri="{FF2B5EF4-FFF2-40B4-BE49-F238E27FC236}">
                <a16:creationId xmlns:a16="http://schemas.microsoft.com/office/drawing/2014/main" id="{9C48E90E-9A2F-9871-B9C8-FD6F4E606DE2}"/>
              </a:ext>
            </a:extLst>
          </p:cNvPr>
          <p:cNvSpPr>
            <a:spLocks noGrp="1"/>
          </p:cNvSpPr>
          <p:nvPr>
            <p:ph idx="1"/>
          </p:nvPr>
        </p:nvSpPr>
        <p:spPr/>
        <p:txBody>
          <a:bodyPr/>
          <a:lstStyle/>
          <a:p>
            <a:r>
              <a:rPr lang="en-US" sz="2800" dirty="0">
                <a:solidFill>
                  <a:schemeClr val="dk1"/>
                </a:solidFill>
              </a:rPr>
              <a:t>“Two-Step” Approach recommended by the Williams Institute</a:t>
            </a:r>
          </a:p>
          <a:p>
            <a:endParaRPr lang="en-US" dirty="0"/>
          </a:p>
        </p:txBody>
      </p:sp>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14</a:t>
            </a:fld>
            <a:endParaRPr lang="en-US" dirty="0"/>
          </a:p>
        </p:txBody>
      </p:sp>
      <p:grpSp>
        <p:nvGrpSpPr>
          <p:cNvPr id="5" name="Google Shape;111;p22">
            <a:extLst>
              <a:ext uri="{FF2B5EF4-FFF2-40B4-BE49-F238E27FC236}">
                <a16:creationId xmlns:a16="http://schemas.microsoft.com/office/drawing/2014/main" id="{17D5D725-6FBC-B6D2-314E-41EB9EB6A89E}"/>
              </a:ext>
            </a:extLst>
          </p:cNvPr>
          <p:cNvGrpSpPr/>
          <p:nvPr/>
        </p:nvGrpSpPr>
        <p:grpSpPr>
          <a:xfrm>
            <a:off x="2667000" y="2667001"/>
            <a:ext cx="5638800" cy="3840163"/>
            <a:chOff x="810975" y="1761575"/>
            <a:chExt cx="4598300" cy="3100576"/>
          </a:xfrm>
        </p:grpSpPr>
        <p:pic>
          <p:nvPicPr>
            <p:cNvPr id="6" name="Google Shape;112;p22">
              <a:extLst>
                <a:ext uri="{FF2B5EF4-FFF2-40B4-BE49-F238E27FC236}">
                  <a16:creationId xmlns:a16="http://schemas.microsoft.com/office/drawing/2014/main" id="{94534749-E0A7-FBEC-9BD9-D938B35A8727}"/>
                </a:ext>
              </a:extLst>
            </p:cNvPr>
            <p:cNvPicPr preferRelativeResize="0"/>
            <p:nvPr/>
          </p:nvPicPr>
          <p:blipFill>
            <a:blip r:embed="rId2">
              <a:alphaModFix/>
            </a:blip>
            <a:stretch>
              <a:fillRect/>
            </a:stretch>
          </p:blipFill>
          <p:spPr>
            <a:xfrm>
              <a:off x="810975" y="1761575"/>
              <a:ext cx="4598300" cy="1157191"/>
            </a:xfrm>
            <a:prstGeom prst="rect">
              <a:avLst/>
            </a:prstGeom>
            <a:noFill/>
            <a:ln>
              <a:noFill/>
            </a:ln>
          </p:spPr>
        </p:pic>
        <p:pic>
          <p:nvPicPr>
            <p:cNvPr id="7" name="Google Shape;113;p22">
              <a:extLst>
                <a:ext uri="{FF2B5EF4-FFF2-40B4-BE49-F238E27FC236}">
                  <a16:creationId xmlns:a16="http://schemas.microsoft.com/office/drawing/2014/main" id="{361D95E9-3C10-DEC9-2E65-C229F2BBCDD6}"/>
                </a:ext>
              </a:extLst>
            </p:cNvPr>
            <p:cNvPicPr preferRelativeResize="0"/>
            <p:nvPr/>
          </p:nvPicPr>
          <p:blipFill>
            <a:blip r:embed="rId3">
              <a:alphaModFix/>
            </a:blip>
            <a:stretch>
              <a:fillRect/>
            </a:stretch>
          </p:blipFill>
          <p:spPr>
            <a:xfrm>
              <a:off x="810975" y="2918775"/>
              <a:ext cx="4598299" cy="1943376"/>
            </a:xfrm>
            <a:prstGeom prst="rect">
              <a:avLst/>
            </a:prstGeom>
            <a:noFill/>
            <a:ln>
              <a:noFill/>
            </a:ln>
          </p:spPr>
        </p:pic>
      </p:grpSp>
    </p:spTree>
    <p:extLst>
      <p:ext uri="{BB962C8B-B14F-4D97-AF65-F5344CB8AC3E}">
        <p14:creationId xmlns:p14="http://schemas.microsoft.com/office/powerpoint/2010/main" val="211023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Classification of Gender Identity</a:t>
            </a:r>
          </a:p>
        </p:txBody>
      </p:sp>
      <p:graphicFrame>
        <p:nvGraphicFramePr>
          <p:cNvPr id="8" name="Content Placeholder 7">
            <a:extLst>
              <a:ext uri="{FF2B5EF4-FFF2-40B4-BE49-F238E27FC236}">
                <a16:creationId xmlns:a16="http://schemas.microsoft.com/office/drawing/2014/main" id="{EAFA8A81-453A-00DC-00C0-CEAD0A8DADEB}"/>
              </a:ext>
            </a:extLst>
          </p:cNvPr>
          <p:cNvGraphicFramePr>
            <a:graphicFrameLocks noGrp="1"/>
          </p:cNvGraphicFramePr>
          <p:nvPr>
            <p:ph idx="1"/>
            <p:extLst>
              <p:ext uri="{D42A27DB-BD31-4B8C-83A1-F6EECF244321}">
                <p14:modId xmlns:p14="http://schemas.microsoft.com/office/powerpoint/2010/main" val="1907085135"/>
              </p:ext>
            </p:extLst>
          </p:nvPr>
        </p:nvGraphicFramePr>
        <p:xfrm>
          <a:off x="609600" y="1600200"/>
          <a:ext cx="10972796" cy="39471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989149363"/>
                    </a:ext>
                  </a:extLst>
                </a:gridCol>
                <a:gridCol w="3809998">
                  <a:extLst>
                    <a:ext uri="{9D8B030D-6E8A-4147-A177-3AD203B41FA5}">
                      <a16:colId xmlns:a16="http://schemas.microsoft.com/office/drawing/2014/main" val="537727586"/>
                    </a:ext>
                  </a:extLst>
                </a:gridCol>
                <a:gridCol w="2743199">
                  <a:extLst>
                    <a:ext uri="{9D8B030D-6E8A-4147-A177-3AD203B41FA5}">
                      <a16:colId xmlns:a16="http://schemas.microsoft.com/office/drawing/2014/main" val="812701535"/>
                    </a:ext>
                  </a:extLst>
                </a:gridCol>
                <a:gridCol w="2743199">
                  <a:extLst>
                    <a:ext uri="{9D8B030D-6E8A-4147-A177-3AD203B41FA5}">
                      <a16:colId xmlns:a16="http://schemas.microsoft.com/office/drawing/2014/main" val="17248102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Assigned Sex at Birth</a:t>
                      </a:r>
                    </a:p>
                    <a:p>
                      <a:endParaRPr lang="en-US" dirty="0"/>
                    </a:p>
                  </a:txBody>
                  <a:tcPr/>
                </a:tc>
                <a:tc>
                  <a:txBody>
                    <a:bodyPr/>
                    <a:lstStyle/>
                    <a:p>
                      <a:r>
                        <a:rPr lang="en-US" dirty="0"/>
                        <a:t>Current Gender</a:t>
                      </a:r>
                    </a:p>
                  </a:txBody>
                  <a:tcPr/>
                </a:tc>
                <a:tc>
                  <a:txBody>
                    <a:bodyPr/>
                    <a:lstStyle/>
                    <a:p>
                      <a:r>
                        <a:rPr lang="en-US" dirty="0"/>
                        <a:t>Gender Identity Classification</a:t>
                      </a:r>
                    </a:p>
                  </a:txBody>
                  <a:tcPr/>
                </a:tc>
                <a:tc>
                  <a:txBody>
                    <a:bodyPr/>
                    <a:lstStyle/>
                    <a:p>
                      <a:endParaRPr lang="en-US" dirty="0"/>
                    </a:p>
                  </a:txBody>
                  <a:tcPr/>
                </a:tc>
                <a:extLst>
                  <a:ext uri="{0D108BD9-81ED-4DB2-BD59-A6C34878D82A}">
                    <a16:rowId xmlns:a16="http://schemas.microsoft.com/office/drawing/2014/main" val="4022714487"/>
                  </a:ext>
                </a:extLst>
              </a:tr>
              <a:tr h="370840">
                <a:tc>
                  <a:txBody>
                    <a:bodyPr/>
                    <a:lstStyle/>
                    <a:p>
                      <a:r>
                        <a:rPr lang="en-US" dirty="0"/>
                        <a:t>Male</a:t>
                      </a:r>
                    </a:p>
                  </a:txBody>
                  <a:tcPr/>
                </a:tc>
                <a:tc>
                  <a:txBody>
                    <a:bodyPr/>
                    <a:lstStyle/>
                    <a:p>
                      <a:r>
                        <a:rPr lang="en-US" dirty="0"/>
                        <a:t>Man</a:t>
                      </a:r>
                    </a:p>
                  </a:txBody>
                  <a:tcPr/>
                </a:tc>
                <a:tc>
                  <a:txBody>
                    <a:bodyPr/>
                    <a:lstStyle/>
                    <a:p>
                      <a:r>
                        <a:rPr lang="en-US" dirty="0"/>
                        <a:t>Cisgender Man</a:t>
                      </a:r>
                    </a:p>
                  </a:txBody>
                  <a:tcPr/>
                </a:tc>
                <a:tc>
                  <a:txBody>
                    <a:bodyPr/>
                    <a:lstStyle/>
                    <a:p>
                      <a:endParaRPr lang="en-US" dirty="0"/>
                    </a:p>
                  </a:txBody>
                  <a:tcPr/>
                </a:tc>
                <a:extLst>
                  <a:ext uri="{0D108BD9-81ED-4DB2-BD59-A6C34878D82A}">
                    <a16:rowId xmlns:a16="http://schemas.microsoft.com/office/drawing/2014/main" val="1993829323"/>
                  </a:ext>
                </a:extLst>
              </a:tr>
              <a:tr h="370840">
                <a:tc>
                  <a:txBody>
                    <a:bodyPr/>
                    <a:lstStyle/>
                    <a:p>
                      <a:r>
                        <a:rPr lang="en-US" dirty="0"/>
                        <a:t>Female</a:t>
                      </a:r>
                    </a:p>
                  </a:txBody>
                  <a:tcPr/>
                </a:tc>
                <a:tc>
                  <a:txBody>
                    <a:bodyPr/>
                    <a:lstStyle/>
                    <a:p>
                      <a:r>
                        <a:rPr lang="en-US" dirty="0"/>
                        <a:t>Woman</a:t>
                      </a:r>
                    </a:p>
                  </a:txBody>
                  <a:tcPr/>
                </a:tc>
                <a:tc>
                  <a:txBody>
                    <a:bodyPr/>
                    <a:lstStyle/>
                    <a:p>
                      <a:r>
                        <a:rPr lang="en-US" dirty="0"/>
                        <a:t>Cisgender Woman</a:t>
                      </a:r>
                    </a:p>
                  </a:txBody>
                  <a:tcPr/>
                </a:tc>
                <a:tc>
                  <a:txBody>
                    <a:bodyPr/>
                    <a:lstStyle/>
                    <a:p>
                      <a:endParaRPr lang="en-US" dirty="0"/>
                    </a:p>
                  </a:txBody>
                  <a:tcPr/>
                </a:tc>
                <a:extLst>
                  <a:ext uri="{0D108BD9-81ED-4DB2-BD59-A6C34878D82A}">
                    <a16:rowId xmlns:a16="http://schemas.microsoft.com/office/drawing/2014/main" val="2975970056"/>
                  </a:ext>
                </a:extLst>
              </a:tr>
              <a:tr h="370840">
                <a:tc>
                  <a:txBody>
                    <a:bodyPr/>
                    <a:lstStyle/>
                    <a:p>
                      <a:r>
                        <a:rPr lang="en-US" dirty="0"/>
                        <a:t>Male</a:t>
                      </a:r>
                    </a:p>
                  </a:txBody>
                  <a:tcPr/>
                </a:tc>
                <a:tc>
                  <a:txBody>
                    <a:bodyPr/>
                    <a:lstStyle/>
                    <a:p>
                      <a:r>
                        <a:rPr lang="en-US" dirty="0"/>
                        <a:t>Woman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(Binary) Transgender Woman</a:t>
                      </a: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(Binary) Transgender</a:t>
                      </a:r>
                    </a:p>
                  </a:txBody>
                  <a:tcPr anchor="ctr"/>
                </a:tc>
                <a:extLst>
                  <a:ext uri="{0D108BD9-81ED-4DB2-BD59-A6C34878D82A}">
                    <a16:rowId xmlns:a16="http://schemas.microsoft.com/office/drawing/2014/main" val="2180934802"/>
                  </a:ext>
                </a:extLst>
              </a:tr>
              <a:tr h="370840">
                <a:tc>
                  <a:txBody>
                    <a:bodyPr/>
                    <a:lstStyle/>
                    <a:p>
                      <a:r>
                        <a:rPr lang="en-US" dirty="0"/>
                        <a:t>Female</a:t>
                      </a:r>
                    </a:p>
                  </a:txBody>
                  <a:tcPr/>
                </a:tc>
                <a:tc>
                  <a:txBody>
                    <a:bodyPr/>
                    <a:lstStyle/>
                    <a:p>
                      <a:r>
                        <a:rPr lang="en-US" dirty="0"/>
                        <a:t>Man</a:t>
                      </a:r>
                    </a:p>
                  </a:txBody>
                  <a:tcPr/>
                </a:tc>
                <a:tc>
                  <a:txBody>
                    <a:bodyPr/>
                    <a:lstStyle/>
                    <a:p>
                      <a:r>
                        <a:rPr lang="en-US" dirty="0"/>
                        <a:t>(Binary) Transgender Man</a:t>
                      </a:r>
                    </a:p>
                  </a:txBody>
                  <a:tcPr/>
                </a:tc>
                <a:tc vMerge="1">
                  <a:txBody>
                    <a:bodyPr/>
                    <a:lstStyle/>
                    <a:p>
                      <a:endParaRPr lang="en-US" dirty="0"/>
                    </a:p>
                  </a:txBody>
                  <a:tcPr/>
                </a:tc>
                <a:extLst>
                  <a:ext uri="{0D108BD9-81ED-4DB2-BD59-A6C34878D82A}">
                    <a16:rowId xmlns:a16="http://schemas.microsoft.com/office/drawing/2014/main" val="2339953570"/>
                  </a:ext>
                </a:extLst>
              </a:tr>
              <a:tr h="370840">
                <a:tc>
                  <a:txBody>
                    <a:bodyPr/>
                    <a:lstStyle/>
                    <a:p>
                      <a:r>
                        <a:rPr lang="en-US" dirty="0"/>
                        <a:t>Any</a:t>
                      </a:r>
                    </a:p>
                  </a:txBody>
                  <a:tcPr/>
                </a:tc>
                <a:tc>
                  <a:txBody>
                    <a:bodyPr/>
                    <a:lstStyle/>
                    <a:p>
                      <a:r>
                        <a:rPr lang="en-US" dirty="0"/>
                        <a:t>Non-binary/Self Describe/Questioning</a:t>
                      </a:r>
                    </a:p>
                  </a:txBody>
                  <a:tcPr/>
                </a:tc>
                <a:tc>
                  <a:txBody>
                    <a:bodyPr/>
                    <a:lstStyle/>
                    <a:p>
                      <a:r>
                        <a:rPr lang="en-US" dirty="0"/>
                        <a:t>Non-binary/Gender Diverse/Questioning</a:t>
                      </a:r>
                    </a:p>
                  </a:txBody>
                  <a:tcPr/>
                </a:tc>
                <a:tc>
                  <a:txBody>
                    <a:bodyPr/>
                    <a:lstStyle/>
                    <a:p>
                      <a:endParaRPr lang="en-US" dirty="0"/>
                    </a:p>
                  </a:txBody>
                  <a:tcPr/>
                </a:tc>
                <a:extLst>
                  <a:ext uri="{0D108BD9-81ED-4DB2-BD59-A6C34878D82A}">
                    <a16:rowId xmlns:a16="http://schemas.microsoft.com/office/drawing/2014/main" val="3415227245"/>
                  </a:ext>
                </a:extLst>
              </a:tr>
              <a:tr h="370840">
                <a:tc>
                  <a:txBody>
                    <a:bodyPr/>
                    <a:lstStyle/>
                    <a:p>
                      <a:r>
                        <a:rPr lang="en-US" dirty="0"/>
                        <a:t>Any</a:t>
                      </a:r>
                    </a:p>
                  </a:txBody>
                  <a:tcPr/>
                </a:tc>
                <a:tc>
                  <a:txBody>
                    <a:bodyPr/>
                    <a:lstStyle/>
                    <a:p>
                      <a:r>
                        <a:rPr lang="en-US" dirty="0"/>
                        <a:t>Prefer not to say/Attack helicopters</a:t>
                      </a:r>
                    </a:p>
                  </a:txBody>
                  <a:tcPr/>
                </a:tc>
                <a:tc>
                  <a:txBody>
                    <a:bodyPr/>
                    <a:lstStyle/>
                    <a:p>
                      <a:r>
                        <a:rPr lang="en-US" dirty="0"/>
                        <a:t>Prefer not to say</a:t>
                      </a:r>
                    </a:p>
                  </a:txBody>
                  <a:tcPr/>
                </a:tc>
                <a:tc>
                  <a:txBody>
                    <a:bodyPr/>
                    <a:lstStyle/>
                    <a:p>
                      <a:endParaRPr lang="en-US" dirty="0"/>
                    </a:p>
                  </a:txBody>
                  <a:tcPr/>
                </a:tc>
                <a:extLst>
                  <a:ext uri="{0D108BD9-81ED-4DB2-BD59-A6C34878D82A}">
                    <a16:rowId xmlns:a16="http://schemas.microsoft.com/office/drawing/2014/main" val="2770170423"/>
                  </a:ext>
                </a:extLst>
              </a:tr>
            </a:tbl>
          </a:graphicData>
        </a:graphic>
      </p:graphicFrame>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15</a:t>
            </a:fld>
            <a:endParaRPr lang="en-US" dirty="0"/>
          </a:p>
        </p:txBody>
      </p:sp>
    </p:spTree>
    <p:extLst>
      <p:ext uri="{BB962C8B-B14F-4D97-AF65-F5344CB8AC3E}">
        <p14:creationId xmlns:p14="http://schemas.microsoft.com/office/powerpoint/2010/main" val="684363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7BA0-6789-1E6A-1BEF-A1F7A0EFCEFF}"/>
              </a:ext>
            </a:extLst>
          </p:cNvPr>
          <p:cNvSpPr>
            <a:spLocks noGrp="1"/>
          </p:cNvSpPr>
          <p:nvPr>
            <p:ph type="title"/>
          </p:nvPr>
        </p:nvSpPr>
        <p:spPr/>
        <p:txBody>
          <a:bodyPr/>
          <a:lstStyle/>
          <a:p>
            <a:r>
              <a:rPr lang="en-US" dirty="0"/>
              <a:t>Classification of Sexual Orientation</a:t>
            </a:r>
          </a:p>
        </p:txBody>
      </p:sp>
      <p:sp>
        <p:nvSpPr>
          <p:cNvPr id="3" name="Content Placeholder 2">
            <a:extLst>
              <a:ext uri="{FF2B5EF4-FFF2-40B4-BE49-F238E27FC236}">
                <a16:creationId xmlns:a16="http://schemas.microsoft.com/office/drawing/2014/main" id="{434E0227-D8EC-5626-FC66-F166C601219B}"/>
              </a:ext>
            </a:extLst>
          </p:cNvPr>
          <p:cNvSpPr>
            <a:spLocks noGrp="1"/>
          </p:cNvSpPr>
          <p:nvPr>
            <p:ph idx="1"/>
          </p:nvPr>
        </p:nvSpPr>
        <p:spPr/>
        <p:txBody>
          <a:bodyPr/>
          <a:lstStyle/>
          <a:p>
            <a:r>
              <a:rPr lang="en-US" sz="2400" dirty="0">
                <a:solidFill>
                  <a:schemeClr val="dk1"/>
                </a:solidFill>
              </a:rPr>
              <a:t>Adapted from recommendations by the Williams Institute to allow for a broader range of expressions</a:t>
            </a:r>
          </a:p>
          <a:p>
            <a:endParaRPr lang="en-US" dirty="0"/>
          </a:p>
        </p:txBody>
      </p:sp>
      <p:sp>
        <p:nvSpPr>
          <p:cNvPr id="4" name="Slide Number Placeholder 3">
            <a:extLst>
              <a:ext uri="{FF2B5EF4-FFF2-40B4-BE49-F238E27FC236}">
                <a16:creationId xmlns:a16="http://schemas.microsoft.com/office/drawing/2014/main" id="{EAF3D81F-3217-7933-44B5-41C244915F41}"/>
              </a:ext>
            </a:extLst>
          </p:cNvPr>
          <p:cNvSpPr>
            <a:spLocks noGrp="1"/>
          </p:cNvSpPr>
          <p:nvPr>
            <p:ph type="sldNum" sz="quarter" idx="12"/>
          </p:nvPr>
        </p:nvSpPr>
        <p:spPr/>
        <p:txBody>
          <a:bodyPr/>
          <a:lstStyle/>
          <a:p>
            <a:fld id="{80DD8C35-F8B3-4049-95AF-A34E38FBBA50}" type="slidenum">
              <a:rPr lang="en-US" smtClean="0"/>
              <a:pPr/>
              <a:t>16</a:t>
            </a:fld>
            <a:endParaRPr lang="en-US" dirty="0"/>
          </a:p>
        </p:txBody>
      </p:sp>
      <p:pic>
        <p:nvPicPr>
          <p:cNvPr id="5" name="Google Shape;120;p23">
            <a:extLst>
              <a:ext uri="{FF2B5EF4-FFF2-40B4-BE49-F238E27FC236}">
                <a16:creationId xmlns:a16="http://schemas.microsoft.com/office/drawing/2014/main" id="{FD87EA75-8CDB-2680-4282-F04B6350B1A7}"/>
              </a:ext>
            </a:extLst>
          </p:cNvPr>
          <p:cNvPicPr preferRelativeResize="0"/>
          <p:nvPr/>
        </p:nvPicPr>
        <p:blipFill>
          <a:blip r:embed="rId2">
            <a:alphaModFix/>
          </a:blip>
          <a:stretch>
            <a:fillRect/>
          </a:stretch>
        </p:blipFill>
        <p:spPr>
          <a:xfrm>
            <a:off x="2362200" y="2514601"/>
            <a:ext cx="5910088" cy="3834275"/>
          </a:xfrm>
          <a:prstGeom prst="rect">
            <a:avLst/>
          </a:prstGeom>
          <a:noFill/>
          <a:ln>
            <a:noFill/>
          </a:ln>
        </p:spPr>
      </p:pic>
    </p:spTree>
    <p:extLst>
      <p:ext uri="{BB962C8B-B14F-4D97-AF65-F5344CB8AC3E}">
        <p14:creationId xmlns:p14="http://schemas.microsoft.com/office/powerpoint/2010/main" val="2033512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7BA0-6789-1E6A-1BEF-A1F7A0EFCEFF}"/>
              </a:ext>
            </a:extLst>
          </p:cNvPr>
          <p:cNvSpPr>
            <a:spLocks noGrp="1"/>
          </p:cNvSpPr>
          <p:nvPr>
            <p:ph type="title"/>
          </p:nvPr>
        </p:nvSpPr>
        <p:spPr/>
        <p:txBody>
          <a:bodyPr/>
          <a:lstStyle/>
          <a:p>
            <a:r>
              <a:rPr lang="en-US" dirty="0"/>
              <a:t>Classification of Sexual Orientation</a:t>
            </a:r>
          </a:p>
        </p:txBody>
      </p:sp>
      <p:graphicFrame>
        <p:nvGraphicFramePr>
          <p:cNvPr id="6" name="Content Placeholder 5">
            <a:extLst>
              <a:ext uri="{FF2B5EF4-FFF2-40B4-BE49-F238E27FC236}">
                <a16:creationId xmlns:a16="http://schemas.microsoft.com/office/drawing/2014/main" id="{7BF6BF64-35FA-2033-04DF-F849E05D8809}"/>
              </a:ext>
            </a:extLst>
          </p:cNvPr>
          <p:cNvGraphicFramePr>
            <a:graphicFrameLocks noGrp="1"/>
          </p:cNvGraphicFramePr>
          <p:nvPr>
            <p:ph idx="1"/>
            <p:extLst>
              <p:ext uri="{D42A27DB-BD31-4B8C-83A1-F6EECF244321}">
                <p14:modId xmlns:p14="http://schemas.microsoft.com/office/powerpoint/2010/main" val="3716895025"/>
              </p:ext>
            </p:extLst>
          </p:nvPr>
        </p:nvGraphicFramePr>
        <p:xfrm>
          <a:off x="609600" y="1676400"/>
          <a:ext cx="10972800" cy="312928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550922073"/>
                    </a:ext>
                  </a:extLst>
                </a:gridCol>
                <a:gridCol w="5486400">
                  <a:extLst>
                    <a:ext uri="{9D8B030D-6E8A-4147-A177-3AD203B41FA5}">
                      <a16:colId xmlns:a16="http://schemas.microsoft.com/office/drawing/2014/main" val="36056556"/>
                    </a:ext>
                  </a:extLst>
                </a:gridCol>
              </a:tblGrid>
              <a:tr h="294640">
                <a:tc>
                  <a:txBody>
                    <a:bodyPr/>
                    <a:lstStyle/>
                    <a:p>
                      <a:r>
                        <a:rPr lang="en-US" dirty="0"/>
                        <a:t>Sexual Orientation</a:t>
                      </a:r>
                    </a:p>
                  </a:txBody>
                  <a:tcPr/>
                </a:tc>
                <a:tc>
                  <a:txBody>
                    <a:bodyPr/>
                    <a:lstStyle/>
                    <a:p>
                      <a:r>
                        <a:rPr lang="en-US" dirty="0"/>
                        <a:t>Sexual Orientation Classification</a:t>
                      </a:r>
                    </a:p>
                  </a:txBody>
                  <a:tcPr/>
                </a:tc>
                <a:extLst>
                  <a:ext uri="{0D108BD9-81ED-4DB2-BD59-A6C34878D82A}">
                    <a16:rowId xmlns:a16="http://schemas.microsoft.com/office/drawing/2014/main" val="3697325495"/>
                  </a:ext>
                </a:extLst>
              </a:tr>
              <a:tr h="370840">
                <a:tc>
                  <a:txBody>
                    <a:bodyPr/>
                    <a:lstStyle/>
                    <a:p>
                      <a:r>
                        <a:rPr lang="en-US" dirty="0"/>
                        <a:t>Lesbian or Gay</a:t>
                      </a:r>
                    </a:p>
                  </a:txBody>
                  <a:tcPr/>
                </a:tc>
                <a:tc>
                  <a:txBody>
                    <a:bodyPr/>
                    <a:lstStyle/>
                    <a:p>
                      <a:r>
                        <a:rPr lang="en-US" dirty="0"/>
                        <a:t>Gay/Lesbian</a:t>
                      </a:r>
                    </a:p>
                  </a:txBody>
                  <a:tcPr/>
                </a:tc>
                <a:extLst>
                  <a:ext uri="{0D108BD9-81ED-4DB2-BD59-A6C34878D82A}">
                    <a16:rowId xmlns:a16="http://schemas.microsoft.com/office/drawing/2014/main" val="658375853"/>
                  </a:ext>
                </a:extLst>
              </a:tr>
              <a:tr h="370840">
                <a:tc>
                  <a:txBody>
                    <a:bodyPr/>
                    <a:lstStyle/>
                    <a:p>
                      <a:r>
                        <a:rPr lang="en-US" dirty="0"/>
                        <a:t>Straight (not gay or lesbian)</a:t>
                      </a:r>
                    </a:p>
                  </a:txBody>
                  <a:tcPr/>
                </a:tc>
                <a:tc>
                  <a:txBody>
                    <a:bodyPr/>
                    <a:lstStyle/>
                    <a:p>
                      <a:r>
                        <a:rPr lang="en-US" dirty="0"/>
                        <a:t>Heterosexual</a:t>
                      </a:r>
                    </a:p>
                  </a:txBody>
                  <a:tcPr/>
                </a:tc>
                <a:extLst>
                  <a:ext uri="{0D108BD9-81ED-4DB2-BD59-A6C34878D82A}">
                    <a16:rowId xmlns:a16="http://schemas.microsoft.com/office/drawing/2014/main" val="4004636364"/>
                  </a:ext>
                </a:extLst>
              </a:tr>
              <a:tr h="370840">
                <a:tc>
                  <a:txBody>
                    <a:bodyPr/>
                    <a:lstStyle/>
                    <a:p>
                      <a:r>
                        <a:rPr lang="en-US" dirty="0"/>
                        <a:t>Bisexual/Self described pansexual</a:t>
                      </a:r>
                    </a:p>
                  </a:txBody>
                  <a:tcPr/>
                </a:tc>
                <a:tc>
                  <a:txBody>
                    <a:bodyPr/>
                    <a:lstStyle/>
                    <a:p>
                      <a:r>
                        <a:rPr lang="en-US" dirty="0"/>
                        <a:t>Bisexual/Pansexual</a:t>
                      </a:r>
                    </a:p>
                  </a:txBody>
                  <a:tcPr/>
                </a:tc>
                <a:extLst>
                  <a:ext uri="{0D108BD9-81ED-4DB2-BD59-A6C34878D82A}">
                    <a16:rowId xmlns:a16="http://schemas.microsoft.com/office/drawing/2014/main" val="122349234"/>
                  </a:ext>
                </a:extLst>
              </a:tr>
              <a:tr h="370840">
                <a:tc>
                  <a:txBody>
                    <a:bodyPr/>
                    <a:lstStyle/>
                    <a:p>
                      <a:r>
                        <a:rPr lang="en-US" dirty="0"/>
                        <a:t>Asexual/Self described asexual/demisexual/aromantic</a:t>
                      </a:r>
                    </a:p>
                  </a:txBody>
                  <a:tcPr/>
                </a:tc>
                <a:tc>
                  <a:txBody>
                    <a:bodyPr/>
                    <a:lstStyle/>
                    <a:p>
                      <a:r>
                        <a:rPr lang="en-US" dirty="0"/>
                        <a:t>Asexual/Demisexual/Aromantic</a:t>
                      </a:r>
                    </a:p>
                  </a:txBody>
                  <a:tcPr/>
                </a:tc>
                <a:extLst>
                  <a:ext uri="{0D108BD9-81ED-4DB2-BD59-A6C34878D82A}">
                    <a16:rowId xmlns:a16="http://schemas.microsoft.com/office/drawing/2014/main" val="42138091"/>
                  </a:ext>
                </a:extLst>
              </a:tr>
              <a:tr h="370840">
                <a:tc>
                  <a:txBody>
                    <a:bodyPr/>
                    <a:lstStyle/>
                    <a:p>
                      <a:r>
                        <a:rPr lang="en-US" dirty="0"/>
                        <a:t>Self described other non-heterosexual orientations/questioning</a:t>
                      </a:r>
                    </a:p>
                  </a:txBody>
                  <a:tcPr/>
                </a:tc>
                <a:tc>
                  <a:txBody>
                    <a:bodyPr/>
                    <a:lstStyle/>
                    <a:p>
                      <a:r>
                        <a:rPr lang="en-US" dirty="0"/>
                        <a:t>Other/Queer/Questioning</a:t>
                      </a:r>
                    </a:p>
                  </a:txBody>
                  <a:tcPr/>
                </a:tc>
                <a:extLst>
                  <a:ext uri="{0D108BD9-81ED-4DB2-BD59-A6C34878D82A}">
                    <a16:rowId xmlns:a16="http://schemas.microsoft.com/office/drawing/2014/main" val="2419595280"/>
                  </a:ext>
                </a:extLst>
              </a:tr>
              <a:tr h="370840">
                <a:tc>
                  <a:txBody>
                    <a:bodyPr/>
                    <a:lstStyle/>
                    <a:p>
                      <a:r>
                        <a:rPr lang="en-US" dirty="0"/>
                        <a:t>Prefer not to say/Attack helicopters</a:t>
                      </a:r>
                    </a:p>
                  </a:txBody>
                  <a:tcPr/>
                </a:tc>
                <a:tc>
                  <a:txBody>
                    <a:bodyPr/>
                    <a:lstStyle/>
                    <a:p>
                      <a:r>
                        <a:rPr lang="en-US" dirty="0"/>
                        <a:t>Prefer not to say</a:t>
                      </a:r>
                    </a:p>
                  </a:txBody>
                  <a:tcPr/>
                </a:tc>
                <a:extLst>
                  <a:ext uri="{0D108BD9-81ED-4DB2-BD59-A6C34878D82A}">
                    <a16:rowId xmlns:a16="http://schemas.microsoft.com/office/drawing/2014/main" val="9883438"/>
                  </a:ext>
                </a:extLst>
              </a:tr>
            </a:tbl>
          </a:graphicData>
        </a:graphic>
      </p:graphicFrame>
      <p:sp>
        <p:nvSpPr>
          <p:cNvPr id="4" name="Slide Number Placeholder 3">
            <a:extLst>
              <a:ext uri="{FF2B5EF4-FFF2-40B4-BE49-F238E27FC236}">
                <a16:creationId xmlns:a16="http://schemas.microsoft.com/office/drawing/2014/main" id="{EAF3D81F-3217-7933-44B5-41C244915F41}"/>
              </a:ext>
            </a:extLst>
          </p:cNvPr>
          <p:cNvSpPr>
            <a:spLocks noGrp="1"/>
          </p:cNvSpPr>
          <p:nvPr>
            <p:ph type="sldNum" sz="quarter" idx="12"/>
          </p:nvPr>
        </p:nvSpPr>
        <p:spPr/>
        <p:txBody>
          <a:bodyPr/>
          <a:lstStyle/>
          <a:p>
            <a:fld id="{80DD8C35-F8B3-4049-95AF-A34E38FBBA50}" type="slidenum">
              <a:rPr lang="en-US" smtClean="0"/>
              <a:pPr/>
              <a:t>17</a:t>
            </a:fld>
            <a:endParaRPr lang="en-US" dirty="0"/>
          </a:p>
        </p:txBody>
      </p:sp>
    </p:spTree>
    <p:extLst>
      <p:ext uri="{BB962C8B-B14F-4D97-AF65-F5344CB8AC3E}">
        <p14:creationId xmlns:p14="http://schemas.microsoft.com/office/powerpoint/2010/main" val="906769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100-D13A-1167-29AF-813D6C3A94A8}"/>
              </a:ext>
            </a:extLst>
          </p:cNvPr>
          <p:cNvSpPr>
            <a:spLocks noGrp="1"/>
          </p:cNvSpPr>
          <p:nvPr>
            <p:ph type="title"/>
          </p:nvPr>
        </p:nvSpPr>
        <p:spPr/>
        <p:txBody>
          <a:bodyPr/>
          <a:lstStyle/>
          <a:p>
            <a:r>
              <a:rPr lang="en-US" dirty="0"/>
              <a:t>Gender and Sexuality Diversity</a:t>
            </a:r>
          </a:p>
        </p:txBody>
      </p:sp>
      <p:sp>
        <p:nvSpPr>
          <p:cNvPr id="3" name="Content Placeholder 2">
            <a:extLst>
              <a:ext uri="{FF2B5EF4-FFF2-40B4-BE49-F238E27FC236}">
                <a16:creationId xmlns:a16="http://schemas.microsoft.com/office/drawing/2014/main" id="{91372E34-5502-D22E-4997-DCAF24C02B40}"/>
              </a:ext>
            </a:extLst>
          </p:cNvPr>
          <p:cNvSpPr>
            <a:spLocks noGrp="1"/>
          </p:cNvSpPr>
          <p:nvPr>
            <p:ph idx="1"/>
          </p:nvPr>
        </p:nvSpPr>
        <p:spPr>
          <a:xfrm>
            <a:off x="685800" y="1600200"/>
            <a:ext cx="2590800" cy="4525963"/>
          </a:xfrm>
        </p:spPr>
        <p:txBody>
          <a:bodyPr>
            <a:normAutofit/>
          </a:bodyPr>
          <a:lstStyle/>
          <a:p>
            <a:pPr marL="114300" indent="0">
              <a:spcBef>
                <a:spcPts val="0"/>
              </a:spcBef>
              <a:spcAft>
                <a:spcPts val="600"/>
              </a:spcAft>
              <a:buClr>
                <a:schemeClr val="dk1"/>
              </a:buClr>
              <a:buSzPts val="1800"/>
              <a:buNone/>
            </a:pPr>
            <a:r>
              <a:rPr lang="en-US" sz="2400" dirty="0">
                <a:solidFill>
                  <a:schemeClr val="dk1"/>
                </a:solidFill>
              </a:rPr>
              <a:t>Students who chose to self describe used a diversity of descriptors</a:t>
            </a:r>
            <a:endParaRPr lang="en-US" sz="2400" dirty="0"/>
          </a:p>
        </p:txBody>
      </p:sp>
      <p:sp>
        <p:nvSpPr>
          <p:cNvPr id="4" name="Slide Number Placeholder 3">
            <a:extLst>
              <a:ext uri="{FF2B5EF4-FFF2-40B4-BE49-F238E27FC236}">
                <a16:creationId xmlns:a16="http://schemas.microsoft.com/office/drawing/2014/main" id="{B9097EBF-B75E-79FD-F33D-3B1F69BB851E}"/>
              </a:ext>
            </a:extLst>
          </p:cNvPr>
          <p:cNvSpPr>
            <a:spLocks noGrp="1"/>
          </p:cNvSpPr>
          <p:nvPr>
            <p:ph type="sldNum" sz="quarter" idx="12"/>
          </p:nvPr>
        </p:nvSpPr>
        <p:spPr/>
        <p:txBody>
          <a:bodyPr/>
          <a:lstStyle/>
          <a:p>
            <a:fld id="{80DD8C35-F8B3-4049-95AF-A34E38FBBA50}" type="slidenum">
              <a:rPr lang="en-US" smtClean="0"/>
              <a:pPr/>
              <a:t>18</a:t>
            </a:fld>
            <a:endParaRPr lang="en-US" dirty="0"/>
          </a:p>
        </p:txBody>
      </p:sp>
      <p:pic>
        <p:nvPicPr>
          <p:cNvPr id="8" name="Picture 7" descr="A person's head with words&#10;&#10;Description automatically generated">
            <a:extLst>
              <a:ext uri="{FF2B5EF4-FFF2-40B4-BE49-F238E27FC236}">
                <a16:creationId xmlns:a16="http://schemas.microsoft.com/office/drawing/2014/main" id="{C1DCFE1C-FEDD-FC4F-F5E5-5E5A5E38D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1915062"/>
            <a:ext cx="5257802" cy="4819652"/>
          </a:xfrm>
          <a:prstGeom prst="rect">
            <a:avLst/>
          </a:prstGeom>
        </p:spPr>
      </p:pic>
      <p:pic>
        <p:nvPicPr>
          <p:cNvPr id="10" name="Picture 9" descr="A heart shaped sign with words&#10;&#10;Description automatically generated">
            <a:extLst>
              <a:ext uri="{FF2B5EF4-FFF2-40B4-BE49-F238E27FC236}">
                <a16:creationId xmlns:a16="http://schemas.microsoft.com/office/drawing/2014/main" id="{7C317E38-933E-0CF3-9AAD-D4397532D4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0" y="1447800"/>
            <a:ext cx="5590309" cy="5124450"/>
          </a:xfrm>
          <a:prstGeom prst="rect">
            <a:avLst/>
          </a:prstGeom>
        </p:spPr>
      </p:pic>
    </p:spTree>
    <p:extLst>
      <p:ext uri="{BB962C8B-B14F-4D97-AF65-F5344CB8AC3E}">
        <p14:creationId xmlns:p14="http://schemas.microsoft.com/office/powerpoint/2010/main" val="854181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0113A-78A8-A6FD-D146-563F0F18D885}"/>
              </a:ext>
            </a:extLst>
          </p:cNvPr>
          <p:cNvSpPr>
            <a:spLocks noGrp="1"/>
          </p:cNvSpPr>
          <p:nvPr>
            <p:ph type="title"/>
          </p:nvPr>
        </p:nvSpPr>
        <p:spPr/>
        <p:txBody>
          <a:bodyPr/>
          <a:lstStyle/>
          <a:p>
            <a:r>
              <a:rPr lang="en-US" dirty="0"/>
              <a:t>Limitations/Caveats</a:t>
            </a:r>
          </a:p>
        </p:txBody>
      </p:sp>
      <p:sp>
        <p:nvSpPr>
          <p:cNvPr id="3" name="Content Placeholder 2">
            <a:extLst>
              <a:ext uri="{FF2B5EF4-FFF2-40B4-BE49-F238E27FC236}">
                <a16:creationId xmlns:a16="http://schemas.microsoft.com/office/drawing/2014/main" id="{1589B5AC-7601-3FB4-DC06-545CC3BABD65}"/>
              </a:ext>
            </a:extLst>
          </p:cNvPr>
          <p:cNvSpPr>
            <a:spLocks noGrp="1"/>
          </p:cNvSpPr>
          <p:nvPr>
            <p:ph idx="1"/>
          </p:nvPr>
        </p:nvSpPr>
        <p:spPr/>
        <p:txBody>
          <a:bodyPr/>
          <a:lstStyle/>
          <a:p>
            <a:r>
              <a:rPr lang="en-US" dirty="0"/>
              <a:t>We are not able to do subgroup analysis for every single identity</a:t>
            </a:r>
          </a:p>
          <a:p>
            <a:r>
              <a:rPr lang="en-US" dirty="0"/>
              <a:t>Have to combine some gender/sexual orientation categories due to cell size issues</a:t>
            </a:r>
          </a:p>
          <a:p>
            <a:r>
              <a:rPr lang="en-US" dirty="0"/>
              <a:t>We follow a particular classification method and definitions for gender/sexual identities</a:t>
            </a:r>
          </a:p>
          <a:p>
            <a:pPr lvl="1"/>
            <a:r>
              <a:rPr lang="en-US" dirty="0"/>
              <a:t>E.g. Is transgender an umbrella term or a specific subgroup?</a:t>
            </a:r>
          </a:p>
        </p:txBody>
      </p:sp>
      <p:sp>
        <p:nvSpPr>
          <p:cNvPr id="4" name="Slide Number Placeholder 3">
            <a:extLst>
              <a:ext uri="{FF2B5EF4-FFF2-40B4-BE49-F238E27FC236}">
                <a16:creationId xmlns:a16="http://schemas.microsoft.com/office/drawing/2014/main" id="{751DBF75-FAC4-C466-2AB6-27CFFCA2A11B}"/>
              </a:ext>
            </a:extLst>
          </p:cNvPr>
          <p:cNvSpPr>
            <a:spLocks noGrp="1"/>
          </p:cNvSpPr>
          <p:nvPr>
            <p:ph type="sldNum" sz="quarter" idx="12"/>
          </p:nvPr>
        </p:nvSpPr>
        <p:spPr/>
        <p:txBody>
          <a:bodyPr/>
          <a:lstStyle/>
          <a:p>
            <a:fld id="{80DD8C35-F8B3-4049-95AF-A34E38FBBA50}" type="slidenum">
              <a:rPr lang="en-US" smtClean="0"/>
              <a:pPr/>
              <a:t>19</a:t>
            </a:fld>
            <a:endParaRPr lang="en-US" dirty="0"/>
          </a:p>
        </p:txBody>
      </p:sp>
    </p:spTree>
    <p:extLst>
      <p:ext uri="{BB962C8B-B14F-4D97-AF65-F5344CB8AC3E}">
        <p14:creationId xmlns:p14="http://schemas.microsoft.com/office/powerpoint/2010/main" val="3090026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r>
              <a:rPr lang="en-US" sz="3600" i="1" spc="300" dirty="0">
                <a:solidFill>
                  <a:schemeClr val="bg1"/>
                </a:solidFill>
                <a:latin typeface="Calibri" panose="020F0502020204030204" pitchFamily="34" charset="0"/>
                <a:cs typeface="Calibri" panose="020F0502020204030204" pitchFamily="34" charset="0"/>
              </a:rPr>
              <a:t>High School Experience</a:t>
            </a:r>
          </a:p>
        </p:txBody>
      </p:sp>
      <p:sp>
        <p:nvSpPr>
          <p:cNvPr id="3" name="Slide Number Placeholder 2">
            <a:extLst>
              <a:ext uri="{FF2B5EF4-FFF2-40B4-BE49-F238E27FC236}">
                <a16:creationId xmlns:a16="http://schemas.microsoft.com/office/drawing/2014/main" id="{6B20D7AB-3315-C64B-53D1-E9A1CC23F833}"/>
              </a:ext>
            </a:extLst>
          </p:cNvPr>
          <p:cNvSpPr>
            <a:spLocks noGrp="1"/>
          </p:cNvSpPr>
          <p:nvPr>
            <p:ph type="sldNum" sz="quarter" idx="12"/>
          </p:nvPr>
        </p:nvSpPr>
        <p:spPr/>
        <p:txBody>
          <a:bodyPr/>
          <a:lstStyle/>
          <a:p>
            <a:fld id="{80DD8C35-F8B3-4049-95AF-A34E38FBBA50}" type="slidenum">
              <a:rPr lang="en-US" smtClean="0"/>
              <a:pPr/>
              <a:t>20</a:t>
            </a:fld>
            <a:endParaRPr lang="en-US" dirty="0"/>
          </a:p>
        </p:txBody>
      </p:sp>
    </p:spTree>
    <p:extLst>
      <p:ext uri="{BB962C8B-B14F-4D97-AF65-F5344CB8AC3E}">
        <p14:creationId xmlns:p14="http://schemas.microsoft.com/office/powerpoint/2010/main" val="1481700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FA85-4D16-0D82-E713-88B2D51AA37D}"/>
              </a:ext>
            </a:extLst>
          </p:cNvPr>
          <p:cNvSpPr>
            <a:spLocks noGrp="1"/>
          </p:cNvSpPr>
          <p:nvPr>
            <p:ph type="title"/>
          </p:nvPr>
        </p:nvSpPr>
        <p:spPr>
          <a:xfrm>
            <a:off x="1981200" y="76200"/>
            <a:ext cx="9296400" cy="1143000"/>
          </a:xfrm>
        </p:spPr>
        <p:txBody>
          <a:bodyPr anchor="ctr">
            <a:noAutofit/>
          </a:bodyPr>
          <a:lstStyle/>
          <a:p>
            <a:pPr>
              <a:lnSpc>
                <a:spcPct val="90000"/>
              </a:lnSpc>
            </a:pPr>
            <a:r>
              <a:rPr lang="en-US" dirty="0"/>
              <a:t>Self Rating of High School Social Experience</a:t>
            </a:r>
          </a:p>
        </p:txBody>
      </p:sp>
      <p:pic>
        <p:nvPicPr>
          <p:cNvPr id="7" name="Picture 6">
            <a:extLst>
              <a:ext uri="{FF2B5EF4-FFF2-40B4-BE49-F238E27FC236}">
                <a16:creationId xmlns:a16="http://schemas.microsoft.com/office/drawing/2014/main" id="{65856D3E-5F19-B5FE-5B28-B4F240F27F51}"/>
              </a:ext>
            </a:extLst>
          </p:cNvPr>
          <p:cNvPicPr>
            <a:picLocks noChangeAspect="1"/>
          </p:cNvPicPr>
          <p:nvPr/>
        </p:nvPicPr>
        <p:blipFill>
          <a:blip r:embed="rId2"/>
          <a:stretch>
            <a:fillRect/>
          </a:stretch>
        </p:blipFill>
        <p:spPr>
          <a:xfrm>
            <a:off x="1290513" y="1506761"/>
            <a:ext cx="9610974" cy="5236939"/>
          </a:xfrm>
          <a:prstGeom prst="rect">
            <a:avLst/>
          </a:prstGeom>
          <a:noFill/>
        </p:spPr>
      </p:pic>
      <p:sp>
        <p:nvSpPr>
          <p:cNvPr id="4" name="Slide Number Placeholder 3">
            <a:extLst>
              <a:ext uri="{FF2B5EF4-FFF2-40B4-BE49-F238E27FC236}">
                <a16:creationId xmlns:a16="http://schemas.microsoft.com/office/drawing/2014/main" id="{6535B22B-7645-AE9B-7AB7-E57DE46AE916}"/>
              </a:ext>
            </a:extLst>
          </p:cNvPr>
          <p:cNvSpPr>
            <a:spLocks noGrp="1"/>
          </p:cNvSpPr>
          <p:nvPr>
            <p:ph type="sldNum" sz="quarter" idx="12"/>
          </p:nvPr>
        </p:nvSpPr>
        <p:spPr>
          <a:xfrm>
            <a:off x="11765225" y="-1"/>
            <a:ext cx="426775" cy="316833"/>
          </a:xfrm>
        </p:spPr>
        <p:txBody>
          <a:bodyPr anchor="ctr">
            <a:normAutofit/>
          </a:bodyPr>
          <a:lstStyle/>
          <a:p>
            <a:pPr algn="just">
              <a:lnSpc>
                <a:spcPct val="90000"/>
              </a:lnSpc>
              <a:spcAft>
                <a:spcPts val="600"/>
              </a:spcAft>
            </a:pPr>
            <a:fld id="{80DD8C35-F8B3-4049-95AF-A34E38FBBA50}" type="slidenum">
              <a:rPr lang="en-US" smtClean="0"/>
              <a:pPr algn="just">
                <a:lnSpc>
                  <a:spcPct val="90000"/>
                </a:lnSpc>
                <a:spcAft>
                  <a:spcPts val="600"/>
                </a:spcAft>
              </a:pPr>
              <a:t>21</a:t>
            </a:fld>
            <a:endParaRPr lang="en-US" dirty="0"/>
          </a:p>
        </p:txBody>
      </p:sp>
    </p:spTree>
    <p:extLst>
      <p:ext uri="{BB962C8B-B14F-4D97-AF65-F5344CB8AC3E}">
        <p14:creationId xmlns:p14="http://schemas.microsoft.com/office/powerpoint/2010/main" val="751739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A70A97B-198F-8F7F-D542-06F274B72328}"/>
              </a:ext>
            </a:extLst>
          </p:cNvPr>
          <p:cNvSpPr>
            <a:spLocks noGrp="1"/>
          </p:cNvSpPr>
          <p:nvPr>
            <p:ph type="title"/>
          </p:nvPr>
        </p:nvSpPr>
        <p:spPr>
          <a:xfrm>
            <a:off x="1905000" y="97455"/>
            <a:ext cx="8382000" cy="1143000"/>
          </a:xfrm>
        </p:spPr>
        <p:txBody>
          <a:bodyPr>
            <a:noAutofit/>
          </a:bodyPr>
          <a:lstStyle/>
          <a:p>
            <a:r>
              <a:rPr lang="en-US" dirty="0"/>
              <a:t>Belonging in High School</a:t>
            </a:r>
          </a:p>
        </p:txBody>
      </p:sp>
      <p:pic>
        <p:nvPicPr>
          <p:cNvPr id="7" name="Picture 6">
            <a:extLst>
              <a:ext uri="{FF2B5EF4-FFF2-40B4-BE49-F238E27FC236}">
                <a16:creationId xmlns:a16="http://schemas.microsoft.com/office/drawing/2014/main" id="{9D39FF1D-103D-EA6A-2FE2-ADC8FB25A845}"/>
              </a:ext>
            </a:extLst>
          </p:cNvPr>
          <p:cNvPicPr>
            <a:picLocks noChangeAspect="1"/>
          </p:cNvPicPr>
          <p:nvPr/>
        </p:nvPicPr>
        <p:blipFill>
          <a:blip r:embed="rId2"/>
          <a:stretch>
            <a:fillRect/>
          </a:stretch>
        </p:blipFill>
        <p:spPr>
          <a:xfrm>
            <a:off x="1143000" y="1431224"/>
            <a:ext cx="9906000" cy="5329321"/>
          </a:xfrm>
          <a:prstGeom prst="rect">
            <a:avLst/>
          </a:prstGeom>
          <a:noFill/>
        </p:spPr>
      </p:pic>
      <p:sp>
        <p:nvSpPr>
          <p:cNvPr id="4" name="Slide Number Placeholder 3">
            <a:extLst>
              <a:ext uri="{FF2B5EF4-FFF2-40B4-BE49-F238E27FC236}">
                <a16:creationId xmlns:a16="http://schemas.microsoft.com/office/drawing/2014/main" id="{6613CB27-9F84-6489-0D66-1E3D7317F1A9}"/>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22</a:t>
            </a:fld>
            <a:endParaRPr lang="en-US" dirty="0"/>
          </a:p>
        </p:txBody>
      </p:sp>
    </p:spTree>
    <p:extLst>
      <p:ext uri="{BB962C8B-B14F-4D97-AF65-F5344CB8AC3E}">
        <p14:creationId xmlns:p14="http://schemas.microsoft.com/office/powerpoint/2010/main" val="1176113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3BFF-7510-B29C-647E-645EA0A800A8}"/>
              </a:ext>
            </a:extLst>
          </p:cNvPr>
          <p:cNvSpPr>
            <a:spLocks noGrp="1"/>
          </p:cNvSpPr>
          <p:nvPr>
            <p:ph type="title"/>
          </p:nvPr>
        </p:nvSpPr>
        <p:spPr>
          <a:xfrm>
            <a:off x="1981200" y="76200"/>
            <a:ext cx="8229600" cy="1143000"/>
          </a:xfrm>
        </p:spPr>
        <p:txBody>
          <a:bodyPr anchor="ctr">
            <a:normAutofit/>
          </a:bodyPr>
          <a:lstStyle/>
          <a:p>
            <a:pPr>
              <a:lnSpc>
                <a:spcPct val="90000"/>
              </a:lnSpc>
            </a:pPr>
            <a:r>
              <a:rPr lang="en" dirty="0"/>
              <a:t>Experienced Bullying</a:t>
            </a:r>
            <a:endParaRPr lang="en-US" dirty="0"/>
          </a:p>
        </p:txBody>
      </p:sp>
      <p:sp>
        <p:nvSpPr>
          <p:cNvPr id="4" name="Slide Number Placeholder 3">
            <a:extLst>
              <a:ext uri="{FF2B5EF4-FFF2-40B4-BE49-F238E27FC236}">
                <a16:creationId xmlns:a16="http://schemas.microsoft.com/office/drawing/2014/main" id="{708AED36-6317-78DC-59BA-35F38CEB8342}"/>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23</a:t>
            </a:fld>
            <a:endParaRPr lang="en-US" dirty="0"/>
          </a:p>
        </p:txBody>
      </p:sp>
      <p:pic>
        <p:nvPicPr>
          <p:cNvPr id="5" name="Picture 4">
            <a:extLst>
              <a:ext uri="{FF2B5EF4-FFF2-40B4-BE49-F238E27FC236}">
                <a16:creationId xmlns:a16="http://schemas.microsoft.com/office/drawing/2014/main" id="{ED395276-DF44-395C-0109-2B3F7C742E01}"/>
              </a:ext>
            </a:extLst>
          </p:cNvPr>
          <p:cNvPicPr>
            <a:picLocks noChangeAspect="1"/>
          </p:cNvPicPr>
          <p:nvPr/>
        </p:nvPicPr>
        <p:blipFill>
          <a:blip r:embed="rId2"/>
          <a:stretch>
            <a:fillRect/>
          </a:stretch>
        </p:blipFill>
        <p:spPr>
          <a:xfrm>
            <a:off x="2133600" y="1447135"/>
            <a:ext cx="8440390" cy="5334665"/>
          </a:xfrm>
          <a:prstGeom prst="rect">
            <a:avLst/>
          </a:prstGeom>
        </p:spPr>
      </p:pic>
    </p:spTree>
    <p:extLst>
      <p:ext uri="{BB962C8B-B14F-4D97-AF65-F5344CB8AC3E}">
        <p14:creationId xmlns:p14="http://schemas.microsoft.com/office/powerpoint/2010/main" val="69484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D2C4-F64C-4F53-20B7-5AF9134D19C8}"/>
              </a:ext>
            </a:extLst>
          </p:cNvPr>
          <p:cNvSpPr>
            <a:spLocks noGrp="1"/>
          </p:cNvSpPr>
          <p:nvPr>
            <p:ph type="title"/>
          </p:nvPr>
        </p:nvSpPr>
        <p:spPr>
          <a:xfrm>
            <a:off x="647700" y="85725"/>
            <a:ext cx="10896600" cy="1143000"/>
          </a:xfrm>
        </p:spPr>
        <p:txBody>
          <a:bodyPr anchor="ctr">
            <a:noAutofit/>
          </a:bodyPr>
          <a:lstStyle/>
          <a:p>
            <a:pPr>
              <a:lnSpc>
                <a:spcPct val="90000"/>
              </a:lnSpc>
            </a:pPr>
            <a:r>
              <a:rPr lang="en-US" dirty="0"/>
              <a:t>Reasons Bullied: Gender and Sexual Orientation</a:t>
            </a:r>
          </a:p>
        </p:txBody>
      </p:sp>
      <p:pic>
        <p:nvPicPr>
          <p:cNvPr id="6" name="Picture 5">
            <a:extLst>
              <a:ext uri="{FF2B5EF4-FFF2-40B4-BE49-F238E27FC236}">
                <a16:creationId xmlns:a16="http://schemas.microsoft.com/office/drawing/2014/main" id="{F1584F1F-3E3D-5620-C67F-E80E80B3233A}"/>
              </a:ext>
            </a:extLst>
          </p:cNvPr>
          <p:cNvPicPr>
            <a:picLocks noChangeAspect="1"/>
          </p:cNvPicPr>
          <p:nvPr/>
        </p:nvPicPr>
        <p:blipFill>
          <a:blip r:embed="rId2"/>
          <a:stretch>
            <a:fillRect/>
          </a:stretch>
        </p:blipFill>
        <p:spPr>
          <a:xfrm>
            <a:off x="1219200" y="1509972"/>
            <a:ext cx="9753600" cy="5262303"/>
          </a:xfrm>
          <a:prstGeom prst="rect">
            <a:avLst/>
          </a:prstGeom>
          <a:noFill/>
        </p:spPr>
      </p:pic>
      <p:sp>
        <p:nvSpPr>
          <p:cNvPr id="4" name="Slide Number Placeholder 3">
            <a:extLst>
              <a:ext uri="{FF2B5EF4-FFF2-40B4-BE49-F238E27FC236}">
                <a16:creationId xmlns:a16="http://schemas.microsoft.com/office/drawing/2014/main" id="{DC9146AD-0370-80A3-2C14-82949BB4B6D8}"/>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24</a:t>
            </a:fld>
            <a:endParaRPr lang="en-US"/>
          </a:p>
        </p:txBody>
      </p:sp>
    </p:spTree>
    <p:extLst>
      <p:ext uri="{BB962C8B-B14F-4D97-AF65-F5344CB8AC3E}">
        <p14:creationId xmlns:p14="http://schemas.microsoft.com/office/powerpoint/2010/main" val="1956644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defRPr/>
            </a:pPr>
            <a:r>
              <a:rPr lang="en-US" sz="3600" i="1" spc="300" dirty="0">
                <a:solidFill>
                  <a:prstClr val="white"/>
                </a:solidFill>
                <a:latin typeface="Calibri" panose="020F0502020204030204" pitchFamily="34" charset="0"/>
                <a:cs typeface="Calibri" panose="020F0502020204030204" pitchFamily="34" charset="0"/>
              </a:rPr>
              <a:t>College Plans</a:t>
            </a:r>
          </a:p>
        </p:txBody>
      </p:sp>
      <p:sp>
        <p:nvSpPr>
          <p:cNvPr id="3" name="Slide Number Placeholder 2">
            <a:extLst>
              <a:ext uri="{FF2B5EF4-FFF2-40B4-BE49-F238E27FC236}">
                <a16:creationId xmlns:a16="http://schemas.microsoft.com/office/drawing/2014/main" id="{FB21F09A-8EA8-581D-4C79-3EA90B745340}"/>
              </a:ext>
            </a:extLst>
          </p:cNvPr>
          <p:cNvSpPr>
            <a:spLocks noGrp="1"/>
          </p:cNvSpPr>
          <p:nvPr>
            <p:ph type="sldNum" sz="quarter" idx="12"/>
          </p:nvPr>
        </p:nvSpPr>
        <p:spPr/>
        <p:txBody>
          <a:bodyPr/>
          <a:lstStyle/>
          <a:p>
            <a:fld id="{80DD8C35-F8B3-4049-95AF-A34E38FBBA50}" type="slidenum">
              <a:rPr lang="en-US" smtClean="0"/>
              <a:pPr/>
              <a:t>25</a:t>
            </a:fld>
            <a:endParaRPr lang="en-US" dirty="0"/>
          </a:p>
        </p:txBody>
      </p:sp>
    </p:spTree>
    <p:extLst>
      <p:ext uri="{BB962C8B-B14F-4D97-AF65-F5344CB8AC3E}">
        <p14:creationId xmlns:p14="http://schemas.microsoft.com/office/powerpoint/2010/main" val="2183988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7C2A-5E4D-6150-B905-9991A8D54A3A}"/>
              </a:ext>
            </a:extLst>
          </p:cNvPr>
          <p:cNvSpPr>
            <a:spLocks noGrp="1"/>
          </p:cNvSpPr>
          <p:nvPr>
            <p:ph type="title"/>
          </p:nvPr>
        </p:nvSpPr>
        <p:spPr>
          <a:xfrm>
            <a:off x="1981200" y="76200"/>
            <a:ext cx="8229600" cy="1143000"/>
          </a:xfrm>
        </p:spPr>
        <p:txBody>
          <a:bodyPr anchor="ctr">
            <a:normAutofit/>
          </a:bodyPr>
          <a:lstStyle/>
          <a:p>
            <a:r>
              <a:rPr lang="en-US" dirty="0"/>
              <a:t>Educational Aspirations</a:t>
            </a:r>
          </a:p>
        </p:txBody>
      </p:sp>
      <p:pic>
        <p:nvPicPr>
          <p:cNvPr id="6" name="Picture 5">
            <a:extLst>
              <a:ext uri="{FF2B5EF4-FFF2-40B4-BE49-F238E27FC236}">
                <a16:creationId xmlns:a16="http://schemas.microsoft.com/office/drawing/2014/main" id="{E77053EB-14C9-770A-133E-3D520B11A67D}"/>
              </a:ext>
            </a:extLst>
          </p:cNvPr>
          <p:cNvPicPr>
            <a:picLocks noChangeAspect="1"/>
          </p:cNvPicPr>
          <p:nvPr/>
        </p:nvPicPr>
        <p:blipFill>
          <a:blip r:embed="rId2"/>
          <a:stretch>
            <a:fillRect/>
          </a:stretch>
        </p:blipFill>
        <p:spPr>
          <a:xfrm>
            <a:off x="1600200" y="1447800"/>
            <a:ext cx="9525000" cy="5182183"/>
          </a:xfrm>
          <a:prstGeom prst="rect">
            <a:avLst/>
          </a:prstGeom>
          <a:noFill/>
        </p:spPr>
      </p:pic>
      <p:sp>
        <p:nvSpPr>
          <p:cNvPr id="4" name="Slide Number Placeholder 3">
            <a:extLst>
              <a:ext uri="{FF2B5EF4-FFF2-40B4-BE49-F238E27FC236}">
                <a16:creationId xmlns:a16="http://schemas.microsoft.com/office/drawing/2014/main" id="{78A668A1-5984-CFDB-FD9A-4C1E106059B8}"/>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26</a:t>
            </a:fld>
            <a:endParaRPr lang="en-US" dirty="0"/>
          </a:p>
        </p:txBody>
      </p:sp>
    </p:spTree>
    <p:extLst>
      <p:ext uri="{BB962C8B-B14F-4D97-AF65-F5344CB8AC3E}">
        <p14:creationId xmlns:p14="http://schemas.microsoft.com/office/powerpoint/2010/main" val="1958389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DCBFE-8702-BF97-EDC3-7F3DEB822C24}"/>
              </a:ext>
            </a:extLst>
          </p:cNvPr>
          <p:cNvSpPr>
            <a:spLocks noGrp="1"/>
          </p:cNvSpPr>
          <p:nvPr>
            <p:ph type="title"/>
          </p:nvPr>
        </p:nvSpPr>
        <p:spPr>
          <a:xfrm>
            <a:off x="1981200" y="76200"/>
            <a:ext cx="8229600" cy="1143000"/>
          </a:xfrm>
        </p:spPr>
        <p:txBody>
          <a:bodyPr anchor="ctr">
            <a:normAutofit/>
          </a:bodyPr>
          <a:lstStyle/>
          <a:p>
            <a:pPr>
              <a:lnSpc>
                <a:spcPct val="90000"/>
              </a:lnSpc>
            </a:pPr>
            <a:r>
              <a:rPr lang="en-US" dirty="0"/>
              <a:t>College Major Plans</a:t>
            </a:r>
          </a:p>
        </p:txBody>
      </p:sp>
      <p:pic>
        <p:nvPicPr>
          <p:cNvPr id="5" name="Picture 4">
            <a:extLst>
              <a:ext uri="{FF2B5EF4-FFF2-40B4-BE49-F238E27FC236}">
                <a16:creationId xmlns:a16="http://schemas.microsoft.com/office/drawing/2014/main" id="{55C7CCFA-1A7B-B976-5A2A-553677FABD38}"/>
              </a:ext>
            </a:extLst>
          </p:cNvPr>
          <p:cNvPicPr>
            <a:picLocks noChangeAspect="1"/>
          </p:cNvPicPr>
          <p:nvPr/>
        </p:nvPicPr>
        <p:blipFill>
          <a:blip r:embed="rId2"/>
          <a:stretch>
            <a:fillRect/>
          </a:stretch>
        </p:blipFill>
        <p:spPr>
          <a:xfrm>
            <a:off x="244122" y="1524000"/>
            <a:ext cx="11703756" cy="5029200"/>
          </a:xfrm>
          <a:prstGeom prst="rect">
            <a:avLst/>
          </a:prstGeom>
        </p:spPr>
      </p:pic>
      <p:sp>
        <p:nvSpPr>
          <p:cNvPr id="6" name="Slide Number Placeholder 5">
            <a:extLst>
              <a:ext uri="{FF2B5EF4-FFF2-40B4-BE49-F238E27FC236}">
                <a16:creationId xmlns:a16="http://schemas.microsoft.com/office/drawing/2014/main" id="{D6E5751F-847C-D187-64DB-81CBC6AE07E1}"/>
              </a:ext>
            </a:extLst>
          </p:cNvPr>
          <p:cNvSpPr>
            <a:spLocks noGrp="1"/>
          </p:cNvSpPr>
          <p:nvPr>
            <p:ph type="sldNum" sz="quarter" idx="12"/>
          </p:nvPr>
        </p:nvSpPr>
        <p:spPr/>
        <p:txBody>
          <a:bodyPr/>
          <a:lstStyle/>
          <a:p>
            <a:fld id="{80DD8C35-F8B3-4049-95AF-A34E38FBBA50}" type="slidenum">
              <a:rPr lang="en-US" smtClean="0"/>
              <a:pPr/>
              <a:t>27</a:t>
            </a:fld>
            <a:endParaRPr lang="en-US" dirty="0"/>
          </a:p>
        </p:txBody>
      </p:sp>
    </p:spTree>
    <p:extLst>
      <p:ext uri="{BB962C8B-B14F-4D97-AF65-F5344CB8AC3E}">
        <p14:creationId xmlns:p14="http://schemas.microsoft.com/office/powerpoint/2010/main" val="712603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defRPr/>
            </a:pPr>
            <a:r>
              <a:rPr lang="en-US" sz="3600" i="1" spc="300" dirty="0">
                <a:solidFill>
                  <a:prstClr val="white"/>
                </a:solidFill>
                <a:latin typeface="Calibri" panose="020F0502020204030204" pitchFamily="34" charset="0"/>
                <a:cs typeface="Calibri" panose="020F0502020204030204" pitchFamily="34" charset="0"/>
              </a:rPr>
              <a:t>Worries About College</a:t>
            </a:r>
          </a:p>
        </p:txBody>
      </p:sp>
      <p:sp>
        <p:nvSpPr>
          <p:cNvPr id="3" name="Slide Number Placeholder 2">
            <a:extLst>
              <a:ext uri="{FF2B5EF4-FFF2-40B4-BE49-F238E27FC236}">
                <a16:creationId xmlns:a16="http://schemas.microsoft.com/office/drawing/2014/main" id="{2E7B4148-6A9F-0B46-6DC4-F0C771BDEA40}"/>
              </a:ext>
            </a:extLst>
          </p:cNvPr>
          <p:cNvSpPr>
            <a:spLocks noGrp="1"/>
          </p:cNvSpPr>
          <p:nvPr>
            <p:ph type="sldNum" sz="quarter" idx="12"/>
          </p:nvPr>
        </p:nvSpPr>
        <p:spPr/>
        <p:txBody>
          <a:bodyPr/>
          <a:lstStyle/>
          <a:p>
            <a:fld id="{80DD8C35-F8B3-4049-95AF-A34E38FBBA50}" type="slidenum">
              <a:rPr lang="en-US" smtClean="0"/>
              <a:pPr/>
              <a:t>28</a:t>
            </a:fld>
            <a:endParaRPr lang="en-US" dirty="0"/>
          </a:p>
        </p:txBody>
      </p:sp>
    </p:spTree>
    <p:extLst>
      <p:ext uri="{BB962C8B-B14F-4D97-AF65-F5344CB8AC3E}">
        <p14:creationId xmlns:p14="http://schemas.microsoft.com/office/powerpoint/2010/main" val="2725347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BB9A-AAA1-6C49-9A2A-9CCB86A1ACAF}"/>
              </a:ext>
            </a:extLst>
          </p:cNvPr>
          <p:cNvSpPr>
            <a:spLocks noGrp="1"/>
          </p:cNvSpPr>
          <p:nvPr>
            <p:ph type="title"/>
          </p:nvPr>
        </p:nvSpPr>
        <p:spPr>
          <a:xfrm>
            <a:off x="867394" y="116809"/>
            <a:ext cx="10457211" cy="1143000"/>
          </a:xfrm>
        </p:spPr>
        <p:txBody>
          <a:bodyPr anchor="ctr">
            <a:noAutofit/>
          </a:bodyPr>
          <a:lstStyle/>
          <a:p>
            <a:r>
              <a:rPr lang="en-US" dirty="0"/>
              <a:t>Worried about Discrimination on Gender</a:t>
            </a:r>
          </a:p>
        </p:txBody>
      </p:sp>
      <p:pic>
        <p:nvPicPr>
          <p:cNvPr id="7" name="Picture 6">
            <a:extLst>
              <a:ext uri="{FF2B5EF4-FFF2-40B4-BE49-F238E27FC236}">
                <a16:creationId xmlns:a16="http://schemas.microsoft.com/office/drawing/2014/main" id="{9E7A9668-246C-22FC-473B-15AD2F9E9FE2}"/>
              </a:ext>
            </a:extLst>
          </p:cNvPr>
          <p:cNvPicPr>
            <a:picLocks noChangeAspect="1"/>
          </p:cNvPicPr>
          <p:nvPr/>
        </p:nvPicPr>
        <p:blipFill>
          <a:blip r:embed="rId2"/>
          <a:stretch>
            <a:fillRect/>
          </a:stretch>
        </p:blipFill>
        <p:spPr>
          <a:xfrm>
            <a:off x="1380175" y="1524000"/>
            <a:ext cx="9431650" cy="5096425"/>
          </a:xfrm>
          <a:prstGeom prst="rect">
            <a:avLst/>
          </a:prstGeom>
          <a:noFill/>
        </p:spPr>
      </p:pic>
      <p:sp>
        <p:nvSpPr>
          <p:cNvPr id="4" name="Slide Number Placeholder 3">
            <a:extLst>
              <a:ext uri="{FF2B5EF4-FFF2-40B4-BE49-F238E27FC236}">
                <a16:creationId xmlns:a16="http://schemas.microsoft.com/office/drawing/2014/main" id="{55F3480C-4A0D-768A-264C-B6C4F87A358A}"/>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29</a:t>
            </a:fld>
            <a:endParaRPr lang="en-US" dirty="0"/>
          </a:p>
        </p:txBody>
      </p:sp>
    </p:spTree>
    <p:extLst>
      <p:ext uri="{BB962C8B-B14F-4D97-AF65-F5344CB8AC3E}">
        <p14:creationId xmlns:p14="http://schemas.microsoft.com/office/powerpoint/2010/main" val="1576446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F0CA-B02F-0B45-2972-D96604BE64EC}"/>
              </a:ext>
            </a:extLst>
          </p:cNvPr>
          <p:cNvSpPr>
            <a:spLocks noGrp="1"/>
          </p:cNvSpPr>
          <p:nvPr>
            <p:ph type="title"/>
          </p:nvPr>
        </p:nvSpPr>
        <p:spPr>
          <a:xfrm>
            <a:off x="571500" y="105252"/>
            <a:ext cx="11049000" cy="1143000"/>
          </a:xfrm>
        </p:spPr>
        <p:txBody>
          <a:bodyPr anchor="ctr">
            <a:noAutofit/>
          </a:bodyPr>
          <a:lstStyle/>
          <a:p>
            <a:r>
              <a:rPr lang="en-US" dirty="0"/>
              <a:t>Worried about Discrimination on Sexual orientation</a:t>
            </a:r>
          </a:p>
        </p:txBody>
      </p:sp>
      <p:pic>
        <p:nvPicPr>
          <p:cNvPr id="7" name="Picture 6">
            <a:extLst>
              <a:ext uri="{FF2B5EF4-FFF2-40B4-BE49-F238E27FC236}">
                <a16:creationId xmlns:a16="http://schemas.microsoft.com/office/drawing/2014/main" id="{7EACA165-1D9B-3EC4-D873-BB0C961DB29E}"/>
              </a:ext>
            </a:extLst>
          </p:cNvPr>
          <p:cNvPicPr>
            <a:picLocks noChangeAspect="1"/>
          </p:cNvPicPr>
          <p:nvPr/>
        </p:nvPicPr>
        <p:blipFill>
          <a:blip r:embed="rId2"/>
          <a:stretch>
            <a:fillRect/>
          </a:stretch>
        </p:blipFill>
        <p:spPr>
          <a:xfrm>
            <a:off x="1276350" y="1447800"/>
            <a:ext cx="9639300" cy="5193811"/>
          </a:xfrm>
          <a:prstGeom prst="rect">
            <a:avLst/>
          </a:prstGeom>
          <a:noFill/>
        </p:spPr>
      </p:pic>
      <p:sp>
        <p:nvSpPr>
          <p:cNvPr id="4" name="Slide Number Placeholder 3">
            <a:extLst>
              <a:ext uri="{FF2B5EF4-FFF2-40B4-BE49-F238E27FC236}">
                <a16:creationId xmlns:a16="http://schemas.microsoft.com/office/drawing/2014/main" id="{7A39D37F-3D9C-01B8-1AD6-2E1FA217C54E}"/>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30</a:t>
            </a:fld>
            <a:endParaRPr lang="en-US" dirty="0"/>
          </a:p>
        </p:txBody>
      </p:sp>
    </p:spTree>
    <p:extLst>
      <p:ext uri="{BB962C8B-B14F-4D97-AF65-F5344CB8AC3E}">
        <p14:creationId xmlns:p14="http://schemas.microsoft.com/office/powerpoint/2010/main" val="4050266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BC8FC1D-F6CB-C476-BE36-BCDE7874A59C}"/>
              </a:ext>
            </a:extLst>
          </p:cNvPr>
          <p:cNvSpPr>
            <a:spLocks noGrp="1"/>
          </p:cNvSpPr>
          <p:nvPr>
            <p:ph type="title"/>
          </p:nvPr>
        </p:nvSpPr>
        <p:spPr>
          <a:xfrm>
            <a:off x="1981200" y="76200"/>
            <a:ext cx="8229600" cy="1143000"/>
          </a:xfrm>
        </p:spPr>
        <p:txBody>
          <a:bodyPr>
            <a:noAutofit/>
          </a:bodyPr>
          <a:lstStyle/>
          <a:p>
            <a:r>
              <a:rPr lang="en-US" dirty="0"/>
              <a:t>Worried about Finding Community</a:t>
            </a:r>
          </a:p>
        </p:txBody>
      </p:sp>
      <p:pic>
        <p:nvPicPr>
          <p:cNvPr id="7" name="Picture 6">
            <a:extLst>
              <a:ext uri="{FF2B5EF4-FFF2-40B4-BE49-F238E27FC236}">
                <a16:creationId xmlns:a16="http://schemas.microsoft.com/office/drawing/2014/main" id="{FA402CA9-3F61-6380-B71D-E36E368CAE30}"/>
              </a:ext>
            </a:extLst>
          </p:cNvPr>
          <p:cNvPicPr>
            <a:picLocks noChangeAspect="1"/>
          </p:cNvPicPr>
          <p:nvPr/>
        </p:nvPicPr>
        <p:blipFill>
          <a:blip r:embed="rId2"/>
          <a:stretch>
            <a:fillRect/>
          </a:stretch>
        </p:blipFill>
        <p:spPr>
          <a:xfrm>
            <a:off x="1118106" y="1417460"/>
            <a:ext cx="9955788" cy="5364340"/>
          </a:xfrm>
          <a:prstGeom prst="rect">
            <a:avLst/>
          </a:prstGeom>
          <a:noFill/>
        </p:spPr>
      </p:pic>
      <p:sp>
        <p:nvSpPr>
          <p:cNvPr id="4" name="Slide Number Placeholder 3">
            <a:extLst>
              <a:ext uri="{FF2B5EF4-FFF2-40B4-BE49-F238E27FC236}">
                <a16:creationId xmlns:a16="http://schemas.microsoft.com/office/drawing/2014/main" id="{E5E81443-BDE9-8673-A315-522C739E0690}"/>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31</a:t>
            </a:fld>
            <a:endParaRPr lang="en-US" dirty="0"/>
          </a:p>
        </p:txBody>
      </p:sp>
    </p:spTree>
    <p:extLst>
      <p:ext uri="{BB962C8B-B14F-4D97-AF65-F5344CB8AC3E}">
        <p14:creationId xmlns:p14="http://schemas.microsoft.com/office/powerpoint/2010/main" val="27891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01D6DF0-0A08-3115-96F9-67822E951D47}"/>
              </a:ext>
            </a:extLst>
          </p:cNvPr>
          <p:cNvSpPr>
            <a:spLocks noGrp="1"/>
          </p:cNvSpPr>
          <p:nvPr>
            <p:ph type="title"/>
          </p:nvPr>
        </p:nvSpPr>
        <p:spPr>
          <a:xfrm>
            <a:off x="1676400" y="76200"/>
            <a:ext cx="8534400" cy="1143000"/>
          </a:xfrm>
        </p:spPr>
        <p:txBody>
          <a:bodyPr>
            <a:noAutofit/>
          </a:bodyPr>
          <a:lstStyle/>
          <a:p>
            <a:r>
              <a:rPr lang="en-US" dirty="0"/>
              <a:t>Worried about Adequate Support</a:t>
            </a:r>
          </a:p>
        </p:txBody>
      </p:sp>
      <p:pic>
        <p:nvPicPr>
          <p:cNvPr id="6" name="Picture 5">
            <a:extLst>
              <a:ext uri="{FF2B5EF4-FFF2-40B4-BE49-F238E27FC236}">
                <a16:creationId xmlns:a16="http://schemas.microsoft.com/office/drawing/2014/main" id="{114F737F-C899-CD25-F7FE-C4CD868BAEBF}"/>
              </a:ext>
            </a:extLst>
          </p:cNvPr>
          <p:cNvPicPr>
            <a:picLocks noChangeAspect="1"/>
          </p:cNvPicPr>
          <p:nvPr/>
        </p:nvPicPr>
        <p:blipFill>
          <a:blip r:embed="rId2"/>
          <a:stretch>
            <a:fillRect/>
          </a:stretch>
        </p:blipFill>
        <p:spPr>
          <a:xfrm>
            <a:off x="1051587" y="1370586"/>
            <a:ext cx="10088825" cy="5436023"/>
          </a:xfrm>
          <a:prstGeom prst="rect">
            <a:avLst/>
          </a:prstGeom>
          <a:noFill/>
        </p:spPr>
      </p:pic>
      <p:sp>
        <p:nvSpPr>
          <p:cNvPr id="4" name="Slide Number Placeholder 3">
            <a:extLst>
              <a:ext uri="{FF2B5EF4-FFF2-40B4-BE49-F238E27FC236}">
                <a16:creationId xmlns:a16="http://schemas.microsoft.com/office/drawing/2014/main" id="{67E2E169-26EE-2BCE-EDDA-BDE3E703EF1E}"/>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32</a:t>
            </a:fld>
            <a:endParaRPr lang="en-US" dirty="0"/>
          </a:p>
        </p:txBody>
      </p:sp>
    </p:spTree>
    <p:extLst>
      <p:ext uri="{BB962C8B-B14F-4D97-AF65-F5344CB8AC3E}">
        <p14:creationId xmlns:p14="http://schemas.microsoft.com/office/powerpoint/2010/main" val="40260644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defRPr/>
            </a:pPr>
            <a:r>
              <a:rPr lang="en-US" sz="3600" i="1" spc="300" dirty="0">
                <a:solidFill>
                  <a:prstClr val="white"/>
                </a:solidFill>
                <a:latin typeface="Calibri" panose="020F0502020204030204" pitchFamily="34" charset="0"/>
                <a:cs typeface="Calibri" panose="020F0502020204030204" pitchFamily="34" charset="0"/>
              </a:rPr>
              <a:t>Qualitative Analysis</a:t>
            </a:r>
          </a:p>
        </p:txBody>
      </p:sp>
      <p:sp>
        <p:nvSpPr>
          <p:cNvPr id="3" name="Slide Number Placeholder 2">
            <a:extLst>
              <a:ext uri="{FF2B5EF4-FFF2-40B4-BE49-F238E27FC236}">
                <a16:creationId xmlns:a16="http://schemas.microsoft.com/office/drawing/2014/main" id="{88912889-2BE4-9E82-B6D7-08F3271D92EC}"/>
              </a:ext>
            </a:extLst>
          </p:cNvPr>
          <p:cNvSpPr>
            <a:spLocks noGrp="1"/>
          </p:cNvSpPr>
          <p:nvPr>
            <p:ph type="sldNum" sz="quarter" idx="12"/>
          </p:nvPr>
        </p:nvSpPr>
        <p:spPr/>
        <p:txBody>
          <a:bodyPr/>
          <a:lstStyle/>
          <a:p>
            <a:fld id="{80DD8C35-F8B3-4049-95AF-A34E38FBBA50}" type="slidenum">
              <a:rPr lang="en-US" smtClean="0"/>
              <a:pPr/>
              <a:t>33</a:t>
            </a:fld>
            <a:endParaRPr lang="en-US" dirty="0"/>
          </a:p>
        </p:txBody>
      </p:sp>
    </p:spTree>
    <p:extLst>
      <p:ext uri="{BB962C8B-B14F-4D97-AF65-F5344CB8AC3E}">
        <p14:creationId xmlns:p14="http://schemas.microsoft.com/office/powerpoint/2010/main" val="3855987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5A14-FF24-D9DD-99CD-DCE58F5A1FEC}"/>
              </a:ext>
            </a:extLst>
          </p:cNvPr>
          <p:cNvSpPr>
            <a:spLocks noGrp="1"/>
          </p:cNvSpPr>
          <p:nvPr>
            <p:ph type="title"/>
          </p:nvPr>
        </p:nvSpPr>
        <p:spPr/>
        <p:txBody>
          <a:bodyPr/>
          <a:lstStyle/>
          <a:p>
            <a:r>
              <a:rPr lang="en-US" dirty="0"/>
              <a:t>Qualitative Analysis of Student Voices</a:t>
            </a:r>
          </a:p>
        </p:txBody>
      </p:sp>
      <p:sp>
        <p:nvSpPr>
          <p:cNvPr id="3" name="Content Placeholder 2">
            <a:extLst>
              <a:ext uri="{FF2B5EF4-FFF2-40B4-BE49-F238E27FC236}">
                <a16:creationId xmlns:a16="http://schemas.microsoft.com/office/drawing/2014/main" id="{380233AA-C970-4861-B10D-3DB0E8ED73CB}"/>
              </a:ext>
            </a:extLst>
          </p:cNvPr>
          <p:cNvSpPr>
            <a:spLocks noGrp="1"/>
          </p:cNvSpPr>
          <p:nvPr>
            <p:ph idx="1"/>
          </p:nvPr>
        </p:nvSpPr>
        <p:spPr/>
        <p:txBody>
          <a:bodyPr>
            <a:normAutofit lnSpcReduction="10000"/>
          </a:bodyPr>
          <a:lstStyle/>
          <a:p>
            <a:r>
              <a:rPr lang="en-US" dirty="0"/>
              <a:t>The top themes expressed by gender diverse students for challenges in college are</a:t>
            </a:r>
          </a:p>
          <a:p>
            <a:pPr lvl="1"/>
            <a:r>
              <a:rPr lang="en-US" dirty="0"/>
              <a:t>Academics </a:t>
            </a:r>
          </a:p>
          <a:p>
            <a:pPr lvl="1"/>
            <a:r>
              <a:rPr lang="en-US" dirty="0"/>
              <a:t>Balancing and managing time</a:t>
            </a:r>
          </a:p>
          <a:p>
            <a:pPr lvl="1"/>
            <a:r>
              <a:rPr lang="en-US" dirty="0"/>
              <a:t>Only 10 listed discrimination </a:t>
            </a:r>
          </a:p>
          <a:p>
            <a:r>
              <a:rPr lang="en-US" dirty="0"/>
              <a:t>The top themes for excitements:</a:t>
            </a:r>
          </a:p>
          <a:p>
            <a:pPr lvl="1"/>
            <a:r>
              <a:rPr lang="en-US" dirty="0"/>
              <a:t>Learning and academics</a:t>
            </a:r>
          </a:p>
          <a:p>
            <a:pPr lvl="1"/>
            <a:r>
              <a:rPr lang="en-US" dirty="0"/>
              <a:t>Finding community </a:t>
            </a:r>
          </a:p>
          <a:p>
            <a:pPr lvl="1"/>
            <a:r>
              <a:rPr lang="en-US" dirty="0"/>
              <a:t>Gaining independence</a:t>
            </a:r>
          </a:p>
        </p:txBody>
      </p:sp>
      <p:sp>
        <p:nvSpPr>
          <p:cNvPr id="4" name="Slide Number Placeholder 3">
            <a:extLst>
              <a:ext uri="{FF2B5EF4-FFF2-40B4-BE49-F238E27FC236}">
                <a16:creationId xmlns:a16="http://schemas.microsoft.com/office/drawing/2014/main" id="{BD27512B-E5D4-FA4F-0741-1CB3A64F0FEB}"/>
              </a:ext>
            </a:extLst>
          </p:cNvPr>
          <p:cNvSpPr>
            <a:spLocks noGrp="1"/>
          </p:cNvSpPr>
          <p:nvPr>
            <p:ph type="sldNum" sz="quarter" idx="12"/>
          </p:nvPr>
        </p:nvSpPr>
        <p:spPr/>
        <p:txBody>
          <a:bodyPr/>
          <a:lstStyle/>
          <a:p>
            <a:fld id="{80DD8C35-F8B3-4049-95AF-A34E38FBBA50}" type="slidenum">
              <a:rPr lang="en-US" smtClean="0"/>
              <a:pPr/>
              <a:t>34</a:t>
            </a:fld>
            <a:endParaRPr lang="en-US" dirty="0"/>
          </a:p>
        </p:txBody>
      </p:sp>
    </p:spTree>
    <p:extLst>
      <p:ext uri="{BB962C8B-B14F-4D97-AF65-F5344CB8AC3E}">
        <p14:creationId xmlns:p14="http://schemas.microsoft.com/office/powerpoint/2010/main" val="2160758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Gender Diverse Students Say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Content Warning: Suicide</a:t>
            </a:r>
          </a:p>
        </p:txBody>
      </p:sp>
      <p:sp>
        <p:nvSpPr>
          <p:cNvPr id="3" name="Slide Number Placeholder 2">
            <a:extLst>
              <a:ext uri="{FF2B5EF4-FFF2-40B4-BE49-F238E27FC236}">
                <a16:creationId xmlns:a16="http://schemas.microsoft.com/office/drawing/2014/main" id="{88912889-2BE4-9E82-B6D7-08F3271D92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511672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9CD0-33FC-DDF6-ECCB-868AE2A0CC84}"/>
              </a:ext>
            </a:extLst>
          </p:cNvPr>
          <p:cNvSpPr>
            <a:spLocks noGrp="1"/>
          </p:cNvSpPr>
          <p:nvPr>
            <p:ph type="title"/>
          </p:nvPr>
        </p:nvSpPr>
        <p:spPr/>
        <p:txBody>
          <a:bodyPr>
            <a:normAutofit/>
          </a:bodyPr>
          <a:lstStyle/>
          <a:p>
            <a:r>
              <a:rPr lang="en-US" dirty="0"/>
              <a:t>Fears of Discrimination</a:t>
            </a:r>
          </a:p>
        </p:txBody>
      </p:sp>
      <p:sp>
        <p:nvSpPr>
          <p:cNvPr id="3" name="Content Placeholder 2">
            <a:extLst>
              <a:ext uri="{FF2B5EF4-FFF2-40B4-BE49-F238E27FC236}">
                <a16:creationId xmlns:a16="http://schemas.microsoft.com/office/drawing/2014/main" id="{A539B00E-0177-8C7A-4050-EDEDB31DB1B5}"/>
              </a:ext>
            </a:extLst>
          </p:cNvPr>
          <p:cNvSpPr>
            <a:spLocks noGrp="1"/>
          </p:cNvSpPr>
          <p:nvPr>
            <p:ph idx="1"/>
          </p:nvPr>
        </p:nvSpPr>
        <p:spPr/>
        <p:txBody>
          <a:bodyPr>
            <a:normAutofit/>
          </a:bodyPr>
          <a:lstStyle/>
          <a:p>
            <a:pPr marL="0" indent="0">
              <a:buNone/>
            </a:pPr>
            <a:r>
              <a:rPr lang="en-US" sz="2000" dirty="0"/>
              <a:t>“Transphobia”</a:t>
            </a:r>
          </a:p>
          <a:p>
            <a:pPr marL="0" indent="0">
              <a:buNone/>
            </a:pPr>
            <a:r>
              <a:rPr lang="en-US" sz="2000" dirty="0"/>
              <a:t> </a:t>
            </a:r>
          </a:p>
          <a:p>
            <a:pPr marL="0" indent="0">
              <a:buNone/>
            </a:pPr>
            <a:r>
              <a:rPr lang="en-US" sz="2000" dirty="0"/>
              <a:t>“Political and social conflicts. I could die from hate crimes, but it's more likely that I end up killing myself. I struggle a lot with being trans and if not able to transition in college, I'm going to give up on everything. The political climate in Taiwan could reach a tipping point while I am in college. If that happens, I am likely going to drop everything to help my family.”</a:t>
            </a:r>
          </a:p>
          <a:p>
            <a:pPr marL="0" indent="0">
              <a:buNone/>
            </a:pPr>
            <a:r>
              <a:rPr lang="en-US" sz="2000" dirty="0"/>
              <a:t> </a:t>
            </a:r>
          </a:p>
          <a:p>
            <a:pPr marL="0" indent="0">
              <a:buNone/>
            </a:pPr>
            <a:r>
              <a:rPr lang="en-US" sz="2000" dirty="0"/>
              <a:t>“lack of community due to discrimination”</a:t>
            </a:r>
          </a:p>
          <a:p>
            <a:pPr marL="0" indent="0">
              <a:buNone/>
            </a:pPr>
            <a:br>
              <a:rPr lang="en-US" sz="2000" dirty="0"/>
            </a:br>
            <a:r>
              <a:rPr lang="en-US" sz="2000" dirty="0"/>
              <a:t>“I think the biggest challenge will be standing up for myself.”</a:t>
            </a:r>
          </a:p>
          <a:p>
            <a:pPr marL="0" indent="0">
              <a:buNone/>
            </a:pPr>
            <a:br>
              <a:rPr lang="en-US" sz="2000" dirty="0"/>
            </a:br>
            <a:r>
              <a:rPr lang="en-US" sz="2000" dirty="0"/>
              <a:t>“Coming out to people around me.”</a:t>
            </a:r>
          </a:p>
        </p:txBody>
      </p:sp>
      <p:sp>
        <p:nvSpPr>
          <p:cNvPr id="4" name="Slide Number Placeholder 3">
            <a:extLst>
              <a:ext uri="{FF2B5EF4-FFF2-40B4-BE49-F238E27FC236}">
                <a16:creationId xmlns:a16="http://schemas.microsoft.com/office/drawing/2014/main" id="{D21B305D-EC0E-45E5-AD0A-7FDAA03CCA04}"/>
              </a:ext>
            </a:extLst>
          </p:cNvPr>
          <p:cNvSpPr>
            <a:spLocks noGrp="1"/>
          </p:cNvSpPr>
          <p:nvPr>
            <p:ph type="sldNum" sz="quarter" idx="12"/>
          </p:nvPr>
        </p:nvSpPr>
        <p:spPr/>
        <p:txBody>
          <a:bodyPr/>
          <a:lstStyle/>
          <a:p>
            <a:fld id="{80DD8C35-F8B3-4049-95AF-A34E38FBBA50}" type="slidenum">
              <a:rPr lang="en-US" smtClean="0"/>
              <a:pPr/>
              <a:t>36</a:t>
            </a:fld>
            <a:endParaRPr lang="en-US" dirty="0"/>
          </a:p>
        </p:txBody>
      </p:sp>
    </p:spTree>
    <p:extLst>
      <p:ext uri="{BB962C8B-B14F-4D97-AF65-F5344CB8AC3E}">
        <p14:creationId xmlns:p14="http://schemas.microsoft.com/office/powerpoint/2010/main" val="3818617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0450-C460-CD18-3FBE-9CDFBEE146E5}"/>
              </a:ext>
            </a:extLst>
          </p:cNvPr>
          <p:cNvSpPr>
            <a:spLocks noGrp="1"/>
          </p:cNvSpPr>
          <p:nvPr>
            <p:ph type="title"/>
          </p:nvPr>
        </p:nvSpPr>
        <p:spPr/>
        <p:txBody>
          <a:bodyPr>
            <a:normAutofit/>
          </a:bodyPr>
          <a:lstStyle/>
          <a:p>
            <a:r>
              <a:rPr lang="en-US" dirty="0"/>
              <a:t>Excitement about College</a:t>
            </a:r>
          </a:p>
        </p:txBody>
      </p:sp>
      <p:sp>
        <p:nvSpPr>
          <p:cNvPr id="3" name="Content Placeholder 2">
            <a:extLst>
              <a:ext uri="{FF2B5EF4-FFF2-40B4-BE49-F238E27FC236}">
                <a16:creationId xmlns:a16="http://schemas.microsoft.com/office/drawing/2014/main" id="{4B68379F-85C8-E21F-AA7C-982EC658A91C}"/>
              </a:ext>
            </a:extLst>
          </p:cNvPr>
          <p:cNvSpPr>
            <a:spLocks noGrp="1"/>
          </p:cNvSpPr>
          <p:nvPr>
            <p:ph idx="1"/>
          </p:nvPr>
        </p:nvSpPr>
        <p:spPr/>
        <p:txBody>
          <a:bodyPr>
            <a:normAutofit fontScale="92500" lnSpcReduction="20000"/>
          </a:bodyPr>
          <a:lstStyle/>
          <a:p>
            <a:pPr marL="0" indent="0">
              <a:buNone/>
            </a:pPr>
            <a:r>
              <a:rPr lang="en-US" sz="2000" dirty="0"/>
              <a:t>“Being able to build a community for myself where I truly feel that I belong.”</a:t>
            </a:r>
          </a:p>
          <a:p>
            <a:pPr marL="0" indent="0">
              <a:buNone/>
            </a:pPr>
            <a:br>
              <a:rPr lang="en-US" sz="2000" dirty="0"/>
            </a:br>
            <a:r>
              <a:rPr lang="en-US" sz="2000" dirty="0"/>
              <a:t>“I'm excited to be myself. I live in a house of five. I'm the youngest of my three siblings, meaning I've had to share a room with my 23 year old sister since I was born. I've never had privacy and I never felt like I could be myself. To use broad terms, I could never properly express myself as a gay, trans teen. I can't wait to make new friends and enjoy my new found independence.</a:t>
            </a:r>
            <a:br>
              <a:rPr lang="en-US" sz="2000" dirty="0"/>
            </a:br>
            <a:br>
              <a:rPr lang="en-US" sz="2000" dirty="0"/>
            </a:br>
            <a:r>
              <a:rPr lang="en-US" sz="2000" dirty="0"/>
              <a:t>“I’m [excited] about moving from home and working to establish my independence.”</a:t>
            </a:r>
          </a:p>
          <a:p>
            <a:pPr marL="0" indent="0">
              <a:buNone/>
            </a:pPr>
            <a:endParaRPr lang="en-US" sz="2000" dirty="0"/>
          </a:p>
          <a:p>
            <a:pPr marL="0" indent="0">
              <a:buNone/>
            </a:pPr>
            <a:r>
              <a:rPr lang="en-US" sz="2000" dirty="0"/>
              <a:t>“Getting out of my small area bubble and living on my own as my own person.”</a:t>
            </a:r>
            <a:br>
              <a:rPr lang="en-US" sz="2000" dirty="0"/>
            </a:br>
            <a:endParaRPr lang="en-US" sz="2000" dirty="0"/>
          </a:p>
          <a:p>
            <a:pPr marL="0" indent="0">
              <a:buNone/>
            </a:pPr>
            <a:r>
              <a:rPr lang="en-US" sz="2000" dirty="0"/>
              <a:t>“Finding likeminded people with similar interests and finding people who have the same sexual orientation”</a:t>
            </a:r>
          </a:p>
          <a:p>
            <a:pPr marL="0" indent="0">
              <a:buNone/>
            </a:pPr>
            <a:endParaRPr lang="en-US" sz="2000" dirty="0"/>
          </a:p>
          <a:p>
            <a:pPr marL="0" indent="0">
              <a:buNone/>
            </a:pPr>
            <a:r>
              <a:rPr lang="en-US" sz="2000" dirty="0"/>
              <a:t>Creating a healthy social circle, increased responsibility and freedom, and learning about specific subjects that interest me.</a:t>
            </a:r>
            <a:br>
              <a:rPr lang="en-US" sz="2000" dirty="0"/>
            </a:br>
            <a:endParaRPr lang="en-US" sz="2000" dirty="0"/>
          </a:p>
        </p:txBody>
      </p:sp>
      <p:sp>
        <p:nvSpPr>
          <p:cNvPr id="4" name="Slide Number Placeholder 3">
            <a:extLst>
              <a:ext uri="{FF2B5EF4-FFF2-40B4-BE49-F238E27FC236}">
                <a16:creationId xmlns:a16="http://schemas.microsoft.com/office/drawing/2014/main" id="{2C17A943-E34F-893A-2828-9E1C1FE7917E}"/>
              </a:ext>
            </a:extLst>
          </p:cNvPr>
          <p:cNvSpPr>
            <a:spLocks noGrp="1"/>
          </p:cNvSpPr>
          <p:nvPr>
            <p:ph type="sldNum" sz="quarter" idx="12"/>
          </p:nvPr>
        </p:nvSpPr>
        <p:spPr/>
        <p:txBody>
          <a:bodyPr/>
          <a:lstStyle/>
          <a:p>
            <a:fld id="{80DD8C35-F8B3-4049-95AF-A34E38FBBA50}" type="slidenum">
              <a:rPr lang="en-US" smtClean="0"/>
              <a:pPr/>
              <a:t>37</a:t>
            </a:fld>
            <a:endParaRPr lang="en-US" dirty="0"/>
          </a:p>
        </p:txBody>
      </p:sp>
    </p:spTree>
    <p:extLst>
      <p:ext uri="{BB962C8B-B14F-4D97-AF65-F5344CB8AC3E}">
        <p14:creationId xmlns:p14="http://schemas.microsoft.com/office/powerpoint/2010/main" val="7628733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defRPr/>
            </a:pPr>
            <a:r>
              <a:rPr lang="en-US" sz="3600" i="1" spc="300" dirty="0">
                <a:solidFill>
                  <a:prstClr val="white"/>
                </a:solidFill>
                <a:latin typeface="Calibri" panose="020F0502020204030204" pitchFamily="34" charset="0"/>
                <a:cs typeface="Calibri" panose="020F0502020204030204" pitchFamily="34" charset="0"/>
              </a:rPr>
              <a:t>Questions and Comments</a:t>
            </a:r>
          </a:p>
        </p:txBody>
      </p:sp>
      <p:sp>
        <p:nvSpPr>
          <p:cNvPr id="3" name="Slide Number Placeholder 2">
            <a:extLst>
              <a:ext uri="{FF2B5EF4-FFF2-40B4-BE49-F238E27FC236}">
                <a16:creationId xmlns:a16="http://schemas.microsoft.com/office/drawing/2014/main" id="{1FDBFED9-35E0-4C43-DC65-9FDAC509E9A5}"/>
              </a:ext>
            </a:extLst>
          </p:cNvPr>
          <p:cNvSpPr>
            <a:spLocks noGrp="1"/>
          </p:cNvSpPr>
          <p:nvPr>
            <p:ph type="sldNum" sz="quarter" idx="12"/>
          </p:nvPr>
        </p:nvSpPr>
        <p:spPr/>
        <p:txBody>
          <a:bodyPr/>
          <a:lstStyle/>
          <a:p>
            <a:fld id="{80DD8C35-F8B3-4049-95AF-A34E38FBBA50}" type="slidenum">
              <a:rPr lang="en-US" smtClean="0"/>
              <a:pPr/>
              <a:t>38</a:t>
            </a:fld>
            <a:endParaRPr lang="en-US" dirty="0"/>
          </a:p>
        </p:txBody>
      </p:sp>
    </p:spTree>
    <p:extLst>
      <p:ext uri="{BB962C8B-B14F-4D97-AF65-F5344CB8AC3E}">
        <p14:creationId xmlns:p14="http://schemas.microsoft.com/office/powerpoint/2010/main" val="40653041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786252" y="5105401"/>
            <a:ext cx="8696325" cy="1564339"/>
          </a:xfrm>
          <a:prstGeom prst="rect">
            <a:avLst/>
          </a:prstGeom>
          <a:noFill/>
        </p:spPr>
        <p:txBody>
          <a:bodyPr wrap="square" rtlCol="0">
            <a:spAutoFit/>
          </a:bodyPr>
          <a:lstStyle/>
          <a:p>
            <a:pPr>
              <a:lnSpc>
                <a:spcPct val="115000"/>
              </a:lnSpc>
              <a:spcAft>
                <a:spcPts val="1800"/>
              </a:spcAft>
            </a:pPr>
            <a:r>
              <a:rPr lang="en-US" sz="1400" i="1" dirty="0">
                <a:solidFill>
                  <a:schemeClr val="dk1"/>
                </a:solidFill>
                <a:latin typeface="Calibri"/>
                <a:ea typeface="Calibri"/>
                <a:cs typeface="Calibri"/>
                <a:sym typeface="Calibri"/>
              </a:rPr>
              <a:t>This research was supported by the College Futures Foundation and conducted in partnership with the California Student Aid Commission. </a:t>
            </a:r>
            <a:r>
              <a:rPr lang="en-US" sz="1400" i="1" dirty="0">
                <a:solidFill>
                  <a:schemeClr val="dk1"/>
                </a:solidFill>
                <a:highlight>
                  <a:srgbClr val="FFFFFF"/>
                </a:highlight>
                <a:latin typeface="Calibri"/>
                <a:ea typeface="Calibri"/>
                <a:cs typeface="Calibri"/>
                <a:sym typeface="Calibri"/>
              </a:rPr>
              <a:t>The authors are also grateful for ongoing support from the Stuart Foundation to the California Education Lab.</a:t>
            </a:r>
            <a:r>
              <a:rPr lang="en-US" sz="1000" dirty="0">
                <a:solidFill>
                  <a:schemeClr val="dk1"/>
                </a:solidFill>
                <a:highlight>
                  <a:srgbClr val="FFFFFF"/>
                </a:highlight>
                <a:latin typeface="Calibri"/>
                <a:ea typeface="Calibri"/>
                <a:cs typeface="Calibri"/>
                <a:sym typeface="Calibri"/>
              </a:rPr>
              <a:t> </a:t>
            </a:r>
            <a:r>
              <a:rPr lang="en-US" sz="1400" i="1" dirty="0">
                <a:solidFill>
                  <a:schemeClr val="dk1"/>
                </a:solidFill>
                <a:latin typeface="Calibri"/>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
        <p:nvSpPr>
          <p:cNvPr id="3" name="Rectangle 2"/>
          <p:cNvSpPr/>
          <p:nvPr/>
        </p:nvSpPr>
        <p:spPr>
          <a:xfrm>
            <a:off x="1786252" y="1524001"/>
            <a:ext cx="8696325" cy="3877985"/>
          </a:xfrm>
          <a:prstGeom prst="rect">
            <a:avLst/>
          </a:prstGeom>
        </p:spPr>
        <p:txBody>
          <a:bodyPr wrap="square">
            <a:spAutoFit/>
          </a:bodyPr>
          <a:lstStyle/>
          <a:p>
            <a:pPr marL="257175" indent="-257175">
              <a:buFont typeface="Wingdings" charset="2"/>
              <a:buChar char="§"/>
              <a:defRPr/>
            </a:pPr>
            <a:r>
              <a:rPr lang="en-US" sz="2400" dirty="0">
                <a:latin typeface="Calibri" panose="020F0502020204030204" pitchFamily="34" charset="0"/>
                <a:ea typeface="Calibri Light" charset="0"/>
                <a:cs typeface="Calibri" panose="020F0502020204030204" pitchFamily="34" charset="0"/>
              </a:rPr>
              <a:t>California Education Lab</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Elizabeth Friedmann</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Sherrie Reed</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Paco Martorell</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Scott Carrell</a:t>
            </a:r>
          </a:p>
          <a:p>
            <a:pPr marL="342900" lvl="1">
              <a:defRPr/>
            </a:pPr>
            <a:endParaRPr lang="en-US" sz="2000" dirty="0">
              <a:latin typeface="Calibri" panose="020F0502020204030204" pitchFamily="34" charset="0"/>
              <a:ea typeface="Calibri Light" charset="0"/>
              <a:cs typeface="Calibri" panose="020F0502020204030204" pitchFamily="34" charset="0"/>
            </a:endParaRPr>
          </a:p>
          <a:p>
            <a:pPr marL="142875" indent="-257175">
              <a:buFont typeface="Wingdings" charset="2"/>
              <a:buChar char="§"/>
              <a:defRPr/>
            </a:pPr>
            <a:r>
              <a:rPr lang="en-US" sz="2400" dirty="0">
                <a:latin typeface="Calibri" panose="020F0502020204030204" pitchFamily="34" charset="0"/>
                <a:ea typeface="Calibri Light" charset="0"/>
                <a:cs typeface="Calibri" panose="020F0502020204030204" pitchFamily="34" charset="0"/>
              </a:rPr>
              <a:t>California Student Aid Commission</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Marlene Garcia</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Jessica Moldoff</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Ryan Fuller</a:t>
            </a:r>
          </a:p>
          <a:p>
            <a:pPr marL="142875" indent="-257175">
              <a:buFont typeface="Wingdings" charset="2"/>
              <a:buChar char="§"/>
              <a:defRPr/>
            </a:pPr>
            <a:endParaRPr lang="en-US" sz="2000" dirty="0">
              <a:latin typeface="Calibri" panose="020F0502020204030204" pitchFamily="34" charset="0"/>
              <a:ea typeface="Calibri Light" charset="0"/>
              <a:cs typeface="Calibri" panose="020F0502020204030204" pitchFamily="34" charset="0"/>
            </a:endParaRPr>
          </a:p>
          <a:p>
            <a:pPr marL="142875" indent="-257175">
              <a:buFont typeface="Wingdings" charset="2"/>
              <a:buChar char="§"/>
              <a:defRPr/>
            </a:pPr>
            <a:endParaRPr lang="en-US" sz="2000" dirty="0">
              <a:latin typeface="Calibri" panose="020F0502020204030204" pitchFamily="34" charset="0"/>
              <a:ea typeface="Calibri Light" charset="0"/>
              <a:cs typeface="Calibri" panose="020F0502020204030204" pitchFamily="34" charset="0"/>
            </a:endParaRPr>
          </a:p>
        </p:txBody>
      </p:sp>
      <p:sp>
        <p:nvSpPr>
          <p:cNvPr id="2" name="Slide Number Placeholder 1"/>
          <p:cNvSpPr>
            <a:spLocks noGrp="1"/>
          </p:cNvSpPr>
          <p:nvPr>
            <p:ph type="sldNum" sz="quarter" idx="12"/>
          </p:nvPr>
        </p:nvSpPr>
        <p:spPr/>
        <p:txBody>
          <a:bodyPr/>
          <a:lstStyle/>
          <a:p>
            <a:pPr algn="r"/>
            <a:fld id="{E977C9FB-1514-7A49-9A51-0E844952849F}" type="slidenum">
              <a:rPr lang="en-US" smtClean="0"/>
              <a:pPr algn="r"/>
              <a:t>39</a:t>
            </a:fld>
            <a:endParaRPr lang="en-US" dirty="0"/>
          </a:p>
        </p:txBody>
      </p:sp>
      <p:sp>
        <p:nvSpPr>
          <p:cNvPr id="6" name="Title 5">
            <a:extLst>
              <a:ext uri="{FF2B5EF4-FFF2-40B4-BE49-F238E27FC236}">
                <a16:creationId xmlns:a16="http://schemas.microsoft.com/office/drawing/2014/main" id="{7AABD298-2642-4046-B663-0A422FCCD820}"/>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810935489"/>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F271C"/>
      </a:dk2>
      <a:lt2>
        <a:srgbClr val="E7DEC9"/>
      </a:lt2>
      <a:accent1>
        <a:srgbClr val="354369"/>
      </a:accent1>
      <a:accent2>
        <a:srgbClr val="C58C00"/>
      </a:accent2>
      <a:accent3>
        <a:srgbClr val="C32D2E"/>
      </a:accent3>
      <a:accent4>
        <a:srgbClr val="446E27"/>
      </a:accent4>
      <a:accent5>
        <a:srgbClr val="964305"/>
      </a:accent5>
      <a:accent6>
        <a:srgbClr val="3891A7"/>
      </a:accent6>
      <a:hlink>
        <a:srgbClr val="8DC765"/>
      </a:hlink>
      <a:folHlink>
        <a:srgbClr val="AA8A1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3247</TotalTime>
  <Words>2160</Words>
  <Application>Microsoft Macintosh PowerPoint</Application>
  <PresentationFormat>Widescreen</PresentationFormat>
  <Paragraphs>378</Paragraphs>
  <Slides>39</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Courier New</vt:lpstr>
      <vt:lpstr>Georgia</vt:lpstr>
      <vt:lpstr>Wingdings</vt:lpstr>
      <vt:lpstr>Office Theme</vt:lpstr>
      <vt:lpstr>PowerPoint Presentation</vt:lpstr>
      <vt:lpstr>Acknowledgements</vt:lpstr>
      <vt:lpstr>Overview</vt:lpstr>
      <vt:lpstr>Motivation</vt:lpstr>
      <vt:lpstr>Literature Review</vt:lpstr>
      <vt:lpstr>Institutional and Social Context</vt:lpstr>
      <vt:lpstr>Institutional and Social Context</vt:lpstr>
      <vt:lpstr>Research Questions</vt:lpstr>
      <vt:lpstr>Contributions</vt:lpstr>
      <vt:lpstr>Methodology</vt:lpstr>
      <vt:lpstr>Methodology</vt:lpstr>
      <vt:lpstr>Sample Characteristics</vt:lpstr>
      <vt:lpstr>Data</vt:lpstr>
      <vt:lpstr>Classification of Gender Identity</vt:lpstr>
      <vt:lpstr>Classification of Gender Identity</vt:lpstr>
      <vt:lpstr>Classification of Sexual Orientation</vt:lpstr>
      <vt:lpstr>Classification of Sexual Orientation</vt:lpstr>
      <vt:lpstr>Gender and Sexuality Diversity</vt:lpstr>
      <vt:lpstr>Limitations/Caveats</vt:lpstr>
      <vt:lpstr>PowerPoint Presentation</vt:lpstr>
      <vt:lpstr>Self Rating of High School Social Experience</vt:lpstr>
      <vt:lpstr>Belonging in High School</vt:lpstr>
      <vt:lpstr>Experienced Bullying</vt:lpstr>
      <vt:lpstr>Reasons Bullied: Gender and Sexual Orientation</vt:lpstr>
      <vt:lpstr>PowerPoint Presentation</vt:lpstr>
      <vt:lpstr>Educational Aspirations</vt:lpstr>
      <vt:lpstr>College Major Plans</vt:lpstr>
      <vt:lpstr>PowerPoint Presentation</vt:lpstr>
      <vt:lpstr>Worried about Discrimination on Gender</vt:lpstr>
      <vt:lpstr>Worried about Discrimination on Sexual orientation</vt:lpstr>
      <vt:lpstr>Worried about Finding Community</vt:lpstr>
      <vt:lpstr>Worried about Adequate Support</vt:lpstr>
      <vt:lpstr>PowerPoint Presentation</vt:lpstr>
      <vt:lpstr>Qualitative Analysis of Student Voices</vt:lpstr>
      <vt:lpstr>PowerPoint Presentation</vt:lpstr>
      <vt:lpstr>Fears of Discrimination</vt:lpstr>
      <vt:lpstr>Excitement about College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Pandemic Response in California:  Identifying the Structural &amp; Instructional Changes in K-12 After COVID-19 </dc:title>
  <dc:creator>Alexandria Maylen Hurtt</dc:creator>
  <cp:lastModifiedBy>Christina Sun</cp:lastModifiedBy>
  <cp:revision>89</cp:revision>
  <dcterms:created xsi:type="dcterms:W3CDTF">2020-06-29T15:40:49Z</dcterms:created>
  <dcterms:modified xsi:type="dcterms:W3CDTF">2024-03-05T16:53:16Z</dcterms:modified>
</cp:coreProperties>
</file>