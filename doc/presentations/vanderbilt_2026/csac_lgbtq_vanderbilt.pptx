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55"/>
  </p:notesMasterIdLst>
  <p:sldIdLst>
    <p:sldId id="256" r:id="rId2"/>
    <p:sldId id="554" r:id="rId3"/>
    <p:sldId id="517" r:id="rId4"/>
    <p:sldId id="518" r:id="rId5"/>
    <p:sldId id="555" r:id="rId6"/>
    <p:sldId id="556" r:id="rId7"/>
    <p:sldId id="548" r:id="rId8"/>
    <p:sldId id="522" r:id="rId9"/>
    <p:sldId id="524" r:id="rId10"/>
    <p:sldId id="559" r:id="rId11"/>
    <p:sldId id="562" r:id="rId12"/>
    <p:sldId id="526" r:id="rId13"/>
    <p:sldId id="493" r:id="rId14"/>
    <p:sldId id="529" r:id="rId15"/>
    <p:sldId id="530" r:id="rId16"/>
    <p:sldId id="563" r:id="rId17"/>
    <p:sldId id="564" r:id="rId18"/>
    <p:sldId id="533" r:id="rId19"/>
    <p:sldId id="566" r:id="rId20"/>
    <p:sldId id="565" r:id="rId21"/>
    <p:sldId id="568" r:id="rId22"/>
    <p:sldId id="569" r:id="rId23"/>
    <p:sldId id="570" r:id="rId24"/>
    <p:sldId id="553" r:id="rId25"/>
    <p:sldId id="558" r:id="rId26"/>
    <p:sldId id="541" r:id="rId27"/>
    <p:sldId id="542" r:id="rId28"/>
    <p:sldId id="320" r:id="rId29"/>
    <p:sldId id="575" r:id="rId30"/>
    <p:sldId id="576" r:id="rId31"/>
    <p:sldId id="540" r:id="rId32"/>
    <p:sldId id="571" r:id="rId33"/>
    <p:sldId id="560" r:id="rId34"/>
    <p:sldId id="545" r:id="rId35"/>
    <p:sldId id="557" r:id="rId36"/>
    <p:sldId id="567" r:id="rId37"/>
    <p:sldId id="544" r:id="rId38"/>
    <p:sldId id="523" r:id="rId39"/>
    <p:sldId id="546" r:id="rId40"/>
    <p:sldId id="547" r:id="rId41"/>
    <p:sldId id="527" r:id="rId42"/>
    <p:sldId id="528" r:id="rId43"/>
    <p:sldId id="535" r:id="rId44"/>
    <p:sldId id="538" r:id="rId45"/>
    <p:sldId id="536" r:id="rId46"/>
    <p:sldId id="537" r:id="rId47"/>
    <p:sldId id="572" r:id="rId48"/>
    <p:sldId id="573" r:id="rId49"/>
    <p:sldId id="574" r:id="rId50"/>
    <p:sldId id="532" r:id="rId51"/>
    <p:sldId id="534" r:id="rId52"/>
    <p:sldId id="531" r:id="rId53"/>
    <p:sldId id="55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a Maylen Hurtt" initials="AMH" lastIdx="6" clrIdx="0"/>
  <p:cmAuthor id="2" name="Microsoft Office User" initials="MOU" lastIdx="1" clrIdx="1"/>
  <p:cmAuthor id="3" name="Jill Huynh" initials="JH" lastIdx="1" clrIdx="2">
    <p:extLst>
      <p:ext uri="{19B8F6BF-5375-455C-9EA6-DF929625EA0E}">
        <p15:presenceInfo xmlns:p15="http://schemas.microsoft.com/office/powerpoint/2012/main" userId="S::jilhuy@ucdavis.edu::2220f398-e2ac-4ade-9aa3-3ebdf0a3b4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A100"/>
    <a:srgbClr val="014B84"/>
    <a:srgbClr val="DFB305"/>
    <a:srgbClr val="929292"/>
    <a:srgbClr val="35436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41" autoAdjust="0"/>
    <p:restoredTop sz="86022" autoAdjust="0"/>
  </p:normalViewPr>
  <p:slideViewPr>
    <p:cSldViewPr>
      <p:cViewPr>
        <p:scale>
          <a:sx n="128" d="100"/>
          <a:sy n="128" d="100"/>
        </p:scale>
        <p:origin x="1088" y="152"/>
      </p:cViewPr>
      <p:guideLst>
        <p:guide orient="horz" pos="2160"/>
        <p:guide pos="3840"/>
      </p:guideLst>
    </p:cSldViewPr>
  </p:slideViewPr>
  <p:outlineViewPr>
    <p:cViewPr>
      <p:scale>
        <a:sx n="33" d="100"/>
        <a:sy n="33" d="100"/>
      </p:scale>
      <p:origin x="0" y="5952"/>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41" d="100"/>
          <a:sy n="41" d="100"/>
        </p:scale>
        <p:origin x="-2347"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72B44E-0E01-8941-9A9B-0BFFB1BF42C5}"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05A137F2-59F3-144D-95E4-81E15A7911EA}">
      <dgm:prSet phldrT="[Text]"/>
      <dgm:spPr/>
      <dgm:t>
        <a:bodyPr/>
        <a:lstStyle/>
        <a:p>
          <a:r>
            <a:rPr lang="en-US" b="1" dirty="0">
              <a:latin typeface="Proxima Nova" panose="02000506030000020004" pitchFamily="2" charset="0"/>
            </a:rPr>
            <a:t>9230</a:t>
          </a:r>
          <a:r>
            <a:rPr lang="en-US" dirty="0">
              <a:latin typeface="Proxima Nova Rg" panose="02000506030000020004" pitchFamily="2" charset="0"/>
            </a:rPr>
            <a:t> college-bound HS seniors</a:t>
          </a:r>
        </a:p>
      </dgm:t>
    </dgm:pt>
    <dgm:pt modelId="{DA52EB08-4D6C-DC4B-A7DE-76192320B774}" type="parTrans" cxnId="{58B361CD-4C9D-5D44-AB2E-C21335DFFEA7}">
      <dgm:prSet/>
      <dgm:spPr/>
      <dgm:t>
        <a:bodyPr/>
        <a:lstStyle/>
        <a:p>
          <a:endParaRPr lang="en-US"/>
        </a:p>
      </dgm:t>
    </dgm:pt>
    <dgm:pt modelId="{8FD04E44-3D7A-2044-B055-691916E49F56}" type="sibTrans" cxnId="{58B361CD-4C9D-5D44-AB2E-C21335DFFEA7}">
      <dgm:prSet/>
      <dgm:spPr/>
      <dgm:t>
        <a:bodyPr/>
        <a:lstStyle/>
        <a:p>
          <a:endParaRPr lang="en-US"/>
        </a:p>
      </dgm:t>
    </dgm:pt>
    <dgm:pt modelId="{140A1FCA-E06A-B84C-B5F5-F7C483E2A316}">
      <dgm:prSet phldrT="[Text]"/>
      <dgm:spPr/>
      <dgm:t>
        <a:bodyPr/>
        <a:lstStyle/>
        <a:p>
          <a:r>
            <a:rPr lang="en-US" b="1" dirty="0">
              <a:latin typeface="Proxima Nova" panose="02000506030000020004" pitchFamily="2" charset="0"/>
            </a:rPr>
            <a:t>1828</a:t>
          </a:r>
          <a:r>
            <a:rPr lang="en-US" dirty="0">
              <a:latin typeface="Proxima Nova Rg" panose="02000506030000020004" pitchFamily="2" charset="0"/>
            </a:rPr>
            <a:t> LGBTQ+ (19.8%)</a:t>
          </a:r>
        </a:p>
      </dgm:t>
    </dgm:pt>
    <dgm:pt modelId="{20D7A473-AB87-C547-88FA-986E14F0D52B}" type="parTrans" cxnId="{16B311F0-B1BF-314F-B8AB-D62356FD4AD5}">
      <dgm:prSet/>
      <dgm:spPr/>
      <dgm:t>
        <a:bodyPr/>
        <a:lstStyle/>
        <a:p>
          <a:endParaRPr lang="en-US">
            <a:latin typeface="Proxima Nova Rg" panose="02000506030000020004" pitchFamily="2" charset="0"/>
          </a:endParaRPr>
        </a:p>
      </dgm:t>
    </dgm:pt>
    <dgm:pt modelId="{182DAA7C-E8BA-8B47-87B5-0F36293D9A3D}" type="sibTrans" cxnId="{16B311F0-B1BF-314F-B8AB-D62356FD4AD5}">
      <dgm:prSet/>
      <dgm:spPr/>
      <dgm:t>
        <a:bodyPr/>
        <a:lstStyle/>
        <a:p>
          <a:endParaRPr lang="en-US"/>
        </a:p>
      </dgm:t>
    </dgm:pt>
    <dgm:pt modelId="{698C7A52-D809-9840-AA2E-35CEFBD8E38F}">
      <dgm:prSet phldrT="[Text]"/>
      <dgm:spPr/>
      <dgm:t>
        <a:bodyPr/>
        <a:lstStyle/>
        <a:p>
          <a:r>
            <a:rPr lang="en-US" b="1" dirty="0">
              <a:latin typeface="Proxima Nova" panose="02000506030000020004" pitchFamily="2" charset="0"/>
            </a:rPr>
            <a:t>417</a:t>
          </a:r>
          <a:r>
            <a:rPr lang="en-US" dirty="0">
              <a:latin typeface="Proxima Nova Rg" panose="02000506030000020004" pitchFamily="2" charset="0"/>
            </a:rPr>
            <a:t> non-cisgender (4.5%)</a:t>
          </a:r>
        </a:p>
      </dgm:t>
    </dgm:pt>
    <dgm:pt modelId="{A5612B30-1601-2141-B7C7-F89381C003EB}" type="parTrans" cxnId="{7B843C09-5C50-8446-8382-5F23E7C23A23}">
      <dgm:prSet/>
      <dgm:spPr/>
      <dgm:t>
        <a:bodyPr/>
        <a:lstStyle/>
        <a:p>
          <a:endParaRPr lang="en-US">
            <a:latin typeface="Proxima Nova Rg" panose="02000506030000020004" pitchFamily="2" charset="0"/>
          </a:endParaRPr>
        </a:p>
      </dgm:t>
    </dgm:pt>
    <dgm:pt modelId="{8658D51F-3974-2A4E-9E44-EB0CFB7687F5}" type="sibTrans" cxnId="{7B843C09-5C50-8446-8382-5F23E7C23A23}">
      <dgm:prSet/>
      <dgm:spPr/>
      <dgm:t>
        <a:bodyPr/>
        <a:lstStyle/>
        <a:p>
          <a:endParaRPr lang="en-US"/>
        </a:p>
      </dgm:t>
    </dgm:pt>
    <dgm:pt modelId="{8A9ED769-A590-BA4E-8234-E44F5B83B519}">
      <dgm:prSet phldrT="[Text]"/>
      <dgm:spPr/>
      <dgm:t>
        <a:bodyPr/>
        <a:lstStyle/>
        <a:p>
          <a:r>
            <a:rPr lang="en-US" b="1" dirty="0">
              <a:latin typeface="Proxima Nova" panose="02000506030000020004" pitchFamily="2" charset="0"/>
            </a:rPr>
            <a:t>1782</a:t>
          </a:r>
          <a:r>
            <a:rPr lang="en-US" dirty="0">
              <a:latin typeface="Proxima Nova Rg" panose="02000506030000020004" pitchFamily="2" charset="0"/>
            </a:rPr>
            <a:t> non-heterosexual (19.3%)</a:t>
          </a:r>
        </a:p>
      </dgm:t>
    </dgm:pt>
    <dgm:pt modelId="{4AE86424-FADC-DA49-8077-472034EFAD84}" type="parTrans" cxnId="{A6858DC1-1147-6948-B834-0D9FB278D803}">
      <dgm:prSet/>
      <dgm:spPr/>
      <dgm:t>
        <a:bodyPr/>
        <a:lstStyle/>
        <a:p>
          <a:endParaRPr lang="en-US">
            <a:latin typeface="Proxima Nova Rg" panose="02000506030000020004" pitchFamily="2" charset="0"/>
          </a:endParaRPr>
        </a:p>
      </dgm:t>
    </dgm:pt>
    <dgm:pt modelId="{2B7934C7-FED5-D24B-80AE-0391EFBBABF0}" type="sibTrans" cxnId="{A6858DC1-1147-6948-B834-0D9FB278D803}">
      <dgm:prSet/>
      <dgm:spPr/>
      <dgm:t>
        <a:bodyPr/>
        <a:lstStyle/>
        <a:p>
          <a:endParaRPr lang="en-US"/>
        </a:p>
      </dgm:t>
    </dgm:pt>
    <dgm:pt modelId="{C899F8BF-9CBD-5040-8F7F-42C31B93C7ED}" type="pres">
      <dgm:prSet presAssocID="{A972B44E-0E01-8941-9A9B-0BFFB1BF42C5}" presName="hierChild1" presStyleCnt="0">
        <dgm:presLayoutVars>
          <dgm:chPref val="1"/>
          <dgm:dir/>
          <dgm:animOne val="branch"/>
          <dgm:animLvl val="lvl"/>
          <dgm:resizeHandles/>
        </dgm:presLayoutVars>
      </dgm:prSet>
      <dgm:spPr/>
    </dgm:pt>
    <dgm:pt modelId="{FAD9F73B-B4DA-D640-980B-FC2548660BCB}" type="pres">
      <dgm:prSet presAssocID="{05A137F2-59F3-144D-95E4-81E15A7911EA}" presName="hierRoot1" presStyleCnt="0"/>
      <dgm:spPr/>
    </dgm:pt>
    <dgm:pt modelId="{AF089320-1125-274D-8830-552D8D89B0F0}" type="pres">
      <dgm:prSet presAssocID="{05A137F2-59F3-144D-95E4-81E15A7911EA}" presName="composite" presStyleCnt="0"/>
      <dgm:spPr/>
    </dgm:pt>
    <dgm:pt modelId="{B031F112-416E-4A4E-ACC9-FF0A0F3336AA}" type="pres">
      <dgm:prSet presAssocID="{05A137F2-59F3-144D-95E4-81E15A7911EA}" presName="background" presStyleLbl="node0" presStyleIdx="0" presStyleCnt="1"/>
      <dgm:spPr/>
    </dgm:pt>
    <dgm:pt modelId="{E3FA96AE-4A24-B84F-8D93-52A867F5906B}" type="pres">
      <dgm:prSet presAssocID="{05A137F2-59F3-144D-95E4-81E15A7911EA}" presName="text" presStyleLbl="fgAcc0" presStyleIdx="0" presStyleCnt="1">
        <dgm:presLayoutVars>
          <dgm:chPref val="3"/>
        </dgm:presLayoutVars>
      </dgm:prSet>
      <dgm:spPr/>
    </dgm:pt>
    <dgm:pt modelId="{2DD062F4-7287-7F46-B897-DCA0D323FBC1}" type="pres">
      <dgm:prSet presAssocID="{05A137F2-59F3-144D-95E4-81E15A7911EA}" presName="hierChild2" presStyleCnt="0"/>
      <dgm:spPr/>
    </dgm:pt>
    <dgm:pt modelId="{5048475C-121B-E147-830D-7C2445B2200C}" type="pres">
      <dgm:prSet presAssocID="{20D7A473-AB87-C547-88FA-986E14F0D52B}" presName="Name10" presStyleLbl="parChTrans1D2" presStyleIdx="0" presStyleCnt="1"/>
      <dgm:spPr/>
    </dgm:pt>
    <dgm:pt modelId="{C1A74EB8-F163-9C49-912D-57D7E19BABE3}" type="pres">
      <dgm:prSet presAssocID="{140A1FCA-E06A-B84C-B5F5-F7C483E2A316}" presName="hierRoot2" presStyleCnt="0"/>
      <dgm:spPr/>
    </dgm:pt>
    <dgm:pt modelId="{EA0CF27D-4ACE-FC4D-94B7-9CA40F3C16B0}" type="pres">
      <dgm:prSet presAssocID="{140A1FCA-E06A-B84C-B5F5-F7C483E2A316}" presName="composite2" presStyleCnt="0"/>
      <dgm:spPr/>
    </dgm:pt>
    <dgm:pt modelId="{D72F0D6B-50F0-D148-87F1-F0A96B486DFE}" type="pres">
      <dgm:prSet presAssocID="{140A1FCA-E06A-B84C-B5F5-F7C483E2A316}" presName="background2" presStyleLbl="node2" presStyleIdx="0" presStyleCnt="1"/>
      <dgm:spPr/>
    </dgm:pt>
    <dgm:pt modelId="{9826D08F-645E-9142-AC0E-7C3F7733D528}" type="pres">
      <dgm:prSet presAssocID="{140A1FCA-E06A-B84C-B5F5-F7C483E2A316}" presName="text2" presStyleLbl="fgAcc2" presStyleIdx="0" presStyleCnt="1">
        <dgm:presLayoutVars>
          <dgm:chPref val="3"/>
        </dgm:presLayoutVars>
      </dgm:prSet>
      <dgm:spPr/>
    </dgm:pt>
    <dgm:pt modelId="{64364565-7D75-E144-808A-49427AFA8229}" type="pres">
      <dgm:prSet presAssocID="{140A1FCA-E06A-B84C-B5F5-F7C483E2A316}" presName="hierChild3" presStyleCnt="0"/>
      <dgm:spPr/>
    </dgm:pt>
    <dgm:pt modelId="{984827CA-5A3D-DB43-8CA5-95BF74191DDA}" type="pres">
      <dgm:prSet presAssocID="{A5612B30-1601-2141-B7C7-F89381C003EB}" presName="Name17" presStyleLbl="parChTrans1D3" presStyleIdx="0" presStyleCnt="2"/>
      <dgm:spPr/>
    </dgm:pt>
    <dgm:pt modelId="{3A5984A9-A9EE-1B41-A874-7CDE428EA0A4}" type="pres">
      <dgm:prSet presAssocID="{698C7A52-D809-9840-AA2E-35CEFBD8E38F}" presName="hierRoot3" presStyleCnt="0"/>
      <dgm:spPr/>
    </dgm:pt>
    <dgm:pt modelId="{F13DED24-4944-FE47-983E-DAA20866D921}" type="pres">
      <dgm:prSet presAssocID="{698C7A52-D809-9840-AA2E-35CEFBD8E38F}" presName="composite3" presStyleCnt="0"/>
      <dgm:spPr/>
    </dgm:pt>
    <dgm:pt modelId="{B532C997-A29B-824C-98A8-B12610F52FBA}" type="pres">
      <dgm:prSet presAssocID="{698C7A52-D809-9840-AA2E-35CEFBD8E38F}" presName="background3" presStyleLbl="node3" presStyleIdx="0" presStyleCnt="2"/>
      <dgm:spPr/>
    </dgm:pt>
    <dgm:pt modelId="{A8634E9F-208A-C847-9F69-E2A0BE20BC92}" type="pres">
      <dgm:prSet presAssocID="{698C7A52-D809-9840-AA2E-35CEFBD8E38F}" presName="text3" presStyleLbl="fgAcc3" presStyleIdx="0" presStyleCnt="2">
        <dgm:presLayoutVars>
          <dgm:chPref val="3"/>
        </dgm:presLayoutVars>
      </dgm:prSet>
      <dgm:spPr/>
    </dgm:pt>
    <dgm:pt modelId="{800ECA9C-38C6-D543-916E-485F389E4BE0}" type="pres">
      <dgm:prSet presAssocID="{698C7A52-D809-9840-AA2E-35CEFBD8E38F}" presName="hierChild4" presStyleCnt="0"/>
      <dgm:spPr/>
    </dgm:pt>
    <dgm:pt modelId="{7724DB33-9601-0D4A-9FAD-F8EF25D603AA}" type="pres">
      <dgm:prSet presAssocID="{4AE86424-FADC-DA49-8077-472034EFAD84}" presName="Name17" presStyleLbl="parChTrans1D3" presStyleIdx="1" presStyleCnt="2"/>
      <dgm:spPr/>
    </dgm:pt>
    <dgm:pt modelId="{7D049269-BB2C-6B4A-82A8-85EA58333E91}" type="pres">
      <dgm:prSet presAssocID="{8A9ED769-A590-BA4E-8234-E44F5B83B519}" presName="hierRoot3" presStyleCnt="0"/>
      <dgm:spPr/>
    </dgm:pt>
    <dgm:pt modelId="{39A91499-E198-6449-AF73-CE4C222EA7D0}" type="pres">
      <dgm:prSet presAssocID="{8A9ED769-A590-BA4E-8234-E44F5B83B519}" presName="composite3" presStyleCnt="0"/>
      <dgm:spPr/>
    </dgm:pt>
    <dgm:pt modelId="{3B7A72B0-F828-E64F-812F-F5D203368DB5}" type="pres">
      <dgm:prSet presAssocID="{8A9ED769-A590-BA4E-8234-E44F5B83B519}" presName="background3" presStyleLbl="node3" presStyleIdx="1" presStyleCnt="2"/>
      <dgm:spPr/>
    </dgm:pt>
    <dgm:pt modelId="{C0F14B84-97BC-704D-9763-1786C073D901}" type="pres">
      <dgm:prSet presAssocID="{8A9ED769-A590-BA4E-8234-E44F5B83B519}" presName="text3" presStyleLbl="fgAcc3" presStyleIdx="1" presStyleCnt="2">
        <dgm:presLayoutVars>
          <dgm:chPref val="3"/>
        </dgm:presLayoutVars>
      </dgm:prSet>
      <dgm:spPr/>
    </dgm:pt>
    <dgm:pt modelId="{E50E7508-C7AD-8845-B6B1-C786BF111DCF}" type="pres">
      <dgm:prSet presAssocID="{8A9ED769-A590-BA4E-8234-E44F5B83B519}" presName="hierChild4" presStyleCnt="0"/>
      <dgm:spPr/>
    </dgm:pt>
  </dgm:ptLst>
  <dgm:cxnLst>
    <dgm:cxn modelId="{7B843C09-5C50-8446-8382-5F23E7C23A23}" srcId="{140A1FCA-E06A-B84C-B5F5-F7C483E2A316}" destId="{698C7A52-D809-9840-AA2E-35CEFBD8E38F}" srcOrd="0" destOrd="0" parTransId="{A5612B30-1601-2141-B7C7-F89381C003EB}" sibTransId="{8658D51F-3974-2A4E-9E44-EB0CFB7687F5}"/>
    <dgm:cxn modelId="{47218B2A-9C84-2046-A17B-3C33C4C26426}" type="presOf" srcId="{A5612B30-1601-2141-B7C7-F89381C003EB}" destId="{984827CA-5A3D-DB43-8CA5-95BF74191DDA}" srcOrd="0" destOrd="0" presId="urn:microsoft.com/office/officeart/2005/8/layout/hierarchy1"/>
    <dgm:cxn modelId="{9E357333-2BE2-414E-8209-AF86A10F6846}" type="presOf" srcId="{05A137F2-59F3-144D-95E4-81E15A7911EA}" destId="{E3FA96AE-4A24-B84F-8D93-52A867F5906B}" srcOrd="0" destOrd="0" presId="urn:microsoft.com/office/officeart/2005/8/layout/hierarchy1"/>
    <dgm:cxn modelId="{39CC253A-7E96-3747-AB29-AAE720D4E7D4}" type="presOf" srcId="{4AE86424-FADC-DA49-8077-472034EFAD84}" destId="{7724DB33-9601-0D4A-9FAD-F8EF25D603AA}" srcOrd="0" destOrd="0" presId="urn:microsoft.com/office/officeart/2005/8/layout/hierarchy1"/>
    <dgm:cxn modelId="{E33CBF42-45A4-E041-968C-4F04871F7D32}" type="presOf" srcId="{698C7A52-D809-9840-AA2E-35CEFBD8E38F}" destId="{A8634E9F-208A-C847-9F69-E2A0BE20BC92}" srcOrd="0" destOrd="0" presId="urn:microsoft.com/office/officeart/2005/8/layout/hierarchy1"/>
    <dgm:cxn modelId="{B53D614D-6487-EB47-BC80-38E0ABD5B9CA}" type="presOf" srcId="{20D7A473-AB87-C547-88FA-986E14F0D52B}" destId="{5048475C-121B-E147-830D-7C2445B2200C}" srcOrd="0" destOrd="0" presId="urn:microsoft.com/office/officeart/2005/8/layout/hierarchy1"/>
    <dgm:cxn modelId="{C5A8EAB5-2216-D340-B658-1FC0555D436F}" type="presOf" srcId="{140A1FCA-E06A-B84C-B5F5-F7C483E2A316}" destId="{9826D08F-645E-9142-AC0E-7C3F7733D528}" srcOrd="0" destOrd="0" presId="urn:microsoft.com/office/officeart/2005/8/layout/hierarchy1"/>
    <dgm:cxn modelId="{A6858DC1-1147-6948-B834-0D9FB278D803}" srcId="{140A1FCA-E06A-B84C-B5F5-F7C483E2A316}" destId="{8A9ED769-A590-BA4E-8234-E44F5B83B519}" srcOrd="1" destOrd="0" parTransId="{4AE86424-FADC-DA49-8077-472034EFAD84}" sibTransId="{2B7934C7-FED5-D24B-80AE-0391EFBBABF0}"/>
    <dgm:cxn modelId="{E3DAB9C9-0FCF-3A42-8E0A-04687F9497B7}" type="presOf" srcId="{8A9ED769-A590-BA4E-8234-E44F5B83B519}" destId="{C0F14B84-97BC-704D-9763-1786C073D901}" srcOrd="0" destOrd="0" presId="urn:microsoft.com/office/officeart/2005/8/layout/hierarchy1"/>
    <dgm:cxn modelId="{58B361CD-4C9D-5D44-AB2E-C21335DFFEA7}" srcId="{A972B44E-0E01-8941-9A9B-0BFFB1BF42C5}" destId="{05A137F2-59F3-144D-95E4-81E15A7911EA}" srcOrd="0" destOrd="0" parTransId="{DA52EB08-4D6C-DC4B-A7DE-76192320B774}" sibTransId="{8FD04E44-3D7A-2044-B055-691916E49F56}"/>
    <dgm:cxn modelId="{CEFD03EC-1511-694D-8B42-B6763DF1E90B}" type="presOf" srcId="{A972B44E-0E01-8941-9A9B-0BFFB1BF42C5}" destId="{C899F8BF-9CBD-5040-8F7F-42C31B93C7ED}" srcOrd="0" destOrd="0" presId="urn:microsoft.com/office/officeart/2005/8/layout/hierarchy1"/>
    <dgm:cxn modelId="{16B311F0-B1BF-314F-B8AB-D62356FD4AD5}" srcId="{05A137F2-59F3-144D-95E4-81E15A7911EA}" destId="{140A1FCA-E06A-B84C-B5F5-F7C483E2A316}" srcOrd="0" destOrd="0" parTransId="{20D7A473-AB87-C547-88FA-986E14F0D52B}" sibTransId="{182DAA7C-E8BA-8B47-87B5-0F36293D9A3D}"/>
    <dgm:cxn modelId="{20094040-E81E-8741-BC33-A8FC3C3D659E}" type="presParOf" srcId="{C899F8BF-9CBD-5040-8F7F-42C31B93C7ED}" destId="{FAD9F73B-B4DA-D640-980B-FC2548660BCB}" srcOrd="0" destOrd="0" presId="urn:microsoft.com/office/officeart/2005/8/layout/hierarchy1"/>
    <dgm:cxn modelId="{73D2C354-E706-3440-89EB-2AD55DCBC814}" type="presParOf" srcId="{FAD9F73B-B4DA-D640-980B-FC2548660BCB}" destId="{AF089320-1125-274D-8830-552D8D89B0F0}" srcOrd="0" destOrd="0" presId="urn:microsoft.com/office/officeart/2005/8/layout/hierarchy1"/>
    <dgm:cxn modelId="{A2A4E513-26DB-994D-A955-5C1695D8C22B}" type="presParOf" srcId="{AF089320-1125-274D-8830-552D8D89B0F0}" destId="{B031F112-416E-4A4E-ACC9-FF0A0F3336AA}" srcOrd="0" destOrd="0" presId="urn:microsoft.com/office/officeart/2005/8/layout/hierarchy1"/>
    <dgm:cxn modelId="{7C800B85-A790-4843-B87D-FD8B43B1BCB0}" type="presParOf" srcId="{AF089320-1125-274D-8830-552D8D89B0F0}" destId="{E3FA96AE-4A24-B84F-8D93-52A867F5906B}" srcOrd="1" destOrd="0" presId="urn:microsoft.com/office/officeart/2005/8/layout/hierarchy1"/>
    <dgm:cxn modelId="{EEE3B263-FE92-C840-BECE-0CE3459C571B}" type="presParOf" srcId="{FAD9F73B-B4DA-D640-980B-FC2548660BCB}" destId="{2DD062F4-7287-7F46-B897-DCA0D323FBC1}" srcOrd="1" destOrd="0" presId="urn:microsoft.com/office/officeart/2005/8/layout/hierarchy1"/>
    <dgm:cxn modelId="{80097D50-B55E-2A4D-96D9-6F9B63E5D549}" type="presParOf" srcId="{2DD062F4-7287-7F46-B897-DCA0D323FBC1}" destId="{5048475C-121B-E147-830D-7C2445B2200C}" srcOrd="0" destOrd="0" presId="urn:microsoft.com/office/officeart/2005/8/layout/hierarchy1"/>
    <dgm:cxn modelId="{21BD864D-B360-C44C-80B4-815E902BA5B5}" type="presParOf" srcId="{2DD062F4-7287-7F46-B897-DCA0D323FBC1}" destId="{C1A74EB8-F163-9C49-912D-57D7E19BABE3}" srcOrd="1" destOrd="0" presId="urn:microsoft.com/office/officeart/2005/8/layout/hierarchy1"/>
    <dgm:cxn modelId="{B1FA5C8C-1A5B-7C46-9588-8C9728570398}" type="presParOf" srcId="{C1A74EB8-F163-9C49-912D-57D7E19BABE3}" destId="{EA0CF27D-4ACE-FC4D-94B7-9CA40F3C16B0}" srcOrd="0" destOrd="0" presId="urn:microsoft.com/office/officeart/2005/8/layout/hierarchy1"/>
    <dgm:cxn modelId="{006A45F7-86B4-9342-8E85-4E6845334F91}" type="presParOf" srcId="{EA0CF27D-4ACE-FC4D-94B7-9CA40F3C16B0}" destId="{D72F0D6B-50F0-D148-87F1-F0A96B486DFE}" srcOrd="0" destOrd="0" presId="urn:microsoft.com/office/officeart/2005/8/layout/hierarchy1"/>
    <dgm:cxn modelId="{E40A10A0-8C10-6B4F-BC9A-CF58A42B771D}" type="presParOf" srcId="{EA0CF27D-4ACE-FC4D-94B7-9CA40F3C16B0}" destId="{9826D08F-645E-9142-AC0E-7C3F7733D528}" srcOrd="1" destOrd="0" presId="urn:microsoft.com/office/officeart/2005/8/layout/hierarchy1"/>
    <dgm:cxn modelId="{7C2584A2-4653-EC4F-833B-9D39B0F171A0}" type="presParOf" srcId="{C1A74EB8-F163-9C49-912D-57D7E19BABE3}" destId="{64364565-7D75-E144-808A-49427AFA8229}" srcOrd="1" destOrd="0" presId="urn:microsoft.com/office/officeart/2005/8/layout/hierarchy1"/>
    <dgm:cxn modelId="{1F6B148B-697E-5241-AA6F-4A515AF08F67}" type="presParOf" srcId="{64364565-7D75-E144-808A-49427AFA8229}" destId="{984827CA-5A3D-DB43-8CA5-95BF74191DDA}" srcOrd="0" destOrd="0" presId="urn:microsoft.com/office/officeart/2005/8/layout/hierarchy1"/>
    <dgm:cxn modelId="{47E9CFC8-685F-C747-A8DD-E4F4ED60A77F}" type="presParOf" srcId="{64364565-7D75-E144-808A-49427AFA8229}" destId="{3A5984A9-A9EE-1B41-A874-7CDE428EA0A4}" srcOrd="1" destOrd="0" presId="urn:microsoft.com/office/officeart/2005/8/layout/hierarchy1"/>
    <dgm:cxn modelId="{B48AF6E1-B5EF-2C41-9375-2E5D7492E456}" type="presParOf" srcId="{3A5984A9-A9EE-1B41-A874-7CDE428EA0A4}" destId="{F13DED24-4944-FE47-983E-DAA20866D921}" srcOrd="0" destOrd="0" presId="urn:microsoft.com/office/officeart/2005/8/layout/hierarchy1"/>
    <dgm:cxn modelId="{D2B4AFBB-8826-A44C-8D5F-1862ABF9983E}" type="presParOf" srcId="{F13DED24-4944-FE47-983E-DAA20866D921}" destId="{B532C997-A29B-824C-98A8-B12610F52FBA}" srcOrd="0" destOrd="0" presId="urn:microsoft.com/office/officeart/2005/8/layout/hierarchy1"/>
    <dgm:cxn modelId="{59D2B7DC-9AF0-7D46-A849-4E8EECF44DFF}" type="presParOf" srcId="{F13DED24-4944-FE47-983E-DAA20866D921}" destId="{A8634E9F-208A-C847-9F69-E2A0BE20BC92}" srcOrd="1" destOrd="0" presId="urn:microsoft.com/office/officeart/2005/8/layout/hierarchy1"/>
    <dgm:cxn modelId="{02DE9ECB-E0C8-E444-B698-CF54767B14EB}" type="presParOf" srcId="{3A5984A9-A9EE-1B41-A874-7CDE428EA0A4}" destId="{800ECA9C-38C6-D543-916E-485F389E4BE0}" srcOrd="1" destOrd="0" presId="urn:microsoft.com/office/officeart/2005/8/layout/hierarchy1"/>
    <dgm:cxn modelId="{4D389A94-37E2-2241-A5F6-38BE69C64705}" type="presParOf" srcId="{64364565-7D75-E144-808A-49427AFA8229}" destId="{7724DB33-9601-0D4A-9FAD-F8EF25D603AA}" srcOrd="2" destOrd="0" presId="urn:microsoft.com/office/officeart/2005/8/layout/hierarchy1"/>
    <dgm:cxn modelId="{23FAB301-17EA-264A-A900-9A59B365FA22}" type="presParOf" srcId="{64364565-7D75-E144-808A-49427AFA8229}" destId="{7D049269-BB2C-6B4A-82A8-85EA58333E91}" srcOrd="3" destOrd="0" presId="urn:microsoft.com/office/officeart/2005/8/layout/hierarchy1"/>
    <dgm:cxn modelId="{13542E0E-9D9A-C849-AEAB-6009D2399E74}" type="presParOf" srcId="{7D049269-BB2C-6B4A-82A8-85EA58333E91}" destId="{39A91499-E198-6449-AF73-CE4C222EA7D0}" srcOrd="0" destOrd="0" presId="urn:microsoft.com/office/officeart/2005/8/layout/hierarchy1"/>
    <dgm:cxn modelId="{2FCE6E8E-5634-BB49-8C9C-3F52F124B823}" type="presParOf" srcId="{39A91499-E198-6449-AF73-CE4C222EA7D0}" destId="{3B7A72B0-F828-E64F-812F-F5D203368DB5}" srcOrd="0" destOrd="0" presId="urn:microsoft.com/office/officeart/2005/8/layout/hierarchy1"/>
    <dgm:cxn modelId="{FB97EEA3-907D-9C4D-B595-3144EFD3FCF5}" type="presParOf" srcId="{39A91499-E198-6449-AF73-CE4C222EA7D0}" destId="{C0F14B84-97BC-704D-9763-1786C073D901}" srcOrd="1" destOrd="0" presId="urn:microsoft.com/office/officeart/2005/8/layout/hierarchy1"/>
    <dgm:cxn modelId="{A5A0E6E8-51C5-3A4C-B0DF-3DADC54E4EAE}" type="presParOf" srcId="{7D049269-BB2C-6B4A-82A8-85EA58333E91}" destId="{E50E7508-C7AD-8845-B6B1-C786BF111DC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ECC907-B2C1-5E46-BE8F-E695E01F0A2E}"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6F818C34-7E32-9C49-BB6F-650B8B330A38}">
      <dgm:prSet phldrT="[Text]" custT="1"/>
      <dgm:spPr/>
      <dgm:t>
        <a:bodyPr/>
        <a:lstStyle/>
        <a:p>
          <a:r>
            <a:rPr lang="en-US" sz="1600" dirty="0">
              <a:latin typeface="Proxima Nova Rg" panose="02000506030000020004" pitchFamily="2" charset="0"/>
            </a:rPr>
            <a:t>How do you rate your high school academic performance </a:t>
          </a:r>
          <a:r>
            <a:rPr lang="en-US" sz="1200" dirty="0">
              <a:latin typeface="Proxima Nova Rg" panose="02000506030000020004" pitchFamily="2" charset="0"/>
            </a:rPr>
            <a:t>(</a:t>
          </a:r>
          <a:r>
            <a:rPr lang="en-US" sz="1200" i="1" dirty="0">
              <a:latin typeface="Proxima Nova" panose="02000506030000020004" pitchFamily="2" charset="0"/>
            </a:rPr>
            <a:t>Poor to Excellent,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FB7B0E4D-2DEC-884B-A394-EA21657F05AD}" type="parTrans" cxnId="{CB9952A1-2F47-B547-819D-62D854A8F89D}">
      <dgm:prSet/>
      <dgm:spPr/>
      <dgm:t>
        <a:bodyPr/>
        <a:lstStyle/>
        <a:p>
          <a:endParaRPr lang="en-US">
            <a:latin typeface="Proxima Nova Rg" panose="02000506030000020004" pitchFamily="2" charset="0"/>
          </a:endParaRPr>
        </a:p>
      </dgm:t>
    </dgm:pt>
    <dgm:pt modelId="{432AEDA1-86C4-924C-B778-D70662BEA9FB}" type="sibTrans" cxnId="{CB9952A1-2F47-B547-819D-62D854A8F89D}">
      <dgm:prSet/>
      <dgm:spPr/>
      <dgm:t>
        <a:bodyPr/>
        <a:lstStyle/>
        <a:p>
          <a:endParaRPr lang="en-US">
            <a:latin typeface="Proxima Nova Rg" panose="02000506030000020004" pitchFamily="2" charset="0"/>
          </a:endParaRPr>
        </a:p>
      </dgm:t>
    </dgm:pt>
    <dgm:pt modelId="{7F83F84B-40EF-534F-A78D-B68536EF2E36}">
      <dgm:prSet phldrT="[Text]" custT="1"/>
      <dgm:spPr/>
      <dgm:t>
        <a:bodyPr/>
        <a:lstStyle/>
        <a:p>
          <a:r>
            <a:rPr lang="en-US" sz="1600" dirty="0">
              <a:latin typeface="Proxima Nova Rg" panose="02000506030000020004" pitchFamily="2" charset="0"/>
            </a:rPr>
            <a:t>How do you rate your high school social experience </a:t>
          </a:r>
          <a:r>
            <a:rPr lang="en-US" sz="1200" dirty="0">
              <a:latin typeface="Proxima Nova Rg" panose="02000506030000020004" pitchFamily="2" charset="0"/>
            </a:rPr>
            <a:t>(</a:t>
          </a:r>
          <a:r>
            <a:rPr lang="en-US" sz="1200" i="1" dirty="0">
              <a:latin typeface="Proxima Nova" panose="02000506030000020004" pitchFamily="2" charset="0"/>
            </a:rPr>
            <a:t>Very Negative to Very Positive,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0E3FC3FE-BD46-D14F-9232-B1D9A28B0A5C}" type="parTrans" cxnId="{54264AA9-4E10-E24A-B12B-4E63D7190D4B}">
      <dgm:prSet/>
      <dgm:spPr/>
      <dgm:t>
        <a:bodyPr/>
        <a:lstStyle/>
        <a:p>
          <a:endParaRPr lang="en-US">
            <a:latin typeface="Proxima Nova Rg" panose="02000506030000020004" pitchFamily="2" charset="0"/>
          </a:endParaRPr>
        </a:p>
      </dgm:t>
    </dgm:pt>
    <dgm:pt modelId="{4C4D3688-5548-2A46-B0D6-C737D2B39EC4}" type="sibTrans" cxnId="{54264AA9-4E10-E24A-B12B-4E63D7190D4B}">
      <dgm:prSet/>
      <dgm:spPr/>
      <dgm:t>
        <a:bodyPr/>
        <a:lstStyle/>
        <a:p>
          <a:endParaRPr lang="en-US">
            <a:latin typeface="Proxima Nova Rg" panose="02000506030000020004" pitchFamily="2" charset="0"/>
          </a:endParaRPr>
        </a:p>
      </dgm:t>
    </dgm:pt>
    <dgm:pt modelId="{D97AC6E8-FAEC-6741-A028-42EC73C66FBD}">
      <dgm:prSet phldrT="[Text]" custT="1"/>
      <dgm:spPr/>
      <dgm:t>
        <a:bodyPr/>
        <a:lstStyle/>
        <a:p>
          <a:r>
            <a:rPr lang="en-US" sz="1600" dirty="0">
              <a:latin typeface="Proxima Nova Rg" panose="02000506030000020004" pitchFamily="2" charset="0"/>
            </a:rPr>
            <a:t>Teachers and staff at my high school care about my future </a:t>
          </a:r>
          <a:r>
            <a:rPr lang="en-US" sz="1200" dirty="0">
              <a:latin typeface="Proxima Nova Rg" panose="02000506030000020004" pitchFamily="2" charset="0"/>
            </a:rPr>
            <a:t>(</a:t>
          </a:r>
          <a:r>
            <a:rPr lang="en-US" sz="1200" i="1" dirty="0">
              <a:latin typeface="Proxima Nova" panose="02000506030000020004" pitchFamily="2" charset="0"/>
            </a:rPr>
            <a:t>same as above</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A1161BE9-305A-1746-83E4-6F9E39DF5826}" type="parTrans" cxnId="{7478C3F5-4B66-3141-B288-8BFEF3B38566}">
      <dgm:prSet/>
      <dgm:spPr/>
      <dgm:t>
        <a:bodyPr/>
        <a:lstStyle/>
        <a:p>
          <a:endParaRPr lang="en-US">
            <a:latin typeface="Proxima Nova Rg" panose="02000506030000020004" pitchFamily="2" charset="0"/>
          </a:endParaRPr>
        </a:p>
      </dgm:t>
    </dgm:pt>
    <dgm:pt modelId="{7AB7CDB3-39BB-B14B-90D9-264D321FC6B0}" type="sibTrans" cxnId="{7478C3F5-4B66-3141-B288-8BFEF3B38566}">
      <dgm:prSet/>
      <dgm:spPr/>
      <dgm:t>
        <a:bodyPr/>
        <a:lstStyle/>
        <a:p>
          <a:endParaRPr lang="en-US">
            <a:latin typeface="Proxima Nova Rg" panose="02000506030000020004" pitchFamily="2" charset="0"/>
          </a:endParaRPr>
        </a:p>
      </dgm:t>
    </dgm:pt>
    <dgm:pt modelId="{3DF16479-96F2-5748-91C8-C51BE44920E2}">
      <dgm:prSet custT="1"/>
      <dgm:spPr/>
      <dgm:t>
        <a:bodyPr/>
        <a:lstStyle/>
        <a:p>
          <a:r>
            <a:rPr lang="en-US" sz="1600" dirty="0">
              <a:latin typeface="Proxima Nova Rg" panose="02000506030000020004" pitchFamily="2" charset="0"/>
            </a:rPr>
            <a:t>I belong in my high school community </a:t>
          </a:r>
          <a:r>
            <a:rPr lang="en-US" sz="1200" dirty="0">
              <a:latin typeface="Proxima Nova Rg" panose="02000506030000020004" pitchFamily="2" charset="0"/>
            </a:rPr>
            <a:t>(</a:t>
          </a:r>
          <a:r>
            <a:rPr lang="en-US" sz="1200" i="1" dirty="0">
              <a:latin typeface="Proxima Nova" panose="02000506030000020004" pitchFamily="2" charset="0"/>
            </a:rPr>
            <a:t>Strongly Disagree to Strongly Agree,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8F77B352-E369-D344-93DC-71EA0F85F772}" type="parTrans" cxnId="{72655412-94F9-9A41-8DE8-F96453A11736}">
      <dgm:prSet/>
      <dgm:spPr/>
      <dgm:t>
        <a:bodyPr/>
        <a:lstStyle/>
        <a:p>
          <a:endParaRPr lang="en-US">
            <a:latin typeface="Proxima Nova Rg" panose="02000506030000020004" pitchFamily="2" charset="0"/>
          </a:endParaRPr>
        </a:p>
      </dgm:t>
    </dgm:pt>
    <dgm:pt modelId="{7502D152-722E-484E-8AED-C1D88B6AD295}" type="sibTrans" cxnId="{72655412-94F9-9A41-8DE8-F96453A11736}">
      <dgm:prSet/>
      <dgm:spPr/>
      <dgm:t>
        <a:bodyPr/>
        <a:lstStyle/>
        <a:p>
          <a:endParaRPr lang="en-US">
            <a:latin typeface="Proxima Nova Rg" panose="02000506030000020004" pitchFamily="2" charset="0"/>
          </a:endParaRPr>
        </a:p>
      </dgm:t>
    </dgm:pt>
    <dgm:pt modelId="{2D30C1FE-10E0-B64A-ADFB-0624A64D778B}">
      <dgm:prSet custT="1"/>
      <dgm:spPr/>
      <dgm:t>
        <a:bodyPr/>
        <a:lstStyle/>
        <a:p>
          <a:r>
            <a:rPr lang="en-US" sz="1600" dirty="0">
              <a:latin typeface="Proxima Nova Rg" panose="02000506030000020004" pitchFamily="2" charset="0"/>
            </a:rPr>
            <a:t>I received good advising from high school about college </a:t>
          </a:r>
          <a:r>
            <a:rPr lang="en-US" sz="1200" dirty="0">
              <a:latin typeface="Proxima Nova Rg" panose="02000506030000020004" pitchFamily="2" charset="0"/>
            </a:rPr>
            <a:t>(</a:t>
          </a:r>
          <a:r>
            <a:rPr lang="en-US" sz="1200" i="1" dirty="0">
              <a:latin typeface="Proxima Nova" panose="02000506030000020004" pitchFamily="2" charset="0"/>
            </a:rPr>
            <a:t>same as above</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B3832A3E-7C53-F444-B063-AE3E7419583D}" type="parTrans" cxnId="{F5E15DBF-E413-434C-A509-5C392D7F96F4}">
      <dgm:prSet/>
      <dgm:spPr/>
      <dgm:t>
        <a:bodyPr/>
        <a:lstStyle/>
        <a:p>
          <a:endParaRPr lang="en-US">
            <a:latin typeface="Proxima Nova Rg" panose="02000506030000020004" pitchFamily="2" charset="0"/>
          </a:endParaRPr>
        </a:p>
      </dgm:t>
    </dgm:pt>
    <dgm:pt modelId="{839DD80B-3874-5F45-80E6-33F0D21E610A}" type="sibTrans" cxnId="{F5E15DBF-E413-434C-A509-5C392D7F96F4}">
      <dgm:prSet/>
      <dgm:spPr/>
      <dgm:t>
        <a:bodyPr/>
        <a:lstStyle/>
        <a:p>
          <a:endParaRPr lang="en-US">
            <a:latin typeface="Proxima Nova Rg" panose="02000506030000020004" pitchFamily="2" charset="0"/>
          </a:endParaRPr>
        </a:p>
      </dgm:t>
    </dgm:pt>
    <dgm:pt modelId="{5115D056-8604-3A4F-93A9-58E7CDDAEF43}">
      <dgm:prSet custT="1"/>
      <dgm:spPr/>
      <dgm:t>
        <a:bodyPr/>
        <a:lstStyle/>
        <a:p>
          <a:r>
            <a:rPr lang="en-US" sz="1600" dirty="0">
              <a:latin typeface="Proxima Nova Rg" panose="02000506030000020004" pitchFamily="2" charset="0"/>
            </a:rPr>
            <a:t>I feel prepared for college</a:t>
          </a:r>
          <a:r>
            <a:rPr lang="en-US" sz="1600" i="1" dirty="0">
              <a:latin typeface="Proxima Nova" panose="02000506030000020004" pitchFamily="2" charset="0"/>
            </a:rPr>
            <a:t> </a:t>
          </a:r>
          <a:r>
            <a:rPr lang="en-US" sz="1200" i="1" dirty="0">
              <a:latin typeface="Proxima Nova" panose="02000506030000020004" pitchFamily="2" charset="0"/>
            </a:rPr>
            <a:t>(same as above)</a:t>
          </a:r>
          <a:endParaRPr lang="en-US" sz="1600" i="1" dirty="0">
            <a:latin typeface="Proxima Nova" panose="02000506030000020004" pitchFamily="2" charset="0"/>
          </a:endParaRPr>
        </a:p>
      </dgm:t>
    </dgm:pt>
    <dgm:pt modelId="{F188AC8F-AB26-1047-8C25-D6168EA4EBCD}" type="parTrans" cxnId="{038A8756-101A-CC42-BD21-16E76FBAB8AE}">
      <dgm:prSet/>
      <dgm:spPr/>
      <dgm:t>
        <a:bodyPr/>
        <a:lstStyle/>
        <a:p>
          <a:endParaRPr lang="en-US">
            <a:latin typeface="Proxima Nova Rg" panose="02000506030000020004" pitchFamily="2" charset="0"/>
          </a:endParaRPr>
        </a:p>
      </dgm:t>
    </dgm:pt>
    <dgm:pt modelId="{2ADBF0E2-7F65-EC49-B5C8-37FDB755FA24}" type="sibTrans" cxnId="{038A8756-101A-CC42-BD21-16E76FBAB8AE}">
      <dgm:prSet/>
      <dgm:spPr/>
      <dgm:t>
        <a:bodyPr/>
        <a:lstStyle/>
        <a:p>
          <a:endParaRPr lang="en-US">
            <a:latin typeface="Proxima Nova Rg" panose="02000506030000020004" pitchFamily="2" charset="0"/>
          </a:endParaRPr>
        </a:p>
      </dgm:t>
    </dgm:pt>
    <dgm:pt modelId="{2E1CE7D4-D0E1-2B4E-B5D3-F698BF87757B}" type="pres">
      <dgm:prSet presAssocID="{E9ECC907-B2C1-5E46-BE8F-E695E01F0A2E}" presName="linear" presStyleCnt="0">
        <dgm:presLayoutVars>
          <dgm:dir/>
          <dgm:animLvl val="lvl"/>
          <dgm:resizeHandles val="exact"/>
        </dgm:presLayoutVars>
      </dgm:prSet>
      <dgm:spPr/>
    </dgm:pt>
    <dgm:pt modelId="{09990867-62F3-9245-AA6D-EEA09C8D7CEA}" type="pres">
      <dgm:prSet presAssocID="{6F818C34-7E32-9C49-BB6F-650B8B330A38}" presName="parentLin" presStyleCnt="0"/>
      <dgm:spPr/>
    </dgm:pt>
    <dgm:pt modelId="{54226CE4-9D9A-6548-B97A-31A9AC66CC8C}" type="pres">
      <dgm:prSet presAssocID="{6F818C34-7E32-9C49-BB6F-650B8B330A38}" presName="parentLeftMargin" presStyleLbl="node1" presStyleIdx="0" presStyleCnt="6"/>
      <dgm:spPr/>
    </dgm:pt>
    <dgm:pt modelId="{2BB4138D-FAB0-0D48-A619-ACD349CE1A6F}" type="pres">
      <dgm:prSet presAssocID="{6F818C34-7E32-9C49-BB6F-650B8B330A38}" presName="parentText" presStyleLbl="node1" presStyleIdx="0" presStyleCnt="6">
        <dgm:presLayoutVars>
          <dgm:chMax val="0"/>
          <dgm:bulletEnabled val="1"/>
        </dgm:presLayoutVars>
      </dgm:prSet>
      <dgm:spPr/>
    </dgm:pt>
    <dgm:pt modelId="{4F8CEF09-8AF6-B746-A87B-7F1964D61CB5}" type="pres">
      <dgm:prSet presAssocID="{6F818C34-7E32-9C49-BB6F-650B8B330A38}" presName="negativeSpace" presStyleCnt="0"/>
      <dgm:spPr/>
    </dgm:pt>
    <dgm:pt modelId="{D30113DE-B6F4-1A48-9C60-D488E39FA653}" type="pres">
      <dgm:prSet presAssocID="{6F818C34-7E32-9C49-BB6F-650B8B330A38}" presName="childText" presStyleLbl="conFgAcc1" presStyleIdx="0" presStyleCnt="6">
        <dgm:presLayoutVars>
          <dgm:bulletEnabled val="1"/>
        </dgm:presLayoutVars>
      </dgm:prSet>
      <dgm:spPr/>
    </dgm:pt>
    <dgm:pt modelId="{71324AEC-1B4B-7748-9238-0EFA68B88E81}" type="pres">
      <dgm:prSet presAssocID="{432AEDA1-86C4-924C-B778-D70662BEA9FB}" presName="spaceBetweenRectangles" presStyleCnt="0"/>
      <dgm:spPr/>
    </dgm:pt>
    <dgm:pt modelId="{CAFC754D-C6CB-8847-BCA6-56D0B957E6FB}" type="pres">
      <dgm:prSet presAssocID="{7F83F84B-40EF-534F-A78D-B68536EF2E36}" presName="parentLin" presStyleCnt="0"/>
      <dgm:spPr/>
    </dgm:pt>
    <dgm:pt modelId="{10813AD5-807D-EA49-92E6-47823C630870}" type="pres">
      <dgm:prSet presAssocID="{7F83F84B-40EF-534F-A78D-B68536EF2E36}" presName="parentLeftMargin" presStyleLbl="node1" presStyleIdx="0" presStyleCnt="6"/>
      <dgm:spPr/>
    </dgm:pt>
    <dgm:pt modelId="{20D4D5D2-4371-5046-BA2A-E24D60AEF50A}" type="pres">
      <dgm:prSet presAssocID="{7F83F84B-40EF-534F-A78D-B68536EF2E36}" presName="parentText" presStyleLbl="node1" presStyleIdx="1" presStyleCnt="6">
        <dgm:presLayoutVars>
          <dgm:chMax val="0"/>
          <dgm:bulletEnabled val="1"/>
        </dgm:presLayoutVars>
      </dgm:prSet>
      <dgm:spPr/>
    </dgm:pt>
    <dgm:pt modelId="{4DB972F2-FF8A-9E48-89B3-F7866FD767B6}" type="pres">
      <dgm:prSet presAssocID="{7F83F84B-40EF-534F-A78D-B68536EF2E36}" presName="negativeSpace" presStyleCnt="0"/>
      <dgm:spPr/>
    </dgm:pt>
    <dgm:pt modelId="{5279683A-B8E3-AF4D-8FF3-E8FCF84F16EA}" type="pres">
      <dgm:prSet presAssocID="{7F83F84B-40EF-534F-A78D-B68536EF2E36}" presName="childText" presStyleLbl="conFgAcc1" presStyleIdx="1" presStyleCnt="6">
        <dgm:presLayoutVars>
          <dgm:bulletEnabled val="1"/>
        </dgm:presLayoutVars>
      </dgm:prSet>
      <dgm:spPr/>
    </dgm:pt>
    <dgm:pt modelId="{3CE205F4-406B-9849-8EA9-D2460479F773}" type="pres">
      <dgm:prSet presAssocID="{4C4D3688-5548-2A46-B0D6-C737D2B39EC4}" presName="spaceBetweenRectangles" presStyleCnt="0"/>
      <dgm:spPr/>
    </dgm:pt>
    <dgm:pt modelId="{B419F00C-D507-E145-A911-0C453289B30D}" type="pres">
      <dgm:prSet presAssocID="{3DF16479-96F2-5748-91C8-C51BE44920E2}" presName="parentLin" presStyleCnt="0"/>
      <dgm:spPr/>
    </dgm:pt>
    <dgm:pt modelId="{A0BD55D5-AA03-D14F-9A1E-E6FF1ADD7946}" type="pres">
      <dgm:prSet presAssocID="{3DF16479-96F2-5748-91C8-C51BE44920E2}" presName="parentLeftMargin" presStyleLbl="node1" presStyleIdx="1" presStyleCnt="6"/>
      <dgm:spPr/>
    </dgm:pt>
    <dgm:pt modelId="{0E7226F1-D7D8-C945-822E-D8AEF511495B}" type="pres">
      <dgm:prSet presAssocID="{3DF16479-96F2-5748-91C8-C51BE44920E2}" presName="parentText" presStyleLbl="node1" presStyleIdx="2" presStyleCnt="6">
        <dgm:presLayoutVars>
          <dgm:chMax val="0"/>
          <dgm:bulletEnabled val="1"/>
        </dgm:presLayoutVars>
      </dgm:prSet>
      <dgm:spPr/>
    </dgm:pt>
    <dgm:pt modelId="{FEA8D26A-19E9-2F47-96DC-7F9DAEF7308C}" type="pres">
      <dgm:prSet presAssocID="{3DF16479-96F2-5748-91C8-C51BE44920E2}" presName="negativeSpace" presStyleCnt="0"/>
      <dgm:spPr/>
    </dgm:pt>
    <dgm:pt modelId="{9C86EA4F-9C3F-BC49-BC9D-E29BF199012E}" type="pres">
      <dgm:prSet presAssocID="{3DF16479-96F2-5748-91C8-C51BE44920E2}" presName="childText" presStyleLbl="conFgAcc1" presStyleIdx="2" presStyleCnt="6">
        <dgm:presLayoutVars>
          <dgm:bulletEnabled val="1"/>
        </dgm:presLayoutVars>
      </dgm:prSet>
      <dgm:spPr/>
    </dgm:pt>
    <dgm:pt modelId="{85617933-776B-1A41-89A3-862AD3DB62A1}" type="pres">
      <dgm:prSet presAssocID="{7502D152-722E-484E-8AED-C1D88B6AD295}" presName="spaceBetweenRectangles" presStyleCnt="0"/>
      <dgm:spPr/>
    </dgm:pt>
    <dgm:pt modelId="{414F1692-2D7E-DD4B-AD9C-0EF2B0A0D21E}" type="pres">
      <dgm:prSet presAssocID="{D97AC6E8-FAEC-6741-A028-42EC73C66FBD}" presName="parentLin" presStyleCnt="0"/>
      <dgm:spPr/>
    </dgm:pt>
    <dgm:pt modelId="{B2870B22-C8D3-4948-8F70-BB2F14225D80}" type="pres">
      <dgm:prSet presAssocID="{D97AC6E8-FAEC-6741-A028-42EC73C66FBD}" presName="parentLeftMargin" presStyleLbl="node1" presStyleIdx="2" presStyleCnt="6"/>
      <dgm:spPr/>
    </dgm:pt>
    <dgm:pt modelId="{CF10E5B5-CFDD-6B4F-A475-E272A9F3380C}" type="pres">
      <dgm:prSet presAssocID="{D97AC6E8-FAEC-6741-A028-42EC73C66FBD}" presName="parentText" presStyleLbl="node1" presStyleIdx="3" presStyleCnt="6">
        <dgm:presLayoutVars>
          <dgm:chMax val="0"/>
          <dgm:bulletEnabled val="1"/>
        </dgm:presLayoutVars>
      </dgm:prSet>
      <dgm:spPr/>
    </dgm:pt>
    <dgm:pt modelId="{3A66D12B-1925-1845-9626-8EFD365DFD95}" type="pres">
      <dgm:prSet presAssocID="{D97AC6E8-FAEC-6741-A028-42EC73C66FBD}" presName="negativeSpace" presStyleCnt="0"/>
      <dgm:spPr/>
    </dgm:pt>
    <dgm:pt modelId="{481E7E34-7969-A742-BDC2-28AB72440EB0}" type="pres">
      <dgm:prSet presAssocID="{D97AC6E8-FAEC-6741-A028-42EC73C66FBD}" presName="childText" presStyleLbl="conFgAcc1" presStyleIdx="3" presStyleCnt="6">
        <dgm:presLayoutVars>
          <dgm:bulletEnabled val="1"/>
        </dgm:presLayoutVars>
      </dgm:prSet>
      <dgm:spPr/>
    </dgm:pt>
    <dgm:pt modelId="{B985C504-F1D7-D345-9001-E6D599E623F6}" type="pres">
      <dgm:prSet presAssocID="{7AB7CDB3-39BB-B14B-90D9-264D321FC6B0}" presName="spaceBetweenRectangles" presStyleCnt="0"/>
      <dgm:spPr/>
    </dgm:pt>
    <dgm:pt modelId="{897BB147-FF84-9C46-AACA-5CAA5EC80570}" type="pres">
      <dgm:prSet presAssocID="{2D30C1FE-10E0-B64A-ADFB-0624A64D778B}" presName="parentLin" presStyleCnt="0"/>
      <dgm:spPr/>
    </dgm:pt>
    <dgm:pt modelId="{2B86625C-7FA1-7340-A591-9C4C2B4A5216}" type="pres">
      <dgm:prSet presAssocID="{2D30C1FE-10E0-B64A-ADFB-0624A64D778B}" presName="parentLeftMargin" presStyleLbl="node1" presStyleIdx="3" presStyleCnt="6"/>
      <dgm:spPr/>
    </dgm:pt>
    <dgm:pt modelId="{DBB30FFF-8E86-0743-860B-88C58A8CC43D}" type="pres">
      <dgm:prSet presAssocID="{2D30C1FE-10E0-B64A-ADFB-0624A64D778B}" presName="parentText" presStyleLbl="node1" presStyleIdx="4" presStyleCnt="6">
        <dgm:presLayoutVars>
          <dgm:chMax val="0"/>
          <dgm:bulletEnabled val="1"/>
        </dgm:presLayoutVars>
      </dgm:prSet>
      <dgm:spPr/>
    </dgm:pt>
    <dgm:pt modelId="{CB1F3A0A-A00D-E94B-A9F7-BCAFF100CD38}" type="pres">
      <dgm:prSet presAssocID="{2D30C1FE-10E0-B64A-ADFB-0624A64D778B}" presName="negativeSpace" presStyleCnt="0"/>
      <dgm:spPr/>
    </dgm:pt>
    <dgm:pt modelId="{C41CF316-D20F-E340-AF81-83D484B23DA0}" type="pres">
      <dgm:prSet presAssocID="{2D30C1FE-10E0-B64A-ADFB-0624A64D778B}" presName="childText" presStyleLbl="conFgAcc1" presStyleIdx="4" presStyleCnt="6">
        <dgm:presLayoutVars>
          <dgm:bulletEnabled val="1"/>
        </dgm:presLayoutVars>
      </dgm:prSet>
      <dgm:spPr/>
    </dgm:pt>
    <dgm:pt modelId="{B889D81A-81D6-CD40-96AF-931632FFBBF9}" type="pres">
      <dgm:prSet presAssocID="{839DD80B-3874-5F45-80E6-33F0D21E610A}" presName="spaceBetweenRectangles" presStyleCnt="0"/>
      <dgm:spPr/>
    </dgm:pt>
    <dgm:pt modelId="{EEB2E8E4-9F74-1940-822E-A8D7A966AE20}" type="pres">
      <dgm:prSet presAssocID="{5115D056-8604-3A4F-93A9-58E7CDDAEF43}" presName="parentLin" presStyleCnt="0"/>
      <dgm:spPr/>
    </dgm:pt>
    <dgm:pt modelId="{7A131F98-33D2-E845-8D6C-6E55C543ED2C}" type="pres">
      <dgm:prSet presAssocID="{5115D056-8604-3A4F-93A9-58E7CDDAEF43}" presName="parentLeftMargin" presStyleLbl="node1" presStyleIdx="4" presStyleCnt="6"/>
      <dgm:spPr/>
    </dgm:pt>
    <dgm:pt modelId="{04DDD348-2047-B14D-85C7-6C471D04BE47}" type="pres">
      <dgm:prSet presAssocID="{5115D056-8604-3A4F-93A9-58E7CDDAEF43}" presName="parentText" presStyleLbl="node1" presStyleIdx="5" presStyleCnt="6">
        <dgm:presLayoutVars>
          <dgm:chMax val="0"/>
          <dgm:bulletEnabled val="1"/>
        </dgm:presLayoutVars>
      </dgm:prSet>
      <dgm:spPr/>
    </dgm:pt>
    <dgm:pt modelId="{0F9D2E65-5C32-884A-B262-96733DDFDC13}" type="pres">
      <dgm:prSet presAssocID="{5115D056-8604-3A4F-93A9-58E7CDDAEF43}" presName="negativeSpace" presStyleCnt="0"/>
      <dgm:spPr/>
    </dgm:pt>
    <dgm:pt modelId="{6FB62475-48CC-1644-9E9E-1DE182DC9882}" type="pres">
      <dgm:prSet presAssocID="{5115D056-8604-3A4F-93A9-58E7CDDAEF43}" presName="childText" presStyleLbl="conFgAcc1" presStyleIdx="5" presStyleCnt="6">
        <dgm:presLayoutVars>
          <dgm:bulletEnabled val="1"/>
        </dgm:presLayoutVars>
      </dgm:prSet>
      <dgm:spPr/>
    </dgm:pt>
  </dgm:ptLst>
  <dgm:cxnLst>
    <dgm:cxn modelId="{359D980B-5B42-8144-9CB3-90C6DDCA6FFD}" type="presOf" srcId="{D97AC6E8-FAEC-6741-A028-42EC73C66FBD}" destId="{CF10E5B5-CFDD-6B4F-A475-E272A9F3380C}" srcOrd="1" destOrd="0" presId="urn:microsoft.com/office/officeart/2005/8/layout/list1"/>
    <dgm:cxn modelId="{72655412-94F9-9A41-8DE8-F96453A11736}" srcId="{E9ECC907-B2C1-5E46-BE8F-E695E01F0A2E}" destId="{3DF16479-96F2-5748-91C8-C51BE44920E2}" srcOrd="2" destOrd="0" parTransId="{8F77B352-E369-D344-93DC-71EA0F85F772}" sibTransId="{7502D152-722E-484E-8AED-C1D88B6AD295}"/>
    <dgm:cxn modelId="{DEC1483E-6478-5D4D-A1D1-FE9F0A2C14BA}" type="presOf" srcId="{3DF16479-96F2-5748-91C8-C51BE44920E2}" destId="{0E7226F1-D7D8-C945-822E-D8AEF511495B}" srcOrd="1" destOrd="0" presId="urn:microsoft.com/office/officeart/2005/8/layout/list1"/>
    <dgm:cxn modelId="{4FBB2343-767B-4449-9F4F-1BB9576B7DF6}" type="presOf" srcId="{2D30C1FE-10E0-B64A-ADFB-0624A64D778B}" destId="{DBB30FFF-8E86-0743-860B-88C58A8CC43D}" srcOrd="1" destOrd="0" presId="urn:microsoft.com/office/officeart/2005/8/layout/list1"/>
    <dgm:cxn modelId="{79DBF452-CD39-894C-AC8D-094E03BF3E00}" type="presOf" srcId="{6F818C34-7E32-9C49-BB6F-650B8B330A38}" destId="{2BB4138D-FAB0-0D48-A619-ACD349CE1A6F}" srcOrd="1" destOrd="0" presId="urn:microsoft.com/office/officeart/2005/8/layout/list1"/>
    <dgm:cxn modelId="{FBC14F54-862E-3642-AE40-2AA848F3D546}" type="presOf" srcId="{5115D056-8604-3A4F-93A9-58E7CDDAEF43}" destId="{7A131F98-33D2-E845-8D6C-6E55C543ED2C}" srcOrd="0" destOrd="0" presId="urn:microsoft.com/office/officeart/2005/8/layout/list1"/>
    <dgm:cxn modelId="{038A8756-101A-CC42-BD21-16E76FBAB8AE}" srcId="{E9ECC907-B2C1-5E46-BE8F-E695E01F0A2E}" destId="{5115D056-8604-3A4F-93A9-58E7CDDAEF43}" srcOrd="5" destOrd="0" parTransId="{F188AC8F-AB26-1047-8C25-D6168EA4EBCD}" sibTransId="{2ADBF0E2-7F65-EC49-B5C8-37FDB755FA24}"/>
    <dgm:cxn modelId="{BEFD2762-3826-4F4A-8306-BF127D935D55}" type="presOf" srcId="{6F818C34-7E32-9C49-BB6F-650B8B330A38}" destId="{54226CE4-9D9A-6548-B97A-31A9AC66CC8C}" srcOrd="0" destOrd="0" presId="urn:microsoft.com/office/officeart/2005/8/layout/list1"/>
    <dgm:cxn modelId="{C77E3B6E-072D-8A4B-8BC1-69A86C7A3BCA}" type="presOf" srcId="{E9ECC907-B2C1-5E46-BE8F-E695E01F0A2E}" destId="{2E1CE7D4-D0E1-2B4E-B5D3-F698BF87757B}" srcOrd="0" destOrd="0" presId="urn:microsoft.com/office/officeart/2005/8/layout/list1"/>
    <dgm:cxn modelId="{3EC44397-97A8-4645-8739-0B7A558262BB}" type="presOf" srcId="{7F83F84B-40EF-534F-A78D-B68536EF2E36}" destId="{10813AD5-807D-EA49-92E6-47823C630870}" srcOrd="0" destOrd="0" presId="urn:microsoft.com/office/officeart/2005/8/layout/list1"/>
    <dgm:cxn modelId="{CB9952A1-2F47-B547-819D-62D854A8F89D}" srcId="{E9ECC907-B2C1-5E46-BE8F-E695E01F0A2E}" destId="{6F818C34-7E32-9C49-BB6F-650B8B330A38}" srcOrd="0" destOrd="0" parTransId="{FB7B0E4D-2DEC-884B-A394-EA21657F05AD}" sibTransId="{432AEDA1-86C4-924C-B778-D70662BEA9FB}"/>
    <dgm:cxn modelId="{54264AA9-4E10-E24A-B12B-4E63D7190D4B}" srcId="{E9ECC907-B2C1-5E46-BE8F-E695E01F0A2E}" destId="{7F83F84B-40EF-534F-A78D-B68536EF2E36}" srcOrd="1" destOrd="0" parTransId="{0E3FC3FE-BD46-D14F-9232-B1D9A28B0A5C}" sibTransId="{4C4D3688-5548-2A46-B0D6-C737D2B39EC4}"/>
    <dgm:cxn modelId="{705848B7-E1D1-D542-922C-B480BF692145}" type="presOf" srcId="{7F83F84B-40EF-534F-A78D-B68536EF2E36}" destId="{20D4D5D2-4371-5046-BA2A-E24D60AEF50A}" srcOrd="1" destOrd="0" presId="urn:microsoft.com/office/officeart/2005/8/layout/list1"/>
    <dgm:cxn modelId="{F5E15DBF-E413-434C-A509-5C392D7F96F4}" srcId="{E9ECC907-B2C1-5E46-BE8F-E695E01F0A2E}" destId="{2D30C1FE-10E0-B64A-ADFB-0624A64D778B}" srcOrd="4" destOrd="0" parTransId="{B3832A3E-7C53-F444-B063-AE3E7419583D}" sibTransId="{839DD80B-3874-5F45-80E6-33F0D21E610A}"/>
    <dgm:cxn modelId="{8F558ED5-C187-2E4E-AE1E-B87F7749E279}" type="presOf" srcId="{D97AC6E8-FAEC-6741-A028-42EC73C66FBD}" destId="{B2870B22-C8D3-4948-8F70-BB2F14225D80}" srcOrd="0" destOrd="0" presId="urn:microsoft.com/office/officeart/2005/8/layout/list1"/>
    <dgm:cxn modelId="{856F54DC-B0BF-274A-AE73-24888D42B919}" type="presOf" srcId="{5115D056-8604-3A4F-93A9-58E7CDDAEF43}" destId="{04DDD348-2047-B14D-85C7-6C471D04BE47}" srcOrd="1" destOrd="0" presId="urn:microsoft.com/office/officeart/2005/8/layout/list1"/>
    <dgm:cxn modelId="{2337C9E1-3F85-1E4E-822A-D50B5FABDFFA}" type="presOf" srcId="{2D30C1FE-10E0-B64A-ADFB-0624A64D778B}" destId="{2B86625C-7FA1-7340-A591-9C4C2B4A5216}" srcOrd="0" destOrd="0" presId="urn:microsoft.com/office/officeart/2005/8/layout/list1"/>
    <dgm:cxn modelId="{ED969EF2-8761-BC46-B20B-C82EB3716F32}" type="presOf" srcId="{3DF16479-96F2-5748-91C8-C51BE44920E2}" destId="{A0BD55D5-AA03-D14F-9A1E-E6FF1ADD7946}" srcOrd="0" destOrd="0" presId="urn:microsoft.com/office/officeart/2005/8/layout/list1"/>
    <dgm:cxn modelId="{7478C3F5-4B66-3141-B288-8BFEF3B38566}" srcId="{E9ECC907-B2C1-5E46-BE8F-E695E01F0A2E}" destId="{D97AC6E8-FAEC-6741-A028-42EC73C66FBD}" srcOrd="3" destOrd="0" parTransId="{A1161BE9-305A-1746-83E4-6F9E39DF5826}" sibTransId="{7AB7CDB3-39BB-B14B-90D9-264D321FC6B0}"/>
    <dgm:cxn modelId="{9462D090-8DF6-294A-A5EE-F646E1836211}" type="presParOf" srcId="{2E1CE7D4-D0E1-2B4E-B5D3-F698BF87757B}" destId="{09990867-62F3-9245-AA6D-EEA09C8D7CEA}" srcOrd="0" destOrd="0" presId="urn:microsoft.com/office/officeart/2005/8/layout/list1"/>
    <dgm:cxn modelId="{FDCF6FFB-ECC0-274E-8B8F-A976F7894D11}" type="presParOf" srcId="{09990867-62F3-9245-AA6D-EEA09C8D7CEA}" destId="{54226CE4-9D9A-6548-B97A-31A9AC66CC8C}" srcOrd="0" destOrd="0" presId="urn:microsoft.com/office/officeart/2005/8/layout/list1"/>
    <dgm:cxn modelId="{4446E540-46CA-014A-B6A4-4D3AED33FFD1}" type="presParOf" srcId="{09990867-62F3-9245-AA6D-EEA09C8D7CEA}" destId="{2BB4138D-FAB0-0D48-A619-ACD349CE1A6F}" srcOrd="1" destOrd="0" presId="urn:microsoft.com/office/officeart/2005/8/layout/list1"/>
    <dgm:cxn modelId="{04985F99-E298-F646-A978-1BFFD5C98C12}" type="presParOf" srcId="{2E1CE7D4-D0E1-2B4E-B5D3-F698BF87757B}" destId="{4F8CEF09-8AF6-B746-A87B-7F1964D61CB5}" srcOrd="1" destOrd="0" presId="urn:microsoft.com/office/officeart/2005/8/layout/list1"/>
    <dgm:cxn modelId="{FBC2C7A5-9D90-2345-9A79-66D722ECA0F0}" type="presParOf" srcId="{2E1CE7D4-D0E1-2B4E-B5D3-F698BF87757B}" destId="{D30113DE-B6F4-1A48-9C60-D488E39FA653}" srcOrd="2" destOrd="0" presId="urn:microsoft.com/office/officeart/2005/8/layout/list1"/>
    <dgm:cxn modelId="{523CCC13-79D7-0C43-A61D-6FA4AABF77BA}" type="presParOf" srcId="{2E1CE7D4-D0E1-2B4E-B5D3-F698BF87757B}" destId="{71324AEC-1B4B-7748-9238-0EFA68B88E81}" srcOrd="3" destOrd="0" presId="urn:microsoft.com/office/officeart/2005/8/layout/list1"/>
    <dgm:cxn modelId="{66EBE013-A3A6-D440-A55C-4140F90DDBBF}" type="presParOf" srcId="{2E1CE7D4-D0E1-2B4E-B5D3-F698BF87757B}" destId="{CAFC754D-C6CB-8847-BCA6-56D0B957E6FB}" srcOrd="4" destOrd="0" presId="urn:microsoft.com/office/officeart/2005/8/layout/list1"/>
    <dgm:cxn modelId="{262934E2-83E6-DB48-BC93-D18CF6B2BB7C}" type="presParOf" srcId="{CAFC754D-C6CB-8847-BCA6-56D0B957E6FB}" destId="{10813AD5-807D-EA49-92E6-47823C630870}" srcOrd="0" destOrd="0" presId="urn:microsoft.com/office/officeart/2005/8/layout/list1"/>
    <dgm:cxn modelId="{F5538EAB-1AA0-3649-AEAB-3843461300B4}" type="presParOf" srcId="{CAFC754D-C6CB-8847-BCA6-56D0B957E6FB}" destId="{20D4D5D2-4371-5046-BA2A-E24D60AEF50A}" srcOrd="1" destOrd="0" presId="urn:microsoft.com/office/officeart/2005/8/layout/list1"/>
    <dgm:cxn modelId="{1383D4C1-A95D-5147-9EE2-D9CFDD314D62}" type="presParOf" srcId="{2E1CE7D4-D0E1-2B4E-B5D3-F698BF87757B}" destId="{4DB972F2-FF8A-9E48-89B3-F7866FD767B6}" srcOrd="5" destOrd="0" presId="urn:microsoft.com/office/officeart/2005/8/layout/list1"/>
    <dgm:cxn modelId="{B0AF5022-F410-3145-8E7C-52129B1C2E0C}" type="presParOf" srcId="{2E1CE7D4-D0E1-2B4E-B5D3-F698BF87757B}" destId="{5279683A-B8E3-AF4D-8FF3-E8FCF84F16EA}" srcOrd="6" destOrd="0" presId="urn:microsoft.com/office/officeart/2005/8/layout/list1"/>
    <dgm:cxn modelId="{F3C3458D-00A4-3F4C-86AE-1672002772C7}" type="presParOf" srcId="{2E1CE7D4-D0E1-2B4E-B5D3-F698BF87757B}" destId="{3CE205F4-406B-9849-8EA9-D2460479F773}" srcOrd="7" destOrd="0" presId="urn:microsoft.com/office/officeart/2005/8/layout/list1"/>
    <dgm:cxn modelId="{7320C4CE-6E6F-AB40-B36C-5F8AE0D8A070}" type="presParOf" srcId="{2E1CE7D4-D0E1-2B4E-B5D3-F698BF87757B}" destId="{B419F00C-D507-E145-A911-0C453289B30D}" srcOrd="8" destOrd="0" presId="urn:microsoft.com/office/officeart/2005/8/layout/list1"/>
    <dgm:cxn modelId="{0189DC2B-87DD-C94F-BB68-C83CE871EB3C}" type="presParOf" srcId="{B419F00C-D507-E145-A911-0C453289B30D}" destId="{A0BD55D5-AA03-D14F-9A1E-E6FF1ADD7946}" srcOrd="0" destOrd="0" presId="urn:microsoft.com/office/officeart/2005/8/layout/list1"/>
    <dgm:cxn modelId="{9A39271F-AABF-E842-8DD3-58C7A5EB1DF8}" type="presParOf" srcId="{B419F00C-D507-E145-A911-0C453289B30D}" destId="{0E7226F1-D7D8-C945-822E-D8AEF511495B}" srcOrd="1" destOrd="0" presId="urn:microsoft.com/office/officeart/2005/8/layout/list1"/>
    <dgm:cxn modelId="{1E83B59A-7896-E841-B8C0-387501C576C1}" type="presParOf" srcId="{2E1CE7D4-D0E1-2B4E-B5D3-F698BF87757B}" destId="{FEA8D26A-19E9-2F47-96DC-7F9DAEF7308C}" srcOrd="9" destOrd="0" presId="urn:microsoft.com/office/officeart/2005/8/layout/list1"/>
    <dgm:cxn modelId="{9B71CD0D-B9A8-C541-94C5-18C86C174675}" type="presParOf" srcId="{2E1CE7D4-D0E1-2B4E-B5D3-F698BF87757B}" destId="{9C86EA4F-9C3F-BC49-BC9D-E29BF199012E}" srcOrd="10" destOrd="0" presId="urn:microsoft.com/office/officeart/2005/8/layout/list1"/>
    <dgm:cxn modelId="{EA2D68FD-1DCF-1F40-9A79-4746D5D75FBB}" type="presParOf" srcId="{2E1CE7D4-D0E1-2B4E-B5D3-F698BF87757B}" destId="{85617933-776B-1A41-89A3-862AD3DB62A1}" srcOrd="11" destOrd="0" presId="urn:microsoft.com/office/officeart/2005/8/layout/list1"/>
    <dgm:cxn modelId="{E33500F7-DF98-FF48-958A-15F7B5A60423}" type="presParOf" srcId="{2E1CE7D4-D0E1-2B4E-B5D3-F698BF87757B}" destId="{414F1692-2D7E-DD4B-AD9C-0EF2B0A0D21E}" srcOrd="12" destOrd="0" presId="urn:microsoft.com/office/officeart/2005/8/layout/list1"/>
    <dgm:cxn modelId="{2BBDE71A-4E40-8843-A80E-E845D33970FF}" type="presParOf" srcId="{414F1692-2D7E-DD4B-AD9C-0EF2B0A0D21E}" destId="{B2870B22-C8D3-4948-8F70-BB2F14225D80}" srcOrd="0" destOrd="0" presId="urn:microsoft.com/office/officeart/2005/8/layout/list1"/>
    <dgm:cxn modelId="{7CF861E0-D216-8E49-BF93-D4FD38342762}" type="presParOf" srcId="{414F1692-2D7E-DD4B-AD9C-0EF2B0A0D21E}" destId="{CF10E5B5-CFDD-6B4F-A475-E272A9F3380C}" srcOrd="1" destOrd="0" presId="urn:microsoft.com/office/officeart/2005/8/layout/list1"/>
    <dgm:cxn modelId="{7AECFF0E-B7D6-DD42-B605-33134B5B551C}" type="presParOf" srcId="{2E1CE7D4-D0E1-2B4E-B5D3-F698BF87757B}" destId="{3A66D12B-1925-1845-9626-8EFD365DFD95}" srcOrd="13" destOrd="0" presId="urn:microsoft.com/office/officeart/2005/8/layout/list1"/>
    <dgm:cxn modelId="{6A7944AE-B54B-634D-A2F8-DC217C8D0373}" type="presParOf" srcId="{2E1CE7D4-D0E1-2B4E-B5D3-F698BF87757B}" destId="{481E7E34-7969-A742-BDC2-28AB72440EB0}" srcOrd="14" destOrd="0" presId="urn:microsoft.com/office/officeart/2005/8/layout/list1"/>
    <dgm:cxn modelId="{1AC446FD-9051-BA4F-A9DA-7F6A961B878C}" type="presParOf" srcId="{2E1CE7D4-D0E1-2B4E-B5D3-F698BF87757B}" destId="{B985C504-F1D7-D345-9001-E6D599E623F6}" srcOrd="15" destOrd="0" presId="urn:microsoft.com/office/officeart/2005/8/layout/list1"/>
    <dgm:cxn modelId="{59FE4A55-4E0E-8A46-BAAA-5D3160434A0D}" type="presParOf" srcId="{2E1CE7D4-D0E1-2B4E-B5D3-F698BF87757B}" destId="{897BB147-FF84-9C46-AACA-5CAA5EC80570}" srcOrd="16" destOrd="0" presId="urn:microsoft.com/office/officeart/2005/8/layout/list1"/>
    <dgm:cxn modelId="{A9CEBF96-7475-C64C-BB3C-94E58107ED23}" type="presParOf" srcId="{897BB147-FF84-9C46-AACA-5CAA5EC80570}" destId="{2B86625C-7FA1-7340-A591-9C4C2B4A5216}" srcOrd="0" destOrd="0" presId="urn:microsoft.com/office/officeart/2005/8/layout/list1"/>
    <dgm:cxn modelId="{E8C729F6-81F3-864B-B15C-F44545BB4EE3}" type="presParOf" srcId="{897BB147-FF84-9C46-AACA-5CAA5EC80570}" destId="{DBB30FFF-8E86-0743-860B-88C58A8CC43D}" srcOrd="1" destOrd="0" presId="urn:microsoft.com/office/officeart/2005/8/layout/list1"/>
    <dgm:cxn modelId="{69F8B44E-449A-5B45-893A-709D4856DF5F}" type="presParOf" srcId="{2E1CE7D4-D0E1-2B4E-B5D3-F698BF87757B}" destId="{CB1F3A0A-A00D-E94B-A9F7-BCAFF100CD38}" srcOrd="17" destOrd="0" presId="urn:microsoft.com/office/officeart/2005/8/layout/list1"/>
    <dgm:cxn modelId="{B4D879B5-D29D-784E-970C-7ECC881309BE}" type="presParOf" srcId="{2E1CE7D4-D0E1-2B4E-B5D3-F698BF87757B}" destId="{C41CF316-D20F-E340-AF81-83D484B23DA0}" srcOrd="18" destOrd="0" presId="urn:microsoft.com/office/officeart/2005/8/layout/list1"/>
    <dgm:cxn modelId="{BCAA65BD-824F-CA43-99DE-6DCCD158EFF2}" type="presParOf" srcId="{2E1CE7D4-D0E1-2B4E-B5D3-F698BF87757B}" destId="{B889D81A-81D6-CD40-96AF-931632FFBBF9}" srcOrd="19" destOrd="0" presId="urn:microsoft.com/office/officeart/2005/8/layout/list1"/>
    <dgm:cxn modelId="{904260BF-5DDA-0A49-BFC8-F1B7819FAA33}" type="presParOf" srcId="{2E1CE7D4-D0E1-2B4E-B5D3-F698BF87757B}" destId="{EEB2E8E4-9F74-1940-822E-A8D7A966AE20}" srcOrd="20" destOrd="0" presId="urn:microsoft.com/office/officeart/2005/8/layout/list1"/>
    <dgm:cxn modelId="{FB254032-3363-2A4F-859C-C1C3A997EEC7}" type="presParOf" srcId="{EEB2E8E4-9F74-1940-822E-A8D7A966AE20}" destId="{7A131F98-33D2-E845-8D6C-6E55C543ED2C}" srcOrd="0" destOrd="0" presId="urn:microsoft.com/office/officeart/2005/8/layout/list1"/>
    <dgm:cxn modelId="{68BCB9C2-C209-9B4C-AA30-88062D0FA29A}" type="presParOf" srcId="{EEB2E8E4-9F74-1940-822E-A8D7A966AE20}" destId="{04DDD348-2047-B14D-85C7-6C471D04BE47}" srcOrd="1" destOrd="0" presId="urn:microsoft.com/office/officeart/2005/8/layout/list1"/>
    <dgm:cxn modelId="{F847F075-3656-F249-A118-BA748486C2D7}" type="presParOf" srcId="{2E1CE7D4-D0E1-2B4E-B5D3-F698BF87757B}" destId="{0F9D2E65-5C32-884A-B262-96733DDFDC13}" srcOrd="21" destOrd="0" presId="urn:microsoft.com/office/officeart/2005/8/layout/list1"/>
    <dgm:cxn modelId="{C0DBA2F4-7E71-1E48-A544-DB679F22313C}" type="presParOf" srcId="{2E1CE7D4-D0E1-2B4E-B5D3-F698BF87757B}" destId="{6FB62475-48CC-1644-9E9E-1DE182DC9882}" srcOrd="2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3C832-6E8F-EA4C-83D1-96138E4415D8}"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A111A13D-AE99-0240-A537-DA7A182B332C}">
      <dgm:prSet phldrT="[Text]"/>
      <dgm:spPr/>
      <dgm:t>
        <a:bodyPr/>
        <a:lstStyle/>
        <a:p>
          <a:r>
            <a:rPr lang="en-US" dirty="0">
              <a:latin typeface="Proxima Nova Rg" panose="02000506030000020004" pitchFamily="2" charset="0"/>
            </a:rPr>
            <a:t>Affording tuition and fees</a:t>
          </a:r>
        </a:p>
      </dgm:t>
    </dgm:pt>
    <dgm:pt modelId="{6B447876-6F8D-4448-937B-4EDDDBF40494}" type="parTrans" cxnId="{36D61C40-8931-6941-AC31-6F2E807FCA82}">
      <dgm:prSet/>
      <dgm:spPr/>
      <dgm:t>
        <a:bodyPr/>
        <a:lstStyle/>
        <a:p>
          <a:endParaRPr lang="en-US"/>
        </a:p>
      </dgm:t>
    </dgm:pt>
    <dgm:pt modelId="{0A9D6163-2549-D044-8C1E-3E6DB16103B6}" type="sibTrans" cxnId="{36D61C40-8931-6941-AC31-6F2E807FCA82}">
      <dgm:prSet/>
      <dgm:spPr/>
      <dgm:t>
        <a:bodyPr/>
        <a:lstStyle/>
        <a:p>
          <a:endParaRPr lang="en-US"/>
        </a:p>
      </dgm:t>
    </dgm:pt>
    <dgm:pt modelId="{41842377-30D1-5E46-9493-EEE3617C8BE2}">
      <dgm:prSet phldrT="[Text]"/>
      <dgm:spPr/>
      <dgm:t>
        <a:bodyPr/>
        <a:lstStyle/>
        <a:p>
          <a:r>
            <a:rPr lang="en-US" dirty="0">
              <a:latin typeface="Proxima Nova Rg" panose="02000506030000020004" pitchFamily="2" charset="0"/>
            </a:rPr>
            <a:t>Living expenses</a:t>
          </a:r>
        </a:p>
      </dgm:t>
    </dgm:pt>
    <dgm:pt modelId="{051C0264-D162-F54B-9F20-A400445A6126}" type="parTrans" cxnId="{F73C5357-ED53-8A40-8CD3-8AD929032838}">
      <dgm:prSet/>
      <dgm:spPr/>
      <dgm:t>
        <a:bodyPr/>
        <a:lstStyle/>
        <a:p>
          <a:endParaRPr lang="en-US"/>
        </a:p>
      </dgm:t>
    </dgm:pt>
    <dgm:pt modelId="{7AE9ABAA-B7C8-FD40-8B41-DD37A86D719B}" type="sibTrans" cxnId="{F73C5357-ED53-8A40-8CD3-8AD929032838}">
      <dgm:prSet/>
      <dgm:spPr/>
      <dgm:t>
        <a:bodyPr/>
        <a:lstStyle/>
        <a:p>
          <a:endParaRPr lang="en-US"/>
        </a:p>
      </dgm:t>
    </dgm:pt>
    <dgm:pt modelId="{A67370C7-85B8-4D4C-AA60-F756B8EB8FAC}">
      <dgm:prSet phldrT="[Text]"/>
      <dgm:spPr/>
      <dgm:t>
        <a:bodyPr/>
        <a:lstStyle/>
        <a:p>
          <a:r>
            <a:rPr lang="en-US" dirty="0">
              <a:latin typeface="Proxima Nova Rg" panose="02000506030000020004" pitchFamily="2" charset="0"/>
            </a:rPr>
            <a:t>Performing well academically</a:t>
          </a:r>
        </a:p>
      </dgm:t>
    </dgm:pt>
    <dgm:pt modelId="{D7F9B9F6-1443-AC4B-8D1B-6F06C47F561D}" type="parTrans" cxnId="{9A919EDB-352F-7446-888E-F249EB8927A1}">
      <dgm:prSet/>
      <dgm:spPr/>
      <dgm:t>
        <a:bodyPr/>
        <a:lstStyle/>
        <a:p>
          <a:endParaRPr lang="en-US"/>
        </a:p>
      </dgm:t>
    </dgm:pt>
    <dgm:pt modelId="{F985462E-0561-FE4A-959A-BB5FA138AFFC}" type="sibTrans" cxnId="{9A919EDB-352F-7446-888E-F249EB8927A1}">
      <dgm:prSet/>
      <dgm:spPr/>
      <dgm:t>
        <a:bodyPr/>
        <a:lstStyle/>
        <a:p>
          <a:endParaRPr lang="en-US"/>
        </a:p>
      </dgm:t>
    </dgm:pt>
    <dgm:pt modelId="{9556463E-A467-2244-A17F-004F1225F46C}">
      <dgm:prSet/>
      <dgm:spPr/>
      <dgm:t>
        <a:bodyPr/>
        <a:lstStyle/>
        <a:p>
          <a:r>
            <a:rPr lang="en-US" dirty="0">
              <a:latin typeface="Proxima Nova Rg" panose="02000506030000020004" pitchFamily="2" charset="0"/>
            </a:rPr>
            <a:t>Balancing work obligations</a:t>
          </a:r>
        </a:p>
      </dgm:t>
    </dgm:pt>
    <dgm:pt modelId="{DE9E99CE-5D43-354F-9F16-0AC67E00B1F0}" type="parTrans" cxnId="{6FE31D87-94A5-134B-B497-080DD5EC73E2}">
      <dgm:prSet/>
      <dgm:spPr/>
      <dgm:t>
        <a:bodyPr/>
        <a:lstStyle/>
        <a:p>
          <a:endParaRPr lang="en-US"/>
        </a:p>
      </dgm:t>
    </dgm:pt>
    <dgm:pt modelId="{F4C6DD15-1E2C-E04F-AFBE-3FCF28B0D51B}" type="sibTrans" cxnId="{6FE31D87-94A5-134B-B497-080DD5EC73E2}">
      <dgm:prSet/>
      <dgm:spPr/>
      <dgm:t>
        <a:bodyPr/>
        <a:lstStyle/>
        <a:p>
          <a:endParaRPr lang="en-US"/>
        </a:p>
      </dgm:t>
    </dgm:pt>
    <dgm:pt modelId="{6C1248A8-AFAD-514A-83B7-4FE7A65ACE70}">
      <dgm:prSet/>
      <dgm:spPr/>
      <dgm:t>
        <a:bodyPr/>
        <a:lstStyle/>
        <a:p>
          <a:r>
            <a:rPr lang="en-US" dirty="0">
              <a:latin typeface="Proxima Nova Rg" panose="02000506030000020004" pitchFamily="2" charset="0"/>
            </a:rPr>
            <a:t>Balancing family obligations</a:t>
          </a:r>
        </a:p>
      </dgm:t>
    </dgm:pt>
    <dgm:pt modelId="{655AF660-B1F6-E344-BF43-5D821415A933}" type="parTrans" cxnId="{96FDEA36-1CD2-D34B-98BE-CF898960D607}">
      <dgm:prSet/>
      <dgm:spPr/>
      <dgm:t>
        <a:bodyPr/>
        <a:lstStyle/>
        <a:p>
          <a:endParaRPr lang="en-US"/>
        </a:p>
      </dgm:t>
    </dgm:pt>
    <dgm:pt modelId="{05F5C3E7-96F6-3648-B9E2-E00771FBE61C}" type="sibTrans" cxnId="{96FDEA36-1CD2-D34B-98BE-CF898960D607}">
      <dgm:prSet/>
      <dgm:spPr/>
      <dgm:t>
        <a:bodyPr/>
        <a:lstStyle/>
        <a:p>
          <a:endParaRPr lang="en-US"/>
        </a:p>
      </dgm:t>
    </dgm:pt>
    <dgm:pt modelId="{81BD4996-B845-CE4C-A348-8A36257742E8}">
      <dgm:prSet/>
      <dgm:spPr/>
      <dgm:t>
        <a:bodyPr/>
        <a:lstStyle/>
        <a:p>
          <a:r>
            <a:rPr lang="en-US" dirty="0">
              <a:latin typeface="Proxima Nova Rg" panose="02000506030000020004" pitchFamily="2" charset="0"/>
            </a:rPr>
            <a:t>Finding community</a:t>
          </a:r>
        </a:p>
      </dgm:t>
    </dgm:pt>
    <dgm:pt modelId="{04CAAD0D-FB35-0C45-920D-4202B95D5918}" type="parTrans" cxnId="{06A51463-5983-D145-805F-4F3949FA52F3}">
      <dgm:prSet/>
      <dgm:spPr/>
      <dgm:t>
        <a:bodyPr/>
        <a:lstStyle/>
        <a:p>
          <a:endParaRPr lang="en-US"/>
        </a:p>
      </dgm:t>
    </dgm:pt>
    <dgm:pt modelId="{EBB0F63F-3564-3E4E-8B5A-35A0D7E9A755}" type="sibTrans" cxnId="{06A51463-5983-D145-805F-4F3949FA52F3}">
      <dgm:prSet/>
      <dgm:spPr/>
      <dgm:t>
        <a:bodyPr/>
        <a:lstStyle/>
        <a:p>
          <a:endParaRPr lang="en-US"/>
        </a:p>
      </dgm:t>
    </dgm:pt>
    <dgm:pt modelId="{1E4E6D59-1695-6F49-9911-2A953C999B2A}">
      <dgm:prSet/>
      <dgm:spPr/>
      <dgm:t>
        <a:bodyPr/>
        <a:lstStyle/>
        <a:p>
          <a:r>
            <a:rPr lang="en-US" dirty="0">
              <a:latin typeface="Proxima Nova Rg" panose="02000506030000020004" pitchFamily="2" charset="0"/>
            </a:rPr>
            <a:t>Living away from home</a:t>
          </a:r>
        </a:p>
      </dgm:t>
    </dgm:pt>
    <dgm:pt modelId="{8291A436-1500-C54A-A6FB-27E200138913}" type="parTrans" cxnId="{7976F859-2C19-0940-838D-4C75E931E002}">
      <dgm:prSet/>
      <dgm:spPr/>
      <dgm:t>
        <a:bodyPr/>
        <a:lstStyle/>
        <a:p>
          <a:endParaRPr lang="en-US"/>
        </a:p>
      </dgm:t>
    </dgm:pt>
    <dgm:pt modelId="{0E4DE2C1-9E22-AE46-BA2F-33C8E5F980C0}" type="sibTrans" cxnId="{7976F859-2C19-0940-838D-4C75E931E002}">
      <dgm:prSet/>
      <dgm:spPr/>
      <dgm:t>
        <a:bodyPr/>
        <a:lstStyle/>
        <a:p>
          <a:endParaRPr lang="en-US"/>
        </a:p>
      </dgm:t>
    </dgm:pt>
    <dgm:pt modelId="{3AA895C5-F105-D74F-B85C-AF60E4B71855}">
      <dgm:prSet/>
      <dgm:spPr/>
      <dgm:t>
        <a:bodyPr/>
        <a:lstStyle/>
        <a:p>
          <a:r>
            <a:rPr lang="en-US" dirty="0">
              <a:latin typeface="Proxima Nova Rg" panose="02000506030000020004" pitchFamily="2" charset="0"/>
            </a:rPr>
            <a:t>Having adequate support for emotional and mental health needs</a:t>
          </a:r>
        </a:p>
      </dgm:t>
    </dgm:pt>
    <dgm:pt modelId="{6B52FE7C-A8A2-1C49-B6EF-1F0A410EFBBC}" type="parTrans" cxnId="{66618136-751B-4740-8908-1798745F4D57}">
      <dgm:prSet/>
      <dgm:spPr/>
      <dgm:t>
        <a:bodyPr/>
        <a:lstStyle/>
        <a:p>
          <a:endParaRPr lang="en-US"/>
        </a:p>
      </dgm:t>
    </dgm:pt>
    <dgm:pt modelId="{D3A24339-1D4C-5247-BD37-73922D1EE8F8}" type="sibTrans" cxnId="{66618136-751B-4740-8908-1798745F4D57}">
      <dgm:prSet/>
      <dgm:spPr/>
      <dgm:t>
        <a:bodyPr/>
        <a:lstStyle/>
        <a:p>
          <a:endParaRPr lang="en-US"/>
        </a:p>
      </dgm:t>
    </dgm:pt>
    <dgm:pt modelId="{970A7D76-7A54-4746-B375-B0F18859A166}">
      <dgm:prSet/>
      <dgm:spPr/>
      <dgm:t>
        <a:bodyPr/>
        <a:lstStyle/>
        <a:p>
          <a:r>
            <a:rPr lang="en-US" dirty="0">
              <a:latin typeface="Proxima Nova Rg" panose="02000506030000020004" pitchFamily="2" charset="0"/>
            </a:rPr>
            <a:t>Discrimination based on gender</a:t>
          </a:r>
        </a:p>
      </dgm:t>
    </dgm:pt>
    <dgm:pt modelId="{D9908C12-7D7B-9A4D-9DBF-27CA8DC20995}" type="parTrans" cxnId="{BA22907D-AED5-594A-B8B4-9AC62CFF3DEC}">
      <dgm:prSet/>
      <dgm:spPr/>
      <dgm:t>
        <a:bodyPr/>
        <a:lstStyle/>
        <a:p>
          <a:endParaRPr lang="en-US"/>
        </a:p>
      </dgm:t>
    </dgm:pt>
    <dgm:pt modelId="{A944BDF2-7B91-EA46-B2A8-22595E7774F0}" type="sibTrans" cxnId="{BA22907D-AED5-594A-B8B4-9AC62CFF3DEC}">
      <dgm:prSet/>
      <dgm:spPr/>
      <dgm:t>
        <a:bodyPr/>
        <a:lstStyle/>
        <a:p>
          <a:endParaRPr lang="en-US"/>
        </a:p>
      </dgm:t>
    </dgm:pt>
    <dgm:pt modelId="{778F8031-D1F5-A840-ABBD-42A8494B547A}">
      <dgm:prSet/>
      <dgm:spPr/>
      <dgm:t>
        <a:bodyPr/>
        <a:lstStyle/>
        <a:p>
          <a:r>
            <a:rPr lang="en-US" dirty="0">
              <a:latin typeface="Proxima Nova Rg" panose="02000506030000020004" pitchFamily="2" charset="0"/>
            </a:rPr>
            <a:t>Discrimination based on sexual orientation</a:t>
          </a:r>
        </a:p>
      </dgm:t>
    </dgm:pt>
    <dgm:pt modelId="{2B385B30-288C-6E47-B23C-CB7FBA4D6E79}" type="parTrans" cxnId="{66577C42-CC64-E444-AD33-7E1D8CDDBAAE}">
      <dgm:prSet/>
      <dgm:spPr/>
      <dgm:t>
        <a:bodyPr/>
        <a:lstStyle/>
        <a:p>
          <a:endParaRPr lang="en-US"/>
        </a:p>
      </dgm:t>
    </dgm:pt>
    <dgm:pt modelId="{82CD3E14-7CDF-B549-AD04-CF957D988417}" type="sibTrans" cxnId="{66577C42-CC64-E444-AD33-7E1D8CDDBAAE}">
      <dgm:prSet/>
      <dgm:spPr/>
      <dgm:t>
        <a:bodyPr/>
        <a:lstStyle/>
        <a:p>
          <a:endParaRPr lang="en-US"/>
        </a:p>
      </dgm:t>
    </dgm:pt>
    <dgm:pt modelId="{F63011BF-65CC-1841-88CC-BE6FC2CAC873}">
      <dgm:prSet/>
      <dgm:spPr/>
      <dgm:t>
        <a:bodyPr/>
        <a:lstStyle/>
        <a:p>
          <a:r>
            <a:rPr lang="en-US" dirty="0">
              <a:latin typeface="Proxima Nova Rg" panose="02000506030000020004" pitchFamily="2" charset="0"/>
            </a:rPr>
            <a:t>Discrimination based on race</a:t>
          </a:r>
        </a:p>
      </dgm:t>
    </dgm:pt>
    <dgm:pt modelId="{BE94D101-73E4-904E-B90B-507368CDCF17}" type="parTrans" cxnId="{666EFA74-9E50-A645-91EB-09C51D402800}">
      <dgm:prSet/>
      <dgm:spPr/>
      <dgm:t>
        <a:bodyPr/>
        <a:lstStyle/>
        <a:p>
          <a:endParaRPr lang="en-US"/>
        </a:p>
      </dgm:t>
    </dgm:pt>
    <dgm:pt modelId="{2AD7B978-06CA-2242-940F-420B93BD3892}" type="sibTrans" cxnId="{666EFA74-9E50-A645-91EB-09C51D402800}">
      <dgm:prSet/>
      <dgm:spPr/>
      <dgm:t>
        <a:bodyPr/>
        <a:lstStyle/>
        <a:p>
          <a:endParaRPr lang="en-US"/>
        </a:p>
      </dgm:t>
    </dgm:pt>
    <dgm:pt modelId="{1A641CD4-A912-3047-8F83-94ABAD6E8AA0}">
      <dgm:prSet/>
      <dgm:spPr/>
      <dgm:t>
        <a:bodyPr/>
        <a:lstStyle/>
        <a:p>
          <a:r>
            <a:rPr lang="en-US" dirty="0">
              <a:latin typeface="Proxima Nova Rg" panose="02000506030000020004" pitchFamily="2" charset="0"/>
            </a:rPr>
            <a:t>Discrimination based on religion</a:t>
          </a:r>
        </a:p>
      </dgm:t>
    </dgm:pt>
    <dgm:pt modelId="{530401FC-FF40-094E-8BE0-9ECEB024C0F7}" type="parTrans" cxnId="{A92FF2B4-8879-594C-8200-3F1D127C2076}">
      <dgm:prSet/>
      <dgm:spPr/>
      <dgm:t>
        <a:bodyPr/>
        <a:lstStyle/>
        <a:p>
          <a:endParaRPr lang="en-US"/>
        </a:p>
      </dgm:t>
    </dgm:pt>
    <dgm:pt modelId="{6389341E-3AA2-0D44-8D82-A1AAD184A5B8}" type="sibTrans" cxnId="{A92FF2B4-8879-594C-8200-3F1D127C2076}">
      <dgm:prSet/>
      <dgm:spPr/>
      <dgm:t>
        <a:bodyPr/>
        <a:lstStyle/>
        <a:p>
          <a:endParaRPr lang="en-US"/>
        </a:p>
      </dgm:t>
    </dgm:pt>
    <dgm:pt modelId="{3BF19A71-1AA4-CB4A-994E-BD12213A339B}" type="pres">
      <dgm:prSet presAssocID="{E153C832-6E8F-EA4C-83D1-96138E4415D8}" presName="vert0" presStyleCnt="0">
        <dgm:presLayoutVars>
          <dgm:dir/>
          <dgm:animOne val="branch"/>
          <dgm:animLvl val="lvl"/>
        </dgm:presLayoutVars>
      </dgm:prSet>
      <dgm:spPr/>
    </dgm:pt>
    <dgm:pt modelId="{3CFD8FFD-A73C-0D4C-AA2B-AB13C86D141A}" type="pres">
      <dgm:prSet presAssocID="{A111A13D-AE99-0240-A537-DA7A182B332C}" presName="thickLine" presStyleLbl="alignNode1" presStyleIdx="0" presStyleCnt="12"/>
      <dgm:spPr/>
    </dgm:pt>
    <dgm:pt modelId="{2C7C4DD6-543A-8040-A498-8830772F2C64}" type="pres">
      <dgm:prSet presAssocID="{A111A13D-AE99-0240-A537-DA7A182B332C}" presName="horz1" presStyleCnt="0"/>
      <dgm:spPr/>
    </dgm:pt>
    <dgm:pt modelId="{B101E71D-577A-3F46-AB9D-A8532EA5A34E}" type="pres">
      <dgm:prSet presAssocID="{A111A13D-AE99-0240-A537-DA7A182B332C}" presName="tx1" presStyleLbl="revTx" presStyleIdx="0" presStyleCnt="12"/>
      <dgm:spPr/>
    </dgm:pt>
    <dgm:pt modelId="{8CF9BA63-6E9A-5549-A1F5-A7E7889D01FD}" type="pres">
      <dgm:prSet presAssocID="{A111A13D-AE99-0240-A537-DA7A182B332C}" presName="vert1" presStyleCnt="0"/>
      <dgm:spPr/>
    </dgm:pt>
    <dgm:pt modelId="{B048891E-C866-BF4A-8D9F-23A5408008BC}" type="pres">
      <dgm:prSet presAssocID="{41842377-30D1-5E46-9493-EEE3617C8BE2}" presName="thickLine" presStyleLbl="alignNode1" presStyleIdx="1" presStyleCnt="12"/>
      <dgm:spPr/>
    </dgm:pt>
    <dgm:pt modelId="{A2417B1E-EC0B-6F4E-A5B0-262C65B5DCF3}" type="pres">
      <dgm:prSet presAssocID="{41842377-30D1-5E46-9493-EEE3617C8BE2}" presName="horz1" presStyleCnt="0"/>
      <dgm:spPr/>
    </dgm:pt>
    <dgm:pt modelId="{A7CA5E9F-D3DD-5442-B239-7A97D8082FC0}" type="pres">
      <dgm:prSet presAssocID="{41842377-30D1-5E46-9493-EEE3617C8BE2}" presName="tx1" presStyleLbl="revTx" presStyleIdx="1" presStyleCnt="12"/>
      <dgm:spPr/>
    </dgm:pt>
    <dgm:pt modelId="{3DEBAB4B-A677-F041-A2CC-20CBC8B50A9C}" type="pres">
      <dgm:prSet presAssocID="{41842377-30D1-5E46-9493-EEE3617C8BE2}" presName="vert1" presStyleCnt="0"/>
      <dgm:spPr/>
    </dgm:pt>
    <dgm:pt modelId="{C287D766-18E2-AB4B-BBBA-F89118AD1944}" type="pres">
      <dgm:prSet presAssocID="{A67370C7-85B8-4D4C-AA60-F756B8EB8FAC}" presName="thickLine" presStyleLbl="alignNode1" presStyleIdx="2" presStyleCnt="12"/>
      <dgm:spPr/>
    </dgm:pt>
    <dgm:pt modelId="{9E3D56F5-EA31-8D4F-A4CF-3994A0A46EA5}" type="pres">
      <dgm:prSet presAssocID="{A67370C7-85B8-4D4C-AA60-F756B8EB8FAC}" presName="horz1" presStyleCnt="0"/>
      <dgm:spPr/>
    </dgm:pt>
    <dgm:pt modelId="{3CE79708-F8AA-B549-BB1A-18A0A5968AA7}" type="pres">
      <dgm:prSet presAssocID="{A67370C7-85B8-4D4C-AA60-F756B8EB8FAC}" presName="tx1" presStyleLbl="revTx" presStyleIdx="2" presStyleCnt="12"/>
      <dgm:spPr/>
    </dgm:pt>
    <dgm:pt modelId="{F15706A3-246A-E24D-A778-E1BD1AA9F742}" type="pres">
      <dgm:prSet presAssocID="{A67370C7-85B8-4D4C-AA60-F756B8EB8FAC}" presName="vert1" presStyleCnt="0"/>
      <dgm:spPr/>
    </dgm:pt>
    <dgm:pt modelId="{282475C8-5BB9-2943-BA3C-DBEF7A5E2E75}" type="pres">
      <dgm:prSet presAssocID="{9556463E-A467-2244-A17F-004F1225F46C}" presName="thickLine" presStyleLbl="alignNode1" presStyleIdx="3" presStyleCnt="12"/>
      <dgm:spPr/>
    </dgm:pt>
    <dgm:pt modelId="{EA4A96F7-A571-7C4B-844D-AD6194153BF6}" type="pres">
      <dgm:prSet presAssocID="{9556463E-A467-2244-A17F-004F1225F46C}" presName="horz1" presStyleCnt="0"/>
      <dgm:spPr/>
    </dgm:pt>
    <dgm:pt modelId="{802E0EE8-53AF-DA45-949F-8146ACBBEB10}" type="pres">
      <dgm:prSet presAssocID="{9556463E-A467-2244-A17F-004F1225F46C}" presName="tx1" presStyleLbl="revTx" presStyleIdx="3" presStyleCnt="12"/>
      <dgm:spPr/>
    </dgm:pt>
    <dgm:pt modelId="{2F145D0D-1B28-784C-B0D6-6415D867B96E}" type="pres">
      <dgm:prSet presAssocID="{9556463E-A467-2244-A17F-004F1225F46C}" presName="vert1" presStyleCnt="0"/>
      <dgm:spPr/>
    </dgm:pt>
    <dgm:pt modelId="{7BAD1CEF-73D4-224C-8C48-38C8CA25E1EC}" type="pres">
      <dgm:prSet presAssocID="{6C1248A8-AFAD-514A-83B7-4FE7A65ACE70}" presName="thickLine" presStyleLbl="alignNode1" presStyleIdx="4" presStyleCnt="12"/>
      <dgm:spPr/>
    </dgm:pt>
    <dgm:pt modelId="{6BBCA99F-FD68-8A4B-A838-E3ED2427B6BE}" type="pres">
      <dgm:prSet presAssocID="{6C1248A8-AFAD-514A-83B7-4FE7A65ACE70}" presName="horz1" presStyleCnt="0"/>
      <dgm:spPr/>
    </dgm:pt>
    <dgm:pt modelId="{4321A7F7-0ED4-8748-800E-F8EA08669064}" type="pres">
      <dgm:prSet presAssocID="{6C1248A8-AFAD-514A-83B7-4FE7A65ACE70}" presName="tx1" presStyleLbl="revTx" presStyleIdx="4" presStyleCnt="12"/>
      <dgm:spPr/>
    </dgm:pt>
    <dgm:pt modelId="{424320F0-CEFB-E44A-ABB9-740E7D6ACD7F}" type="pres">
      <dgm:prSet presAssocID="{6C1248A8-AFAD-514A-83B7-4FE7A65ACE70}" presName="vert1" presStyleCnt="0"/>
      <dgm:spPr/>
    </dgm:pt>
    <dgm:pt modelId="{1D110869-C564-714A-8B69-79DA77CDA13D}" type="pres">
      <dgm:prSet presAssocID="{81BD4996-B845-CE4C-A348-8A36257742E8}" presName="thickLine" presStyleLbl="alignNode1" presStyleIdx="5" presStyleCnt="12"/>
      <dgm:spPr/>
    </dgm:pt>
    <dgm:pt modelId="{8AF2D682-E35F-8E46-A181-A1753C299821}" type="pres">
      <dgm:prSet presAssocID="{81BD4996-B845-CE4C-A348-8A36257742E8}" presName="horz1" presStyleCnt="0"/>
      <dgm:spPr/>
    </dgm:pt>
    <dgm:pt modelId="{15D44E07-E090-FB42-A660-4C1EC5FD43D2}" type="pres">
      <dgm:prSet presAssocID="{81BD4996-B845-CE4C-A348-8A36257742E8}" presName="tx1" presStyleLbl="revTx" presStyleIdx="5" presStyleCnt="12"/>
      <dgm:spPr/>
    </dgm:pt>
    <dgm:pt modelId="{2D6B16BC-03A2-A648-8F12-B6E42A629B0C}" type="pres">
      <dgm:prSet presAssocID="{81BD4996-B845-CE4C-A348-8A36257742E8}" presName="vert1" presStyleCnt="0"/>
      <dgm:spPr/>
    </dgm:pt>
    <dgm:pt modelId="{5BEDB4BB-5F0C-864B-AF6E-DBA3693BB167}" type="pres">
      <dgm:prSet presAssocID="{1E4E6D59-1695-6F49-9911-2A953C999B2A}" presName="thickLine" presStyleLbl="alignNode1" presStyleIdx="6" presStyleCnt="12"/>
      <dgm:spPr/>
    </dgm:pt>
    <dgm:pt modelId="{BE62806B-3B11-2F4C-9D25-6F9900EC4869}" type="pres">
      <dgm:prSet presAssocID="{1E4E6D59-1695-6F49-9911-2A953C999B2A}" presName="horz1" presStyleCnt="0"/>
      <dgm:spPr/>
    </dgm:pt>
    <dgm:pt modelId="{E0EB1A79-EEE1-7E42-B892-E82CA01F5DF1}" type="pres">
      <dgm:prSet presAssocID="{1E4E6D59-1695-6F49-9911-2A953C999B2A}" presName="tx1" presStyleLbl="revTx" presStyleIdx="6" presStyleCnt="12"/>
      <dgm:spPr/>
    </dgm:pt>
    <dgm:pt modelId="{8F11FF75-3738-114C-AD5B-673F5847A6D2}" type="pres">
      <dgm:prSet presAssocID="{1E4E6D59-1695-6F49-9911-2A953C999B2A}" presName="vert1" presStyleCnt="0"/>
      <dgm:spPr/>
    </dgm:pt>
    <dgm:pt modelId="{4ECC0AA3-0A9A-134C-970A-88197EA085FF}" type="pres">
      <dgm:prSet presAssocID="{3AA895C5-F105-D74F-B85C-AF60E4B71855}" presName="thickLine" presStyleLbl="alignNode1" presStyleIdx="7" presStyleCnt="12"/>
      <dgm:spPr/>
    </dgm:pt>
    <dgm:pt modelId="{BC6B6EFC-4224-7C4B-9C56-2C6E071BBFBF}" type="pres">
      <dgm:prSet presAssocID="{3AA895C5-F105-D74F-B85C-AF60E4B71855}" presName="horz1" presStyleCnt="0"/>
      <dgm:spPr/>
    </dgm:pt>
    <dgm:pt modelId="{D4E8A3CC-4D23-8A44-BCC2-F546F4C76FC4}" type="pres">
      <dgm:prSet presAssocID="{3AA895C5-F105-D74F-B85C-AF60E4B71855}" presName="tx1" presStyleLbl="revTx" presStyleIdx="7" presStyleCnt="12"/>
      <dgm:spPr/>
    </dgm:pt>
    <dgm:pt modelId="{EDE3EE53-89EC-0C49-9828-4C4001E1814E}" type="pres">
      <dgm:prSet presAssocID="{3AA895C5-F105-D74F-B85C-AF60E4B71855}" presName="vert1" presStyleCnt="0"/>
      <dgm:spPr/>
    </dgm:pt>
    <dgm:pt modelId="{803282ED-D805-BE4C-B9D2-295BC4EC0A20}" type="pres">
      <dgm:prSet presAssocID="{970A7D76-7A54-4746-B375-B0F18859A166}" presName="thickLine" presStyleLbl="alignNode1" presStyleIdx="8" presStyleCnt="12"/>
      <dgm:spPr/>
    </dgm:pt>
    <dgm:pt modelId="{C88AFF03-7892-0D4E-9DA0-10FA48854BDE}" type="pres">
      <dgm:prSet presAssocID="{970A7D76-7A54-4746-B375-B0F18859A166}" presName="horz1" presStyleCnt="0"/>
      <dgm:spPr/>
    </dgm:pt>
    <dgm:pt modelId="{A2F10E6E-134B-5D43-8587-D103629CDECF}" type="pres">
      <dgm:prSet presAssocID="{970A7D76-7A54-4746-B375-B0F18859A166}" presName="tx1" presStyleLbl="revTx" presStyleIdx="8" presStyleCnt="12"/>
      <dgm:spPr/>
    </dgm:pt>
    <dgm:pt modelId="{BE416622-D9A9-9A42-92F4-353AFC322F71}" type="pres">
      <dgm:prSet presAssocID="{970A7D76-7A54-4746-B375-B0F18859A166}" presName="vert1" presStyleCnt="0"/>
      <dgm:spPr/>
    </dgm:pt>
    <dgm:pt modelId="{5C8CBAC4-BFD9-8C40-A6BD-0E1EDA65393D}" type="pres">
      <dgm:prSet presAssocID="{778F8031-D1F5-A840-ABBD-42A8494B547A}" presName="thickLine" presStyleLbl="alignNode1" presStyleIdx="9" presStyleCnt="12"/>
      <dgm:spPr/>
    </dgm:pt>
    <dgm:pt modelId="{0D4FFE58-4383-0F4D-BD63-6EA57EA6FA89}" type="pres">
      <dgm:prSet presAssocID="{778F8031-D1F5-A840-ABBD-42A8494B547A}" presName="horz1" presStyleCnt="0"/>
      <dgm:spPr/>
    </dgm:pt>
    <dgm:pt modelId="{FED4957D-A683-7D4C-8C33-174FEBB0DBD6}" type="pres">
      <dgm:prSet presAssocID="{778F8031-D1F5-A840-ABBD-42A8494B547A}" presName="tx1" presStyleLbl="revTx" presStyleIdx="9" presStyleCnt="12"/>
      <dgm:spPr/>
    </dgm:pt>
    <dgm:pt modelId="{9B408235-7471-0346-80CE-FEA373055560}" type="pres">
      <dgm:prSet presAssocID="{778F8031-D1F5-A840-ABBD-42A8494B547A}" presName="vert1" presStyleCnt="0"/>
      <dgm:spPr/>
    </dgm:pt>
    <dgm:pt modelId="{6C683F96-BE00-5944-A501-889938619C80}" type="pres">
      <dgm:prSet presAssocID="{F63011BF-65CC-1841-88CC-BE6FC2CAC873}" presName="thickLine" presStyleLbl="alignNode1" presStyleIdx="10" presStyleCnt="12"/>
      <dgm:spPr/>
    </dgm:pt>
    <dgm:pt modelId="{533CF306-FB4B-C34E-9626-3C06D8AE11FA}" type="pres">
      <dgm:prSet presAssocID="{F63011BF-65CC-1841-88CC-BE6FC2CAC873}" presName="horz1" presStyleCnt="0"/>
      <dgm:spPr/>
    </dgm:pt>
    <dgm:pt modelId="{BDF5CBC3-C496-F84F-939C-9079DF0C097C}" type="pres">
      <dgm:prSet presAssocID="{F63011BF-65CC-1841-88CC-BE6FC2CAC873}" presName="tx1" presStyleLbl="revTx" presStyleIdx="10" presStyleCnt="12"/>
      <dgm:spPr/>
    </dgm:pt>
    <dgm:pt modelId="{774198BC-5B4E-AD4D-BC25-03EF7966A632}" type="pres">
      <dgm:prSet presAssocID="{F63011BF-65CC-1841-88CC-BE6FC2CAC873}" presName="vert1" presStyleCnt="0"/>
      <dgm:spPr/>
    </dgm:pt>
    <dgm:pt modelId="{2C02CC51-0276-7442-9ED6-A2CD861614BF}" type="pres">
      <dgm:prSet presAssocID="{1A641CD4-A912-3047-8F83-94ABAD6E8AA0}" presName="thickLine" presStyleLbl="alignNode1" presStyleIdx="11" presStyleCnt="12"/>
      <dgm:spPr/>
    </dgm:pt>
    <dgm:pt modelId="{0F00226D-E1AC-F243-8631-40588028E983}" type="pres">
      <dgm:prSet presAssocID="{1A641CD4-A912-3047-8F83-94ABAD6E8AA0}" presName="horz1" presStyleCnt="0"/>
      <dgm:spPr/>
    </dgm:pt>
    <dgm:pt modelId="{CEA2C6CE-C51B-C146-A0ED-80682F02D0AD}" type="pres">
      <dgm:prSet presAssocID="{1A641CD4-A912-3047-8F83-94ABAD6E8AA0}" presName="tx1" presStyleLbl="revTx" presStyleIdx="11" presStyleCnt="12"/>
      <dgm:spPr/>
    </dgm:pt>
    <dgm:pt modelId="{A886FFAB-5AD4-6F41-8E69-873E8FD42232}" type="pres">
      <dgm:prSet presAssocID="{1A641CD4-A912-3047-8F83-94ABAD6E8AA0}" presName="vert1" presStyleCnt="0"/>
      <dgm:spPr/>
    </dgm:pt>
  </dgm:ptLst>
  <dgm:cxnLst>
    <dgm:cxn modelId="{F39EA50D-222F-A048-B113-D88FD5BF98B9}" type="presOf" srcId="{1E4E6D59-1695-6F49-9911-2A953C999B2A}" destId="{E0EB1A79-EEE1-7E42-B892-E82CA01F5DF1}" srcOrd="0" destOrd="0" presId="urn:microsoft.com/office/officeart/2008/layout/LinedList"/>
    <dgm:cxn modelId="{FD78781F-CB8E-B946-9222-B8DED6261503}" type="presOf" srcId="{A111A13D-AE99-0240-A537-DA7A182B332C}" destId="{B101E71D-577A-3F46-AB9D-A8532EA5A34E}" srcOrd="0" destOrd="0" presId="urn:microsoft.com/office/officeart/2008/layout/LinedList"/>
    <dgm:cxn modelId="{28778A20-5DE3-3849-98D6-735CB5881439}" type="presOf" srcId="{A67370C7-85B8-4D4C-AA60-F756B8EB8FAC}" destId="{3CE79708-F8AA-B549-BB1A-18A0A5968AA7}" srcOrd="0" destOrd="0" presId="urn:microsoft.com/office/officeart/2008/layout/LinedList"/>
    <dgm:cxn modelId="{66618136-751B-4740-8908-1798745F4D57}" srcId="{E153C832-6E8F-EA4C-83D1-96138E4415D8}" destId="{3AA895C5-F105-D74F-B85C-AF60E4B71855}" srcOrd="7" destOrd="0" parTransId="{6B52FE7C-A8A2-1C49-B6EF-1F0A410EFBBC}" sibTransId="{D3A24339-1D4C-5247-BD37-73922D1EE8F8}"/>
    <dgm:cxn modelId="{96FDEA36-1CD2-D34B-98BE-CF898960D607}" srcId="{E153C832-6E8F-EA4C-83D1-96138E4415D8}" destId="{6C1248A8-AFAD-514A-83B7-4FE7A65ACE70}" srcOrd="4" destOrd="0" parTransId="{655AF660-B1F6-E344-BF43-5D821415A933}" sibTransId="{05F5C3E7-96F6-3648-B9E2-E00771FBE61C}"/>
    <dgm:cxn modelId="{36D61C40-8931-6941-AC31-6F2E807FCA82}" srcId="{E153C832-6E8F-EA4C-83D1-96138E4415D8}" destId="{A111A13D-AE99-0240-A537-DA7A182B332C}" srcOrd="0" destOrd="0" parTransId="{6B447876-6F8D-4448-937B-4EDDDBF40494}" sibTransId="{0A9D6163-2549-D044-8C1E-3E6DB16103B6}"/>
    <dgm:cxn modelId="{66577C42-CC64-E444-AD33-7E1D8CDDBAAE}" srcId="{E153C832-6E8F-EA4C-83D1-96138E4415D8}" destId="{778F8031-D1F5-A840-ABBD-42A8494B547A}" srcOrd="9" destOrd="0" parTransId="{2B385B30-288C-6E47-B23C-CB7FBA4D6E79}" sibTransId="{82CD3E14-7CDF-B549-AD04-CF957D988417}"/>
    <dgm:cxn modelId="{C43B484E-5C6D-7340-AFF5-38B1AC5A2D67}" type="presOf" srcId="{F63011BF-65CC-1841-88CC-BE6FC2CAC873}" destId="{BDF5CBC3-C496-F84F-939C-9079DF0C097C}" srcOrd="0" destOrd="0" presId="urn:microsoft.com/office/officeart/2008/layout/LinedList"/>
    <dgm:cxn modelId="{FA626853-E656-7E4F-ACB9-B6EDA054E27A}" type="presOf" srcId="{41842377-30D1-5E46-9493-EEE3617C8BE2}" destId="{A7CA5E9F-D3DD-5442-B239-7A97D8082FC0}" srcOrd="0" destOrd="0" presId="urn:microsoft.com/office/officeart/2008/layout/LinedList"/>
    <dgm:cxn modelId="{F73C5357-ED53-8A40-8CD3-8AD929032838}" srcId="{E153C832-6E8F-EA4C-83D1-96138E4415D8}" destId="{41842377-30D1-5E46-9493-EEE3617C8BE2}" srcOrd="1" destOrd="0" parTransId="{051C0264-D162-F54B-9F20-A400445A6126}" sibTransId="{7AE9ABAA-B7C8-FD40-8B41-DD37A86D719B}"/>
    <dgm:cxn modelId="{49086358-02FD-B343-A0E3-DE5AF71FEC57}" type="presOf" srcId="{E153C832-6E8F-EA4C-83D1-96138E4415D8}" destId="{3BF19A71-1AA4-CB4A-994E-BD12213A339B}" srcOrd="0" destOrd="0" presId="urn:microsoft.com/office/officeart/2008/layout/LinedList"/>
    <dgm:cxn modelId="{7976F859-2C19-0940-838D-4C75E931E002}" srcId="{E153C832-6E8F-EA4C-83D1-96138E4415D8}" destId="{1E4E6D59-1695-6F49-9911-2A953C999B2A}" srcOrd="6" destOrd="0" parTransId="{8291A436-1500-C54A-A6FB-27E200138913}" sibTransId="{0E4DE2C1-9E22-AE46-BA2F-33C8E5F980C0}"/>
    <dgm:cxn modelId="{06A51463-5983-D145-805F-4F3949FA52F3}" srcId="{E153C832-6E8F-EA4C-83D1-96138E4415D8}" destId="{81BD4996-B845-CE4C-A348-8A36257742E8}" srcOrd="5" destOrd="0" parTransId="{04CAAD0D-FB35-0C45-920D-4202B95D5918}" sibTransId="{EBB0F63F-3564-3E4E-8B5A-35A0D7E9A755}"/>
    <dgm:cxn modelId="{666EFA74-9E50-A645-91EB-09C51D402800}" srcId="{E153C832-6E8F-EA4C-83D1-96138E4415D8}" destId="{F63011BF-65CC-1841-88CC-BE6FC2CAC873}" srcOrd="10" destOrd="0" parTransId="{BE94D101-73E4-904E-B90B-507368CDCF17}" sibTransId="{2AD7B978-06CA-2242-940F-420B93BD3892}"/>
    <dgm:cxn modelId="{984B8575-D10C-B548-A6DF-83EF40C47C8D}" type="presOf" srcId="{3AA895C5-F105-D74F-B85C-AF60E4B71855}" destId="{D4E8A3CC-4D23-8A44-BCC2-F546F4C76FC4}" srcOrd="0" destOrd="0" presId="urn:microsoft.com/office/officeart/2008/layout/LinedList"/>
    <dgm:cxn modelId="{BA22907D-AED5-594A-B8B4-9AC62CFF3DEC}" srcId="{E153C832-6E8F-EA4C-83D1-96138E4415D8}" destId="{970A7D76-7A54-4746-B375-B0F18859A166}" srcOrd="8" destOrd="0" parTransId="{D9908C12-7D7B-9A4D-9DBF-27CA8DC20995}" sibTransId="{A944BDF2-7B91-EA46-B2A8-22595E7774F0}"/>
    <dgm:cxn modelId="{57530A7F-8DFC-AA47-91F7-7C11E8F299B2}" type="presOf" srcId="{81BD4996-B845-CE4C-A348-8A36257742E8}" destId="{15D44E07-E090-FB42-A660-4C1EC5FD43D2}" srcOrd="0" destOrd="0" presId="urn:microsoft.com/office/officeart/2008/layout/LinedList"/>
    <dgm:cxn modelId="{6FE31D87-94A5-134B-B497-080DD5EC73E2}" srcId="{E153C832-6E8F-EA4C-83D1-96138E4415D8}" destId="{9556463E-A467-2244-A17F-004F1225F46C}" srcOrd="3" destOrd="0" parTransId="{DE9E99CE-5D43-354F-9F16-0AC67E00B1F0}" sibTransId="{F4C6DD15-1E2C-E04F-AFBE-3FCF28B0D51B}"/>
    <dgm:cxn modelId="{6B29499A-01A8-AB46-B931-B111ADA5D85D}" type="presOf" srcId="{1A641CD4-A912-3047-8F83-94ABAD6E8AA0}" destId="{CEA2C6CE-C51B-C146-A0ED-80682F02D0AD}" srcOrd="0" destOrd="0" presId="urn:microsoft.com/office/officeart/2008/layout/LinedList"/>
    <dgm:cxn modelId="{AADB8A9D-DBE8-C243-9E6D-8DC066E3130A}" type="presOf" srcId="{778F8031-D1F5-A840-ABBD-42A8494B547A}" destId="{FED4957D-A683-7D4C-8C33-174FEBB0DBD6}" srcOrd="0" destOrd="0" presId="urn:microsoft.com/office/officeart/2008/layout/LinedList"/>
    <dgm:cxn modelId="{6FB795A3-66E4-5D4D-975F-CD0ADDD40FDF}" type="presOf" srcId="{6C1248A8-AFAD-514A-83B7-4FE7A65ACE70}" destId="{4321A7F7-0ED4-8748-800E-F8EA08669064}" srcOrd="0" destOrd="0" presId="urn:microsoft.com/office/officeart/2008/layout/LinedList"/>
    <dgm:cxn modelId="{A92FF2B4-8879-594C-8200-3F1D127C2076}" srcId="{E153C832-6E8F-EA4C-83D1-96138E4415D8}" destId="{1A641CD4-A912-3047-8F83-94ABAD6E8AA0}" srcOrd="11" destOrd="0" parTransId="{530401FC-FF40-094E-8BE0-9ECEB024C0F7}" sibTransId="{6389341E-3AA2-0D44-8D82-A1AAD184A5B8}"/>
    <dgm:cxn modelId="{1633C1C4-1E04-8B46-8650-5BE143AE3BFF}" type="presOf" srcId="{9556463E-A467-2244-A17F-004F1225F46C}" destId="{802E0EE8-53AF-DA45-949F-8146ACBBEB10}" srcOrd="0" destOrd="0" presId="urn:microsoft.com/office/officeart/2008/layout/LinedList"/>
    <dgm:cxn modelId="{9A919EDB-352F-7446-888E-F249EB8927A1}" srcId="{E153C832-6E8F-EA4C-83D1-96138E4415D8}" destId="{A67370C7-85B8-4D4C-AA60-F756B8EB8FAC}" srcOrd="2" destOrd="0" parTransId="{D7F9B9F6-1443-AC4B-8D1B-6F06C47F561D}" sibTransId="{F985462E-0561-FE4A-959A-BB5FA138AFFC}"/>
    <dgm:cxn modelId="{F5BD5CDC-50F9-E542-A664-8C32FF95656B}" type="presOf" srcId="{970A7D76-7A54-4746-B375-B0F18859A166}" destId="{A2F10E6E-134B-5D43-8587-D103629CDECF}" srcOrd="0" destOrd="0" presId="urn:microsoft.com/office/officeart/2008/layout/LinedList"/>
    <dgm:cxn modelId="{AD9B1925-732A-8040-829C-652BBD1F92CF}" type="presParOf" srcId="{3BF19A71-1AA4-CB4A-994E-BD12213A339B}" destId="{3CFD8FFD-A73C-0D4C-AA2B-AB13C86D141A}" srcOrd="0" destOrd="0" presId="urn:microsoft.com/office/officeart/2008/layout/LinedList"/>
    <dgm:cxn modelId="{9981F6E1-3A3C-BB49-B79F-F2E1CDB56C8E}" type="presParOf" srcId="{3BF19A71-1AA4-CB4A-994E-BD12213A339B}" destId="{2C7C4DD6-543A-8040-A498-8830772F2C64}" srcOrd="1" destOrd="0" presId="urn:microsoft.com/office/officeart/2008/layout/LinedList"/>
    <dgm:cxn modelId="{CBD90AD2-05A3-CD42-BC59-FF4C734E7128}" type="presParOf" srcId="{2C7C4DD6-543A-8040-A498-8830772F2C64}" destId="{B101E71D-577A-3F46-AB9D-A8532EA5A34E}" srcOrd="0" destOrd="0" presId="urn:microsoft.com/office/officeart/2008/layout/LinedList"/>
    <dgm:cxn modelId="{9A838613-160B-A04B-84AF-905670082518}" type="presParOf" srcId="{2C7C4DD6-543A-8040-A498-8830772F2C64}" destId="{8CF9BA63-6E9A-5549-A1F5-A7E7889D01FD}" srcOrd="1" destOrd="0" presId="urn:microsoft.com/office/officeart/2008/layout/LinedList"/>
    <dgm:cxn modelId="{4BC10417-5CF6-F947-B48F-7CD11B4424B7}" type="presParOf" srcId="{3BF19A71-1AA4-CB4A-994E-BD12213A339B}" destId="{B048891E-C866-BF4A-8D9F-23A5408008BC}" srcOrd="2" destOrd="0" presId="urn:microsoft.com/office/officeart/2008/layout/LinedList"/>
    <dgm:cxn modelId="{CFA322EA-488B-AC43-8744-B8BABC86ECAD}" type="presParOf" srcId="{3BF19A71-1AA4-CB4A-994E-BD12213A339B}" destId="{A2417B1E-EC0B-6F4E-A5B0-262C65B5DCF3}" srcOrd="3" destOrd="0" presId="urn:microsoft.com/office/officeart/2008/layout/LinedList"/>
    <dgm:cxn modelId="{EFB4BC79-C409-4444-BAD1-6BFDC68CF562}" type="presParOf" srcId="{A2417B1E-EC0B-6F4E-A5B0-262C65B5DCF3}" destId="{A7CA5E9F-D3DD-5442-B239-7A97D8082FC0}" srcOrd="0" destOrd="0" presId="urn:microsoft.com/office/officeart/2008/layout/LinedList"/>
    <dgm:cxn modelId="{CBC8B0F3-2E2E-B543-924A-B4C8590562E8}" type="presParOf" srcId="{A2417B1E-EC0B-6F4E-A5B0-262C65B5DCF3}" destId="{3DEBAB4B-A677-F041-A2CC-20CBC8B50A9C}" srcOrd="1" destOrd="0" presId="urn:microsoft.com/office/officeart/2008/layout/LinedList"/>
    <dgm:cxn modelId="{71C08674-EDF5-C14D-AC63-AB282D770E5B}" type="presParOf" srcId="{3BF19A71-1AA4-CB4A-994E-BD12213A339B}" destId="{C287D766-18E2-AB4B-BBBA-F89118AD1944}" srcOrd="4" destOrd="0" presId="urn:microsoft.com/office/officeart/2008/layout/LinedList"/>
    <dgm:cxn modelId="{10BDC311-CAF4-B740-AE66-85AEB275E2E8}" type="presParOf" srcId="{3BF19A71-1AA4-CB4A-994E-BD12213A339B}" destId="{9E3D56F5-EA31-8D4F-A4CF-3994A0A46EA5}" srcOrd="5" destOrd="0" presId="urn:microsoft.com/office/officeart/2008/layout/LinedList"/>
    <dgm:cxn modelId="{DF7DEFEF-745E-FF4B-ACFE-9D45C92D6A0D}" type="presParOf" srcId="{9E3D56F5-EA31-8D4F-A4CF-3994A0A46EA5}" destId="{3CE79708-F8AA-B549-BB1A-18A0A5968AA7}" srcOrd="0" destOrd="0" presId="urn:microsoft.com/office/officeart/2008/layout/LinedList"/>
    <dgm:cxn modelId="{6C8F2259-69CC-EE41-9570-949CA8FFC48B}" type="presParOf" srcId="{9E3D56F5-EA31-8D4F-A4CF-3994A0A46EA5}" destId="{F15706A3-246A-E24D-A778-E1BD1AA9F742}" srcOrd="1" destOrd="0" presId="urn:microsoft.com/office/officeart/2008/layout/LinedList"/>
    <dgm:cxn modelId="{F741E1E5-242A-8148-82CE-DCBBE7EDE0D6}" type="presParOf" srcId="{3BF19A71-1AA4-CB4A-994E-BD12213A339B}" destId="{282475C8-5BB9-2943-BA3C-DBEF7A5E2E75}" srcOrd="6" destOrd="0" presId="urn:microsoft.com/office/officeart/2008/layout/LinedList"/>
    <dgm:cxn modelId="{3BB82398-DBBD-EF40-A4AF-14DB3FB7AE39}" type="presParOf" srcId="{3BF19A71-1AA4-CB4A-994E-BD12213A339B}" destId="{EA4A96F7-A571-7C4B-844D-AD6194153BF6}" srcOrd="7" destOrd="0" presId="urn:microsoft.com/office/officeart/2008/layout/LinedList"/>
    <dgm:cxn modelId="{F9C1D0A8-F7AC-ED4D-98F3-4802FB6B25B9}" type="presParOf" srcId="{EA4A96F7-A571-7C4B-844D-AD6194153BF6}" destId="{802E0EE8-53AF-DA45-949F-8146ACBBEB10}" srcOrd="0" destOrd="0" presId="urn:microsoft.com/office/officeart/2008/layout/LinedList"/>
    <dgm:cxn modelId="{AD1A0D28-E16E-B141-AFDF-0CD838119EB3}" type="presParOf" srcId="{EA4A96F7-A571-7C4B-844D-AD6194153BF6}" destId="{2F145D0D-1B28-784C-B0D6-6415D867B96E}" srcOrd="1" destOrd="0" presId="urn:microsoft.com/office/officeart/2008/layout/LinedList"/>
    <dgm:cxn modelId="{D1D0E436-0ED3-9844-9D2B-367BFA6B0AAC}" type="presParOf" srcId="{3BF19A71-1AA4-CB4A-994E-BD12213A339B}" destId="{7BAD1CEF-73D4-224C-8C48-38C8CA25E1EC}" srcOrd="8" destOrd="0" presId="urn:microsoft.com/office/officeart/2008/layout/LinedList"/>
    <dgm:cxn modelId="{10D652B9-C9A7-E949-B78A-DC688FDDE21B}" type="presParOf" srcId="{3BF19A71-1AA4-CB4A-994E-BD12213A339B}" destId="{6BBCA99F-FD68-8A4B-A838-E3ED2427B6BE}" srcOrd="9" destOrd="0" presId="urn:microsoft.com/office/officeart/2008/layout/LinedList"/>
    <dgm:cxn modelId="{FBF2DB16-ED7F-264C-ACF1-F53BC52FA206}" type="presParOf" srcId="{6BBCA99F-FD68-8A4B-A838-E3ED2427B6BE}" destId="{4321A7F7-0ED4-8748-800E-F8EA08669064}" srcOrd="0" destOrd="0" presId="urn:microsoft.com/office/officeart/2008/layout/LinedList"/>
    <dgm:cxn modelId="{1A613C4E-9DA3-8846-9EF1-AF51D13D4C6D}" type="presParOf" srcId="{6BBCA99F-FD68-8A4B-A838-E3ED2427B6BE}" destId="{424320F0-CEFB-E44A-ABB9-740E7D6ACD7F}" srcOrd="1" destOrd="0" presId="urn:microsoft.com/office/officeart/2008/layout/LinedList"/>
    <dgm:cxn modelId="{5AF0DE31-D637-434A-A851-2325C54BA772}" type="presParOf" srcId="{3BF19A71-1AA4-CB4A-994E-BD12213A339B}" destId="{1D110869-C564-714A-8B69-79DA77CDA13D}" srcOrd="10" destOrd="0" presId="urn:microsoft.com/office/officeart/2008/layout/LinedList"/>
    <dgm:cxn modelId="{CF1BD9D4-F4C0-504B-8226-397D3BAA2613}" type="presParOf" srcId="{3BF19A71-1AA4-CB4A-994E-BD12213A339B}" destId="{8AF2D682-E35F-8E46-A181-A1753C299821}" srcOrd="11" destOrd="0" presId="urn:microsoft.com/office/officeart/2008/layout/LinedList"/>
    <dgm:cxn modelId="{860F73E3-954E-D34A-A470-FE6F91CC3A32}" type="presParOf" srcId="{8AF2D682-E35F-8E46-A181-A1753C299821}" destId="{15D44E07-E090-FB42-A660-4C1EC5FD43D2}" srcOrd="0" destOrd="0" presId="urn:microsoft.com/office/officeart/2008/layout/LinedList"/>
    <dgm:cxn modelId="{D23D273A-3D2A-5B4A-9898-EEA0AC26CCFB}" type="presParOf" srcId="{8AF2D682-E35F-8E46-A181-A1753C299821}" destId="{2D6B16BC-03A2-A648-8F12-B6E42A629B0C}" srcOrd="1" destOrd="0" presId="urn:microsoft.com/office/officeart/2008/layout/LinedList"/>
    <dgm:cxn modelId="{6DE2E229-48AF-5543-8040-81604817ECE9}" type="presParOf" srcId="{3BF19A71-1AA4-CB4A-994E-BD12213A339B}" destId="{5BEDB4BB-5F0C-864B-AF6E-DBA3693BB167}" srcOrd="12" destOrd="0" presId="urn:microsoft.com/office/officeart/2008/layout/LinedList"/>
    <dgm:cxn modelId="{A38F13C9-0963-9A4B-BCD5-2ACF7E6E8116}" type="presParOf" srcId="{3BF19A71-1AA4-CB4A-994E-BD12213A339B}" destId="{BE62806B-3B11-2F4C-9D25-6F9900EC4869}" srcOrd="13" destOrd="0" presId="urn:microsoft.com/office/officeart/2008/layout/LinedList"/>
    <dgm:cxn modelId="{D2918473-1349-8A47-A3FF-C50D09BC408C}" type="presParOf" srcId="{BE62806B-3B11-2F4C-9D25-6F9900EC4869}" destId="{E0EB1A79-EEE1-7E42-B892-E82CA01F5DF1}" srcOrd="0" destOrd="0" presId="urn:microsoft.com/office/officeart/2008/layout/LinedList"/>
    <dgm:cxn modelId="{089E4DE5-5C58-E945-A8DA-BAB33C58B0B6}" type="presParOf" srcId="{BE62806B-3B11-2F4C-9D25-6F9900EC4869}" destId="{8F11FF75-3738-114C-AD5B-673F5847A6D2}" srcOrd="1" destOrd="0" presId="urn:microsoft.com/office/officeart/2008/layout/LinedList"/>
    <dgm:cxn modelId="{29D63149-9C50-CC4A-A59E-CD0053165292}" type="presParOf" srcId="{3BF19A71-1AA4-CB4A-994E-BD12213A339B}" destId="{4ECC0AA3-0A9A-134C-970A-88197EA085FF}" srcOrd="14" destOrd="0" presId="urn:microsoft.com/office/officeart/2008/layout/LinedList"/>
    <dgm:cxn modelId="{6D1E4C7D-850A-A340-9F44-BD1150808F0F}" type="presParOf" srcId="{3BF19A71-1AA4-CB4A-994E-BD12213A339B}" destId="{BC6B6EFC-4224-7C4B-9C56-2C6E071BBFBF}" srcOrd="15" destOrd="0" presId="urn:microsoft.com/office/officeart/2008/layout/LinedList"/>
    <dgm:cxn modelId="{2F208BDC-8645-AC47-B603-48E087923B44}" type="presParOf" srcId="{BC6B6EFC-4224-7C4B-9C56-2C6E071BBFBF}" destId="{D4E8A3CC-4D23-8A44-BCC2-F546F4C76FC4}" srcOrd="0" destOrd="0" presId="urn:microsoft.com/office/officeart/2008/layout/LinedList"/>
    <dgm:cxn modelId="{3BB508B5-1705-1B4F-9DC2-29F954D0EB2B}" type="presParOf" srcId="{BC6B6EFC-4224-7C4B-9C56-2C6E071BBFBF}" destId="{EDE3EE53-89EC-0C49-9828-4C4001E1814E}" srcOrd="1" destOrd="0" presId="urn:microsoft.com/office/officeart/2008/layout/LinedList"/>
    <dgm:cxn modelId="{CEFB58C1-596D-7343-BD75-EA4A9B68918B}" type="presParOf" srcId="{3BF19A71-1AA4-CB4A-994E-BD12213A339B}" destId="{803282ED-D805-BE4C-B9D2-295BC4EC0A20}" srcOrd="16" destOrd="0" presId="urn:microsoft.com/office/officeart/2008/layout/LinedList"/>
    <dgm:cxn modelId="{8B0458BC-40CC-2F4B-B1C5-832D0EBC1E7E}" type="presParOf" srcId="{3BF19A71-1AA4-CB4A-994E-BD12213A339B}" destId="{C88AFF03-7892-0D4E-9DA0-10FA48854BDE}" srcOrd="17" destOrd="0" presId="urn:microsoft.com/office/officeart/2008/layout/LinedList"/>
    <dgm:cxn modelId="{A3038968-F0BE-1043-A742-60C428FD9C06}" type="presParOf" srcId="{C88AFF03-7892-0D4E-9DA0-10FA48854BDE}" destId="{A2F10E6E-134B-5D43-8587-D103629CDECF}" srcOrd="0" destOrd="0" presId="urn:microsoft.com/office/officeart/2008/layout/LinedList"/>
    <dgm:cxn modelId="{2B25F61A-ED27-0742-AA09-35F8A6B1BEE5}" type="presParOf" srcId="{C88AFF03-7892-0D4E-9DA0-10FA48854BDE}" destId="{BE416622-D9A9-9A42-92F4-353AFC322F71}" srcOrd="1" destOrd="0" presId="urn:microsoft.com/office/officeart/2008/layout/LinedList"/>
    <dgm:cxn modelId="{2FC6419B-0CBC-9C44-9C99-4C3FAC64CF11}" type="presParOf" srcId="{3BF19A71-1AA4-CB4A-994E-BD12213A339B}" destId="{5C8CBAC4-BFD9-8C40-A6BD-0E1EDA65393D}" srcOrd="18" destOrd="0" presId="urn:microsoft.com/office/officeart/2008/layout/LinedList"/>
    <dgm:cxn modelId="{CD16701B-C6BF-B345-A216-FE70CBBE00CD}" type="presParOf" srcId="{3BF19A71-1AA4-CB4A-994E-BD12213A339B}" destId="{0D4FFE58-4383-0F4D-BD63-6EA57EA6FA89}" srcOrd="19" destOrd="0" presId="urn:microsoft.com/office/officeart/2008/layout/LinedList"/>
    <dgm:cxn modelId="{6894E9B5-C4F7-C148-96DF-621A63A0D8C7}" type="presParOf" srcId="{0D4FFE58-4383-0F4D-BD63-6EA57EA6FA89}" destId="{FED4957D-A683-7D4C-8C33-174FEBB0DBD6}" srcOrd="0" destOrd="0" presId="urn:microsoft.com/office/officeart/2008/layout/LinedList"/>
    <dgm:cxn modelId="{9CECE8EF-2244-4D42-929C-F3C45A97F422}" type="presParOf" srcId="{0D4FFE58-4383-0F4D-BD63-6EA57EA6FA89}" destId="{9B408235-7471-0346-80CE-FEA373055560}" srcOrd="1" destOrd="0" presId="urn:microsoft.com/office/officeart/2008/layout/LinedList"/>
    <dgm:cxn modelId="{CAFBB6A5-F844-6E46-A66A-7E0FBD7FB5D7}" type="presParOf" srcId="{3BF19A71-1AA4-CB4A-994E-BD12213A339B}" destId="{6C683F96-BE00-5944-A501-889938619C80}" srcOrd="20" destOrd="0" presId="urn:microsoft.com/office/officeart/2008/layout/LinedList"/>
    <dgm:cxn modelId="{9D5A7C14-89C3-D74B-855D-99A118B6CFCB}" type="presParOf" srcId="{3BF19A71-1AA4-CB4A-994E-BD12213A339B}" destId="{533CF306-FB4B-C34E-9626-3C06D8AE11FA}" srcOrd="21" destOrd="0" presId="urn:microsoft.com/office/officeart/2008/layout/LinedList"/>
    <dgm:cxn modelId="{15FAB046-BC82-A244-846E-F30080328FDF}" type="presParOf" srcId="{533CF306-FB4B-C34E-9626-3C06D8AE11FA}" destId="{BDF5CBC3-C496-F84F-939C-9079DF0C097C}" srcOrd="0" destOrd="0" presId="urn:microsoft.com/office/officeart/2008/layout/LinedList"/>
    <dgm:cxn modelId="{9E709CC3-F97C-DB4F-B3D9-86D5050E697D}" type="presParOf" srcId="{533CF306-FB4B-C34E-9626-3C06D8AE11FA}" destId="{774198BC-5B4E-AD4D-BC25-03EF7966A632}" srcOrd="1" destOrd="0" presId="urn:microsoft.com/office/officeart/2008/layout/LinedList"/>
    <dgm:cxn modelId="{21816270-6ED4-5C4C-92ED-411EAC00C4E4}" type="presParOf" srcId="{3BF19A71-1AA4-CB4A-994E-BD12213A339B}" destId="{2C02CC51-0276-7442-9ED6-A2CD861614BF}" srcOrd="22" destOrd="0" presId="urn:microsoft.com/office/officeart/2008/layout/LinedList"/>
    <dgm:cxn modelId="{7962EB3A-F368-F241-9B5C-36980CF449D4}" type="presParOf" srcId="{3BF19A71-1AA4-CB4A-994E-BD12213A339B}" destId="{0F00226D-E1AC-F243-8631-40588028E983}" srcOrd="23" destOrd="0" presId="urn:microsoft.com/office/officeart/2008/layout/LinedList"/>
    <dgm:cxn modelId="{6A59160E-FC61-A445-BCB5-54A814324F07}" type="presParOf" srcId="{0F00226D-E1AC-F243-8631-40588028E983}" destId="{CEA2C6CE-C51B-C146-A0ED-80682F02D0AD}" srcOrd="0" destOrd="0" presId="urn:microsoft.com/office/officeart/2008/layout/LinedList"/>
    <dgm:cxn modelId="{07AB3BE8-BCB7-F548-811E-1ED3A4AFD442}" type="presParOf" srcId="{0F00226D-E1AC-F243-8631-40588028E983}" destId="{A886FFAB-5AD4-6F41-8E69-873E8FD4223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87197D-7009-7D48-A256-3B3041CD558B}" type="doc">
      <dgm:prSet loTypeId="urn:microsoft.com/office/officeart/2005/8/layout/default" loCatId="" qsTypeId="urn:microsoft.com/office/officeart/2005/8/quickstyle/simple1" qsCatId="simple" csTypeId="urn:microsoft.com/office/officeart/2005/8/colors/accent1_2" csCatId="accent1" phldr="1"/>
      <dgm:spPr/>
      <dgm:t>
        <a:bodyPr/>
        <a:lstStyle/>
        <a:p>
          <a:endParaRPr lang="en-US"/>
        </a:p>
      </dgm:t>
    </dgm:pt>
    <dgm:pt modelId="{75D34536-419B-AA43-A97C-E6C5B9B7F2EB}">
      <dgm:prSet custT="1"/>
      <dgm:spPr/>
      <dgm:t>
        <a:bodyPr/>
        <a:lstStyle/>
        <a:p>
          <a:r>
            <a:rPr lang="en-US" sz="3200" b="0" i="0">
              <a:latin typeface="Proxima Nova Rg" panose="02000506030000020004" pitchFamily="2" charset="0"/>
            </a:rPr>
            <a:t>What are you most excited about in college?</a:t>
          </a:r>
          <a:endParaRPr lang="en-US" sz="3200">
            <a:latin typeface="Proxima Nova Rg" panose="02000506030000020004" pitchFamily="2" charset="0"/>
          </a:endParaRPr>
        </a:p>
      </dgm:t>
    </dgm:pt>
    <dgm:pt modelId="{AC712725-898A-9340-A828-E6837A4A957E}" type="parTrans" cxnId="{BCF83CBB-F682-D04C-90CD-BF0C84C8D3A7}">
      <dgm:prSet/>
      <dgm:spPr/>
      <dgm:t>
        <a:bodyPr/>
        <a:lstStyle/>
        <a:p>
          <a:endParaRPr lang="en-US" sz="1100">
            <a:latin typeface="Proxima Nova Rg" panose="02000506030000020004" pitchFamily="2" charset="0"/>
          </a:endParaRPr>
        </a:p>
      </dgm:t>
    </dgm:pt>
    <dgm:pt modelId="{F8A7848D-5BF0-E943-BD28-62F6AEEB8AA1}" type="sibTrans" cxnId="{BCF83CBB-F682-D04C-90CD-BF0C84C8D3A7}">
      <dgm:prSet/>
      <dgm:spPr/>
      <dgm:t>
        <a:bodyPr/>
        <a:lstStyle/>
        <a:p>
          <a:endParaRPr lang="en-US" sz="1100">
            <a:latin typeface="Proxima Nova Rg" panose="02000506030000020004" pitchFamily="2" charset="0"/>
          </a:endParaRPr>
        </a:p>
      </dgm:t>
    </dgm:pt>
    <dgm:pt modelId="{5861C893-EA73-844B-9F87-3DCD118C6E13}">
      <dgm:prSet custT="1"/>
      <dgm:spPr/>
      <dgm:t>
        <a:bodyPr/>
        <a:lstStyle/>
        <a:p>
          <a:r>
            <a:rPr lang="en-US" sz="3200" b="0" i="0">
              <a:latin typeface="Proxima Nova Rg" panose="02000506030000020004" pitchFamily="2" charset="0"/>
            </a:rPr>
            <a:t>What do you think is the biggest challenge you’ll face in college?</a:t>
          </a:r>
          <a:endParaRPr lang="en-US" sz="3200">
            <a:latin typeface="Proxima Nova Rg" panose="02000506030000020004" pitchFamily="2" charset="0"/>
          </a:endParaRPr>
        </a:p>
      </dgm:t>
    </dgm:pt>
    <dgm:pt modelId="{4537F72A-11DD-3940-B226-756BDF252165}" type="parTrans" cxnId="{66E03099-9CA0-C14B-960C-53BBD79B51B1}">
      <dgm:prSet/>
      <dgm:spPr/>
      <dgm:t>
        <a:bodyPr/>
        <a:lstStyle/>
        <a:p>
          <a:endParaRPr lang="en-US" sz="1100">
            <a:latin typeface="Proxima Nova Rg" panose="02000506030000020004" pitchFamily="2" charset="0"/>
          </a:endParaRPr>
        </a:p>
      </dgm:t>
    </dgm:pt>
    <dgm:pt modelId="{DBE4E576-32F8-B44B-98CC-C76FDD63BB6C}" type="sibTrans" cxnId="{66E03099-9CA0-C14B-960C-53BBD79B51B1}">
      <dgm:prSet/>
      <dgm:spPr/>
      <dgm:t>
        <a:bodyPr/>
        <a:lstStyle/>
        <a:p>
          <a:endParaRPr lang="en-US" sz="1100">
            <a:latin typeface="Proxima Nova Rg" panose="02000506030000020004" pitchFamily="2" charset="0"/>
          </a:endParaRPr>
        </a:p>
      </dgm:t>
    </dgm:pt>
    <dgm:pt modelId="{C3882472-DFB1-3C48-A393-5A7A30BCF155}" type="pres">
      <dgm:prSet presAssocID="{3887197D-7009-7D48-A256-3B3041CD558B}" presName="diagram" presStyleCnt="0">
        <dgm:presLayoutVars>
          <dgm:dir/>
          <dgm:resizeHandles val="exact"/>
        </dgm:presLayoutVars>
      </dgm:prSet>
      <dgm:spPr/>
    </dgm:pt>
    <dgm:pt modelId="{EC21517C-C9F1-034E-BB02-6C0780CAD5EC}" type="pres">
      <dgm:prSet presAssocID="{5861C893-EA73-844B-9F87-3DCD118C6E13}" presName="node" presStyleLbl="node1" presStyleIdx="0" presStyleCnt="2">
        <dgm:presLayoutVars>
          <dgm:bulletEnabled val="1"/>
        </dgm:presLayoutVars>
      </dgm:prSet>
      <dgm:spPr/>
    </dgm:pt>
    <dgm:pt modelId="{7690A65F-F4EB-FE4D-946F-0522C31BC1E1}" type="pres">
      <dgm:prSet presAssocID="{DBE4E576-32F8-B44B-98CC-C76FDD63BB6C}" presName="sibTrans" presStyleCnt="0"/>
      <dgm:spPr/>
    </dgm:pt>
    <dgm:pt modelId="{79FDE313-EF96-1E49-9705-797547C667DC}" type="pres">
      <dgm:prSet presAssocID="{75D34536-419B-AA43-A97C-E6C5B9B7F2EB}" presName="node" presStyleLbl="node1" presStyleIdx="1" presStyleCnt="2">
        <dgm:presLayoutVars>
          <dgm:bulletEnabled val="1"/>
        </dgm:presLayoutVars>
      </dgm:prSet>
      <dgm:spPr/>
    </dgm:pt>
  </dgm:ptLst>
  <dgm:cxnLst>
    <dgm:cxn modelId="{A249A00E-39E4-6A4B-B193-BA2C6C346DB3}" type="presOf" srcId="{75D34536-419B-AA43-A97C-E6C5B9B7F2EB}" destId="{79FDE313-EF96-1E49-9705-797547C667DC}" srcOrd="0" destOrd="0" presId="urn:microsoft.com/office/officeart/2005/8/layout/default"/>
    <dgm:cxn modelId="{1C58B753-1CFE-2D44-A4A8-456BBCCD3A80}" type="presOf" srcId="{5861C893-EA73-844B-9F87-3DCD118C6E13}" destId="{EC21517C-C9F1-034E-BB02-6C0780CAD5EC}" srcOrd="0" destOrd="0" presId="urn:microsoft.com/office/officeart/2005/8/layout/default"/>
    <dgm:cxn modelId="{6CDF1C57-0C18-5543-8CE1-C8720C39FD1C}" type="presOf" srcId="{3887197D-7009-7D48-A256-3B3041CD558B}" destId="{C3882472-DFB1-3C48-A393-5A7A30BCF155}" srcOrd="0" destOrd="0" presId="urn:microsoft.com/office/officeart/2005/8/layout/default"/>
    <dgm:cxn modelId="{66E03099-9CA0-C14B-960C-53BBD79B51B1}" srcId="{3887197D-7009-7D48-A256-3B3041CD558B}" destId="{5861C893-EA73-844B-9F87-3DCD118C6E13}" srcOrd="0" destOrd="0" parTransId="{4537F72A-11DD-3940-B226-756BDF252165}" sibTransId="{DBE4E576-32F8-B44B-98CC-C76FDD63BB6C}"/>
    <dgm:cxn modelId="{BCF83CBB-F682-D04C-90CD-BF0C84C8D3A7}" srcId="{3887197D-7009-7D48-A256-3B3041CD558B}" destId="{75D34536-419B-AA43-A97C-E6C5B9B7F2EB}" srcOrd="1" destOrd="0" parTransId="{AC712725-898A-9340-A828-E6837A4A957E}" sibTransId="{F8A7848D-5BF0-E943-BD28-62F6AEEB8AA1}"/>
    <dgm:cxn modelId="{4C224B1D-FEDB-764E-B4F3-5B9E674D56F4}" type="presParOf" srcId="{C3882472-DFB1-3C48-A393-5A7A30BCF155}" destId="{EC21517C-C9F1-034E-BB02-6C0780CAD5EC}" srcOrd="0" destOrd="0" presId="urn:microsoft.com/office/officeart/2005/8/layout/default"/>
    <dgm:cxn modelId="{E8AFDD2F-8347-624D-A07A-574450DD84AD}" type="presParOf" srcId="{C3882472-DFB1-3C48-A393-5A7A30BCF155}" destId="{7690A65F-F4EB-FE4D-946F-0522C31BC1E1}" srcOrd="1" destOrd="0" presId="urn:microsoft.com/office/officeart/2005/8/layout/default"/>
    <dgm:cxn modelId="{00A0097D-C85A-B841-A2E3-E862B6D61E47}" type="presParOf" srcId="{C3882472-DFB1-3C48-A393-5A7A30BCF155}" destId="{79FDE313-EF96-1E49-9705-797547C667DC}"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3A0B4B-F5E4-1849-A1A9-643347A35B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238DF49-EB59-E942-91F3-C4EFED961C5F}">
      <dgm:prSet/>
      <dgm:spPr/>
      <dgm:t>
        <a:bodyPr/>
        <a:lstStyle/>
        <a:p>
          <a:r>
            <a:rPr lang="en-US" dirty="0">
              <a:latin typeface="Proxima Nova Rg" panose="02000506030000020004" pitchFamily="2" charset="0"/>
            </a:rPr>
            <a:t>This paper will be released as part of Getting Down to Facts III</a:t>
          </a:r>
          <a:endParaRPr lang="en-US" dirty="0">
            <a:latin typeface="Proxima Nova Rg" panose="02000506030000020004" pitchFamily="2" charset="0"/>
          </a:endParaRPr>
        </a:p>
      </dgm:t>
    </dgm:pt>
    <dgm:pt modelId="{8F9A5BAA-1B4F-0F4C-917F-AFD3DB8BA87C}" type="parTrans" cxnId="{0683BC86-A613-C84F-B05E-65E317239EF9}">
      <dgm:prSet/>
      <dgm:spPr/>
      <dgm:t>
        <a:bodyPr/>
        <a:lstStyle/>
        <a:p>
          <a:endParaRPr lang="en-US"/>
        </a:p>
      </dgm:t>
    </dgm:pt>
    <dgm:pt modelId="{4D6231C0-D179-764C-AD9F-34CC79BA914C}" type="sibTrans" cxnId="{0683BC86-A613-C84F-B05E-65E317239EF9}">
      <dgm:prSet/>
      <dgm:spPr/>
      <dgm:t>
        <a:bodyPr/>
        <a:lstStyle/>
        <a:p>
          <a:endParaRPr lang="en-US"/>
        </a:p>
      </dgm:t>
    </dgm:pt>
    <dgm:pt modelId="{1614DEF2-2EF3-224D-8592-6DAC61BCB1D4}" type="pres">
      <dgm:prSet presAssocID="{9E3A0B4B-F5E4-1849-A1A9-643347A35B14}" presName="linear" presStyleCnt="0">
        <dgm:presLayoutVars>
          <dgm:animLvl val="lvl"/>
          <dgm:resizeHandles val="exact"/>
        </dgm:presLayoutVars>
      </dgm:prSet>
      <dgm:spPr/>
    </dgm:pt>
    <dgm:pt modelId="{9E48C3B6-44AE-6744-9428-274E9BBA3EA7}" type="pres">
      <dgm:prSet presAssocID="{0238DF49-EB59-E942-91F3-C4EFED961C5F}" presName="parentText" presStyleLbl="node1" presStyleIdx="0" presStyleCnt="1" custLinFactNeighborX="-2325" custLinFactNeighborY="9482">
        <dgm:presLayoutVars>
          <dgm:chMax val="0"/>
          <dgm:bulletEnabled val="1"/>
        </dgm:presLayoutVars>
      </dgm:prSet>
      <dgm:spPr/>
    </dgm:pt>
  </dgm:ptLst>
  <dgm:cxnLst>
    <dgm:cxn modelId="{61C7DE16-DEF1-704B-A547-B400A847D6BD}" type="presOf" srcId="{9E3A0B4B-F5E4-1849-A1A9-643347A35B14}" destId="{1614DEF2-2EF3-224D-8592-6DAC61BCB1D4}" srcOrd="0" destOrd="0" presId="urn:microsoft.com/office/officeart/2005/8/layout/vList2"/>
    <dgm:cxn modelId="{C2D07046-FC16-0D46-A9FE-E360EB904D1A}" type="presOf" srcId="{0238DF49-EB59-E942-91F3-C4EFED961C5F}" destId="{9E48C3B6-44AE-6744-9428-274E9BBA3EA7}" srcOrd="0" destOrd="0" presId="urn:microsoft.com/office/officeart/2005/8/layout/vList2"/>
    <dgm:cxn modelId="{0683BC86-A613-C84F-B05E-65E317239EF9}" srcId="{9E3A0B4B-F5E4-1849-A1A9-643347A35B14}" destId="{0238DF49-EB59-E942-91F3-C4EFED961C5F}" srcOrd="0" destOrd="0" parTransId="{8F9A5BAA-1B4F-0F4C-917F-AFD3DB8BA87C}" sibTransId="{4D6231C0-D179-764C-AD9F-34CC79BA914C}"/>
    <dgm:cxn modelId="{C21AE46D-2CE2-7940-9555-1AC6962D8335}" type="presParOf" srcId="{1614DEF2-2EF3-224D-8592-6DAC61BCB1D4}" destId="{9E48C3B6-44AE-6744-9428-274E9BBA3EA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2908B3-DB4F-0247-890C-12B4C9C0E204}"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9C61B549-711D-514F-B3AE-CD05D522070C}">
      <dgm:prSet/>
      <dgm:spPr/>
      <dgm:t>
        <a:bodyPr/>
        <a:lstStyle/>
        <a:p>
          <a:r>
            <a:rPr lang="en-US" b="0" i="0" dirty="0">
              <a:solidFill>
                <a:schemeClr val="bg1"/>
              </a:solidFill>
              <a:latin typeface="Proxima Nova Rg" panose="02000506030000020004" pitchFamily="2" charset="0"/>
            </a:rPr>
            <a:t>Gender Affirming Care &amp; outcomes</a:t>
          </a:r>
          <a:endParaRPr lang="en-US" dirty="0">
            <a:solidFill>
              <a:schemeClr val="bg1"/>
            </a:solidFill>
            <a:latin typeface="Proxima Nova Rg" panose="02000506030000020004" pitchFamily="2" charset="0"/>
          </a:endParaRPr>
        </a:p>
      </dgm:t>
    </dgm:pt>
    <dgm:pt modelId="{E7AD2494-F50D-5545-B257-CB40199B673F}" type="parTrans" cxnId="{F6D08C78-AD7D-2846-9C70-FD5A39F29F5C}">
      <dgm:prSet/>
      <dgm:spPr/>
      <dgm:t>
        <a:bodyPr/>
        <a:lstStyle/>
        <a:p>
          <a:endParaRPr lang="en-US"/>
        </a:p>
      </dgm:t>
    </dgm:pt>
    <dgm:pt modelId="{3D44E7ED-FB87-654B-91B4-760108F4F070}" type="sibTrans" cxnId="{F6D08C78-AD7D-2846-9C70-FD5A39F29F5C}">
      <dgm:prSet/>
      <dgm:spPr/>
      <dgm:t>
        <a:bodyPr/>
        <a:lstStyle/>
        <a:p>
          <a:endParaRPr lang="en-US"/>
        </a:p>
      </dgm:t>
    </dgm:pt>
    <dgm:pt modelId="{23B1C744-71F5-AC4A-B9BE-F27DB5E1EFB0}">
      <dgm:prSet/>
      <dgm:spPr>
        <a:solidFill>
          <a:schemeClr val="accent2"/>
        </a:solidFill>
      </dgm:spPr>
      <dgm:t>
        <a:bodyPr/>
        <a:lstStyle/>
        <a:p>
          <a:r>
            <a:rPr lang="en-US" b="0" i="0" dirty="0">
              <a:solidFill>
                <a:schemeClr val="bg1"/>
              </a:solidFill>
              <a:latin typeface="Proxima Nova Rg" panose="02000506030000020004" pitchFamily="2" charset="0"/>
            </a:rPr>
            <a:t>Pre- vs. post-puberty medical transition and differential outcomes</a:t>
          </a:r>
          <a:endParaRPr lang="en-US" dirty="0">
            <a:solidFill>
              <a:schemeClr val="bg1"/>
            </a:solidFill>
            <a:latin typeface="Proxima Nova Rg" panose="02000506030000020004" pitchFamily="2" charset="0"/>
          </a:endParaRPr>
        </a:p>
      </dgm:t>
    </dgm:pt>
    <dgm:pt modelId="{07521C42-E9D7-2648-AFF3-AD72EB54CCB0}" type="parTrans" cxnId="{83EA9084-C946-E049-B3FC-FBBA95B9DAAB}">
      <dgm:prSet/>
      <dgm:spPr/>
      <dgm:t>
        <a:bodyPr/>
        <a:lstStyle/>
        <a:p>
          <a:endParaRPr lang="en-US">
            <a:solidFill>
              <a:schemeClr val="bg1"/>
            </a:solidFill>
          </a:endParaRPr>
        </a:p>
      </dgm:t>
    </dgm:pt>
    <dgm:pt modelId="{7E794663-F3BA-5549-B1E1-8E8CDAB1572F}" type="sibTrans" cxnId="{83EA9084-C946-E049-B3FC-FBBA95B9DAAB}">
      <dgm:prSet/>
      <dgm:spPr/>
      <dgm:t>
        <a:bodyPr/>
        <a:lstStyle/>
        <a:p>
          <a:endParaRPr lang="en-US"/>
        </a:p>
      </dgm:t>
    </dgm:pt>
    <dgm:pt modelId="{5AF40294-C6B1-9E47-8893-BC3D52E34CEE}">
      <dgm:prSet/>
      <dgm:spPr>
        <a:solidFill>
          <a:schemeClr val="accent2"/>
        </a:solidFill>
      </dgm:spPr>
      <dgm:t>
        <a:bodyPr/>
        <a:lstStyle/>
        <a:p>
          <a:r>
            <a:rPr lang="en-US" b="0" i="0" dirty="0">
              <a:solidFill>
                <a:schemeClr val="bg1"/>
              </a:solidFill>
              <a:latin typeface="Proxima Nova Rg" panose="02000506030000020004" pitchFamily="2" charset="0"/>
            </a:rPr>
            <a:t>Effects of gender affirming surgeries</a:t>
          </a:r>
          <a:endParaRPr lang="en-US" dirty="0">
            <a:solidFill>
              <a:schemeClr val="bg1"/>
            </a:solidFill>
            <a:latin typeface="Proxima Nova Rg" panose="02000506030000020004" pitchFamily="2" charset="0"/>
          </a:endParaRPr>
        </a:p>
      </dgm:t>
    </dgm:pt>
    <dgm:pt modelId="{9C601D68-60B8-754B-87A6-188618DB6DD6}" type="parTrans" cxnId="{7C02470B-4955-B24A-98FE-854FE36C11FE}">
      <dgm:prSet/>
      <dgm:spPr/>
      <dgm:t>
        <a:bodyPr/>
        <a:lstStyle/>
        <a:p>
          <a:endParaRPr lang="en-US">
            <a:solidFill>
              <a:schemeClr val="bg1"/>
            </a:solidFill>
          </a:endParaRPr>
        </a:p>
      </dgm:t>
    </dgm:pt>
    <dgm:pt modelId="{AFCC89EF-CDCB-F545-82F9-ECF9B6E03154}" type="sibTrans" cxnId="{7C02470B-4955-B24A-98FE-854FE36C11FE}">
      <dgm:prSet/>
      <dgm:spPr/>
      <dgm:t>
        <a:bodyPr/>
        <a:lstStyle/>
        <a:p>
          <a:endParaRPr lang="en-US"/>
        </a:p>
      </dgm:t>
    </dgm:pt>
    <dgm:pt modelId="{A4C1834C-BD7E-4045-9523-918FC3863B8E}">
      <dgm:prSet/>
      <dgm:spPr/>
      <dgm:t>
        <a:bodyPr/>
        <a:lstStyle/>
        <a:p>
          <a:r>
            <a:rPr lang="en-US" b="0" i="0" dirty="0">
              <a:solidFill>
                <a:schemeClr val="bg1"/>
              </a:solidFill>
              <a:latin typeface="Proxima Nova Rg" panose="02000506030000020004" pitchFamily="2" charset="0"/>
            </a:rPr>
            <a:t>Discrimination &amp; disparities</a:t>
          </a:r>
          <a:endParaRPr lang="en-US" dirty="0">
            <a:solidFill>
              <a:schemeClr val="bg1"/>
            </a:solidFill>
            <a:latin typeface="Proxima Nova Rg" panose="02000506030000020004" pitchFamily="2" charset="0"/>
          </a:endParaRPr>
        </a:p>
      </dgm:t>
    </dgm:pt>
    <dgm:pt modelId="{AD253EE1-02C5-CC4D-A391-B273106D66F1}" type="parTrans" cxnId="{29AFB43E-3606-5240-9D50-33860CC83069}">
      <dgm:prSet/>
      <dgm:spPr/>
      <dgm:t>
        <a:bodyPr/>
        <a:lstStyle/>
        <a:p>
          <a:endParaRPr lang="en-US"/>
        </a:p>
      </dgm:t>
    </dgm:pt>
    <dgm:pt modelId="{FBBEB126-8EBA-6E4F-ACE0-26CD60F70353}" type="sibTrans" cxnId="{29AFB43E-3606-5240-9D50-33860CC83069}">
      <dgm:prSet/>
      <dgm:spPr/>
      <dgm:t>
        <a:bodyPr/>
        <a:lstStyle/>
        <a:p>
          <a:endParaRPr lang="en-US"/>
        </a:p>
      </dgm:t>
    </dgm:pt>
    <dgm:pt modelId="{4C88DD6C-1FAB-D64A-A93C-EFD317EFACC1}">
      <dgm:prSet/>
      <dgm:spPr>
        <a:solidFill>
          <a:schemeClr val="accent2"/>
        </a:solidFill>
      </dgm:spPr>
      <dgm:t>
        <a:bodyPr/>
        <a:lstStyle/>
        <a:p>
          <a:r>
            <a:rPr lang="en-US" b="0" i="0">
              <a:solidFill>
                <a:schemeClr val="bg1"/>
              </a:solidFill>
              <a:latin typeface="Proxima Nova Rg" panose="02000506030000020004" pitchFamily="2" charset="0"/>
            </a:rPr>
            <a:t>Sorting in college majors and occupations</a:t>
          </a:r>
          <a:endParaRPr lang="en-US">
            <a:solidFill>
              <a:schemeClr val="bg1"/>
            </a:solidFill>
            <a:latin typeface="Proxima Nova Rg" panose="02000506030000020004" pitchFamily="2" charset="0"/>
          </a:endParaRPr>
        </a:p>
      </dgm:t>
    </dgm:pt>
    <dgm:pt modelId="{CFF2DDD3-2078-2C42-A929-091CF84D8D36}" type="parTrans" cxnId="{70771976-378D-FB44-9233-1B4FB9CD98F0}">
      <dgm:prSet/>
      <dgm:spPr/>
      <dgm:t>
        <a:bodyPr/>
        <a:lstStyle/>
        <a:p>
          <a:endParaRPr lang="en-US">
            <a:solidFill>
              <a:schemeClr val="bg1"/>
            </a:solidFill>
          </a:endParaRPr>
        </a:p>
      </dgm:t>
    </dgm:pt>
    <dgm:pt modelId="{231DC57D-987A-2C48-A9F0-3F4774E499B3}" type="sibTrans" cxnId="{70771976-378D-FB44-9233-1B4FB9CD98F0}">
      <dgm:prSet/>
      <dgm:spPr/>
      <dgm:t>
        <a:bodyPr/>
        <a:lstStyle/>
        <a:p>
          <a:endParaRPr lang="en-US"/>
        </a:p>
      </dgm:t>
    </dgm:pt>
    <dgm:pt modelId="{4811DB90-8C9D-3542-B9B4-F86A93020E6B}">
      <dgm:prSet/>
      <dgm:spPr>
        <a:solidFill>
          <a:schemeClr val="accent2"/>
        </a:solidFill>
      </dgm:spPr>
      <dgm:t>
        <a:bodyPr/>
        <a:lstStyle/>
        <a:p>
          <a:r>
            <a:rPr lang="en-US" b="0" i="0" dirty="0">
              <a:solidFill>
                <a:schemeClr val="bg1"/>
              </a:solidFill>
              <a:latin typeface="Proxima Nova Rg" panose="02000506030000020004" pitchFamily="2" charset="0"/>
            </a:rPr>
            <a:t>Effects of anticipated discrimination (lab experiment)</a:t>
          </a:r>
          <a:endParaRPr lang="en-US" dirty="0">
            <a:solidFill>
              <a:schemeClr val="bg1"/>
            </a:solidFill>
            <a:latin typeface="Proxima Nova Rg" panose="02000506030000020004" pitchFamily="2" charset="0"/>
          </a:endParaRPr>
        </a:p>
      </dgm:t>
    </dgm:pt>
    <dgm:pt modelId="{D8F9E4DB-E644-DF4A-89CF-17B316177168}" type="parTrans" cxnId="{2E0C3816-E5B4-AE45-AABC-9E59A302D063}">
      <dgm:prSet/>
      <dgm:spPr/>
      <dgm:t>
        <a:bodyPr/>
        <a:lstStyle/>
        <a:p>
          <a:endParaRPr lang="en-US">
            <a:solidFill>
              <a:schemeClr val="bg1"/>
            </a:solidFill>
          </a:endParaRPr>
        </a:p>
      </dgm:t>
    </dgm:pt>
    <dgm:pt modelId="{2E757301-5063-0F44-A66F-9E79BF8864F0}" type="sibTrans" cxnId="{2E0C3816-E5B4-AE45-AABC-9E59A302D063}">
      <dgm:prSet/>
      <dgm:spPr/>
      <dgm:t>
        <a:bodyPr/>
        <a:lstStyle/>
        <a:p>
          <a:endParaRPr lang="en-US"/>
        </a:p>
      </dgm:t>
    </dgm:pt>
    <dgm:pt modelId="{F7B054AC-099C-BB4A-9FB2-51D830A619C2}">
      <dgm:prSet/>
      <dgm:spPr/>
      <dgm:t>
        <a:bodyPr/>
        <a:lstStyle/>
        <a:p>
          <a:r>
            <a:rPr lang="en-US" dirty="0">
              <a:solidFill>
                <a:schemeClr val="bg1"/>
              </a:solidFill>
              <a:latin typeface="Proxima Nova Rg" panose="02000506030000020004" pitchFamily="2" charset="0"/>
            </a:rPr>
            <a:t>Social Context &amp; Stereotype Change</a:t>
          </a:r>
        </a:p>
      </dgm:t>
    </dgm:pt>
    <dgm:pt modelId="{D4FE335E-1CCF-9A48-A959-90DFCFEE687C}" type="parTrans" cxnId="{4017C6B6-0C6A-854F-8B26-4CA1F2FDE92F}">
      <dgm:prSet/>
      <dgm:spPr/>
      <dgm:t>
        <a:bodyPr/>
        <a:lstStyle/>
        <a:p>
          <a:endParaRPr lang="en-US"/>
        </a:p>
      </dgm:t>
    </dgm:pt>
    <dgm:pt modelId="{8C6B1AC1-6B7C-8443-BCD0-305D347FDD42}" type="sibTrans" cxnId="{4017C6B6-0C6A-854F-8B26-4CA1F2FDE92F}">
      <dgm:prSet/>
      <dgm:spPr/>
      <dgm:t>
        <a:bodyPr/>
        <a:lstStyle/>
        <a:p>
          <a:endParaRPr lang="en-US"/>
        </a:p>
      </dgm:t>
    </dgm:pt>
    <dgm:pt modelId="{60381734-0163-954D-BAEC-7ACB340B2354}">
      <dgm:prSet/>
      <dgm:spPr>
        <a:solidFill>
          <a:schemeClr val="accent2"/>
        </a:solidFill>
      </dgm:spPr>
      <dgm:t>
        <a:bodyPr/>
        <a:lstStyle/>
        <a:p>
          <a:r>
            <a:rPr lang="en-US" dirty="0">
              <a:solidFill>
                <a:schemeClr val="bg1"/>
              </a:solidFill>
              <a:latin typeface="Proxima Nova Rg" panose="02000506030000020004" pitchFamily="2" charset="0"/>
            </a:rPr>
            <a:t>Peer effects of LGBTQ+ students (contact hypothesis)</a:t>
          </a:r>
        </a:p>
      </dgm:t>
    </dgm:pt>
    <dgm:pt modelId="{AB819C3B-007E-B446-91B8-8C0E8012D9A9}" type="parTrans" cxnId="{243483DD-8B0C-DF44-B1D7-EDF41B0F1431}">
      <dgm:prSet/>
      <dgm:spPr/>
      <dgm:t>
        <a:bodyPr/>
        <a:lstStyle/>
        <a:p>
          <a:endParaRPr lang="en-US">
            <a:solidFill>
              <a:schemeClr val="bg1"/>
            </a:solidFill>
          </a:endParaRPr>
        </a:p>
      </dgm:t>
    </dgm:pt>
    <dgm:pt modelId="{D8DF97A6-6455-E244-A0B1-79DAA5F35890}" type="sibTrans" cxnId="{243483DD-8B0C-DF44-B1D7-EDF41B0F1431}">
      <dgm:prSet/>
      <dgm:spPr/>
      <dgm:t>
        <a:bodyPr/>
        <a:lstStyle/>
        <a:p>
          <a:endParaRPr lang="en-US"/>
        </a:p>
      </dgm:t>
    </dgm:pt>
    <dgm:pt modelId="{4BBC71FB-14FF-D64E-993B-6B6DE1DA9B01}">
      <dgm:prSet/>
      <dgm:spPr>
        <a:solidFill>
          <a:schemeClr val="accent2"/>
        </a:solidFill>
      </dgm:spPr>
      <dgm:t>
        <a:bodyPr/>
        <a:lstStyle/>
        <a:p>
          <a:r>
            <a:rPr lang="en-US" dirty="0">
              <a:solidFill>
                <a:schemeClr val="bg1"/>
              </a:solidFill>
              <a:latin typeface="Proxima Nova Rg" panose="02000506030000020004" pitchFamily="2" charset="0"/>
            </a:rPr>
            <a:t>Beliefs and social norms about anti-trans sentiments</a:t>
          </a:r>
        </a:p>
      </dgm:t>
    </dgm:pt>
    <dgm:pt modelId="{1EFF7B05-D9DC-314C-8C32-5F97A3AC4FA9}" type="parTrans" cxnId="{FB5323C4-8240-F044-8D64-EF22CC790DAE}">
      <dgm:prSet/>
      <dgm:spPr/>
      <dgm:t>
        <a:bodyPr/>
        <a:lstStyle/>
        <a:p>
          <a:endParaRPr lang="en-US">
            <a:solidFill>
              <a:schemeClr val="bg1"/>
            </a:solidFill>
          </a:endParaRPr>
        </a:p>
      </dgm:t>
    </dgm:pt>
    <dgm:pt modelId="{E6E530A0-D897-1447-8023-BC469358D5D8}" type="sibTrans" cxnId="{FB5323C4-8240-F044-8D64-EF22CC790DAE}">
      <dgm:prSet/>
      <dgm:spPr/>
      <dgm:t>
        <a:bodyPr/>
        <a:lstStyle/>
        <a:p>
          <a:endParaRPr lang="en-US"/>
        </a:p>
      </dgm:t>
    </dgm:pt>
    <dgm:pt modelId="{21E6351D-4A77-1041-9218-33773658E338}" type="pres">
      <dgm:prSet presAssocID="{882908B3-DB4F-0247-890C-12B4C9C0E204}" presName="diagram" presStyleCnt="0">
        <dgm:presLayoutVars>
          <dgm:chPref val="1"/>
          <dgm:dir/>
          <dgm:animOne val="branch"/>
          <dgm:animLvl val="lvl"/>
          <dgm:resizeHandles/>
        </dgm:presLayoutVars>
      </dgm:prSet>
      <dgm:spPr/>
    </dgm:pt>
    <dgm:pt modelId="{2E1EEEE2-5AD8-7446-94CA-56BA0D90054B}" type="pres">
      <dgm:prSet presAssocID="{9C61B549-711D-514F-B3AE-CD05D522070C}" presName="root" presStyleCnt="0"/>
      <dgm:spPr/>
    </dgm:pt>
    <dgm:pt modelId="{DDDA1592-510B-7941-9558-9AC29C40E32E}" type="pres">
      <dgm:prSet presAssocID="{9C61B549-711D-514F-B3AE-CD05D522070C}" presName="rootComposite" presStyleCnt="0"/>
      <dgm:spPr/>
    </dgm:pt>
    <dgm:pt modelId="{DD2E9450-C091-3E46-A3CA-2EE730631203}" type="pres">
      <dgm:prSet presAssocID="{9C61B549-711D-514F-B3AE-CD05D522070C}" presName="rootText" presStyleLbl="node1" presStyleIdx="0" presStyleCnt="3"/>
      <dgm:spPr/>
    </dgm:pt>
    <dgm:pt modelId="{F15C7128-336D-5D4D-A3BC-4014B0B8B064}" type="pres">
      <dgm:prSet presAssocID="{9C61B549-711D-514F-B3AE-CD05D522070C}" presName="rootConnector" presStyleLbl="node1" presStyleIdx="0" presStyleCnt="3"/>
      <dgm:spPr/>
    </dgm:pt>
    <dgm:pt modelId="{A9FCB5AC-7AB3-F44B-8A3C-813833F4DD2B}" type="pres">
      <dgm:prSet presAssocID="{9C61B549-711D-514F-B3AE-CD05D522070C}" presName="childShape" presStyleCnt="0"/>
      <dgm:spPr/>
    </dgm:pt>
    <dgm:pt modelId="{EF37C6AA-9578-4649-9F32-AB0BCE6460F2}" type="pres">
      <dgm:prSet presAssocID="{07521C42-E9D7-2648-AFF3-AD72EB54CCB0}" presName="Name13" presStyleLbl="parChTrans1D2" presStyleIdx="0" presStyleCnt="6"/>
      <dgm:spPr/>
    </dgm:pt>
    <dgm:pt modelId="{1CC06EA2-4018-C443-9C77-5F9069FECF7D}" type="pres">
      <dgm:prSet presAssocID="{23B1C744-71F5-AC4A-B9BE-F27DB5E1EFB0}" presName="childText" presStyleLbl="bgAcc1" presStyleIdx="0" presStyleCnt="6">
        <dgm:presLayoutVars>
          <dgm:bulletEnabled val="1"/>
        </dgm:presLayoutVars>
      </dgm:prSet>
      <dgm:spPr/>
    </dgm:pt>
    <dgm:pt modelId="{CE4398D7-D0C7-C141-A450-D92881FC7504}" type="pres">
      <dgm:prSet presAssocID="{9C601D68-60B8-754B-87A6-188618DB6DD6}" presName="Name13" presStyleLbl="parChTrans1D2" presStyleIdx="1" presStyleCnt="6"/>
      <dgm:spPr/>
    </dgm:pt>
    <dgm:pt modelId="{333B77CC-9BE9-2447-A5BD-4DCDE1D73903}" type="pres">
      <dgm:prSet presAssocID="{5AF40294-C6B1-9E47-8893-BC3D52E34CEE}" presName="childText" presStyleLbl="bgAcc1" presStyleIdx="1" presStyleCnt="6">
        <dgm:presLayoutVars>
          <dgm:bulletEnabled val="1"/>
        </dgm:presLayoutVars>
      </dgm:prSet>
      <dgm:spPr/>
    </dgm:pt>
    <dgm:pt modelId="{488A624D-40AF-C24A-BF10-E7D62B9E041A}" type="pres">
      <dgm:prSet presAssocID="{A4C1834C-BD7E-4045-9523-918FC3863B8E}" presName="root" presStyleCnt="0"/>
      <dgm:spPr/>
    </dgm:pt>
    <dgm:pt modelId="{70FC82AA-0190-1A42-A135-B4C65F21EAB4}" type="pres">
      <dgm:prSet presAssocID="{A4C1834C-BD7E-4045-9523-918FC3863B8E}" presName="rootComposite" presStyleCnt="0"/>
      <dgm:spPr/>
    </dgm:pt>
    <dgm:pt modelId="{3D76608C-05F3-B445-8BE6-EA0C9E2F6F3B}" type="pres">
      <dgm:prSet presAssocID="{A4C1834C-BD7E-4045-9523-918FC3863B8E}" presName="rootText" presStyleLbl="node1" presStyleIdx="1" presStyleCnt="3"/>
      <dgm:spPr/>
    </dgm:pt>
    <dgm:pt modelId="{C928378B-B3DE-A743-AA6F-EBBBF276A4E4}" type="pres">
      <dgm:prSet presAssocID="{A4C1834C-BD7E-4045-9523-918FC3863B8E}" presName="rootConnector" presStyleLbl="node1" presStyleIdx="1" presStyleCnt="3"/>
      <dgm:spPr/>
    </dgm:pt>
    <dgm:pt modelId="{C09EBB97-1823-AA45-BA5C-A77FC4EC06E2}" type="pres">
      <dgm:prSet presAssocID="{A4C1834C-BD7E-4045-9523-918FC3863B8E}" presName="childShape" presStyleCnt="0"/>
      <dgm:spPr/>
    </dgm:pt>
    <dgm:pt modelId="{26F64506-B074-4547-A24A-C27BFB6BE074}" type="pres">
      <dgm:prSet presAssocID="{CFF2DDD3-2078-2C42-A929-091CF84D8D36}" presName="Name13" presStyleLbl="parChTrans1D2" presStyleIdx="2" presStyleCnt="6"/>
      <dgm:spPr/>
    </dgm:pt>
    <dgm:pt modelId="{937AFA9A-3A83-C245-9A64-86D48E7474A5}" type="pres">
      <dgm:prSet presAssocID="{4C88DD6C-1FAB-D64A-A93C-EFD317EFACC1}" presName="childText" presStyleLbl="bgAcc1" presStyleIdx="2" presStyleCnt="6">
        <dgm:presLayoutVars>
          <dgm:bulletEnabled val="1"/>
        </dgm:presLayoutVars>
      </dgm:prSet>
      <dgm:spPr/>
    </dgm:pt>
    <dgm:pt modelId="{CE2784A6-2C9B-1A4D-A6A1-5FC0A2F37D81}" type="pres">
      <dgm:prSet presAssocID="{D8F9E4DB-E644-DF4A-89CF-17B316177168}" presName="Name13" presStyleLbl="parChTrans1D2" presStyleIdx="3" presStyleCnt="6"/>
      <dgm:spPr/>
    </dgm:pt>
    <dgm:pt modelId="{05DCFAD7-0DE0-1D4B-9677-106D5F0EC1A5}" type="pres">
      <dgm:prSet presAssocID="{4811DB90-8C9D-3542-B9B4-F86A93020E6B}" presName="childText" presStyleLbl="bgAcc1" presStyleIdx="3" presStyleCnt="6">
        <dgm:presLayoutVars>
          <dgm:bulletEnabled val="1"/>
        </dgm:presLayoutVars>
      </dgm:prSet>
      <dgm:spPr/>
    </dgm:pt>
    <dgm:pt modelId="{E570AD91-0585-5C46-8DBA-6A761C25425D}" type="pres">
      <dgm:prSet presAssocID="{F7B054AC-099C-BB4A-9FB2-51D830A619C2}" presName="root" presStyleCnt="0"/>
      <dgm:spPr/>
    </dgm:pt>
    <dgm:pt modelId="{101F662D-ACAF-764C-8D53-D95392517148}" type="pres">
      <dgm:prSet presAssocID="{F7B054AC-099C-BB4A-9FB2-51D830A619C2}" presName="rootComposite" presStyleCnt="0"/>
      <dgm:spPr/>
    </dgm:pt>
    <dgm:pt modelId="{CE1CD388-60DF-1B45-8E8F-520C7627123B}" type="pres">
      <dgm:prSet presAssocID="{F7B054AC-099C-BB4A-9FB2-51D830A619C2}" presName="rootText" presStyleLbl="node1" presStyleIdx="2" presStyleCnt="3"/>
      <dgm:spPr/>
    </dgm:pt>
    <dgm:pt modelId="{D711A6A0-CFC5-BD46-AA4E-D7E47D356AB1}" type="pres">
      <dgm:prSet presAssocID="{F7B054AC-099C-BB4A-9FB2-51D830A619C2}" presName="rootConnector" presStyleLbl="node1" presStyleIdx="2" presStyleCnt="3"/>
      <dgm:spPr/>
    </dgm:pt>
    <dgm:pt modelId="{CF441C6B-262A-A54F-A681-EEAB4AE84AA6}" type="pres">
      <dgm:prSet presAssocID="{F7B054AC-099C-BB4A-9FB2-51D830A619C2}" presName="childShape" presStyleCnt="0"/>
      <dgm:spPr/>
    </dgm:pt>
    <dgm:pt modelId="{01D94D23-5177-9243-B905-F3ACDB44ED11}" type="pres">
      <dgm:prSet presAssocID="{AB819C3B-007E-B446-91B8-8C0E8012D9A9}" presName="Name13" presStyleLbl="parChTrans1D2" presStyleIdx="4" presStyleCnt="6"/>
      <dgm:spPr/>
    </dgm:pt>
    <dgm:pt modelId="{DAF27D31-7868-3140-8DA0-1195E169BE16}" type="pres">
      <dgm:prSet presAssocID="{60381734-0163-954D-BAEC-7ACB340B2354}" presName="childText" presStyleLbl="bgAcc1" presStyleIdx="4" presStyleCnt="6">
        <dgm:presLayoutVars>
          <dgm:bulletEnabled val="1"/>
        </dgm:presLayoutVars>
      </dgm:prSet>
      <dgm:spPr/>
    </dgm:pt>
    <dgm:pt modelId="{B179003F-F029-A044-88A6-AC210080D793}" type="pres">
      <dgm:prSet presAssocID="{1EFF7B05-D9DC-314C-8C32-5F97A3AC4FA9}" presName="Name13" presStyleLbl="parChTrans1D2" presStyleIdx="5" presStyleCnt="6"/>
      <dgm:spPr/>
    </dgm:pt>
    <dgm:pt modelId="{49B3029E-C7E1-7B44-9A8E-EE67AE7FF89A}" type="pres">
      <dgm:prSet presAssocID="{4BBC71FB-14FF-D64E-993B-6B6DE1DA9B01}" presName="childText" presStyleLbl="bgAcc1" presStyleIdx="5" presStyleCnt="6">
        <dgm:presLayoutVars>
          <dgm:bulletEnabled val="1"/>
        </dgm:presLayoutVars>
      </dgm:prSet>
      <dgm:spPr/>
    </dgm:pt>
  </dgm:ptLst>
  <dgm:cxnLst>
    <dgm:cxn modelId="{D3A62803-3591-F14F-B4A2-0DD764EFE146}" type="presOf" srcId="{A4C1834C-BD7E-4045-9523-918FC3863B8E}" destId="{C928378B-B3DE-A743-AA6F-EBBBF276A4E4}" srcOrd="1" destOrd="0" presId="urn:microsoft.com/office/officeart/2005/8/layout/hierarchy3"/>
    <dgm:cxn modelId="{2BE83509-49D2-D041-AA21-486ACCE0C74F}" type="presOf" srcId="{882908B3-DB4F-0247-890C-12B4C9C0E204}" destId="{21E6351D-4A77-1041-9218-33773658E338}" srcOrd="0" destOrd="0" presId="urn:microsoft.com/office/officeart/2005/8/layout/hierarchy3"/>
    <dgm:cxn modelId="{7C02470B-4955-B24A-98FE-854FE36C11FE}" srcId="{9C61B549-711D-514F-B3AE-CD05D522070C}" destId="{5AF40294-C6B1-9E47-8893-BC3D52E34CEE}" srcOrd="1" destOrd="0" parTransId="{9C601D68-60B8-754B-87A6-188618DB6DD6}" sibTransId="{AFCC89EF-CDCB-F545-82F9-ECF9B6E03154}"/>
    <dgm:cxn modelId="{2E0C3816-E5B4-AE45-AABC-9E59A302D063}" srcId="{A4C1834C-BD7E-4045-9523-918FC3863B8E}" destId="{4811DB90-8C9D-3542-B9B4-F86A93020E6B}" srcOrd="1" destOrd="0" parTransId="{D8F9E4DB-E644-DF4A-89CF-17B316177168}" sibTransId="{2E757301-5063-0F44-A66F-9E79BF8864F0}"/>
    <dgm:cxn modelId="{28599024-7097-8C4C-B9F9-43CEDACB715D}" type="presOf" srcId="{9C601D68-60B8-754B-87A6-188618DB6DD6}" destId="{CE4398D7-D0C7-C141-A450-D92881FC7504}" srcOrd="0" destOrd="0" presId="urn:microsoft.com/office/officeart/2005/8/layout/hierarchy3"/>
    <dgm:cxn modelId="{79E1F73A-DD66-D943-BB85-DABFD779C134}" type="presOf" srcId="{5AF40294-C6B1-9E47-8893-BC3D52E34CEE}" destId="{333B77CC-9BE9-2447-A5BD-4DCDE1D73903}" srcOrd="0" destOrd="0" presId="urn:microsoft.com/office/officeart/2005/8/layout/hierarchy3"/>
    <dgm:cxn modelId="{29AFB43E-3606-5240-9D50-33860CC83069}" srcId="{882908B3-DB4F-0247-890C-12B4C9C0E204}" destId="{A4C1834C-BD7E-4045-9523-918FC3863B8E}" srcOrd="1" destOrd="0" parTransId="{AD253EE1-02C5-CC4D-A391-B273106D66F1}" sibTransId="{FBBEB126-8EBA-6E4F-ACE0-26CD60F70353}"/>
    <dgm:cxn modelId="{5EC19D54-DBF5-4741-9483-B654A3013602}" type="presOf" srcId="{4BBC71FB-14FF-D64E-993B-6B6DE1DA9B01}" destId="{49B3029E-C7E1-7B44-9A8E-EE67AE7FF89A}" srcOrd="0" destOrd="0" presId="urn:microsoft.com/office/officeart/2005/8/layout/hierarchy3"/>
    <dgm:cxn modelId="{C9692057-7644-4940-BD1D-747615A4384D}" type="presOf" srcId="{D8F9E4DB-E644-DF4A-89CF-17B316177168}" destId="{CE2784A6-2C9B-1A4D-A6A1-5FC0A2F37D81}" srcOrd="0" destOrd="0" presId="urn:microsoft.com/office/officeart/2005/8/layout/hierarchy3"/>
    <dgm:cxn modelId="{6E4CB365-5F6A-1948-9F30-7E95D6526946}" type="presOf" srcId="{9C61B549-711D-514F-B3AE-CD05D522070C}" destId="{DD2E9450-C091-3E46-A3CA-2EE730631203}" srcOrd="0" destOrd="0" presId="urn:microsoft.com/office/officeart/2005/8/layout/hierarchy3"/>
    <dgm:cxn modelId="{8667CC6C-692D-B044-AAFD-F90CDE0884AF}" type="presOf" srcId="{1EFF7B05-D9DC-314C-8C32-5F97A3AC4FA9}" destId="{B179003F-F029-A044-88A6-AC210080D793}" srcOrd="0" destOrd="0" presId="urn:microsoft.com/office/officeart/2005/8/layout/hierarchy3"/>
    <dgm:cxn modelId="{8B91DD6C-A0B5-A045-8290-5340FC036929}" type="presOf" srcId="{A4C1834C-BD7E-4045-9523-918FC3863B8E}" destId="{3D76608C-05F3-B445-8BE6-EA0C9E2F6F3B}" srcOrd="0" destOrd="0" presId="urn:microsoft.com/office/officeart/2005/8/layout/hierarchy3"/>
    <dgm:cxn modelId="{CDDE636D-E6A1-3541-B441-1D832FB31ECA}" type="presOf" srcId="{F7B054AC-099C-BB4A-9FB2-51D830A619C2}" destId="{D711A6A0-CFC5-BD46-AA4E-D7E47D356AB1}" srcOrd="1" destOrd="0" presId="urn:microsoft.com/office/officeart/2005/8/layout/hierarchy3"/>
    <dgm:cxn modelId="{70771976-378D-FB44-9233-1B4FB9CD98F0}" srcId="{A4C1834C-BD7E-4045-9523-918FC3863B8E}" destId="{4C88DD6C-1FAB-D64A-A93C-EFD317EFACC1}" srcOrd="0" destOrd="0" parTransId="{CFF2DDD3-2078-2C42-A929-091CF84D8D36}" sibTransId="{231DC57D-987A-2C48-A9F0-3F4774E499B3}"/>
    <dgm:cxn modelId="{F6D08C78-AD7D-2846-9C70-FD5A39F29F5C}" srcId="{882908B3-DB4F-0247-890C-12B4C9C0E204}" destId="{9C61B549-711D-514F-B3AE-CD05D522070C}" srcOrd="0" destOrd="0" parTransId="{E7AD2494-F50D-5545-B257-CB40199B673F}" sibTransId="{3D44E7ED-FB87-654B-91B4-760108F4F070}"/>
    <dgm:cxn modelId="{83EA9084-C946-E049-B3FC-FBBA95B9DAAB}" srcId="{9C61B549-711D-514F-B3AE-CD05D522070C}" destId="{23B1C744-71F5-AC4A-B9BE-F27DB5E1EFB0}" srcOrd="0" destOrd="0" parTransId="{07521C42-E9D7-2648-AFF3-AD72EB54CCB0}" sibTransId="{7E794663-F3BA-5549-B1E1-8E8CDAB1572F}"/>
    <dgm:cxn modelId="{23E66E86-96AA-C045-8518-CE51514BB434}" type="presOf" srcId="{CFF2DDD3-2078-2C42-A929-091CF84D8D36}" destId="{26F64506-B074-4547-A24A-C27BFB6BE074}" srcOrd="0" destOrd="0" presId="urn:microsoft.com/office/officeart/2005/8/layout/hierarchy3"/>
    <dgm:cxn modelId="{26442C8B-A828-E142-836F-8235AD655965}" type="presOf" srcId="{F7B054AC-099C-BB4A-9FB2-51D830A619C2}" destId="{CE1CD388-60DF-1B45-8E8F-520C7627123B}" srcOrd="0" destOrd="0" presId="urn:microsoft.com/office/officeart/2005/8/layout/hierarchy3"/>
    <dgm:cxn modelId="{158F548D-0768-D14B-8D61-5D9E6B863268}" type="presOf" srcId="{07521C42-E9D7-2648-AFF3-AD72EB54CCB0}" destId="{EF37C6AA-9578-4649-9F32-AB0BCE6460F2}" srcOrd="0" destOrd="0" presId="urn:microsoft.com/office/officeart/2005/8/layout/hierarchy3"/>
    <dgm:cxn modelId="{0BEAAA90-1E1E-8040-B147-2618A9B6910F}" type="presOf" srcId="{4C88DD6C-1FAB-D64A-A93C-EFD317EFACC1}" destId="{937AFA9A-3A83-C245-9A64-86D48E7474A5}" srcOrd="0" destOrd="0" presId="urn:microsoft.com/office/officeart/2005/8/layout/hierarchy3"/>
    <dgm:cxn modelId="{9BBF719A-6FEC-8F4B-8AFD-B949D4690E6A}" type="presOf" srcId="{4811DB90-8C9D-3542-B9B4-F86A93020E6B}" destId="{05DCFAD7-0DE0-1D4B-9677-106D5F0EC1A5}" srcOrd="0" destOrd="0" presId="urn:microsoft.com/office/officeart/2005/8/layout/hierarchy3"/>
    <dgm:cxn modelId="{C76980A6-28E2-FC41-BE06-7702CB80C942}" type="presOf" srcId="{AB819C3B-007E-B446-91B8-8C0E8012D9A9}" destId="{01D94D23-5177-9243-B905-F3ACDB44ED11}" srcOrd="0" destOrd="0" presId="urn:microsoft.com/office/officeart/2005/8/layout/hierarchy3"/>
    <dgm:cxn modelId="{C90E45AF-47C5-E643-9E69-2CDD7D7F5BAE}" type="presOf" srcId="{9C61B549-711D-514F-B3AE-CD05D522070C}" destId="{F15C7128-336D-5D4D-A3BC-4014B0B8B064}" srcOrd="1" destOrd="0" presId="urn:microsoft.com/office/officeart/2005/8/layout/hierarchy3"/>
    <dgm:cxn modelId="{4017C6B6-0C6A-854F-8B26-4CA1F2FDE92F}" srcId="{882908B3-DB4F-0247-890C-12B4C9C0E204}" destId="{F7B054AC-099C-BB4A-9FB2-51D830A619C2}" srcOrd="2" destOrd="0" parTransId="{D4FE335E-1CCF-9A48-A959-90DFCFEE687C}" sibTransId="{8C6B1AC1-6B7C-8443-BCD0-305D347FDD42}"/>
    <dgm:cxn modelId="{FB5323C4-8240-F044-8D64-EF22CC790DAE}" srcId="{F7B054AC-099C-BB4A-9FB2-51D830A619C2}" destId="{4BBC71FB-14FF-D64E-993B-6B6DE1DA9B01}" srcOrd="1" destOrd="0" parTransId="{1EFF7B05-D9DC-314C-8C32-5F97A3AC4FA9}" sibTransId="{E6E530A0-D897-1447-8023-BC469358D5D8}"/>
    <dgm:cxn modelId="{2FBDF0D5-4032-E042-827E-14AB82E4F0FF}" type="presOf" srcId="{23B1C744-71F5-AC4A-B9BE-F27DB5E1EFB0}" destId="{1CC06EA2-4018-C443-9C77-5F9069FECF7D}" srcOrd="0" destOrd="0" presId="urn:microsoft.com/office/officeart/2005/8/layout/hierarchy3"/>
    <dgm:cxn modelId="{243483DD-8B0C-DF44-B1D7-EDF41B0F1431}" srcId="{F7B054AC-099C-BB4A-9FB2-51D830A619C2}" destId="{60381734-0163-954D-BAEC-7ACB340B2354}" srcOrd="0" destOrd="0" parTransId="{AB819C3B-007E-B446-91B8-8C0E8012D9A9}" sibTransId="{D8DF97A6-6455-E244-A0B1-79DAA5F35890}"/>
    <dgm:cxn modelId="{68261FFD-002A-EB46-AF7A-7DA80319FA5F}" type="presOf" srcId="{60381734-0163-954D-BAEC-7ACB340B2354}" destId="{DAF27D31-7868-3140-8DA0-1195E169BE16}" srcOrd="0" destOrd="0" presId="urn:microsoft.com/office/officeart/2005/8/layout/hierarchy3"/>
    <dgm:cxn modelId="{161C9165-288A-1849-AC4B-BF3399B91D2B}" type="presParOf" srcId="{21E6351D-4A77-1041-9218-33773658E338}" destId="{2E1EEEE2-5AD8-7446-94CA-56BA0D90054B}" srcOrd="0" destOrd="0" presId="urn:microsoft.com/office/officeart/2005/8/layout/hierarchy3"/>
    <dgm:cxn modelId="{4E3D8BEF-2682-3145-8605-04348792023A}" type="presParOf" srcId="{2E1EEEE2-5AD8-7446-94CA-56BA0D90054B}" destId="{DDDA1592-510B-7941-9558-9AC29C40E32E}" srcOrd="0" destOrd="0" presId="urn:microsoft.com/office/officeart/2005/8/layout/hierarchy3"/>
    <dgm:cxn modelId="{480B4536-8EBE-2E48-B2D7-3E8611413651}" type="presParOf" srcId="{DDDA1592-510B-7941-9558-9AC29C40E32E}" destId="{DD2E9450-C091-3E46-A3CA-2EE730631203}" srcOrd="0" destOrd="0" presId="urn:microsoft.com/office/officeart/2005/8/layout/hierarchy3"/>
    <dgm:cxn modelId="{42BB8595-68C9-C643-9F64-D820C3888CE3}" type="presParOf" srcId="{DDDA1592-510B-7941-9558-9AC29C40E32E}" destId="{F15C7128-336D-5D4D-A3BC-4014B0B8B064}" srcOrd="1" destOrd="0" presId="urn:microsoft.com/office/officeart/2005/8/layout/hierarchy3"/>
    <dgm:cxn modelId="{E56EC78F-ACE0-6044-A7B4-5B7B871DD4BE}" type="presParOf" srcId="{2E1EEEE2-5AD8-7446-94CA-56BA0D90054B}" destId="{A9FCB5AC-7AB3-F44B-8A3C-813833F4DD2B}" srcOrd="1" destOrd="0" presId="urn:microsoft.com/office/officeart/2005/8/layout/hierarchy3"/>
    <dgm:cxn modelId="{9161094A-6F04-E645-ADFE-D1D53CF4054B}" type="presParOf" srcId="{A9FCB5AC-7AB3-F44B-8A3C-813833F4DD2B}" destId="{EF37C6AA-9578-4649-9F32-AB0BCE6460F2}" srcOrd="0" destOrd="0" presId="urn:microsoft.com/office/officeart/2005/8/layout/hierarchy3"/>
    <dgm:cxn modelId="{B594F0CD-3068-B94C-9C7B-450B43B9B28A}" type="presParOf" srcId="{A9FCB5AC-7AB3-F44B-8A3C-813833F4DD2B}" destId="{1CC06EA2-4018-C443-9C77-5F9069FECF7D}" srcOrd="1" destOrd="0" presId="urn:microsoft.com/office/officeart/2005/8/layout/hierarchy3"/>
    <dgm:cxn modelId="{B01C7D3B-CACB-2544-9CE4-56EBBDC44F0C}" type="presParOf" srcId="{A9FCB5AC-7AB3-F44B-8A3C-813833F4DD2B}" destId="{CE4398D7-D0C7-C141-A450-D92881FC7504}" srcOrd="2" destOrd="0" presId="urn:microsoft.com/office/officeart/2005/8/layout/hierarchy3"/>
    <dgm:cxn modelId="{2EAB7456-DF0C-2D43-A83D-E0DF40B73AF8}" type="presParOf" srcId="{A9FCB5AC-7AB3-F44B-8A3C-813833F4DD2B}" destId="{333B77CC-9BE9-2447-A5BD-4DCDE1D73903}" srcOrd="3" destOrd="0" presId="urn:microsoft.com/office/officeart/2005/8/layout/hierarchy3"/>
    <dgm:cxn modelId="{4923CDE7-6F62-4947-99A4-7F9D2A5F0202}" type="presParOf" srcId="{21E6351D-4A77-1041-9218-33773658E338}" destId="{488A624D-40AF-C24A-BF10-E7D62B9E041A}" srcOrd="1" destOrd="0" presId="urn:microsoft.com/office/officeart/2005/8/layout/hierarchy3"/>
    <dgm:cxn modelId="{37701061-327B-CE45-9C8A-B257ECA35B59}" type="presParOf" srcId="{488A624D-40AF-C24A-BF10-E7D62B9E041A}" destId="{70FC82AA-0190-1A42-A135-B4C65F21EAB4}" srcOrd="0" destOrd="0" presId="urn:microsoft.com/office/officeart/2005/8/layout/hierarchy3"/>
    <dgm:cxn modelId="{6D30D19B-EE27-0545-8625-69CBC6949715}" type="presParOf" srcId="{70FC82AA-0190-1A42-A135-B4C65F21EAB4}" destId="{3D76608C-05F3-B445-8BE6-EA0C9E2F6F3B}" srcOrd="0" destOrd="0" presId="urn:microsoft.com/office/officeart/2005/8/layout/hierarchy3"/>
    <dgm:cxn modelId="{C9AF3BCB-09F3-8749-A456-D2E0E6CE346C}" type="presParOf" srcId="{70FC82AA-0190-1A42-A135-B4C65F21EAB4}" destId="{C928378B-B3DE-A743-AA6F-EBBBF276A4E4}" srcOrd="1" destOrd="0" presId="urn:microsoft.com/office/officeart/2005/8/layout/hierarchy3"/>
    <dgm:cxn modelId="{582FB8AD-0D60-E548-9184-0A9E032A22B6}" type="presParOf" srcId="{488A624D-40AF-C24A-BF10-E7D62B9E041A}" destId="{C09EBB97-1823-AA45-BA5C-A77FC4EC06E2}" srcOrd="1" destOrd="0" presId="urn:microsoft.com/office/officeart/2005/8/layout/hierarchy3"/>
    <dgm:cxn modelId="{7AA2B5C8-753B-F74B-A150-48573CAE83CA}" type="presParOf" srcId="{C09EBB97-1823-AA45-BA5C-A77FC4EC06E2}" destId="{26F64506-B074-4547-A24A-C27BFB6BE074}" srcOrd="0" destOrd="0" presId="urn:microsoft.com/office/officeart/2005/8/layout/hierarchy3"/>
    <dgm:cxn modelId="{C4C523B9-8897-794C-B96C-443B97B40E47}" type="presParOf" srcId="{C09EBB97-1823-AA45-BA5C-A77FC4EC06E2}" destId="{937AFA9A-3A83-C245-9A64-86D48E7474A5}" srcOrd="1" destOrd="0" presId="urn:microsoft.com/office/officeart/2005/8/layout/hierarchy3"/>
    <dgm:cxn modelId="{B195EFAA-902B-1242-BDA8-0176A7451C15}" type="presParOf" srcId="{C09EBB97-1823-AA45-BA5C-A77FC4EC06E2}" destId="{CE2784A6-2C9B-1A4D-A6A1-5FC0A2F37D81}" srcOrd="2" destOrd="0" presId="urn:microsoft.com/office/officeart/2005/8/layout/hierarchy3"/>
    <dgm:cxn modelId="{F2CBCD8B-2E1A-C34D-9BCC-8841A3FC79B4}" type="presParOf" srcId="{C09EBB97-1823-AA45-BA5C-A77FC4EC06E2}" destId="{05DCFAD7-0DE0-1D4B-9677-106D5F0EC1A5}" srcOrd="3" destOrd="0" presId="urn:microsoft.com/office/officeart/2005/8/layout/hierarchy3"/>
    <dgm:cxn modelId="{2CE0CE40-2B4E-424C-998E-9154356E8AB6}" type="presParOf" srcId="{21E6351D-4A77-1041-9218-33773658E338}" destId="{E570AD91-0585-5C46-8DBA-6A761C25425D}" srcOrd="2" destOrd="0" presId="urn:microsoft.com/office/officeart/2005/8/layout/hierarchy3"/>
    <dgm:cxn modelId="{EF76C26C-4B46-3D44-8130-B374AEB68F10}" type="presParOf" srcId="{E570AD91-0585-5C46-8DBA-6A761C25425D}" destId="{101F662D-ACAF-764C-8D53-D95392517148}" srcOrd="0" destOrd="0" presId="urn:microsoft.com/office/officeart/2005/8/layout/hierarchy3"/>
    <dgm:cxn modelId="{8A15416D-0A80-A044-84A2-ECA040C37FDF}" type="presParOf" srcId="{101F662D-ACAF-764C-8D53-D95392517148}" destId="{CE1CD388-60DF-1B45-8E8F-520C7627123B}" srcOrd="0" destOrd="0" presId="urn:microsoft.com/office/officeart/2005/8/layout/hierarchy3"/>
    <dgm:cxn modelId="{DF30C103-29D6-C343-B1FB-67716564D886}" type="presParOf" srcId="{101F662D-ACAF-764C-8D53-D95392517148}" destId="{D711A6A0-CFC5-BD46-AA4E-D7E47D356AB1}" srcOrd="1" destOrd="0" presId="urn:microsoft.com/office/officeart/2005/8/layout/hierarchy3"/>
    <dgm:cxn modelId="{2DFBD543-3E1A-FE45-91CA-923D824D6CDE}" type="presParOf" srcId="{E570AD91-0585-5C46-8DBA-6A761C25425D}" destId="{CF441C6B-262A-A54F-A681-EEAB4AE84AA6}" srcOrd="1" destOrd="0" presId="urn:microsoft.com/office/officeart/2005/8/layout/hierarchy3"/>
    <dgm:cxn modelId="{E9FCF41C-0E83-A64B-B30F-A3B1F56EA1CC}" type="presParOf" srcId="{CF441C6B-262A-A54F-A681-EEAB4AE84AA6}" destId="{01D94D23-5177-9243-B905-F3ACDB44ED11}" srcOrd="0" destOrd="0" presId="urn:microsoft.com/office/officeart/2005/8/layout/hierarchy3"/>
    <dgm:cxn modelId="{F9002614-6BBE-1A4E-A50C-BFFB2A2E9437}" type="presParOf" srcId="{CF441C6B-262A-A54F-A681-EEAB4AE84AA6}" destId="{DAF27D31-7868-3140-8DA0-1195E169BE16}" srcOrd="1" destOrd="0" presId="urn:microsoft.com/office/officeart/2005/8/layout/hierarchy3"/>
    <dgm:cxn modelId="{CD4E2028-4CC8-1940-8CD9-F89299E3AB91}" type="presParOf" srcId="{CF441C6B-262A-A54F-A681-EEAB4AE84AA6}" destId="{B179003F-F029-A044-88A6-AC210080D793}" srcOrd="2" destOrd="0" presId="urn:microsoft.com/office/officeart/2005/8/layout/hierarchy3"/>
    <dgm:cxn modelId="{C9D7A6E0-43B6-FF4E-A75E-06CDD34D6BAF}" type="presParOf" srcId="{CF441C6B-262A-A54F-A681-EEAB4AE84AA6}" destId="{49B3029E-C7E1-7B44-9A8E-EE67AE7FF89A}"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ECC907-B2C1-5E46-BE8F-E695E01F0A2E}"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6F818C34-7E32-9C49-BB6F-650B8B330A38}">
      <dgm:prSet phldrT="[Text]" custT="1"/>
      <dgm:spPr/>
      <dgm:t>
        <a:bodyPr/>
        <a:lstStyle/>
        <a:p>
          <a:r>
            <a:rPr lang="en-US" sz="1600" dirty="0">
              <a:latin typeface="Proxima Nova Rg" panose="02000506030000020004" pitchFamily="2" charset="0"/>
            </a:rPr>
            <a:t>How do you rate your high school academic performance </a:t>
          </a:r>
          <a:r>
            <a:rPr lang="en-US" sz="1200" dirty="0">
              <a:latin typeface="Proxima Nova Rg" panose="02000506030000020004" pitchFamily="2" charset="0"/>
            </a:rPr>
            <a:t>(</a:t>
          </a:r>
          <a:r>
            <a:rPr lang="en-US" sz="1200" i="1" dirty="0">
              <a:latin typeface="Proxima Nova" panose="02000506030000020004" pitchFamily="2" charset="0"/>
            </a:rPr>
            <a:t>Poor to Excellent,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FB7B0E4D-2DEC-884B-A394-EA21657F05AD}" type="parTrans" cxnId="{CB9952A1-2F47-B547-819D-62D854A8F89D}">
      <dgm:prSet/>
      <dgm:spPr/>
      <dgm:t>
        <a:bodyPr/>
        <a:lstStyle/>
        <a:p>
          <a:endParaRPr lang="en-US">
            <a:latin typeface="Proxima Nova Rg" panose="02000506030000020004" pitchFamily="2" charset="0"/>
          </a:endParaRPr>
        </a:p>
      </dgm:t>
    </dgm:pt>
    <dgm:pt modelId="{432AEDA1-86C4-924C-B778-D70662BEA9FB}" type="sibTrans" cxnId="{CB9952A1-2F47-B547-819D-62D854A8F89D}">
      <dgm:prSet/>
      <dgm:spPr/>
      <dgm:t>
        <a:bodyPr/>
        <a:lstStyle/>
        <a:p>
          <a:endParaRPr lang="en-US">
            <a:latin typeface="Proxima Nova Rg" panose="02000506030000020004" pitchFamily="2" charset="0"/>
          </a:endParaRPr>
        </a:p>
      </dgm:t>
    </dgm:pt>
    <dgm:pt modelId="{7F83F84B-40EF-534F-A78D-B68536EF2E36}">
      <dgm:prSet phldrT="[Text]" custT="1"/>
      <dgm:spPr/>
      <dgm:t>
        <a:bodyPr/>
        <a:lstStyle/>
        <a:p>
          <a:r>
            <a:rPr lang="en-US" sz="1600" dirty="0">
              <a:latin typeface="Proxima Nova Rg" panose="02000506030000020004" pitchFamily="2" charset="0"/>
            </a:rPr>
            <a:t>How do you rate your high school social experience </a:t>
          </a:r>
          <a:r>
            <a:rPr lang="en-US" sz="1200" dirty="0">
              <a:latin typeface="Proxima Nova Rg" panose="02000506030000020004" pitchFamily="2" charset="0"/>
            </a:rPr>
            <a:t>(</a:t>
          </a:r>
          <a:r>
            <a:rPr lang="en-US" sz="1200" i="1" dirty="0">
              <a:latin typeface="Proxima Nova" panose="02000506030000020004" pitchFamily="2" charset="0"/>
            </a:rPr>
            <a:t>Very Negative to Very Positive,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0E3FC3FE-BD46-D14F-9232-B1D9A28B0A5C}" type="parTrans" cxnId="{54264AA9-4E10-E24A-B12B-4E63D7190D4B}">
      <dgm:prSet/>
      <dgm:spPr/>
      <dgm:t>
        <a:bodyPr/>
        <a:lstStyle/>
        <a:p>
          <a:endParaRPr lang="en-US">
            <a:latin typeface="Proxima Nova Rg" panose="02000506030000020004" pitchFamily="2" charset="0"/>
          </a:endParaRPr>
        </a:p>
      </dgm:t>
    </dgm:pt>
    <dgm:pt modelId="{4C4D3688-5548-2A46-B0D6-C737D2B39EC4}" type="sibTrans" cxnId="{54264AA9-4E10-E24A-B12B-4E63D7190D4B}">
      <dgm:prSet/>
      <dgm:spPr/>
      <dgm:t>
        <a:bodyPr/>
        <a:lstStyle/>
        <a:p>
          <a:endParaRPr lang="en-US">
            <a:latin typeface="Proxima Nova Rg" panose="02000506030000020004" pitchFamily="2" charset="0"/>
          </a:endParaRPr>
        </a:p>
      </dgm:t>
    </dgm:pt>
    <dgm:pt modelId="{D97AC6E8-FAEC-6741-A028-42EC73C66FBD}">
      <dgm:prSet phldrT="[Text]" custT="1"/>
      <dgm:spPr/>
      <dgm:t>
        <a:bodyPr/>
        <a:lstStyle/>
        <a:p>
          <a:r>
            <a:rPr lang="en-US" sz="1600" dirty="0">
              <a:latin typeface="Proxima Nova Rg" panose="02000506030000020004" pitchFamily="2" charset="0"/>
            </a:rPr>
            <a:t>Teachers and staff at my high school care about my future </a:t>
          </a:r>
          <a:r>
            <a:rPr lang="en-US" sz="1200" dirty="0">
              <a:latin typeface="Proxima Nova Rg" panose="02000506030000020004" pitchFamily="2" charset="0"/>
            </a:rPr>
            <a:t>(</a:t>
          </a:r>
          <a:r>
            <a:rPr lang="en-US" sz="1200" i="1" dirty="0">
              <a:latin typeface="Proxima Nova" panose="02000506030000020004" pitchFamily="2" charset="0"/>
            </a:rPr>
            <a:t>same as above</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A1161BE9-305A-1746-83E4-6F9E39DF5826}" type="parTrans" cxnId="{7478C3F5-4B66-3141-B288-8BFEF3B38566}">
      <dgm:prSet/>
      <dgm:spPr/>
      <dgm:t>
        <a:bodyPr/>
        <a:lstStyle/>
        <a:p>
          <a:endParaRPr lang="en-US">
            <a:latin typeface="Proxima Nova Rg" panose="02000506030000020004" pitchFamily="2" charset="0"/>
          </a:endParaRPr>
        </a:p>
      </dgm:t>
    </dgm:pt>
    <dgm:pt modelId="{7AB7CDB3-39BB-B14B-90D9-264D321FC6B0}" type="sibTrans" cxnId="{7478C3F5-4B66-3141-B288-8BFEF3B38566}">
      <dgm:prSet/>
      <dgm:spPr/>
      <dgm:t>
        <a:bodyPr/>
        <a:lstStyle/>
        <a:p>
          <a:endParaRPr lang="en-US">
            <a:latin typeface="Proxima Nova Rg" panose="02000506030000020004" pitchFamily="2" charset="0"/>
          </a:endParaRPr>
        </a:p>
      </dgm:t>
    </dgm:pt>
    <dgm:pt modelId="{3DF16479-96F2-5748-91C8-C51BE44920E2}">
      <dgm:prSet custT="1"/>
      <dgm:spPr/>
      <dgm:t>
        <a:bodyPr/>
        <a:lstStyle/>
        <a:p>
          <a:r>
            <a:rPr lang="en-US" sz="1600" dirty="0">
              <a:latin typeface="Proxima Nova Rg" panose="02000506030000020004" pitchFamily="2" charset="0"/>
            </a:rPr>
            <a:t>I belong in my high school community </a:t>
          </a:r>
          <a:r>
            <a:rPr lang="en-US" sz="1200" dirty="0">
              <a:latin typeface="Proxima Nova Rg" panose="02000506030000020004" pitchFamily="2" charset="0"/>
            </a:rPr>
            <a:t>(</a:t>
          </a:r>
          <a:r>
            <a:rPr lang="en-US" sz="1200" i="1" dirty="0">
              <a:latin typeface="Proxima Nova" panose="02000506030000020004" pitchFamily="2" charset="0"/>
            </a:rPr>
            <a:t>Strongly Disagree to Strongly Agree, 5 pt Likert</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8F77B352-E369-D344-93DC-71EA0F85F772}" type="parTrans" cxnId="{72655412-94F9-9A41-8DE8-F96453A11736}">
      <dgm:prSet/>
      <dgm:spPr/>
      <dgm:t>
        <a:bodyPr/>
        <a:lstStyle/>
        <a:p>
          <a:endParaRPr lang="en-US">
            <a:latin typeface="Proxima Nova Rg" panose="02000506030000020004" pitchFamily="2" charset="0"/>
          </a:endParaRPr>
        </a:p>
      </dgm:t>
    </dgm:pt>
    <dgm:pt modelId="{7502D152-722E-484E-8AED-C1D88B6AD295}" type="sibTrans" cxnId="{72655412-94F9-9A41-8DE8-F96453A11736}">
      <dgm:prSet/>
      <dgm:spPr/>
      <dgm:t>
        <a:bodyPr/>
        <a:lstStyle/>
        <a:p>
          <a:endParaRPr lang="en-US">
            <a:latin typeface="Proxima Nova Rg" panose="02000506030000020004" pitchFamily="2" charset="0"/>
          </a:endParaRPr>
        </a:p>
      </dgm:t>
    </dgm:pt>
    <dgm:pt modelId="{2D30C1FE-10E0-B64A-ADFB-0624A64D778B}">
      <dgm:prSet custT="1"/>
      <dgm:spPr/>
      <dgm:t>
        <a:bodyPr/>
        <a:lstStyle/>
        <a:p>
          <a:r>
            <a:rPr lang="en-US" sz="1600" dirty="0">
              <a:latin typeface="Proxima Nova Rg" panose="02000506030000020004" pitchFamily="2" charset="0"/>
            </a:rPr>
            <a:t>I received good advising from high school about college </a:t>
          </a:r>
          <a:r>
            <a:rPr lang="en-US" sz="1200" dirty="0">
              <a:latin typeface="Proxima Nova Rg" panose="02000506030000020004" pitchFamily="2" charset="0"/>
            </a:rPr>
            <a:t>(</a:t>
          </a:r>
          <a:r>
            <a:rPr lang="en-US" sz="1200" i="1" dirty="0">
              <a:latin typeface="Proxima Nova" panose="02000506030000020004" pitchFamily="2" charset="0"/>
            </a:rPr>
            <a:t>same as above</a:t>
          </a:r>
          <a:r>
            <a:rPr lang="en-US" sz="1200" dirty="0">
              <a:latin typeface="Proxima Nova Rg" panose="02000506030000020004" pitchFamily="2" charset="0"/>
            </a:rPr>
            <a:t>)</a:t>
          </a:r>
          <a:endParaRPr lang="en-US" sz="1600" dirty="0">
            <a:latin typeface="Proxima Nova Rg" panose="02000506030000020004" pitchFamily="2" charset="0"/>
          </a:endParaRPr>
        </a:p>
      </dgm:t>
    </dgm:pt>
    <dgm:pt modelId="{B3832A3E-7C53-F444-B063-AE3E7419583D}" type="parTrans" cxnId="{F5E15DBF-E413-434C-A509-5C392D7F96F4}">
      <dgm:prSet/>
      <dgm:spPr/>
      <dgm:t>
        <a:bodyPr/>
        <a:lstStyle/>
        <a:p>
          <a:endParaRPr lang="en-US">
            <a:latin typeface="Proxima Nova Rg" panose="02000506030000020004" pitchFamily="2" charset="0"/>
          </a:endParaRPr>
        </a:p>
      </dgm:t>
    </dgm:pt>
    <dgm:pt modelId="{839DD80B-3874-5F45-80E6-33F0D21E610A}" type="sibTrans" cxnId="{F5E15DBF-E413-434C-A509-5C392D7F96F4}">
      <dgm:prSet/>
      <dgm:spPr/>
      <dgm:t>
        <a:bodyPr/>
        <a:lstStyle/>
        <a:p>
          <a:endParaRPr lang="en-US">
            <a:latin typeface="Proxima Nova Rg" panose="02000506030000020004" pitchFamily="2" charset="0"/>
          </a:endParaRPr>
        </a:p>
      </dgm:t>
    </dgm:pt>
    <dgm:pt modelId="{5115D056-8604-3A4F-93A9-58E7CDDAEF43}">
      <dgm:prSet custT="1"/>
      <dgm:spPr/>
      <dgm:t>
        <a:bodyPr/>
        <a:lstStyle/>
        <a:p>
          <a:r>
            <a:rPr lang="en-US" sz="1600" dirty="0">
              <a:latin typeface="Proxima Nova Rg" panose="02000506030000020004" pitchFamily="2" charset="0"/>
            </a:rPr>
            <a:t>I feel prepared for college</a:t>
          </a:r>
          <a:r>
            <a:rPr lang="en-US" sz="1600" i="1" dirty="0">
              <a:latin typeface="Proxima Nova" panose="02000506030000020004" pitchFamily="2" charset="0"/>
            </a:rPr>
            <a:t> </a:t>
          </a:r>
          <a:r>
            <a:rPr lang="en-US" sz="1200" i="1" dirty="0">
              <a:latin typeface="Proxima Nova" panose="02000506030000020004" pitchFamily="2" charset="0"/>
            </a:rPr>
            <a:t>(same as above)</a:t>
          </a:r>
          <a:endParaRPr lang="en-US" sz="1600" i="1" dirty="0">
            <a:latin typeface="Proxima Nova" panose="02000506030000020004" pitchFamily="2" charset="0"/>
          </a:endParaRPr>
        </a:p>
      </dgm:t>
    </dgm:pt>
    <dgm:pt modelId="{F188AC8F-AB26-1047-8C25-D6168EA4EBCD}" type="parTrans" cxnId="{038A8756-101A-CC42-BD21-16E76FBAB8AE}">
      <dgm:prSet/>
      <dgm:spPr/>
      <dgm:t>
        <a:bodyPr/>
        <a:lstStyle/>
        <a:p>
          <a:endParaRPr lang="en-US">
            <a:latin typeface="Proxima Nova Rg" panose="02000506030000020004" pitchFamily="2" charset="0"/>
          </a:endParaRPr>
        </a:p>
      </dgm:t>
    </dgm:pt>
    <dgm:pt modelId="{2ADBF0E2-7F65-EC49-B5C8-37FDB755FA24}" type="sibTrans" cxnId="{038A8756-101A-CC42-BD21-16E76FBAB8AE}">
      <dgm:prSet/>
      <dgm:spPr/>
      <dgm:t>
        <a:bodyPr/>
        <a:lstStyle/>
        <a:p>
          <a:endParaRPr lang="en-US">
            <a:latin typeface="Proxima Nova Rg" panose="02000506030000020004" pitchFamily="2" charset="0"/>
          </a:endParaRPr>
        </a:p>
      </dgm:t>
    </dgm:pt>
    <dgm:pt modelId="{2E1CE7D4-D0E1-2B4E-B5D3-F698BF87757B}" type="pres">
      <dgm:prSet presAssocID="{E9ECC907-B2C1-5E46-BE8F-E695E01F0A2E}" presName="linear" presStyleCnt="0">
        <dgm:presLayoutVars>
          <dgm:dir/>
          <dgm:animLvl val="lvl"/>
          <dgm:resizeHandles val="exact"/>
        </dgm:presLayoutVars>
      </dgm:prSet>
      <dgm:spPr/>
    </dgm:pt>
    <dgm:pt modelId="{09990867-62F3-9245-AA6D-EEA09C8D7CEA}" type="pres">
      <dgm:prSet presAssocID="{6F818C34-7E32-9C49-BB6F-650B8B330A38}" presName="parentLin" presStyleCnt="0"/>
      <dgm:spPr/>
    </dgm:pt>
    <dgm:pt modelId="{54226CE4-9D9A-6548-B97A-31A9AC66CC8C}" type="pres">
      <dgm:prSet presAssocID="{6F818C34-7E32-9C49-BB6F-650B8B330A38}" presName="parentLeftMargin" presStyleLbl="node1" presStyleIdx="0" presStyleCnt="6"/>
      <dgm:spPr/>
    </dgm:pt>
    <dgm:pt modelId="{2BB4138D-FAB0-0D48-A619-ACD349CE1A6F}" type="pres">
      <dgm:prSet presAssocID="{6F818C34-7E32-9C49-BB6F-650B8B330A38}" presName="parentText" presStyleLbl="node1" presStyleIdx="0" presStyleCnt="6">
        <dgm:presLayoutVars>
          <dgm:chMax val="0"/>
          <dgm:bulletEnabled val="1"/>
        </dgm:presLayoutVars>
      </dgm:prSet>
      <dgm:spPr/>
    </dgm:pt>
    <dgm:pt modelId="{4F8CEF09-8AF6-B746-A87B-7F1964D61CB5}" type="pres">
      <dgm:prSet presAssocID="{6F818C34-7E32-9C49-BB6F-650B8B330A38}" presName="negativeSpace" presStyleCnt="0"/>
      <dgm:spPr/>
    </dgm:pt>
    <dgm:pt modelId="{D30113DE-B6F4-1A48-9C60-D488E39FA653}" type="pres">
      <dgm:prSet presAssocID="{6F818C34-7E32-9C49-BB6F-650B8B330A38}" presName="childText" presStyleLbl="conFgAcc1" presStyleIdx="0" presStyleCnt="6">
        <dgm:presLayoutVars>
          <dgm:bulletEnabled val="1"/>
        </dgm:presLayoutVars>
      </dgm:prSet>
      <dgm:spPr/>
    </dgm:pt>
    <dgm:pt modelId="{71324AEC-1B4B-7748-9238-0EFA68B88E81}" type="pres">
      <dgm:prSet presAssocID="{432AEDA1-86C4-924C-B778-D70662BEA9FB}" presName="spaceBetweenRectangles" presStyleCnt="0"/>
      <dgm:spPr/>
    </dgm:pt>
    <dgm:pt modelId="{CAFC754D-C6CB-8847-BCA6-56D0B957E6FB}" type="pres">
      <dgm:prSet presAssocID="{7F83F84B-40EF-534F-A78D-B68536EF2E36}" presName="parentLin" presStyleCnt="0"/>
      <dgm:spPr/>
    </dgm:pt>
    <dgm:pt modelId="{10813AD5-807D-EA49-92E6-47823C630870}" type="pres">
      <dgm:prSet presAssocID="{7F83F84B-40EF-534F-A78D-B68536EF2E36}" presName="parentLeftMargin" presStyleLbl="node1" presStyleIdx="0" presStyleCnt="6"/>
      <dgm:spPr/>
    </dgm:pt>
    <dgm:pt modelId="{20D4D5D2-4371-5046-BA2A-E24D60AEF50A}" type="pres">
      <dgm:prSet presAssocID="{7F83F84B-40EF-534F-A78D-B68536EF2E36}" presName="parentText" presStyleLbl="node1" presStyleIdx="1" presStyleCnt="6">
        <dgm:presLayoutVars>
          <dgm:chMax val="0"/>
          <dgm:bulletEnabled val="1"/>
        </dgm:presLayoutVars>
      </dgm:prSet>
      <dgm:spPr/>
    </dgm:pt>
    <dgm:pt modelId="{4DB972F2-FF8A-9E48-89B3-F7866FD767B6}" type="pres">
      <dgm:prSet presAssocID="{7F83F84B-40EF-534F-A78D-B68536EF2E36}" presName="negativeSpace" presStyleCnt="0"/>
      <dgm:spPr/>
    </dgm:pt>
    <dgm:pt modelId="{5279683A-B8E3-AF4D-8FF3-E8FCF84F16EA}" type="pres">
      <dgm:prSet presAssocID="{7F83F84B-40EF-534F-A78D-B68536EF2E36}" presName="childText" presStyleLbl="conFgAcc1" presStyleIdx="1" presStyleCnt="6">
        <dgm:presLayoutVars>
          <dgm:bulletEnabled val="1"/>
        </dgm:presLayoutVars>
      </dgm:prSet>
      <dgm:spPr/>
    </dgm:pt>
    <dgm:pt modelId="{3CE205F4-406B-9849-8EA9-D2460479F773}" type="pres">
      <dgm:prSet presAssocID="{4C4D3688-5548-2A46-B0D6-C737D2B39EC4}" presName="spaceBetweenRectangles" presStyleCnt="0"/>
      <dgm:spPr/>
    </dgm:pt>
    <dgm:pt modelId="{B419F00C-D507-E145-A911-0C453289B30D}" type="pres">
      <dgm:prSet presAssocID="{3DF16479-96F2-5748-91C8-C51BE44920E2}" presName="parentLin" presStyleCnt="0"/>
      <dgm:spPr/>
    </dgm:pt>
    <dgm:pt modelId="{A0BD55D5-AA03-D14F-9A1E-E6FF1ADD7946}" type="pres">
      <dgm:prSet presAssocID="{3DF16479-96F2-5748-91C8-C51BE44920E2}" presName="parentLeftMargin" presStyleLbl="node1" presStyleIdx="1" presStyleCnt="6"/>
      <dgm:spPr/>
    </dgm:pt>
    <dgm:pt modelId="{0E7226F1-D7D8-C945-822E-D8AEF511495B}" type="pres">
      <dgm:prSet presAssocID="{3DF16479-96F2-5748-91C8-C51BE44920E2}" presName="parentText" presStyleLbl="node1" presStyleIdx="2" presStyleCnt="6">
        <dgm:presLayoutVars>
          <dgm:chMax val="0"/>
          <dgm:bulletEnabled val="1"/>
        </dgm:presLayoutVars>
      </dgm:prSet>
      <dgm:spPr/>
    </dgm:pt>
    <dgm:pt modelId="{FEA8D26A-19E9-2F47-96DC-7F9DAEF7308C}" type="pres">
      <dgm:prSet presAssocID="{3DF16479-96F2-5748-91C8-C51BE44920E2}" presName="negativeSpace" presStyleCnt="0"/>
      <dgm:spPr/>
    </dgm:pt>
    <dgm:pt modelId="{9C86EA4F-9C3F-BC49-BC9D-E29BF199012E}" type="pres">
      <dgm:prSet presAssocID="{3DF16479-96F2-5748-91C8-C51BE44920E2}" presName="childText" presStyleLbl="conFgAcc1" presStyleIdx="2" presStyleCnt="6">
        <dgm:presLayoutVars>
          <dgm:bulletEnabled val="1"/>
        </dgm:presLayoutVars>
      </dgm:prSet>
      <dgm:spPr/>
    </dgm:pt>
    <dgm:pt modelId="{85617933-776B-1A41-89A3-862AD3DB62A1}" type="pres">
      <dgm:prSet presAssocID="{7502D152-722E-484E-8AED-C1D88B6AD295}" presName="spaceBetweenRectangles" presStyleCnt="0"/>
      <dgm:spPr/>
    </dgm:pt>
    <dgm:pt modelId="{414F1692-2D7E-DD4B-AD9C-0EF2B0A0D21E}" type="pres">
      <dgm:prSet presAssocID="{D97AC6E8-FAEC-6741-A028-42EC73C66FBD}" presName="parentLin" presStyleCnt="0"/>
      <dgm:spPr/>
    </dgm:pt>
    <dgm:pt modelId="{B2870B22-C8D3-4948-8F70-BB2F14225D80}" type="pres">
      <dgm:prSet presAssocID="{D97AC6E8-FAEC-6741-A028-42EC73C66FBD}" presName="parentLeftMargin" presStyleLbl="node1" presStyleIdx="2" presStyleCnt="6"/>
      <dgm:spPr/>
    </dgm:pt>
    <dgm:pt modelId="{CF10E5B5-CFDD-6B4F-A475-E272A9F3380C}" type="pres">
      <dgm:prSet presAssocID="{D97AC6E8-FAEC-6741-A028-42EC73C66FBD}" presName="parentText" presStyleLbl="node1" presStyleIdx="3" presStyleCnt="6">
        <dgm:presLayoutVars>
          <dgm:chMax val="0"/>
          <dgm:bulletEnabled val="1"/>
        </dgm:presLayoutVars>
      </dgm:prSet>
      <dgm:spPr/>
    </dgm:pt>
    <dgm:pt modelId="{3A66D12B-1925-1845-9626-8EFD365DFD95}" type="pres">
      <dgm:prSet presAssocID="{D97AC6E8-FAEC-6741-A028-42EC73C66FBD}" presName="negativeSpace" presStyleCnt="0"/>
      <dgm:spPr/>
    </dgm:pt>
    <dgm:pt modelId="{481E7E34-7969-A742-BDC2-28AB72440EB0}" type="pres">
      <dgm:prSet presAssocID="{D97AC6E8-FAEC-6741-A028-42EC73C66FBD}" presName="childText" presStyleLbl="conFgAcc1" presStyleIdx="3" presStyleCnt="6">
        <dgm:presLayoutVars>
          <dgm:bulletEnabled val="1"/>
        </dgm:presLayoutVars>
      </dgm:prSet>
      <dgm:spPr/>
    </dgm:pt>
    <dgm:pt modelId="{B985C504-F1D7-D345-9001-E6D599E623F6}" type="pres">
      <dgm:prSet presAssocID="{7AB7CDB3-39BB-B14B-90D9-264D321FC6B0}" presName="spaceBetweenRectangles" presStyleCnt="0"/>
      <dgm:spPr/>
    </dgm:pt>
    <dgm:pt modelId="{897BB147-FF84-9C46-AACA-5CAA5EC80570}" type="pres">
      <dgm:prSet presAssocID="{2D30C1FE-10E0-B64A-ADFB-0624A64D778B}" presName="parentLin" presStyleCnt="0"/>
      <dgm:spPr/>
    </dgm:pt>
    <dgm:pt modelId="{2B86625C-7FA1-7340-A591-9C4C2B4A5216}" type="pres">
      <dgm:prSet presAssocID="{2D30C1FE-10E0-B64A-ADFB-0624A64D778B}" presName="parentLeftMargin" presStyleLbl="node1" presStyleIdx="3" presStyleCnt="6"/>
      <dgm:spPr/>
    </dgm:pt>
    <dgm:pt modelId="{DBB30FFF-8E86-0743-860B-88C58A8CC43D}" type="pres">
      <dgm:prSet presAssocID="{2D30C1FE-10E0-B64A-ADFB-0624A64D778B}" presName="parentText" presStyleLbl="node1" presStyleIdx="4" presStyleCnt="6">
        <dgm:presLayoutVars>
          <dgm:chMax val="0"/>
          <dgm:bulletEnabled val="1"/>
        </dgm:presLayoutVars>
      </dgm:prSet>
      <dgm:spPr/>
    </dgm:pt>
    <dgm:pt modelId="{CB1F3A0A-A00D-E94B-A9F7-BCAFF100CD38}" type="pres">
      <dgm:prSet presAssocID="{2D30C1FE-10E0-B64A-ADFB-0624A64D778B}" presName="negativeSpace" presStyleCnt="0"/>
      <dgm:spPr/>
    </dgm:pt>
    <dgm:pt modelId="{C41CF316-D20F-E340-AF81-83D484B23DA0}" type="pres">
      <dgm:prSet presAssocID="{2D30C1FE-10E0-B64A-ADFB-0624A64D778B}" presName="childText" presStyleLbl="conFgAcc1" presStyleIdx="4" presStyleCnt="6">
        <dgm:presLayoutVars>
          <dgm:bulletEnabled val="1"/>
        </dgm:presLayoutVars>
      </dgm:prSet>
      <dgm:spPr/>
    </dgm:pt>
    <dgm:pt modelId="{B889D81A-81D6-CD40-96AF-931632FFBBF9}" type="pres">
      <dgm:prSet presAssocID="{839DD80B-3874-5F45-80E6-33F0D21E610A}" presName="spaceBetweenRectangles" presStyleCnt="0"/>
      <dgm:spPr/>
    </dgm:pt>
    <dgm:pt modelId="{EEB2E8E4-9F74-1940-822E-A8D7A966AE20}" type="pres">
      <dgm:prSet presAssocID="{5115D056-8604-3A4F-93A9-58E7CDDAEF43}" presName="parentLin" presStyleCnt="0"/>
      <dgm:spPr/>
    </dgm:pt>
    <dgm:pt modelId="{7A131F98-33D2-E845-8D6C-6E55C543ED2C}" type="pres">
      <dgm:prSet presAssocID="{5115D056-8604-3A4F-93A9-58E7CDDAEF43}" presName="parentLeftMargin" presStyleLbl="node1" presStyleIdx="4" presStyleCnt="6"/>
      <dgm:spPr/>
    </dgm:pt>
    <dgm:pt modelId="{04DDD348-2047-B14D-85C7-6C471D04BE47}" type="pres">
      <dgm:prSet presAssocID="{5115D056-8604-3A4F-93A9-58E7CDDAEF43}" presName="parentText" presStyleLbl="node1" presStyleIdx="5" presStyleCnt="6">
        <dgm:presLayoutVars>
          <dgm:chMax val="0"/>
          <dgm:bulletEnabled val="1"/>
        </dgm:presLayoutVars>
      </dgm:prSet>
      <dgm:spPr/>
    </dgm:pt>
    <dgm:pt modelId="{0F9D2E65-5C32-884A-B262-96733DDFDC13}" type="pres">
      <dgm:prSet presAssocID="{5115D056-8604-3A4F-93A9-58E7CDDAEF43}" presName="negativeSpace" presStyleCnt="0"/>
      <dgm:spPr/>
    </dgm:pt>
    <dgm:pt modelId="{6FB62475-48CC-1644-9E9E-1DE182DC9882}" type="pres">
      <dgm:prSet presAssocID="{5115D056-8604-3A4F-93A9-58E7CDDAEF43}" presName="childText" presStyleLbl="conFgAcc1" presStyleIdx="5" presStyleCnt="6">
        <dgm:presLayoutVars>
          <dgm:bulletEnabled val="1"/>
        </dgm:presLayoutVars>
      </dgm:prSet>
      <dgm:spPr/>
    </dgm:pt>
  </dgm:ptLst>
  <dgm:cxnLst>
    <dgm:cxn modelId="{359D980B-5B42-8144-9CB3-90C6DDCA6FFD}" type="presOf" srcId="{D97AC6E8-FAEC-6741-A028-42EC73C66FBD}" destId="{CF10E5B5-CFDD-6B4F-A475-E272A9F3380C}" srcOrd="1" destOrd="0" presId="urn:microsoft.com/office/officeart/2005/8/layout/list1"/>
    <dgm:cxn modelId="{72655412-94F9-9A41-8DE8-F96453A11736}" srcId="{E9ECC907-B2C1-5E46-BE8F-E695E01F0A2E}" destId="{3DF16479-96F2-5748-91C8-C51BE44920E2}" srcOrd="2" destOrd="0" parTransId="{8F77B352-E369-D344-93DC-71EA0F85F772}" sibTransId="{7502D152-722E-484E-8AED-C1D88B6AD295}"/>
    <dgm:cxn modelId="{DEC1483E-6478-5D4D-A1D1-FE9F0A2C14BA}" type="presOf" srcId="{3DF16479-96F2-5748-91C8-C51BE44920E2}" destId="{0E7226F1-D7D8-C945-822E-D8AEF511495B}" srcOrd="1" destOrd="0" presId="urn:microsoft.com/office/officeart/2005/8/layout/list1"/>
    <dgm:cxn modelId="{4FBB2343-767B-4449-9F4F-1BB9576B7DF6}" type="presOf" srcId="{2D30C1FE-10E0-B64A-ADFB-0624A64D778B}" destId="{DBB30FFF-8E86-0743-860B-88C58A8CC43D}" srcOrd="1" destOrd="0" presId="urn:microsoft.com/office/officeart/2005/8/layout/list1"/>
    <dgm:cxn modelId="{79DBF452-CD39-894C-AC8D-094E03BF3E00}" type="presOf" srcId="{6F818C34-7E32-9C49-BB6F-650B8B330A38}" destId="{2BB4138D-FAB0-0D48-A619-ACD349CE1A6F}" srcOrd="1" destOrd="0" presId="urn:microsoft.com/office/officeart/2005/8/layout/list1"/>
    <dgm:cxn modelId="{FBC14F54-862E-3642-AE40-2AA848F3D546}" type="presOf" srcId="{5115D056-8604-3A4F-93A9-58E7CDDAEF43}" destId="{7A131F98-33D2-E845-8D6C-6E55C543ED2C}" srcOrd="0" destOrd="0" presId="urn:microsoft.com/office/officeart/2005/8/layout/list1"/>
    <dgm:cxn modelId="{038A8756-101A-CC42-BD21-16E76FBAB8AE}" srcId="{E9ECC907-B2C1-5E46-BE8F-E695E01F0A2E}" destId="{5115D056-8604-3A4F-93A9-58E7CDDAEF43}" srcOrd="5" destOrd="0" parTransId="{F188AC8F-AB26-1047-8C25-D6168EA4EBCD}" sibTransId="{2ADBF0E2-7F65-EC49-B5C8-37FDB755FA24}"/>
    <dgm:cxn modelId="{BEFD2762-3826-4F4A-8306-BF127D935D55}" type="presOf" srcId="{6F818C34-7E32-9C49-BB6F-650B8B330A38}" destId="{54226CE4-9D9A-6548-B97A-31A9AC66CC8C}" srcOrd="0" destOrd="0" presId="urn:microsoft.com/office/officeart/2005/8/layout/list1"/>
    <dgm:cxn modelId="{C77E3B6E-072D-8A4B-8BC1-69A86C7A3BCA}" type="presOf" srcId="{E9ECC907-B2C1-5E46-BE8F-E695E01F0A2E}" destId="{2E1CE7D4-D0E1-2B4E-B5D3-F698BF87757B}" srcOrd="0" destOrd="0" presId="urn:microsoft.com/office/officeart/2005/8/layout/list1"/>
    <dgm:cxn modelId="{3EC44397-97A8-4645-8739-0B7A558262BB}" type="presOf" srcId="{7F83F84B-40EF-534F-A78D-B68536EF2E36}" destId="{10813AD5-807D-EA49-92E6-47823C630870}" srcOrd="0" destOrd="0" presId="urn:microsoft.com/office/officeart/2005/8/layout/list1"/>
    <dgm:cxn modelId="{CB9952A1-2F47-B547-819D-62D854A8F89D}" srcId="{E9ECC907-B2C1-5E46-BE8F-E695E01F0A2E}" destId="{6F818C34-7E32-9C49-BB6F-650B8B330A38}" srcOrd="0" destOrd="0" parTransId="{FB7B0E4D-2DEC-884B-A394-EA21657F05AD}" sibTransId="{432AEDA1-86C4-924C-B778-D70662BEA9FB}"/>
    <dgm:cxn modelId="{54264AA9-4E10-E24A-B12B-4E63D7190D4B}" srcId="{E9ECC907-B2C1-5E46-BE8F-E695E01F0A2E}" destId="{7F83F84B-40EF-534F-A78D-B68536EF2E36}" srcOrd="1" destOrd="0" parTransId="{0E3FC3FE-BD46-D14F-9232-B1D9A28B0A5C}" sibTransId="{4C4D3688-5548-2A46-B0D6-C737D2B39EC4}"/>
    <dgm:cxn modelId="{705848B7-E1D1-D542-922C-B480BF692145}" type="presOf" srcId="{7F83F84B-40EF-534F-A78D-B68536EF2E36}" destId="{20D4D5D2-4371-5046-BA2A-E24D60AEF50A}" srcOrd="1" destOrd="0" presId="urn:microsoft.com/office/officeart/2005/8/layout/list1"/>
    <dgm:cxn modelId="{F5E15DBF-E413-434C-A509-5C392D7F96F4}" srcId="{E9ECC907-B2C1-5E46-BE8F-E695E01F0A2E}" destId="{2D30C1FE-10E0-B64A-ADFB-0624A64D778B}" srcOrd="4" destOrd="0" parTransId="{B3832A3E-7C53-F444-B063-AE3E7419583D}" sibTransId="{839DD80B-3874-5F45-80E6-33F0D21E610A}"/>
    <dgm:cxn modelId="{8F558ED5-C187-2E4E-AE1E-B87F7749E279}" type="presOf" srcId="{D97AC6E8-FAEC-6741-A028-42EC73C66FBD}" destId="{B2870B22-C8D3-4948-8F70-BB2F14225D80}" srcOrd="0" destOrd="0" presId="urn:microsoft.com/office/officeart/2005/8/layout/list1"/>
    <dgm:cxn modelId="{856F54DC-B0BF-274A-AE73-24888D42B919}" type="presOf" srcId="{5115D056-8604-3A4F-93A9-58E7CDDAEF43}" destId="{04DDD348-2047-B14D-85C7-6C471D04BE47}" srcOrd="1" destOrd="0" presId="urn:microsoft.com/office/officeart/2005/8/layout/list1"/>
    <dgm:cxn modelId="{2337C9E1-3F85-1E4E-822A-D50B5FABDFFA}" type="presOf" srcId="{2D30C1FE-10E0-B64A-ADFB-0624A64D778B}" destId="{2B86625C-7FA1-7340-A591-9C4C2B4A5216}" srcOrd="0" destOrd="0" presId="urn:microsoft.com/office/officeart/2005/8/layout/list1"/>
    <dgm:cxn modelId="{ED969EF2-8761-BC46-B20B-C82EB3716F32}" type="presOf" srcId="{3DF16479-96F2-5748-91C8-C51BE44920E2}" destId="{A0BD55D5-AA03-D14F-9A1E-E6FF1ADD7946}" srcOrd="0" destOrd="0" presId="urn:microsoft.com/office/officeart/2005/8/layout/list1"/>
    <dgm:cxn modelId="{7478C3F5-4B66-3141-B288-8BFEF3B38566}" srcId="{E9ECC907-B2C1-5E46-BE8F-E695E01F0A2E}" destId="{D97AC6E8-FAEC-6741-A028-42EC73C66FBD}" srcOrd="3" destOrd="0" parTransId="{A1161BE9-305A-1746-83E4-6F9E39DF5826}" sibTransId="{7AB7CDB3-39BB-B14B-90D9-264D321FC6B0}"/>
    <dgm:cxn modelId="{9462D090-8DF6-294A-A5EE-F646E1836211}" type="presParOf" srcId="{2E1CE7D4-D0E1-2B4E-B5D3-F698BF87757B}" destId="{09990867-62F3-9245-AA6D-EEA09C8D7CEA}" srcOrd="0" destOrd="0" presId="urn:microsoft.com/office/officeart/2005/8/layout/list1"/>
    <dgm:cxn modelId="{FDCF6FFB-ECC0-274E-8B8F-A976F7894D11}" type="presParOf" srcId="{09990867-62F3-9245-AA6D-EEA09C8D7CEA}" destId="{54226CE4-9D9A-6548-B97A-31A9AC66CC8C}" srcOrd="0" destOrd="0" presId="urn:microsoft.com/office/officeart/2005/8/layout/list1"/>
    <dgm:cxn modelId="{4446E540-46CA-014A-B6A4-4D3AED33FFD1}" type="presParOf" srcId="{09990867-62F3-9245-AA6D-EEA09C8D7CEA}" destId="{2BB4138D-FAB0-0D48-A619-ACD349CE1A6F}" srcOrd="1" destOrd="0" presId="urn:microsoft.com/office/officeart/2005/8/layout/list1"/>
    <dgm:cxn modelId="{04985F99-E298-F646-A978-1BFFD5C98C12}" type="presParOf" srcId="{2E1CE7D4-D0E1-2B4E-B5D3-F698BF87757B}" destId="{4F8CEF09-8AF6-B746-A87B-7F1964D61CB5}" srcOrd="1" destOrd="0" presId="urn:microsoft.com/office/officeart/2005/8/layout/list1"/>
    <dgm:cxn modelId="{FBC2C7A5-9D90-2345-9A79-66D722ECA0F0}" type="presParOf" srcId="{2E1CE7D4-D0E1-2B4E-B5D3-F698BF87757B}" destId="{D30113DE-B6F4-1A48-9C60-D488E39FA653}" srcOrd="2" destOrd="0" presId="urn:microsoft.com/office/officeart/2005/8/layout/list1"/>
    <dgm:cxn modelId="{523CCC13-79D7-0C43-A61D-6FA4AABF77BA}" type="presParOf" srcId="{2E1CE7D4-D0E1-2B4E-B5D3-F698BF87757B}" destId="{71324AEC-1B4B-7748-9238-0EFA68B88E81}" srcOrd="3" destOrd="0" presId="urn:microsoft.com/office/officeart/2005/8/layout/list1"/>
    <dgm:cxn modelId="{66EBE013-A3A6-D440-A55C-4140F90DDBBF}" type="presParOf" srcId="{2E1CE7D4-D0E1-2B4E-B5D3-F698BF87757B}" destId="{CAFC754D-C6CB-8847-BCA6-56D0B957E6FB}" srcOrd="4" destOrd="0" presId="urn:microsoft.com/office/officeart/2005/8/layout/list1"/>
    <dgm:cxn modelId="{262934E2-83E6-DB48-BC93-D18CF6B2BB7C}" type="presParOf" srcId="{CAFC754D-C6CB-8847-BCA6-56D0B957E6FB}" destId="{10813AD5-807D-EA49-92E6-47823C630870}" srcOrd="0" destOrd="0" presId="urn:microsoft.com/office/officeart/2005/8/layout/list1"/>
    <dgm:cxn modelId="{F5538EAB-1AA0-3649-AEAB-3843461300B4}" type="presParOf" srcId="{CAFC754D-C6CB-8847-BCA6-56D0B957E6FB}" destId="{20D4D5D2-4371-5046-BA2A-E24D60AEF50A}" srcOrd="1" destOrd="0" presId="urn:microsoft.com/office/officeart/2005/8/layout/list1"/>
    <dgm:cxn modelId="{1383D4C1-A95D-5147-9EE2-D9CFDD314D62}" type="presParOf" srcId="{2E1CE7D4-D0E1-2B4E-B5D3-F698BF87757B}" destId="{4DB972F2-FF8A-9E48-89B3-F7866FD767B6}" srcOrd="5" destOrd="0" presId="urn:microsoft.com/office/officeart/2005/8/layout/list1"/>
    <dgm:cxn modelId="{B0AF5022-F410-3145-8E7C-52129B1C2E0C}" type="presParOf" srcId="{2E1CE7D4-D0E1-2B4E-B5D3-F698BF87757B}" destId="{5279683A-B8E3-AF4D-8FF3-E8FCF84F16EA}" srcOrd="6" destOrd="0" presId="urn:microsoft.com/office/officeart/2005/8/layout/list1"/>
    <dgm:cxn modelId="{F3C3458D-00A4-3F4C-86AE-1672002772C7}" type="presParOf" srcId="{2E1CE7D4-D0E1-2B4E-B5D3-F698BF87757B}" destId="{3CE205F4-406B-9849-8EA9-D2460479F773}" srcOrd="7" destOrd="0" presId="urn:microsoft.com/office/officeart/2005/8/layout/list1"/>
    <dgm:cxn modelId="{7320C4CE-6E6F-AB40-B36C-5F8AE0D8A070}" type="presParOf" srcId="{2E1CE7D4-D0E1-2B4E-B5D3-F698BF87757B}" destId="{B419F00C-D507-E145-A911-0C453289B30D}" srcOrd="8" destOrd="0" presId="urn:microsoft.com/office/officeart/2005/8/layout/list1"/>
    <dgm:cxn modelId="{0189DC2B-87DD-C94F-BB68-C83CE871EB3C}" type="presParOf" srcId="{B419F00C-D507-E145-A911-0C453289B30D}" destId="{A0BD55D5-AA03-D14F-9A1E-E6FF1ADD7946}" srcOrd="0" destOrd="0" presId="urn:microsoft.com/office/officeart/2005/8/layout/list1"/>
    <dgm:cxn modelId="{9A39271F-AABF-E842-8DD3-58C7A5EB1DF8}" type="presParOf" srcId="{B419F00C-D507-E145-A911-0C453289B30D}" destId="{0E7226F1-D7D8-C945-822E-D8AEF511495B}" srcOrd="1" destOrd="0" presId="urn:microsoft.com/office/officeart/2005/8/layout/list1"/>
    <dgm:cxn modelId="{1E83B59A-7896-E841-B8C0-387501C576C1}" type="presParOf" srcId="{2E1CE7D4-D0E1-2B4E-B5D3-F698BF87757B}" destId="{FEA8D26A-19E9-2F47-96DC-7F9DAEF7308C}" srcOrd="9" destOrd="0" presId="urn:microsoft.com/office/officeart/2005/8/layout/list1"/>
    <dgm:cxn modelId="{9B71CD0D-B9A8-C541-94C5-18C86C174675}" type="presParOf" srcId="{2E1CE7D4-D0E1-2B4E-B5D3-F698BF87757B}" destId="{9C86EA4F-9C3F-BC49-BC9D-E29BF199012E}" srcOrd="10" destOrd="0" presId="urn:microsoft.com/office/officeart/2005/8/layout/list1"/>
    <dgm:cxn modelId="{EA2D68FD-1DCF-1F40-9A79-4746D5D75FBB}" type="presParOf" srcId="{2E1CE7D4-D0E1-2B4E-B5D3-F698BF87757B}" destId="{85617933-776B-1A41-89A3-862AD3DB62A1}" srcOrd="11" destOrd="0" presId="urn:microsoft.com/office/officeart/2005/8/layout/list1"/>
    <dgm:cxn modelId="{E33500F7-DF98-FF48-958A-15F7B5A60423}" type="presParOf" srcId="{2E1CE7D4-D0E1-2B4E-B5D3-F698BF87757B}" destId="{414F1692-2D7E-DD4B-AD9C-0EF2B0A0D21E}" srcOrd="12" destOrd="0" presId="urn:microsoft.com/office/officeart/2005/8/layout/list1"/>
    <dgm:cxn modelId="{2BBDE71A-4E40-8843-A80E-E845D33970FF}" type="presParOf" srcId="{414F1692-2D7E-DD4B-AD9C-0EF2B0A0D21E}" destId="{B2870B22-C8D3-4948-8F70-BB2F14225D80}" srcOrd="0" destOrd="0" presId="urn:microsoft.com/office/officeart/2005/8/layout/list1"/>
    <dgm:cxn modelId="{7CF861E0-D216-8E49-BF93-D4FD38342762}" type="presParOf" srcId="{414F1692-2D7E-DD4B-AD9C-0EF2B0A0D21E}" destId="{CF10E5B5-CFDD-6B4F-A475-E272A9F3380C}" srcOrd="1" destOrd="0" presId="urn:microsoft.com/office/officeart/2005/8/layout/list1"/>
    <dgm:cxn modelId="{7AECFF0E-B7D6-DD42-B605-33134B5B551C}" type="presParOf" srcId="{2E1CE7D4-D0E1-2B4E-B5D3-F698BF87757B}" destId="{3A66D12B-1925-1845-9626-8EFD365DFD95}" srcOrd="13" destOrd="0" presId="urn:microsoft.com/office/officeart/2005/8/layout/list1"/>
    <dgm:cxn modelId="{6A7944AE-B54B-634D-A2F8-DC217C8D0373}" type="presParOf" srcId="{2E1CE7D4-D0E1-2B4E-B5D3-F698BF87757B}" destId="{481E7E34-7969-A742-BDC2-28AB72440EB0}" srcOrd="14" destOrd="0" presId="urn:microsoft.com/office/officeart/2005/8/layout/list1"/>
    <dgm:cxn modelId="{1AC446FD-9051-BA4F-A9DA-7F6A961B878C}" type="presParOf" srcId="{2E1CE7D4-D0E1-2B4E-B5D3-F698BF87757B}" destId="{B985C504-F1D7-D345-9001-E6D599E623F6}" srcOrd="15" destOrd="0" presId="urn:microsoft.com/office/officeart/2005/8/layout/list1"/>
    <dgm:cxn modelId="{59FE4A55-4E0E-8A46-BAAA-5D3160434A0D}" type="presParOf" srcId="{2E1CE7D4-D0E1-2B4E-B5D3-F698BF87757B}" destId="{897BB147-FF84-9C46-AACA-5CAA5EC80570}" srcOrd="16" destOrd="0" presId="urn:microsoft.com/office/officeart/2005/8/layout/list1"/>
    <dgm:cxn modelId="{A9CEBF96-7475-C64C-BB3C-94E58107ED23}" type="presParOf" srcId="{897BB147-FF84-9C46-AACA-5CAA5EC80570}" destId="{2B86625C-7FA1-7340-A591-9C4C2B4A5216}" srcOrd="0" destOrd="0" presId="urn:microsoft.com/office/officeart/2005/8/layout/list1"/>
    <dgm:cxn modelId="{E8C729F6-81F3-864B-B15C-F44545BB4EE3}" type="presParOf" srcId="{897BB147-FF84-9C46-AACA-5CAA5EC80570}" destId="{DBB30FFF-8E86-0743-860B-88C58A8CC43D}" srcOrd="1" destOrd="0" presId="urn:microsoft.com/office/officeart/2005/8/layout/list1"/>
    <dgm:cxn modelId="{69F8B44E-449A-5B45-893A-709D4856DF5F}" type="presParOf" srcId="{2E1CE7D4-D0E1-2B4E-B5D3-F698BF87757B}" destId="{CB1F3A0A-A00D-E94B-A9F7-BCAFF100CD38}" srcOrd="17" destOrd="0" presId="urn:microsoft.com/office/officeart/2005/8/layout/list1"/>
    <dgm:cxn modelId="{B4D879B5-D29D-784E-970C-7ECC881309BE}" type="presParOf" srcId="{2E1CE7D4-D0E1-2B4E-B5D3-F698BF87757B}" destId="{C41CF316-D20F-E340-AF81-83D484B23DA0}" srcOrd="18" destOrd="0" presId="urn:microsoft.com/office/officeart/2005/8/layout/list1"/>
    <dgm:cxn modelId="{BCAA65BD-824F-CA43-99DE-6DCCD158EFF2}" type="presParOf" srcId="{2E1CE7D4-D0E1-2B4E-B5D3-F698BF87757B}" destId="{B889D81A-81D6-CD40-96AF-931632FFBBF9}" srcOrd="19" destOrd="0" presId="urn:microsoft.com/office/officeart/2005/8/layout/list1"/>
    <dgm:cxn modelId="{904260BF-5DDA-0A49-BFC8-F1B7819FAA33}" type="presParOf" srcId="{2E1CE7D4-D0E1-2B4E-B5D3-F698BF87757B}" destId="{EEB2E8E4-9F74-1940-822E-A8D7A966AE20}" srcOrd="20" destOrd="0" presId="urn:microsoft.com/office/officeart/2005/8/layout/list1"/>
    <dgm:cxn modelId="{FB254032-3363-2A4F-859C-C1C3A997EEC7}" type="presParOf" srcId="{EEB2E8E4-9F74-1940-822E-A8D7A966AE20}" destId="{7A131F98-33D2-E845-8D6C-6E55C543ED2C}" srcOrd="0" destOrd="0" presId="urn:microsoft.com/office/officeart/2005/8/layout/list1"/>
    <dgm:cxn modelId="{68BCB9C2-C209-9B4C-AA30-88062D0FA29A}" type="presParOf" srcId="{EEB2E8E4-9F74-1940-822E-A8D7A966AE20}" destId="{04DDD348-2047-B14D-85C7-6C471D04BE47}" srcOrd="1" destOrd="0" presId="urn:microsoft.com/office/officeart/2005/8/layout/list1"/>
    <dgm:cxn modelId="{F847F075-3656-F249-A118-BA748486C2D7}" type="presParOf" srcId="{2E1CE7D4-D0E1-2B4E-B5D3-F698BF87757B}" destId="{0F9D2E65-5C32-884A-B262-96733DDFDC13}" srcOrd="21" destOrd="0" presId="urn:microsoft.com/office/officeart/2005/8/layout/list1"/>
    <dgm:cxn modelId="{C0DBA2F4-7E71-1E48-A544-DB679F22313C}" type="presParOf" srcId="{2E1CE7D4-D0E1-2B4E-B5D3-F698BF87757B}" destId="{6FB62475-48CC-1644-9E9E-1DE182DC9882}"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153C832-6E8F-EA4C-83D1-96138E4415D8}"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A111A13D-AE99-0240-A537-DA7A182B332C}">
      <dgm:prSet phldrT="[Text]"/>
      <dgm:spPr/>
      <dgm:t>
        <a:bodyPr/>
        <a:lstStyle/>
        <a:p>
          <a:r>
            <a:rPr lang="en-US" dirty="0">
              <a:latin typeface="Proxima Nova Rg" panose="02000506030000020004" pitchFamily="2" charset="0"/>
            </a:rPr>
            <a:t>Affording tuition and fees</a:t>
          </a:r>
        </a:p>
      </dgm:t>
    </dgm:pt>
    <dgm:pt modelId="{6B447876-6F8D-4448-937B-4EDDDBF40494}" type="parTrans" cxnId="{36D61C40-8931-6941-AC31-6F2E807FCA82}">
      <dgm:prSet/>
      <dgm:spPr/>
      <dgm:t>
        <a:bodyPr/>
        <a:lstStyle/>
        <a:p>
          <a:endParaRPr lang="en-US"/>
        </a:p>
      </dgm:t>
    </dgm:pt>
    <dgm:pt modelId="{0A9D6163-2549-D044-8C1E-3E6DB16103B6}" type="sibTrans" cxnId="{36D61C40-8931-6941-AC31-6F2E807FCA82}">
      <dgm:prSet/>
      <dgm:spPr/>
      <dgm:t>
        <a:bodyPr/>
        <a:lstStyle/>
        <a:p>
          <a:endParaRPr lang="en-US"/>
        </a:p>
      </dgm:t>
    </dgm:pt>
    <dgm:pt modelId="{41842377-30D1-5E46-9493-EEE3617C8BE2}">
      <dgm:prSet phldrT="[Text]"/>
      <dgm:spPr/>
      <dgm:t>
        <a:bodyPr/>
        <a:lstStyle/>
        <a:p>
          <a:r>
            <a:rPr lang="en-US" dirty="0">
              <a:latin typeface="Proxima Nova Rg" panose="02000506030000020004" pitchFamily="2" charset="0"/>
            </a:rPr>
            <a:t>Living expenses</a:t>
          </a:r>
        </a:p>
      </dgm:t>
    </dgm:pt>
    <dgm:pt modelId="{051C0264-D162-F54B-9F20-A400445A6126}" type="parTrans" cxnId="{F73C5357-ED53-8A40-8CD3-8AD929032838}">
      <dgm:prSet/>
      <dgm:spPr/>
      <dgm:t>
        <a:bodyPr/>
        <a:lstStyle/>
        <a:p>
          <a:endParaRPr lang="en-US"/>
        </a:p>
      </dgm:t>
    </dgm:pt>
    <dgm:pt modelId="{7AE9ABAA-B7C8-FD40-8B41-DD37A86D719B}" type="sibTrans" cxnId="{F73C5357-ED53-8A40-8CD3-8AD929032838}">
      <dgm:prSet/>
      <dgm:spPr/>
      <dgm:t>
        <a:bodyPr/>
        <a:lstStyle/>
        <a:p>
          <a:endParaRPr lang="en-US"/>
        </a:p>
      </dgm:t>
    </dgm:pt>
    <dgm:pt modelId="{A67370C7-85B8-4D4C-AA60-F756B8EB8FAC}">
      <dgm:prSet phldrT="[Text]"/>
      <dgm:spPr/>
      <dgm:t>
        <a:bodyPr/>
        <a:lstStyle/>
        <a:p>
          <a:r>
            <a:rPr lang="en-US" dirty="0">
              <a:latin typeface="Proxima Nova Rg" panose="02000506030000020004" pitchFamily="2" charset="0"/>
            </a:rPr>
            <a:t>Performing well academically</a:t>
          </a:r>
        </a:p>
      </dgm:t>
    </dgm:pt>
    <dgm:pt modelId="{D7F9B9F6-1443-AC4B-8D1B-6F06C47F561D}" type="parTrans" cxnId="{9A919EDB-352F-7446-888E-F249EB8927A1}">
      <dgm:prSet/>
      <dgm:spPr/>
      <dgm:t>
        <a:bodyPr/>
        <a:lstStyle/>
        <a:p>
          <a:endParaRPr lang="en-US"/>
        </a:p>
      </dgm:t>
    </dgm:pt>
    <dgm:pt modelId="{F985462E-0561-FE4A-959A-BB5FA138AFFC}" type="sibTrans" cxnId="{9A919EDB-352F-7446-888E-F249EB8927A1}">
      <dgm:prSet/>
      <dgm:spPr/>
      <dgm:t>
        <a:bodyPr/>
        <a:lstStyle/>
        <a:p>
          <a:endParaRPr lang="en-US"/>
        </a:p>
      </dgm:t>
    </dgm:pt>
    <dgm:pt modelId="{9556463E-A467-2244-A17F-004F1225F46C}">
      <dgm:prSet/>
      <dgm:spPr/>
      <dgm:t>
        <a:bodyPr/>
        <a:lstStyle/>
        <a:p>
          <a:r>
            <a:rPr lang="en-US" dirty="0">
              <a:latin typeface="Proxima Nova Rg" panose="02000506030000020004" pitchFamily="2" charset="0"/>
            </a:rPr>
            <a:t>Balancing work obligations</a:t>
          </a:r>
        </a:p>
      </dgm:t>
    </dgm:pt>
    <dgm:pt modelId="{DE9E99CE-5D43-354F-9F16-0AC67E00B1F0}" type="parTrans" cxnId="{6FE31D87-94A5-134B-B497-080DD5EC73E2}">
      <dgm:prSet/>
      <dgm:spPr/>
      <dgm:t>
        <a:bodyPr/>
        <a:lstStyle/>
        <a:p>
          <a:endParaRPr lang="en-US"/>
        </a:p>
      </dgm:t>
    </dgm:pt>
    <dgm:pt modelId="{F4C6DD15-1E2C-E04F-AFBE-3FCF28B0D51B}" type="sibTrans" cxnId="{6FE31D87-94A5-134B-B497-080DD5EC73E2}">
      <dgm:prSet/>
      <dgm:spPr/>
      <dgm:t>
        <a:bodyPr/>
        <a:lstStyle/>
        <a:p>
          <a:endParaRPr lang="en-US"/>
        </a:p>
      </dgm:t>
    </dgm:pt>
    <dgm:pt modelId="{6C1248A8-AFAD-514A-83B7-4FE7A65ACE70}">
      <dgm:prSet/>
      <dgm:spPr/>
      <dgm:t>
        <a:bodyPr/>
        <a:lstStyle/>
        <a:p>
          <a:r>
            <a:rPr lang="en-US" dirty="0">
              <a:latin typeface="Proxima Nova Rg" panose="02000506030000020004" pitchFamily="2" charset="0"/>
            </a:rPr>
            <a:t>Balancing family obligations</a:t>
          </a:r>
        </a:p>
      </dgm:t>
    </dgm:pt>
    <dgm:pt modelId="{655AF660-B1F6-E344-BF43-5D821415A933}" type="parTrans" cxnId="{96FDEA36-1CD2-D34B-98BE-CF898960D607}">
      <dgm:prSet/>
      <dgm:spPr/>
      <dgm:t>
        <a:bodyPr/>
        <a:lstStyle/>
        <a:p>
          <a:endParaRPr lang="en-US"/>
        </a:p>
      </dgm:t>
    </dgm:pt>
    <dgm:pt modelId="{05F5C3E7-96F6-3648-B9E2-E00771FBE61C}" type="sibTrans" cxnId="{96FDEA36-1CD2-D34B-98BE-CF898960D607}">
      <dgm:prSet/>
      <dgm:spPr/>
      <dgm:t>
        <a:bodyPr/>
        <a:lstStyle/>
        <a:p>
          <a:endParaRPr lang="en-US"/>
        </a:p>
      </dgm:t>
    </dgm:pt>
    <dgm:pt modelId="{81BD4996-B845-CE4C-A348-8A36257742E8}">
      <dgm:prSet/>
      <dgm:spPr/>
      <dgm:t>
        <a:bodyPr/>
        <a:lstStyle/>
        <a:p>
          <a:r>
            <a:rPr lang="en-US" dirty="0">
              <a:latin typeface="Proxima Nova Rg" panose="02000506030000020004" pitchFamily="2" charset="0"/>
            </a:rPr>
            <a:t>Finding community</a:t>
          </a:r>
        </a:p>
      </dgm:t>
    </dgm:pt>
    <dgm:pt modelId="{04CAAD0D-FB35-0C45-920D-4202B95D5918}" type="parTrans" cxnId="{06A51463-5983-D145-805F-4F3949FA52F3}">
      <dgm:prSet/>
      <dgm:spPr/>
      <dgm:t>
        <a:bodyPr/>
        <a:lstStyle/>
        <a:p>
          <a:endParaRPr lang="en-US"/>
        </a:p>
      </dgm:t>
    </dgm:pt>
    <dgm:pt modelId="{EBB0F63F-3564-3E4E-8B5A-35A0D7E9A755}" type="sibTrans" cxnId="{06A51463-5983-D145-805F-4F3949FA52F3}">
      <dgm:prSet/>
      <dgm:spPr/>
      <dgm:t>
        <a:bodyPr/>
        <a:lstStyle/>
        <a:p>
          <a:endParaRPr lang="en-US"/>
        </a:p>
      </dgm:t>
    </dgm:pt>
    <dgm:pt modelId="{1E4E6D59-1695-6F49-9911-2A953C999B2A}">
      <dgm:prSet/>
      <dgm:spPr/>
      <dgm:t>
        <a:bodyPr/>
        <a:lstStyle/>
        <a:p>
          <a:r>
            <a:rPr lang="en-US" dirty="0">
              <a:latin typeface="Proxima Nova Rg" panose="02000506030000020004" pitchFamily="2" charset="0"/>
            </a:rPr>
            <a:t>Living away from home</a:t>
          </a:r>
        </a:p>
      </dgm:t>
    </dgm:pt>
    <dgm:pt modelId="{8291A436-1500-C54A-A6FB-27E200138913}" type="parTrans" cxnId="{7976F859-2C19-0940-838D-4C75E931E002}">
      <dgm:prSet/>
      <dgm:spPr/>
      <dgm:t>
        <a:bodyPr/>
        <a:lstStyle/>
        <a:p>
          <a:endParaRPr lang="en-US"/>
        </a:p>
      </dgm:t>
    </dgm:pt>
    <dgm:pt modelId="{0E4DE2C1-9E22-AE46-BA2F-33C8E5F980C0}" type="sibTrans" cxnId="{7976F859-2C19-0940-838D-4C75E931E002}">
      <dgm:prSet/>
      <dgm:spPr/>
      <dgm:t>
        <a:bodyPr/>
        <a:lstStyle/>
        <a:p>
          <a:endParaRPr lang="en-US"/>
        </a:p>
      </dgm:t>
    </dgm:pt>
    <dgm:pt modelId="{3AA895C5-F105-D74F-B85C-AF60E4B71855}">
      <dgm:prSet/>
      <dgm:spPr/>
      <dgm:t>
        <a:bodyPr/>
        <a:lstStyle/>
        <a:p>
          <a:r>
            <a:rPr lang="en-US" dirty="0">
              <a:latin typeface="Proxima Nova Rg" panose="02000506030000020004" pitchFamily="2" charset="0"/>
            </a:rPr>
            <a:t>Having adequate support for emotional and mental health needs</a:t>
          </a:r>
        </a:p>
      </dgm:t>
    </dgm:pt>
    <dgm:pt modelId="{6B52FE7C-A8A2-1C49-B6EF-1F0A410EFBBC}" type="parTrans" cxnId="{66618136-751B-4740-8908-1798745F4D57}">
      <dgm:prSet/>
      <dgm:spPr/>
      <dgm:t>
        <a:bodyPr/>
        <a:lstStyle/>
        <a:p>
          <a:endParaRPr lang="en-US"/>
        </a:p>
      </dgm:t>
    </dgm:pt>
    <dgm:pt modelId="{D3A24339-1D4C-5247-BD37-73922D1EE8F8}" type="sibTrans" cxnId="{66618136-751B-4740-8908-1798745F4D57}">
      <dgm:prSet/>
      <dgm:spPr/>
      <dgm:t>
        <a:bodyPr/>
        <a:lstStyle/>
        <a:p>
          <a:endParaRPr lang="en-US"/>
        </a:p>
      </dgm:t>
    </dgm:pt>
    <dgm:pt modelId="{970A7D76-7A54-4746-B375-B0F18859A166}">
      <dgm:prSet/>
      <dgm:spPr/>
      <dgm:t>
        <a:bodyPr/>
        <a:lstStyle/>
        <a:p>
          <a:r>
            <a:rPr lang="en-US" dirty="0">
              <a:latin typeface="Proxima Nova Rg" panose="02000506030000020004" pitchFamily="2" charset="0"/>
            </a:rPr>
            <a:t>Discrimination based on gender</a:t>
          </a:r>
        </a:p>
      </dgm:t>
    </dgm:pt>
    <dgm:pt modelId="{D9908C12-7D7B-9A4D-9DBF-27CA8DC20995}" type="parTrans" cxnId="{BA22907D-AED5-594A-B8B4-9AC62CFF3DEC}">
      <dgm:prSet/>
      <dgm:spPr/>
      <dgm:t>
        <a:bodyPr/>
        <a:lstStyle/>
        <a:p>
          <a:endParaRPr lang="en-US"/>
        </a:p>
      </dgm:t>
    </dgm:pt>
    <dgm:pt modelId="{A944BDF2-7B91-EA46-B2A8-22595E7774F0}" type="sibTrans" cxnId="{BA22907D-AED5-594A-B8B4-9AC62CFF3DEC}">
      <dgm:prSet/>
      <dgm:spPr/>
      <dgm:t>
        <a:bodyPr/>
        <a:lstStyle/>
        <a:p>
          <a:endParaRPr lang="en-US"/>
        </a:p>
      </dgm:t>
    </dgm:pt>
    <dgm:pt modelId="{778F8031-D1F5-A840-ABBD-42A8494B547A}">
      <dgm:prSet/>
      <dgm:spPr/>
      <dgm:t>
        <a:bodyPr/>
        <a:lstStyle/>
        <a:p>
          <a:r>
            <a:rPr lang="en-US" dirty="0">
              <a:latin typeface="Proxima Nova Rg" panose="02000506030000020004" pitchFamily="2" charset="0"/>
            </a:rPr>
            <a:t>Discrimination based on sexual orientation</a:t>
          </a:r>
        </a:p>
      </dgm:t>
    </dgm:pt>
    <dgm:pt modelId="{2B385B30-288C-6E47-B23C-CB7FBA4D6E79}" type="parTrans" cxnId="{66577C42-CC64-E444-AD33-7E1D8CDDBAAE}">
      <dgm:prSet/>
      <dgm:spPr/>
      <dgm:t>
        <a:bodyPr/>
        <a:lstStyle/>
        <a:p>
          <a:endParaRPr lang="en-US"/>
        </a:p>
      </dgm:t>
    </dgm:pt>
    <dgm:pt modelId="{82CD3E14-7CDF-B549-AD04-CF957D988417}" type="sibTrans" cxnId="{66577C42-CC64-E444-AD33-7E1D8CDDBAAE}">
      <dgm:prSet/>
      <dgm:spPr/>
      <dgm:t>
        <a:bodyPr/>
        <a:lstStyle/>
        <a:p>
          <a:endParaRPr lang="en-US"/>
        </a:p>
      </dgm:t>
    </dgm:pt>
    <dgm:pt modelId="{F63011BF-65CC-1841-88CC-BE6FC2CAC873}">
      <dgm:prSet/>
      <dgm:spPr/>
      <dgm:t>
        <a:bodyPr/>
        <a:lstStyle/>
        <a:p>
          <a:r>
            <a:rPr lang="en-US" dirty="0">
              <a:latin typeface="Proxima Nova Rg" panose="02000506030000020004" pitchFamily="2" charset="0"/>
            </a:rPr>
            <a:t>Discrimination based on race</a:t>
          </a:r>
        </a:p>
      </dgm:t>
    </dgm:pt>
    <dgm:pt modelId="{BE94D101-73E4-904E-B90B-507368CDCF17}" type="parTrans" cxnId="{666EFA74-9E50-A645-91EB-09C51D402800}">
      <dgm:prSet/>
      <dgm:spPr/>
      <dgm:t>
        <a:bodyPr/>
        <a:lstStyle/>
        <a:p>
          <a:endParaRPr lang="en-US"/>
        </a:p>
      </dgm:t>
    </dgm:pt>
    <dgm:pt modelId="{2AD7B978-06CA-2242-940F-420B93BD3892}" type="sibTrans" cxnId="{666EFA74-9E50-A645-91EB-09C51D402800}">
      <dgm:prSet/>
      <dgm:spPr/>
      <dgm:t>
        <a:bodyPr/>
        <a:lstStyle/>
        <a:p>
          <a:endParaRPr lang="en-US"/>
        </a:p>
      </dgm:t>
    </dgm:pt>
    <dgm:pt modelId="{1A641CD4-A912-3047-8F83-94ABAD6E8AA0}">
      <dgm:prSet/>
      <dgm:spPr/>
      <dgm:t>
        <a:bodyPr/>
        <a:lstStyle/>
        <a:p>
          <a:r>
            <a:rPr lang="en-US" dirty="0">
              <a:latin typeface="Proxima Nova Rg" panose="02000506030000020004" pitchFamily="2" charset="0"/>
            </a:rPr>
            <a:t>Discrimination based on religion</a:t>
          </a:r>
        </a:p>
      </dgm:t>
    </dgm:pt>
    <dgm:pt modelId="{530401FC-FF40-094E-8BE0-9ECEB024C0F7}" type="parTrans" cxnId="{A92FF2B4-8879-594C-8200-3F1D127C2076}">
      <dgm:prSet/>
      <dgm:spPr/>
      <dgm:t>
        <a:bodyPr/>
        <a:lstStyle/>
        <a:p>
          <a:endParaRPr lang="en-US"/>
        </a:p>
      </dgm:t>
    </dgm:pt>
    <dgm:pt modelId="{6389341E-3AA2-0D44-8D82-A1AAD184A5B8}" type="sibTrans" cxnId="{A92FF2B4-8879-594C-8200-3F1D127C2076}">
      <dgm:prSet/>
      <dgm:spPr/>
      <dgm:t>
        <a:bodyPr/>
        <a:lstStyle/>
        <a:p>
          <a:endParaRPr lang="en-US"/>
        </a:p>
      </dgm:t>
    </dgm:pt>
    <dgm:pt modelId="{3BF19A71-1AA4-CB4A-994E-BD12213A339B}" type="pres">
      <dgm:prSet presAssocID="{E153C832-6E8F-EA4C-83D1-96138E4415D8}" presName="vert0" presStyleCnt="0">
        <dgm:presLayoutVars>
          <dgm:dir/>
          <dgm:animOne val="branch"/>
          <dgm:animLvl val="lvl"/>
        </dgm:presLayoutVars>
      </dgm:prSet>
      <dgm:spPr/>
    </dgm:pt>
    <dgm:pt modelId="{3CFD8FFD-A73C-0D4C-AA2B-AB13C86D141A}" type="pres">
      <dgm:prSet presAssocID="{A111A13D-AE99-0240-A537-DA7A182B332C}" presName="thickLine" presStyleLbl="alignNode1" presStyleIdx="0" presStyleCnt="12"/>
      <dgm:spPr/>
    </dgm:pt>
    <dgm:pt modelId="{2C7C4DD6-543A-8040-A498-8830772F2C64}" type="pres">
      <dgm:prSet presAssocID="{A111A13D-AE99-0240-A537-DA7A182B332C}" presName="horz1" presStyleCnt="0"/>
      <dgm:spPr/>
    </dgm:pt>
    <dgm:pt modelId="{B101E71D-577A-3F46-AB9D-A8532EA5A34E}" type="pres">
      <dgm:prSet presAssocID="{A111A13D-AE99-0240-A537-DA7A182B332C}" presName="tx1" presStyleLbl="revTx" presStyleIdx="0" presStyleCnt="12"/>
      <dgm:spPr/>
    </dgm:pt>
    <dgm:pt modelId="{8CF9BA63-6E9A-5549-A1F5-A7E7889D01FD}" type="pres">
      <dgm:prSet presAssocID="{A111A13D-AE99-0240-A537-DA7A182B332C}" presName="vert1" presStyleCnt="0"/>
      <dgm:spPr/>
    </dgm:pt>
    <dgm:pt modelId="{B048891E-C866-BF4A-8D9F-23A5408008BC}" type="pres">
      <dgm:prSet presAssocID="{41842377-30D1-5E46-9493-EEE3617C8BE2}" presName="thickLine" presStyleLbl="alignNode1" presStyleIdx="1" presStyleCnt="12"/>
      <dgm:spPr/>
    </dgm:pt>
    <dgm:pt modelId="{A2417B1E-EC0B-6F4E-A5B0-262C65B5DCF3}" type="pres">
      <dgm:prSet presAssocID="{41842377-30D1-5E46-9493-EEE3617C8BE2}" presName="horz1" presStyleCnt="0"/>
      <dgm:spPr/>
    </dgm:pt>
    <dgm:pt modelId="{A7CA5E9F-D3DD-5442-B239-7A97D8082FC0}" type="pres">
      <dgm:prSet presAssocID="{41842377-30D1-5E46-9493-EEE3617C8BE2}" presName="tx1" presStyleLbl="revTx" presStyleIdx="1" presStyleCnt="12"/>
      <dgm:spPr/>
    </dgm:pt>
    <dgm:pt modelId="{3DEBAB4B-A677-F041-A2CC-20CBC8B50A9C}" type="pres">
      <dgm:prSet presAssocID="{41842377-30D1-5E46-9493-EEE3617C8BE2}" presName="vert1" presStyleCnt="0"/>
      <dgm:spPr/>
    </dgm:pt>
    <dgm:pt modelId="{C287D766-18E2-AB4B-BBBA-F89118AD1944}" type="pres">
      <dgm:prSet presAssocID="{A67370C7-85B8-4D4C-AA60-F756B8EB8FAC}" presName="thickLine" presStyleLbl="alignNode1" presStyleIdx="2" presStyleCnt="12"/>
      <dgm:spPr/>
    </dgm:pt>
    <dgm:pt modelId="{9E3D56F5-EA31-8D4F-A4CF-3994A0A46EA5}" type="pres">
      <dgm:prSet presAssocID="{A67370C7-85B8-4D4C-AA60-F756B8EB8FAC}" presName="horz1" presStyleCnt="0"/>
      <dgm:spPr/>
    </dgm:pt>
    <dgm:pt modelId="{3CE79708-F8AA-B549-BB1A-18A0A5968AA7}" type="pres">
      <dgm:prSet presAssocID="{A67370C7-85B8-4D4C-AA60-F756B8EB8FAC}" presName="tx1" presStyleLbl="revTx" presStyleIdx="2" presStyleCnt="12"/>
      <dgm:spPr/>
    </dgm:pt>
    <dgm:pt modelId="{F15706A3-246A-E24D-A778-E1BD1AA9F742}" type="pres">
      <dgm:prSet presAssocID="{A67370C7-85B8-4D4C-AA60-F756B8EB8FAC}" presName="vert1" presStyleCnt="0"/>
      <dgm:spPr/>
    </dgm:pt>
    <dgm:pt modelId="{282475C8-5BB9-2943-BA3C-DBEF7A5E2E75}" type="pres">
      <dgm:prSet presAssocID="{9556463E-A467-2244-A17F-004F1225F46C}" presName="thickLine" presStyleLbl="alignNode1" presStyleIdx="3" presStyleCnt="12"/>
      <dgm:spPr/>
    </dgm:pt>
    <dgm:pt modelId="{EA4A96F7-A571-7C4B-844D-AD6194153BF6}" type="pres">
      <dgm:prSet presAssocID="{9556463E-A467-2244-A17F-004F1225F46C}" presName="horz1" presStyleCnt="0"/>
      <dgm:spPr/>
    </dgm:pt>
    <dgm:pt modelId="{802E0EE8-53AF-DA45-949F-8146ACBBEB10}" type="pres">
      <dgm:prSet presAssocID="{9556463E-A467-2244-A17F-004F1225F46C}" presName="tx1" presStyleLbl="revTx" presStyleIdx="3" presStyleCnt="12"/>
      <dgm:spPr/>
    </dgm:pt>
    <dgm:pt modelId="{2F145D0D-1B28-784C-B0D6-6415D867B96E}" type="pres">
      <dgm:prSet presAssocID="{9556463E-A467-2244-A17F-004F1225F46C}" presName="vert1" presStyleCnt="0"/>
      <dgm:spPr/>
    </dgm:pt>
    <dgm:pt modelId="{7BAD1CEF-73D4-224C-8C48-38C8CA25E1EC}" type="pres">
      <dgm:prSet presAssocID="{6C1248A8-AFAD-514A-83B7-4FE7A65ACE70}" presName="thickLine" presStyleLbl="alignNode1" presStyleIdx="4" presStyleCnt="12"/>
      <dgm:spPr/>
    </dgm:pt>
    <dgm:pt modelId="{6BBCA99F-FD68-8A4B-A838-E3ED2427B6BE}" type="pres">
      <dgm:prSet presAssocID="{6C1248A8-AFAD-514A-83B7-4FE7A65ACE70}" presName="horz1" presStyleCnt="0"/>
      <dgm:spPr/>
    </dgm:pt>
    <dgm:pt modelId="{4321A7F7-0ED4-8748-800E-F8EA08669064}" type="pres">
      <dgm:prSet presAssocID="{6C1248A8-AFAD-514A-83B7-4FE7A65ACE70}" presName="tx1" presStyleLbl="revTx" presStyleIdx="4" presStyleCnt="12"/>
      <dgm:spPr/>
    </dgm:pt>
    <dgm:pt modelId="{424320F0-CEFB-E44A-ABB9-740E7D6ACD7F}" type="pres">
      <dgm:prSet presAssocID="{6C1248A8-AFAD-514A-83B7-4FE7A65ACE70}" presName="vert1" presStyleCnt="0"/>
      <dgm:spPr/>
    </dgm:pt>
    <dgm:pt modelId="{1D110869-C564-714A-8B69-79DA77CDA13D}" type="pres">
      <dgm:prSet presAssocID="{81BD4996-B845-CE4C-A348-8A36257742E8}" presName="thickLine" presStyleLbl="alignNode1" presStyleIdx="5" presStyleCnt="12"/>
      <dgm:spPr/>
    </dgm:pt>
    <dgm:pt modelId="{8AF2D682-E35F-8E46-A181-A1753C299821}" type="pres">
      <dgm:prSet presAssocID="{81BD4996-B845-CE4C-A348-8A36257742E8}" presName="horz1" presStyleCnt="0"/>
      <dgm:spPr/>
    </dgm:pt>
    <dgm:pt modelId="{15D44E07-E090-FB42-A660-4C1EC5FD43D2}" type="pres">
      <dgm:prSet presAssocID="{81BD4996-B845-CE4C-A348-8A36257742E8}" presName="tx1" presStyleLbl="revTx" presStyleIdx="5" presStyleCnt="12"/>
      <dgm:spPr/>
    </dgm:pt>
    <dgm:pt modelId="{2D6B16BC-03A2-A648-8F12-B6E42A629B0C}" type="pres">
      <dgm:prSet presAssocID="{81BD4996-B845-CE4C-A348-8A36257742E8}" presName="vert1" presStyleCnt="0"/>
      <dgm:spPr/>
    </dgm:pt>
    <dgm:pt modelId="{5BEDB4BB-5F0C-864B-AF6E-DBA3693BB167}" type="pres">
      <dgm:prSet presAssocID="{1E4E6D59-1695-6F49-9911-2A953C999B2A}" presName="thickLine" presStyleLbl="alignNode1" presStyleIdx="6" presStyleCnt="12"/>
      <dgm:spPr/>
    </dgm:pt>
    <dgm:pt modelId="{BE62806B-3B11-2F4C-9D25-6F9900EC4869}" type="pres">
      <dgm:prSet presAssocID="{1E4E6D59-1695-6F49-9911-2A953C999B2A}" presName="horz1" presStyleCnt="0"/>
      <dgm:spPr/>
    </dgm:pt>
    <dgm:pt modelId="{E0EB1A79-EEE1-7E42-B892-E82CA01F5DF1}" type="pres">
      <dgm:prSet presAssocID="{1E4E6D59-1695-6F49-9911-2A953C999B2A}" presName="tx1" presStyleLbl="revTx" presStyleIdx="6" presStyleCnt="12"/>
      <dgm:spPr/>
    </dgm:pt>
    <dgm:pt modelId="{8F11FF75-3738-114C-AD5B-673F5847A6D2}" type="pres">
      <dgm:prSet presAssocID="{1E4E6D59-1695-6F49-9911-2A953C999B2A}" presName="vert1" presStyleCnt="0"/>
      <dgm:spPr/>
    </dgm:pt>
    <dgm:pt modelId="{4ECC0AA3-0A9A-134C-970A-88197EA085FF}" type="pres">
      <dgm:prSet presAssocID="{3AA895C5-F105-D74F-B85C-AF60E4B71855}" presName="thickLine" presStyleLbl="alignNode1" presStyleIdx="7" presStyleCnt="12"/>
      <dgm:spPr/>
    </dgm:pt>
    <dgm:pt modelId="{BC6B6EFC-4224-7C4B-9C56-2C6E071BBFBF}" type="pres">
      <dgm:prSet presAssocID="{3AA895C5-F105-D74F-B85C-AF60E4B71855}" presName="horz1" presStyleCnt="0"/>
      <dgm:spPr/>
    </dgm:pt>
    <dgm:pt modelId="{D4E8A3CC-4D23-8A44-BCC2-F546F4C76FC4}" type="pres">
      <dgm:prSet presAssocID="{3AA895C5-F105-D74F-B85C-AF60E4B71855}" presName="tx1" presStyleLbl="revTx" presStyleIdx="7" presStyleCnt="12"/>
      <dgm:spPr/>
    </dgm:pt>
    <dgm:pt modelId="{EDE3EE53-89EC-0C49-9828-4C4001E1814E}" type="pres">
      <dgm:prSet presAssocID="{3AA895C5-F105-D74F-B85C-AF60E4B71855}" presName="vert1" presStyleCnt="0"/>
      <dgm:spPr/>
    </dgm:pt>
    <dgm:pt modelId="{803282ED-D805-BE4C-B9D2-295BC4EC0A20}" type="pres">
      <dgm:prSet presAssocID="{970A7D76-7A54-4746-B375-B0F18859A166}" presName="thickLine" presStyleLbl="alignNode1" presStyleIdx="8" presStyleCnt="12"/>
      <dgm:spPr/>
    </dgm:pt>
    <dgm:pt modelId="{C88AFF03-7892-0D4E-9DA0-10FA48854BDE}" type="pres">
      <dgm:prSet presAssocID="{970A7D76-7A54-4746-B375-B0F18859A166}" presName="horz1" presStyleCnt="0"/>
      <dgm:spPr/>
    </dgm:pt>
    <dgm:pt modelId="{A2F10E6E-134B-5D43-8587-D103629CDECF}" type="pres">
      <dgm:prSet presAssocID="{970A7D76-7A54-4746-B375-B0F18859A166}" presName="tx1" presStyleLbl="revTx" presStyleIdx="8" presStyleCnt="12"/>
      <dgm:spPr/>
    </dgm:pt>
    <dgm:pt modelId="{BE416622-D9A9-9A42-92F4-353AFC322F71}" type="pres">
      <dgm:prSet presAssocID="{970A7D76-7A54-4746-B375-B0F18859A166}" presName="vert1" presStyleCnt="0"/>
      <dgm:spPr/>
    </dgm:pt>
    <dgm:pt modelId="{5C8CBAC4-BFD9-8C40-A6BD-0E1EDA65393D}" type="pres">
      <dgm:prSet presAssocID="{778F8031-D1F5-A840-ABBD-42A8494B547A}" presName="thickLine" presStyleLbl="alignNode1" presStyleIdx="9" presStyleCnt="12"/>
      <dgm:spPr/>
    </dgm:pt>
    <dgm:pt modelId="{0D4FFE58-4383-0F4D-BD63-6EA57EA6FA89}" type="pres">
      <dgm:prSet presAssocID="{778F8031-D1F5-A840-ABBD-42A8494B547A}" presName="horz1" presStyleCnt="0"/>
      <dgm:spPr/>
    </dgm:pt>
    <dgm:pt modelId="{FED4957D-A683-7D4C-8C33-174FEBB0DBD6}" type="pres">
      <dgm:prSet presAssocID="{778F8031-D1F5-A840-ABBD-42A8494B547A}" presName="tx1" presStyleLbl="revTx" presStyleIdx="9" presStyleCnt="12"/>
      <dgm:spPr/>
    </dgm:pt>
    <dgm:pt modelId="{9B408235-7471-0346-80CE-FEA373055560}" type="pres">
      <dgm:prSet presAssocID="{778F8031-D1F5-A840-ABBD-42A8494B547A}" presName="vert1" presStyleCnt="0"/>
      <dgm:spPr/>
    </dgm:pt>
    <dgm:pt modelId="{6C683F96-BE00-5944-A501-889938619C80}" type="pres">
      <dgm:prSet presAssocID="{F63011BF-65CC-1841-88CC-BE6FC2CAC873}" presName="thickLine" presStyleLbl="alignNode1" presStyleIdx="10" presStyleCnt="12"/>
      <dgm:spPr/>
    </dgm:pt>
    <dgm:pt modelId="{533CF306-FB4B-C34E-9626-3C06D8AE11FA}" type="pres">
      <dgm:prSet presAssocID="{F63011BF-65CC-1841-88CC-BE6FC2CAC873}" presName="horz1" presStyleCnt="0"/>
      <dgm:spPr/>
    </dgm:pt>
    <dgm:pt modelId="{BDF5CBC3-C496-F84F-939C-9079DF0C097C}" type="pres">
      <dgm:prSet presAssocID="{F63011BF-65CC-1841-88CC-BE6FC2CAC873}" presName="tx1" presStyleLbl="revTx" presStyleIdx="10" presStyleCnt="12"/>
      <dgm:spPr/>
    </dgm:pt>
    <dgm:pt modelId="{774198BC-5B4E-AD4D-BC25-03EF7966A632}" type="pres">
      <dgm:prSet presAssocID="{F63011BF-65CC-1841-88CC-BE6FC2CAC873}" presName="vert1" presStyleCnt="0"/>
      <dgm:spPr/>
    </dgm:pt>
    <dgm:pt modelId="{2C02CC51-0276-7442-9ED6-A2CD861614BF}" type="pres">
      <dgm:prSet presAssocID="{1A641CD4-A912-3047-8F83-94ABAD6E8AA0}" presName="thickLine" presStyleLbl="alignNode1" presStyleIdx="11" presStyleCnt="12"/>
      <dgm:spPr/>
    </dgm:pt>
    <dgm:pt modelId="{0F00226D-E1AC-F243-8631-40588028E983}" type="pres">
      <dgm:prSet presAssocID="{1A641CD4-A912-3047-8F83-94ABAD6E8AA0}" presName="horz1" presStyleCnt="0"/>
      <dgm:spPr/>
    </dgm:pt>
    <dgm:pt modelId="{CEA2C6CE-C51B-C146-A0ED-80682F02D0AD}" type="pres">
      <dgm:prSet presAssocID="{1A641CD4-A912-3047-8F83-94ABAD6E8AA0}" presName="tx1" presStyleLbl="revTx" presStyleIdx="11" presStyleCnt="12"/>
      <dgm:spPr/>
    </dgm:pt>
    <dgm:pt modelId="{A886FFAB-5AD4-6F41-8E69-873E8FD42232}" type="pres">
      <dgm:prSet presAssocID="{1A641CD4-A912-3047-8F83-94ABAD6E8AA0}" presName="vert1" presStyleCnt="0"/>
      <dgm:spPr/>
    </dgm:pt>
  </dgm:ptLst>
  <dgm:cxnLst>
    <dgm:cxn modelId="{F39EA50D-222F-A048-B113-D88FD5BF98B9}" type="presOf" srcId="{1E4E6D59-1695-6F49-9911-2A953C999B2A}" destId="{E0EB1A79-EEE1-7E42-B892-E82CA01F5DF1}" srcOrd="0" destOrd="0" presId="urn:microsoft.com/office/officeart/2008/layout/LinedList"/>
    <dgm:cxn modelId="{FD78781F-CB8E-B946-9222-B8DED6261503}" type="presOf" srcId="{A111A13D-AE99-0240-A537-DA7A182B332C}" destId="{B101E71D-577A-3F46-AB9D-A8532EA5A34E}" srcOrd="0" destOrd="0" presId="urn:microsoft.com/office/officeart/2008/layout/LinedList"/>
    <dgm:cxn modelId="{28778A20-5DE3-3849-98D6-735CB5881439}" type="presOf" srcId="{A67370C7-85B8-4D4C-AA60-F756B8EB8FAC}" destId="{3CE79708-F8AA-B549-BB1A-18A0A5968AA7}" srcOrd="0" destOrd="0" presId="urn:microsoft.com/office/officeart/2008/layout/LinedList"/>
    <dgm:cxn modelId="{66618136-751B-4740-8908-1798745F4D57}" srcId="{E153C832-6E8F-EA4C-83D1-96138E4415D8}" destId="{3AA895C5-F105-D74F-B85C-AF60E4B71855}" srcOrd="7" destOrd="0" parTransId="{6B52FE7C-A8A2-1C49-B6EF-1F0A410EFBBC}" sibTransId="{D3A24339-1D4C-5247-BD37-73922D1EE8F8}"/>
    <dgm:cxn modelId="{96FDEA36-1CD2-D34B-98BE-CF898960D607}" srcId="{E153C832-6E8F-EA4C-83D1-96138E4415D8}" destId="{6C1248A8-AFAD-514A-83B7-4FE7A65ACE70}" srcOrd="4" destOrd="0" parTransId="{655AF660-B1F6-E344-BF43-5D821415A933}" sibTransId="{05F5C3E7-96F6-3648-B9E2-E00771FBE61C}"/>
    <dgm:cxn modelId="{36D61C40-8931-6941-AC31-6F2E807FCA82}" srcId="{E153C832-6E8F-EA4C-83D1-96138E4415D8}" destId="{A111A13D-AE99-0240-A537-DA7A182B332C}" srcOrd="0" destOrd="0" parTransId="{6B447876-6F8D-4448-937B-4EDDDBF40494}" sibTransId="{0A9D6163-2549-D044-8C1E-3E6DB16103B6}"/>
    <dgm:cxn modelId="{66577C42-CC64-E444-AD33-7E1D8CDDBAAE}" srcId="{E153C832-6E8F-EA4C-83D1-96138E4415D8}" destId="{778F8031-D1F5-A840-ABBD-42A8494B547A}" srcOrd="9" destOrd="0" parTransId="{2B385B30-288C-6E47-B23C-CB7FBA4D6E79}" sibTransId="{82CD3E14-7CDF-B549-AD04-CF957D988417}"/>
    <dgm:cxn modelId="{C43B484E-5C6D-7340-AFF5-38B1AC5A2D67}" type="presOf" srcId="{F63011BF-65CC-1841-88CC-BE6FC2CAC873}" destId="{BDF5CBC3-C496-F84F-939C-9079DF0C097C}" srcOrd="0" destOrd="0" presId="urn:microsoft.com/office/officeart/2008/layout/LinedList"/>
    <dgm:cxn modelId="{FA626853-E656-7E4F-ACB9-B6EDA054E27A}" type="presOf" srcId="{41842377-30D1-5E46-9493-EEE3617C8BE2}" destId="{A7CA5E9F-D3DD-5442-B239-7A97D8082FC0}" srcOrd="0" destOrd="0" presId="urn:microsoft.com/office/officeart/2008/layout/LinedList"/>
    <dgm:cxn modelId="{F73C5357-ED53-8A40-8CD3-8AD929032838}" srcId="{E153C832-6E8F-EA4C-83D1-96138E4415D8}" destId="{41842377-30D1-5E46-9493-EEE3617C8BE2}" srcOrd="1" destOrd="0" parTransId="{051C0264-D162-F54B-9F20-A400445A6126}" sibTransId="{7AE9ABAA-B7C8-FD40-8B41-DD37A86D719B}"/>
    <dgm:cxn modelId="{49086358-02FD-B343-A0E3-DE5AF71FEC57}" type="presOf" srcId="{E153C832-6E8F-EA4C-83D1-96138E4415D8}" destId="{3BF19A71-1AA4-CB4A-994E-BD12213A339B}" srcOrd="0" destOrd="0" presId="urn:microsoft.com/office/officeart/2008/layout/LinedList"/>
    <dgm:cxn modelId="{7976F859-2C19-0940-838D-4C75E931E002}" srcId="{E153C832-6E8F-EA4C-83D1-96138E4415D8}" destId="{1E4E6D59-1695-6F49-9911-2A953C999B2A}" srcOrd="6" destOrd="0" parTransId="{8291A436-1500-C54A-A6FB-27E200138913}" sibTransId="{0E4DE2C1-9E22-AE46-BA2F-33C8E5F980C0}"/>
    <dgm:cxn modelId="{06A51463-5983-D145-805F-4F3949FA52F3}" srcId="{E153C832-6E8F-EA4C-83D1-96138E4415D8}" destId="{81BD4996-B845-CE4C-A348-8A36257742E8}" srcOrd="5" destOrd="0" parTransId="{04CAAD0D-FB35-0C45-920D-4202B95D5918}" sibTransId="{EBB0F63F-3564-3E4E-8B5A-35A0D7E9A755}"/>
    <dgm:cxn modelId="{666EFA74-9E50-A645-91EB-09C51D402800}" srcId="{E153C832-6E8F-EA4C-83D1-96138E4415D8}" destId="{F63011BF-65CC-1841-88CC-BE6FC2CAC873}" srcOrd="10" destOrd="0" parTransId="{BE94D101-73E4-904E-B90B-507368CDCF17}" sibTransId="{2AD7B978-06CA-2242-940F-420B93BD3892}"/>
    <dgm:cxn modelId="{984B8575-D10C-B548-A6DF-83EF40C47C8D}" type="presOf" srcId="{3AA895C5-F105-D74F-B85C-AF60E4B71855}" destId="{D4E8A3CC-4D23-8A44-BCC2-F546F4C76FC4}" srcOrd="0" destOrd="0" presId="urn:microsoft.com/office/officeart/2008/layout/LinedList"/>
    <dgm:cxn modelId="{BA22907D-AED5-594A-B8B4-9AC62CFF3DEC}" srcId="{E153C832-6E8F-EA4C-83D1-96138E4415D8}" destId="{970A7D76-7A54-4746-B375-B0F18859A166}" srcOrd="8" destOrd="0" parTransId="{D9908C12-7D7B-9A4D-9DBF-27CA8DC20995}" sibTransId="{A944BDF2-7B91-EA46-B2A8-22595E7774F0}"/>
    <dgm:cxn modelId="{57530A7F-8DFC-AA47-91F7-7C11E8F299B2}" type="presOf" srcId="{81BD4996-B845-CE4C-A348-8A36257742E8}" destId="{15D44E07-E090-FB42-A660-4C1EC5FD43D2}" srcOrd="0" destOrd="0" presId="urn:microsoft.com/office/officeart/2008/layout/LinedList"/>
    <dgm:cxn modelId="{6FE31D87-94A5-134B-B497-080DD5EC73E2}" srcId="{E153C832-6E8F-EA4C-83D1-96138E4415D8}" destId="{9556463E-A467-2244-A17F-004F1225F46C}" srcOrd="3" destOrd="0" parTransId="{DE9E99CE-5D43-354F-9F16-0AC67E00B1F0}" sibTransId="{F4C6DD15-1E2C-E04F-AFBE-3FCF28B0D51B}"/>
    <dgm:cxn modelId="{6B29499A-01A8-AB46-B931-B111ADA5D85D}" type="presOf" srcId="{1A641CD4-A912-3047-8F83-94ABAD6E8AA0}" destId="{CEA2C6CE-C51B-C146-A0ED-80682F02D0AD}" srcOrd="0" destOrd="0" presId="urn:microsoft.com/office/officeart/2008/layout/LinedList"/>
    <dgm:cxn modelId="{AADB8A9D-DBE8-C243-9E6D-8DC066E3130A}" type="presOf" srcId="{778F8031-D1F5-A840-ABBD-42A8494B547A}" destId="{FED4957D-A683-7D4C-8C33-174FEBB0DBD6}" srcOrd="0" destOrd="0" presId="urn:microsoft.com/office/officeart/2008/layout/LinedList"/>
    <dgm:cxn modelId="{6FB795A3-66E4-5D4D-975F-CD0ADDD40FDF}" type="presOf" srcId="{6C1248A8-AFAD-514A-83B7-4FE7A65ACE70}" destId="{4321A7F7-0ED4-8748-800E-F8EA08669064}" srcOrd="0" destOrd="0" presId="urn:microsoft.com/office/officeart/2008/layout/LinedList"/>
    <dgm:cxn modelId="{A92FF2B4-8879-594C-8200-3F1D127C2076}" srcId="{E153C832-6E8F-EA4C-83D1-96138E4415D8}" destId="{1A641CD4-A912-3047-8F83-94ABAD6E8AA0}" srcOrd="11" destOrd="0" parTransId="{530401FC-FF40-094E-8BE0-9ECEB024C0F7}" sibTransId="{6389341E-3AA2-0D44-8D82-A1AAD184A5B8}"/>
    <dgm:cxn modelId="{1633C1C4-1E04-8B46-8650-5BE143AE3BFF}" type="presOf" srcId="{9556463E-A467-2244-A17F-004F1225F46C}" destId="{802E0EE8-53AF-DA45-949F-8146ACBBEB10}" srcOrd="0" destOrd="0" presId="urn:microsoft.com/office/officeart/2008/layout/LinedList"/>
    <dgm:cxn modelId="{9A919EDB-352F-7446-888E-F249EB8927A1}" srcId="{E153C832-6E8F-EA4C-83D1-96138E4415D8}" destId="{A67370C7-85B8-4D4C-AA60-F756B8EB8FAC}" srcOrd="2" destOrd="0" parTransId="{D7F9B9F6-1443-AC4B-8D1B-6F06C47F561D}" sibTransId="{F985462E-0561-FE4A-959A-BB5FA138AFFC}"/>
    <dgm:cxn modelId="{F5BD5CDC-50F9-E542-A664-8C32FF95656B}" type="presOf" srcId="{970A7D76-7A54-4746-B375-B0F18859A166}" destId="{A2F10E6E-134B-5D43-8587-D103629CDECF}" srcOrd="0" destOrd="0" presId="urn:microsoft.com/office/officeart/2008/layout/LinedList"/>
    <dgm:cxn modelId="{AD9B1925-732A-8040-829C-652BBD1F92CF}" type="presParOf" srcId="{3BF19A71-1AA4-CB4A-994E-BD12213A339B}" destId="{3CFD8FFD-A73C-0D4C-AA2B-AB13C86D141A}" srcOrd="0" destOrd="0" presId="urn:microsoft.com/office/officeart/2008/layout/LinedList"/>
    <dgm:cxn modelId="{9981F6E1-3A3C-BB49-B79F-F2E1CDB56C8E}" type="presParOf" srcId="{3BF19A71-1AA4-CB4A-994E-BD12213A339B}" destId="{2C7C4DD6-543A-8040-A498-8830772F2C64}" srcOrd="1" destOrd="0" presId="urn:microsoft.com/office/officeart/2008/layout/LinedList"/>
    <dgm:cxn modelId="{CBD90AD2-05A3-CD42-BC59-FF4C734E7128}" type="presParOf" srcId="{2C7C4DD6-543A-8040-A498-8830772F2C64}" destId="{B101E71D-577A-3F46-AB9D-A8532EA5A34E}" srcOrd="0" destOrd="0" presId="urn:microsoft.com/office/officeart/2008/layout/LinedList"/>
    <dgm:cxn modelId="{9A838613-160B-A04B-84AF-905670082518}" type="presParOf" srcId="{2C7C4DD6-543A-8040-A498-8830772F2C64}" destId="{8CF9BA63-6E9A-5549-A1F5-A7E7889D01FD}" srcOrd="1" destOrd="0" presId="urn:microsoft.com/office/officeart/2008/layout/LinedList"/>
    <dgm:cxn modelId="{4BC10417-5CF6-F947-B48F-7CD11B4424B7}" type="presParOf" srcId="{3BF19A71-1AA4-CB4A-994E-BD12213A339B}" destId="{B048891E-C866-BF4A-8D9F-23A5408008BC}" srcOrd="2" destOrd="0" presId="urn:microsoft.com/office/officeart/2008/layout/LinedList"/>
    <dgm:cxn modelId="{CFA322EA-488B-AC43-8744-B8BABC86ECAD}" type="presParOf" srcId="{3BF19A71-1AA4-CB4A-994E-BD12213A339B}" destId="{A2417B1E-EC0B-6F4E-A5B0-262C65B5DCF3}" srcOrd="3" destOrd="0" presId="urn:microsoft.com/office/officeart/2008/layout/LinedList"/>
    <dgm:cxn modelId="{EFB4BC79-C409-4444-BAD1-6BFDC68CF562}" type="presParOf" srcId="{A2417B1E-EC0B-6F4E-A5B0-262C65B5DCF3}" destId="{A7CA5E9F-D3DD-5442-B239-7A97D8082FC0}" srcOrd="0" destOrd="0" presId="urn:microsoft.com/office/officeart/2008/layout/LinedList"/>
    <dgm:cxn modelId="{CBC8B0F3-2E2E-B543-924A-B4C8590562E8}" type="presParOf" srcId="{A2417B1E-EC0B-6F4E-A5B0-262C65B5DCF3}" destId="{3DEBAB4B-A677-F041-A2CC-20CBC8B50A9C}" srcOrd="1" destOrd="0" presId="urn:microsoft.com/office/officeart/2008/layout/LinedList"/>
    <dgm:cxn modelId="{71C08674-EDF5-C14D-AC63-AB282D770E5B}" type="presParOf" srcId="{3BF19A71-1AA4-CB4A-994E-BD12213A339B}" destId="{C287D766-18E2-AB4B-BBBA-F89118AD1944}" srcOrd="4" destOrd="0" presId="urn:microsoft.com/office/officeart/2008/layout/LinedList"/>
    <dgm:cxn modelId="{10BDC311-CAF4-B740-AE66-85AEB275E2E8}" type="presParOf" srcId="{3BF19A71-1AA4-CB4A-994E-BD12213A339B}" destId="{9E3D56F5-EA31-8D4F-A4CF-3994A0A46EA5}" srcOrd="5" destOrd="0" presId="urn:microsoft.com/office/officeart/2008/layout/LinedList"/>
    <dgm:cxn modelId="{DF7DEFEF-745E-FF4B-ACFE-9D45C92D6A0D}" type="presParOf" srcId="{9E3D56F5-EA31-8D4F-A4CF-3994A0A46EA5}" destId="{3CE79708-F8AA-B549-BB1A-18A0A5968AA7}" srcOrd="0" destOrd="0" presId="urn:microsoft.com/office/officeart/2008/layout/LinedList"/>
    <dgm:cxn modelId="{6C8F2259-69CC-EE41-9570-949CA8FFC48B}" type="presParOf" srcId="{9E3D56F5-EA31-8D4F-A4CF-3994A0A46EA5}" destId="{F15706A3-246A-E24D-A778-E1BD1AA9F742}" srcOrd="1" destOrd="0" presId="urn:microsoft.com/office/officeart/2008/layout/LinedList"/>
    <dgm:cxn modelId="{F741E1E5-242A-8148-82CE-DCBBE7EDE0D6}" type="presParOf" srcId="{3BF19A71-1AA4-CB4A-994E-BD12213A339B}" destId="{282475C8-5BB9-2943-BA3C-DBEF7A5E2E75}" srcOrd="6" destOrd="0" presId="urn:microsoft.com/office/officeart/2008/layout/LinedList"/>
    <dgm:cxn modelId="{3BB82398-DBBD-EF40-A4AF-14DB3FB7AE39}" type="presParOf" srcId="{3BF19A71-1AA4-CB4A-994E-BD12213A339B}" destId="{EA4A96F7-A571-7C4B-844D-AD6194153BF6}" srcOrd="7" destOrd="0" presId="urn:microsoft.com/office/officeart/2008/layout/LinedList"/>
    <dgm:cxn modelId="{F9C1D0A8-F7AC-ED4D-98F3-4802FB6B25B9}" type="presParOf" srcId="{EA4A96F7-A571-7C4B-844D-AD6194153BF6}" destId="{802E0EE8-53AF-DA45-949F-8146ACBBEB10}" srcOrd="0" destOrd="0" presId="urn:microsoft.com/office/officeart/2008/layout/LinedList"/>
    <dgm:cxn modelId="{AD1A0D28-E16E-B141-AFDF-0CD838119EB3}" type="presParOf" srcId="{EA4A96F7-A571-7C4B-844D-AD6194153BF6}" destId="{2F145D0D-1B28-784C-B0D6-6415D867B96E}" srcOrd="1" destOrd="0" presId="urn:microsoft.com/office/officeart/2008/layout/LinedList"/>
    <dgm:cxn modelId="{D1D0E436-0ED3-9844-9D2B-367BFA6B0AAC}" type="presParOf" srcId="{3BF19A71-1AA4-CB4A-994E-BD12213A339B}" destId="{7BAD1CEF-73D4-224C-8C48-38C8CA25E1EC}" srcOrd="8" destOrd="0" presId="urn:microsoft.com/office/officeart/2008/layout/LinedList"/>
    <dgm:cxn modelId="{10D652B9-C9A7-E949-B78A-DC688FDDE21B}" type="presParOf" srcId="{3BF19A71-1AA4-CB4A-994E-BD12213A339B}" destId="{6BBCA99F-FD68-8A4B-A838-E3ED2427B6BE}" srcOrd="9" destOrd="0" presId="urn:microsoft.com/office/officeart/2008/layout/LinedList"/>
    <dgm:cxn modelId="{FBF2DB16-ED7F-264C-ACF1-F53BC52FA206}" type="presParOf" srcId="{6BBCA99F-FD68-8A4B-A838-E3ED2427B6BE}" destId="{4321A7F7-0ED4-8748-800E-F8EA08669064}" srcOrd="0" destOrd="0" presId="urn:microsoft.com/office/officeart/2008/layout/LinedList"/>
    <dgm:cxn modelId="{1A613C4E-9DA3-8846-9EF1-AF51D13D4C6D}" type="presParOf" srcId="{6BBCA99F-FD68-8A4B-A838-E3ED2427B6BE}" destId="{424320F0-CEFB-E44A-ABB9-740E7D6ACD7F}" srcOrd="1" destOrd="0" presId="urn:microsoft.com/office/officeart/2008/layout/LinedList"/>
    <dgm:cxn modelId="{5AF0DE31-D637-434A-A851-2325C54BA772}" type="presParOf" srcId="{3BF19A71-1AA4-CB4A-994E-BD12213A339B}" destId="{1D110869-C564-714A-8B69-79DA77CDA13D}" srcOrd="10" destOrd="0" presId="urn:microsoft.com/office/officeart/2008/layout/LinedList"/>
    <dgm:cxn modelId="{CF1BD9D4-F4C0-504B-8226-397D3BAA2613}" type="presParOf" srcId="{3BF19A71-1AA4-CB4A-994E-BD12213A339B}" destId="{8AF2D682-E35F-8E46-A181-A1753C299821}" srcOrd="11" destOrd="0" presId="urn:microsoft.com/office/officeart/2008/layout/LinedList"/>
    <dgm:cxn modelId="{860F73E3-954E-D34A-A470-FE6F91CC3A32}" type="presParOf" srcId="{8AF2D682-E35F-8E46-A181-A1753C299821}" destId="{15D44E07-E090-FB42-A660-4C1EC5FD43D2}" srcOrd="0" destOrd="0" presId="urn:microsoft.com/office/officeart/2008/layout/LinedList"/>
    <dgm:cxn modelId="{D23D273A-3D2A-5B4A-9898-EEA0AC26CCFB}" type="presParOf" srcId="{8AF2D682-E35F-8E46-A181-A1753C299821}" destId="{2D6B16BC-03A2-A648-8F12-B6E42A629B0C}" srcOrd="1" destOrd="0" presId="urn:microsoft.com/office/officeart/2008/layout/LinedList"/>
    <dgm:cxn modelId="{6DE2E229-48AF-5543-8040-81604817ECE9}" type="presParOf" srcId="{3BF19A71-1AA4-CB4A-994E-BD12213A339B}" destId="{5BEDB4BB-5F0C-864B-AF6E-DBA3693BB167}" srcOrd="12" destOrd="0" presId="urn:microsoft.com/office/officeart/2008/layout/LinedList"/>
    <dgm:cxn modelId="{A38F13C9-0963-9A4B-BCD5-2ACF7E6E8116}" type="presParOf" srcId="{3BF19A71-1AA4-CB4A-994E-BD12213A339B}" destId="{BE62806B-3B11-2F4C-9D25-6F9900EC4869}" srcOrd="13" destOrd="0" presId="urn:microsoft.com/office/officeart/2008/layout/LinedList"/>
    <dgm:cxn modelId="{D2918473-1349-8A47-A3FF-C50D09BC408C}" type="presParOf" srcId="{BE62806B-3B11-2F4C-9D25-6F9900EC4869}" destId="{E0EB1A79-EEE1-7E42-B892-E82CA01F5DF1}" srcOrd="0" destOrd="0" presId="urn:microsoft.com/office/officeart/2008/layout/LinedList"/>
    <dgm:cxn modelId="{089E4DE5-5C58-E945-A8DA-BAB33C58B0B6}" type="presParOf" srcId="{BE62806B-3B11-2F4C-9D25-6F9900EC4869}" destId="{8F11FF75-3738-114C-AD5B-673F5847A6D2}" srcOrd="1" destOrd="0" presId="urn:microsoft.com/office/officeart/2008/layout/LinedList"/>
    <dgm:cxn modelId="{29D63149-9C50-CC4A-A59E-CD0053165292}" type="presParOf" srcId="{3BF19A71-1AA4-CB4A-994E-BD12213A339B}" destId="{4ECC0AA3-0A9A-134C-970A-88197EA085FF}" srcOrd="14" destOrd="0" presId="urn:microsoft.com/office/officeart/2008/layout/LinedList"/>
    <dgm:cxn modelId="{6D1E4C7D-850A-A340-9F44-BD1150808F0F}" type="presParOf" srcId="{3BF19A71-1AA4-CB4A-994E-BD12213A339B}" destId="{BC6B6EFC-4224-7C4B-9C56-2C6E071BBFBF}" srcOrd="15" destOrd="0" presId="urn:microsoft.com/office/officeart/2008/layout/LinedList"/>
    <dgm:cxn modelId="{2F208BDC-8645-AC47-B603-48E087923B44}" type="presParOf" srcId="{BC6B6EFC-4224-7C4B-9C56-2C6E071BBFBF}" destId="{D4E8A3CC-4D23-8A44-BCC2-F546F4C76FC4}" srcOrd="0" destOrd="0" presId="urn:microsoft.com/office/officeart/2008/layout/LinedList"/>
    <dgm:cxn modelId="{3BB508B5-1705-1B4F-9DC2-29F954D0EB2B}" type="presParOf" srcId="{BC6B6EFC-4224-7C4B-9C56-2C6E071BBFBF}" destId="{EDE3EE53-89EC-0C49-9828-4C4001E1814E}" srcOrd="1" destOrd="0" presId="urn:microsoft.com/office/officeart/2008/layout/LinedList"/>
    <dgm:cxn modelId="{CEFB58C1-596D-7343-BD75-EA4A9B68918B}" type="presParOf" srcId="{3BF19A71-1AA4-CB4A-994E-BD12213A339B}" destId="{803282ED-D805-BE4C-B9D2-295BC4EC0A20}" srcOrd="16" destOrd="0" presId="urn:microsoft.com/office/officeart/2008/layout/LinedList"/>
    <dgm:cxn modelId="{8B0458BC-40CC-2F4B-B1C5-832D0EBC1E7E}" type="presParOf" srcId="{3BF19A71-1AA4-CB4A-994E-BD12213A339B}" destId="{C88AFF03-7892-0D4E-9DA0-10FA48854BDE}" srcOrd="17" destOrd="0" presId="urn:microsoft.com/office/officeart/2008/layout/LinedList"/>
    <dgm:cxn modelId="{A3038968-F0BE-1043-A742-60C428FD9C06}" type="presParOf" srcId="{C88AFF03-7892-0D4E-9DA0-10FA48854BDE}" destId="{A2F10E6E-134B-5D43-8587-D103629CDECF}" srcOrd="0" destOrd="0" presId="urn:microsoft.com/office/officeart/2008/layout/LinedList"/>
    <dgm:cxn modelId="{2B25F61A-ED27-0742-AA09-35F8A6B1BEE5}" type="presParOf" srcId="{C88AFF03-7892-0D4E-9DA0-10FA48854BDE}" destId="{BE416622-D9A9-9A42-92F4-353AFC322F71}" srcOrd="1" destOrd="0" presId="urn:microsoft.com/office/officeart/2008/layout/LinedList"/>
    <dgm:cxn modelId="{2FC6419B-0CBC-9C44-9C99-4C3FAC64CF11}" type="presParOf" srcId="{3BF19A71-1AA4-CB4A-994E-BD12213A339B}" destId="{5C8CBAC4-BFD9-8C40-A6BD-0E1EDA65393D}" srcOrd="18" destOrd="0" presId="urn:microsoft.com/office/officeart/2008/layout/LinedList"/>
    <dgm:cxn modelId="{CD16701B-C6BF-B345-A216-FE70CBBE00CD}" type="presParOf" srcId="{3BF19A71-1AA4-CB4A-994E-BD12213A339B}" destId="{0D4FFE58-4383-0F4D-BD63-6EA57EA6FA89}" srcOrd="19" destOrd="0" presId="urn:microsoft.com/office/officeart/2008/layout/LinedList"/>
    <dgm:cxn modelId="{6894E9B5-C4F7-C148-96DF-621A63A0D8C7}" type="presParOf" srcId="{0D4FFE58-4383-0F4D-BD63-6EA57EA6FA89}" destId="{FED4957D-A683-7D4C-8C33-174FEBB0DBD6}" srcOrd="0" destOrd="0" presId="urn:microsoft.com/office/officeart/2008/layout/LinedList"/>
    <dgm:cxn modelId="{9CECE8EF-2244-4D42-929C-F3C45A97F422}" type="presParOf" srcId="{0D4FFE58-4383-0F4D-BD63-6EA57EA6FA89}" destId="{9B408235-7471-0346-80CE-FEA373055560}" srcOrd="1" destOrd="0" presId="urn:microsoft.com/office/officeart/2008/layout/LinedList"/>
    <dgm:cxn modelId="{CAFBB6A5-F844-6E46-A66A-7E0FBD7FB5D7}" type="presParOf" srcId="{3BF19A71-1AA4-CB4A-994E-BD12213A339B}" destId="{6C683F96-BE00-5944-A501-889938619C80}" srcOrd="20" destOrd="0" presId="urn:microsoft.com/office/officeart/2008/layout/LinedList"/>
    <dgm:cxn modelId="{9D5A7C14-89C3-D74B-855D-99A118B6CFCB}" type="presParOf" srcId="{3BF19A71-1AA4-CB4A-994E-BD12213A339B}" destId="{533CF306-FB4B-C34E-9626-3C06D8AE11FA}" srcOrd="21" destOrd="0" presId="urn:microsoft.com/office/officeart/2008/layout/LinedList"/>
    <dgm:cxn modelId="{15FAB046-BC82-A244-846E-F30080328FDF}" type="presParOf" srcId="{533CF306-FB4B-C34E-9626-3C06D8AE11FA}" destId="{BDF5CBC3-C496-F84F-939C-9079DF0C097C}" srcOrd="0" destOrd="0" presId="urn:microsoft.com/office/officeart/2008/layout/LinedList"/>
    <dgm:cxn modelId="{9E709CC3-F97C-DB4F-B3D9-86D5050E697D}" type="presParOf" srcId="{533CF306-FB4B-C34E-9626-3C06D8AE11FA}" destId="{774198BC-5B4E-AD4D-BC25-03EF7966A632}" srcOrd="1" destOrd="0" presId="urn:microsoft.com/office/officeart/2008/layout/LinedList"/>
    <dgm:cxn modelId="{21816270-6ED4-5C4C-92ED-411EAC00C4E4}" type="presParOf" srcId="{3BF19A71-1AA4-CB4A-994E-BD12213A339B}" destId="{2C02CC51-0276-7442-9ED6-A2CD861614BF}" srcOrd="22" destOrd="0" presId="urn:microsoft.com/office/officeart/2008/layout/LinedList"/>
    <dgm:cxn modelId="{7962EB3A-F368-F241-9B5C-36980CF449D4}" type="presParOf" srcId="{3BF19A71-1AA4-CB4A-994E-BD12213A339B}" destId="{0F00226D-E1AC-F243-8631-40588028E983}" srcOrd="23" destOrd="0" presId="urn:microsoft.com/office/officeart/2008/layout/LinedList"/>
    <dgm:cxn modelId="{6A59160E-FC61-A445-BCB5-54A814324F07}" type="presParOf" srcId="{0F00226D-E1AC-F243-8631-40588028E983}" destId="{CEA2C6CE-C51B-C146-A0ED-80682F02D0AD}" srcOrd="0" destOrd="0" presId="urn:microsoft.com/office/officeart/2008/layout/LinedList"/>
    <dgm:cxn modelId="{07AB3BE8-BCB7-F548-811E-1ED3A4AFD442}" type="presParOf" srcId="{0F00226D-E1AC-F243-8631-40588028E983}" destId="{A886FFAB-5AD4-6F41-8E69-873E8FD4223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4DB33-9601-0D4A-9FAD-F8EF25D603AA}">
      <dsp:nvSpPr>
        <dsp:cNvPr id="0" name=""/>
        <dsp:cNvSpPr/>
      </dsp:nvSpPr>
      <dsp:spPr>
        <a:xfrm>
          <a:off x="5389423" y="2725074"/>
          <a:ext cx="1066740" cy="507671"/>
        </a:xfrm>
        <a:custGeom>
          <a:avLst/>
          <a:gdLst/>
          <a:ahLst/>
          <a:cxnLst/>
          <a:rect l="0" t="0" r="0" b="0"/>
          <a:pathLst>
            <a:path>
              <a:moveTo>
                <a:pt x="0" y="0"/>
              </a:moveTo>
              <a:lnTo>
                <a:pt x="0" y="345963"/>
              </a:lnTo>
              <a:lnTo>
                <a:pt x="1066740" y="345963"/>
              </a:lnTo>
              <a:lnTo>
                <a:pt x="1066740" y="5076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4827CA-5A3D-DB43-8CA5-95BF74191DDA}">
      <dsp:nvSpPr>
        <dsp:cNvPr id="0" name=""/>
        <dsp:cNvSpPr/>
      </dsp:nvSpPr>
      <dsp:spPr>
        <a:xfrm>
          <a:off x="4322683" y="2725074"/>
          <a:ext cx="1066740" cy="507671"/>
        </a:xfrm>
        <a:custGeom>
          <a:avLst/>
          <a:gdLst/>
          <a:ahLst/>
          <a:cxnLst/>
          <a:rect l="0" t="0" r="0" b="0"/>
          <a:pathLst>
            <a:path>
              <a:moveTo>
                <a:pt x="1066740" y="0"/>
              </a:moveTo>
              <a:lnTo>
                <a:pt x="1066740" y="345963"/>
              </a:lnTo>
              <a:lnTo>
                <a:pt x="0" y="345963"/>
              </a:lnTo>
              <a:lnTo>
                <a:pt x="0" y="5076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48475C-121B-E147-830D-7C2445B2200C}">
      <dsp:nvSpPr>
        <dsp:cNvPr id="0" name=""/>
        <dsp:cNvSpPr/>
      </dsp:nvSpPr>
      <dsp:spPr>
        <a:xfrm>
          <a:off x="5343703" y="1108962"/>
          <a:ext cx="91440" cy="507671"/>
        </a:xfrm>
        <a:custGeom>
          <a:avLst/>
          <a:gdLst/>
          <a:ahLst/>
          <a:cxnLst/>
          <a:rect l="0" t="0" r="0" b="0"/>
          <a:pathLst>
            <a:path>
              <a:moveTo>
                <a:pt x="45720" y="0"/>
              </a:moveTo>
              <a:lnTo>
                <a:pt x="45720" y="5076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31F112-416E-4A4E-ACC9-FF0A0F3336AA}">
      <dsp:nvSpPr>
        <dsp:cNvPr id="0" name=""/>
        <dsp:cNvSpPr/>
      </dsp:nvSpPr>
      <dsp:spPr>
        <a:xfrm>
          <a:off x="4516635" y="521"/>
          <a:ext cx="1745575" cy="11084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FA96AE-4A24-B84F-8D93-52A867F5906B}">
      <dsp:nvSpPr>
        <dsp:cNvPr id="0" name=""/>
        <dsp:cNvSpPr/>
      </dsp:nvSpPr>
      <dsp:spPr>
        <a:xfrm>
          <a:off x="4710588" y="184777"/>
          <a:ext cx="1745575" cy="1108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Proxima Nova" panose="02000506030000020004" pitchFamily="2" charset="0"/>
            </a:rPr>
            <a:t>9230</a:t>
          </a:r>
          <a:r>
            <a:rPr lang="en-US" sz="1900" kern="1200" dirty="0">
              <a:latin typeface="Proxima Nova Rg" panose="02000506030000020004" pitchFamily="2" charset="0"/>
            </a:rPr>
            <a:t> college-bound HS seniors</a:t>
          </a:r>
        </a:p>
      </dsp:txBody>
      <dsp:txXfrm>
        <a:off x="4743053" y="217242"/>
        <a:ext cx="1680645" cy="1043510"/>
      </dsp:txXfrm>
    </dsp:sp>
    <dsp:sp modelId="{D72F0D6B-50F0-D148-87F1-F0A96B486DFE}">
      <dsp:nvSpPr>
        <dsp:cNvPr id="0" name=""/>
        <dsp:cNvSpPr/>
      </dsp:nvSpPr>
      <dsp:spPr>
        <a:xfrm>
          <a:off x="4516635" y="1616633"/>
          <a:ext cx="1745575" cy="11084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26D08F-645E-9142-AC0E-7C3F7733D528}">
      <dsp:nvSpPr>
        <dsp:cNvPr id="0" name=""/>
        <dsp:cNvSpPr/>
      </dsp:nvSpPr>
      <dsp:spPr>
        <a:xfrm>
          <a:off x="4710588" y="1800888"/>
          <a:ext cx="1745575" cy="1108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Proxima Nova" panose="02000506030000020004" pitchFamily="2" charset="0"/>
            </a:rPr>
            <a:t>1828</a:t>
          </a:r>
          <a:r>
            <a:rPr lang="en-US" sz="1900" kern="1200" dirty="0">
              <a:latin typeface="Proxima Nova Rg" panose="02000506030000020004" pitchFamily="2" charset="0"/>
            </a:rPr>
            <a:t> LGBTQ+ (19.8%)</a:t>
          </a:r>
        </a:p>
      </dsp:txBody>
      <dsp:txXfrm>
        <a:off x="4743053" y="1833353"/>
        <a:ext cx="1680645" cy="1043510"/>
      </dsp:txXfrm>
    </dsp:sp>
    <dsp:sp modelId="{B532C997-A29B-824C-98A8-B12610F52FBA}">
      <dsp:nvSpPr>
        <dsp:cNvPr id="0" name=""/>
        <dsp:cNvSpPr/>
      </dsp:nvSpPr>
      <dsp:spPr>
        <a:xfrm>
          <a:off x="3449895" y="3232745"/>
          <a:ext cx="1745575" cy="11084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634E9F-208A-C847-9F69-E2A0BE20BC92}">
      <dsp:nvSpPr>
        <dsp:cNvPr id="0" name=""/>
        <dsp:cNvSpPr/>
      </dsp:nvSpPr>
      <dsp:spPr>
        <a:xfrm>
          <a:off x="3643848" y="3417000"/>
          <a:ext cx="1745575" cy="1108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Proxima Nova" panose="02000506030000020004" pitchFamily="2" charset="0"/>
            </a:rPr>
            <a:t>417</a:t>
          </a:r>
          <a:r>
            <a:rPr lang="en-US" sz="1900" kern="1200" dirty="0">
              <a:latin typeface="Proxima Nova Rg" panose="02000506030000020004" pitchFamily="2" charset="0"/>
            </a:rPr>
            <a:t> non-cisgender (4.5%)</a:t>
          </a:r>
        </a:p>
      </dsp:txBody>
      <dsp:txXfrm>
        <a:off x="3676313" y="3449465"/>
        <a:ext cx="1680645" cy="1043510"/>
      </dsp:txXfrm>
    </dsp:sp>
    <dsp:sp modelId="{3B7A72B0-F828-E64F-812F-F5D203368DB5}">
      <dsp:nvSpPr>
        <dsp:cNvPr id="0" name=""/>
        <dsp:cNvSpPr/>
      </dsp:nvSpPr>
      <dsp:spPr>
        <a:xfrm>
          <a:off x="5583376" y="3232745"/>
          <a:ext cx="1745575" cy="11084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F14B84-97BC-704D-9763-1786C073D901}">
      <dsp:nvSpPr>
        <dsp:cNvPr id="0" name=""/>
        <dsp:cNvSpPr/>
      </dsp:nvSpPr>
      <dsp:spPr>
        <a:xfrm>
          <a:off x="5777329" y="3417000"/>
          <a:ext cx="1745575" cy="1108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Proxima Nova" panose="02000506030000020004" pitchFamily="2" charset="0"/>
            </a:rPr>
            <a:t>1782</a:t>
          </a:r>
          <a:r>
            <a:rPr lang="en-US" sz="1900" kern="1200" dirty="0">
              <a:latin typeface="Proxima Nova Rg" panose="02000506030000020004" pitchFamily="2" charset="0"/>
            </a:rPr>
            <a:t> non-heterosexual (19.3%)</a:t>
          </a:r>
        </a:p>
      </dsp:txBody>
      <dsp:txXfrm>
        <a:off x="5809794" y="3449465"/>
        <a:ext cx="1680645" cy="10435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113DE-B6F4-1A48-9C60-D488E39FA653}">
      <dsp:nvSpPr>
        <dsp:cNvPr id="0" name=""/>
        <dsp:cNvSpPr/>
      </dsp:nvSpPr>
      <dsp:spPr>
        <a:xfrm>
          <a:off x="0" y="36506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B4138D-FAB0-0D48-A619-ACD349CE1A6F}">
      <dsp:nvSpPr>
        <dsp:cNvPr id="0" name=""/>
        <dsp:cNvSpPr/>
      </dsp:nvSpPr>
      <dsp:spPr>
        <a:xfrm>
          <a:off x="339090" y="12890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How do you rate your high school academic performance </a:t>
          </a:r>
          <a:r>
            <a:rPr lang="en-US" sz="1200" kern="1200" dirty="0">
              <a:latin typeface="Proxima Nova Rg" panose="02000506030000020004" pitchFamily="2" charset="0"/>
            </a:rPr>
            <a:t>(</a:t>
          </a:r>
          <a:r>
            <a:rPr lang="en-US" sz="1200" i="1" kern="1200" dirty="0">
              <a:latin typeface="Proxima Nova" panose="02000506030000020004" pitchFamily="2" charset="0"/>
            </a:rPr>
            <a:t>Poor to Excellent,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362147" y="151958"/>
        <a:ext cx="4701145" cy="426206"/>
      </dsp:txXfrm>
    </dsp:sp>
    <dsp:sp modelId="{5279683A-B8E3-AF4D-8FF3-E8FCF84F16EA}">
      <dsp:nvSpPr>
        <dsp:cNvPr id="0" name=""/>
        <dsp:cNvSpPr/>
      </dsp:nvSpPr>
      <dsp:spPr>
        <a:xfrm>
          <a:off x="0" y="109082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D4D5D2-4371-5046-BA2A-E24D60AEF50A}">
      <dsp:nvSpPr>
        <dsp:cNvPr id="0" name=""/>
        <dsp:cNvSpPr/>
      </dsp:nvSpPr>
      <dsp:spPr>
        <a:xfrm>
          <a:off x="339090" y="85466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How do you rate your high school social experience </a:t>
          </a:r>
          <a:r>
            <a:rPr lang="en-US" sz="1200" kern="1200" dirty="0">
              <a:latin typeface="Proxima Nova Rg" panose="02000506030000020004" pitchFamily="2" charset="0"/>
            </a:rPr>
            <a:t>(</a:t>
          </a:r>
          <a:r>
            <a:rPr lang="en-US" sz="1200" i="1" kern="1200" dirty="0">
              <a:latin typeface="Proxima Nova" panose="02000506030000020004" pitchFamily="2" charset="0"/>
            </a:rPr>
            <a:t>Very Negative to Very Positive,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362147" y="877718"/>
        <a:ext cx="4701145" cy="426206"/>
      </dsp:txXfrm>
    </dsp:sp>
    <dsp:sp modelId="{9C86EA4F-9C3F-BC49-BC9D-E29BF199012E}">
      <dsp:nvSpPr>
        <dsp:cNvPr id="0" name=""/>
        <dsp:cNvSpPr/>
      </dsp:nvSpPr>
      <dsp:spPr>
        <a:xfrm>
          <a:off x="0" y="181658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7226F1-D7D8-C945-822E-D8AEF511495B}">
      <dsp:nvSpPr>
        <dsp:cNvPr id="0" name=""/>
        <dsp:cNvSpPr/>
      </dsp:nvSpPr>
      <dsp:spPr>
        <a:xfrm>
          <a:off x="339090" y="158042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belong in my high school community </a:t>
          </a:r>
          <a:r>
            <a:rPr lang="en-US" sz="1200" kern="1200" dirty="0">
              <a:latin typeface="Proxima Nova Rg" panose="02000506030000020004" pitchFamily="2" charset="0"/>
            </a:rPr>
            <a:t>(</a:t>
          </a:r>
          <a:r>
            <a:rPr lang="en-US" sz="1200" i="1" kern="1200" dirty="0">
              <a:latin typeface="Proxima Nova" panose="02000506030000020004" pitchFamily="2" charset="0"/>
            </a:rPr>
            <a:t>Strongly Disagree to Strongly Agree,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362147" y="1603478"/>
        <a:ext cx="4701145" cy="426206"/>
      </dsp:txXfrm>
    </dsp:sp>
    <dsp:sp modelId="{481E7E34-7969-A742-BDC2-28AB72440EB0}">
      <dsp:nvSpPr>
        <dsp:cNvPr id="0" name=""/>
        <dsp:cNvSpPr/>
      </dsp:nvSpPr>
      <dsp:spPr>
        <a:xfrm>
          <a:off x="0" y="254234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10E5B5-CFDD-6B4F-A475-E272A9F3380C}">
      <dsp:nvSpPr>
        <dsp:cNvPr id="0" name=""/>
        <dsp:cNvSpPr/>
      </dsp:nvSpPr>
      <dsp:spPr>
        <a:xfrm>
          <a:off x="339090" y="230618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Teachers and staff at my high school care about my future </a:t>
          </a:r>
          <a:r>
            <a:rPr lang="en-US" sz="1200" kern="1200" dirty="0">
              <a:latin typeface="Proxima Nova Rg" panose="02000506030000020004" pitchFamily="2" charset="0"/>
            </a:rPr>
            <a:t>(</a:t>
          </a:r>
          <a:r>
            <a:rPr lang="en-US" sz="1200" i="1" kern="1200" dirty="0">
              <a:latin typeface="Proxima Nova" panose="02000506030000020004" pitchFamily="2" charset="0"/>
            </a:rPr>
            <a:t>same as above</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362147" y="2329238"/>
        <a:ext cx="4701145" cy="426206"/>
      </dsp:txXfrm>
    </dsp:sp>
    <dsp:sp modelId="{C41CF316-D20F-E340-AF81-83D484B23DA0}">
      <dsp:nvSpPr>
        <dsp:cNvPr id="0" name=""/>
        <dsp:cNvSpPr/>
      </dsp:nvSpPr>
      <dsp:spPr>
        <a:xfrm>
          <a:off x="0" y="326810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30FFF-8E86-0743-860B-88C58A8CC43D}">
      <dsp:nvSpPr>
        <dsp:cNvPr id="0" name=""/>
        <dsp:cNvSpPr/>
      </dsp:nvSpPr>
      <dsp:spPr>
        <a:xfrm>
          <a:off x="339090" y="303194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received good advising from high school about college </a:t>
          </a:r>
          <a:r>
            <a:rPr lang="en-US" sz="1200" kern="1200" dirty="0">
              <a:latin typeface="Proxima Nova Rg" panose="02000506030000020004" pitchFamily="2" charset="0"/>
            </a:rPr>
            <a:t>(</a:t>
          </a:r>
          <a:r>
            <a:rPr lang="en-US" sz="1200" i="1" kern="1200" dirty="0">
              <a:latin typeface="Proxima Nova" panose="02000506030000020004" pitchFamily="2" charset="0"/>
            </a:rPr>
            <a:t>same as above</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362147" y="3054998"/>
        <a:ext cx="4701145" cy="426206"/>
      </dsp:txXfrm>
    </dsp:sp>
    <dsp:sp modelId="{6FB62475-48CC-1644-9E9E-1DE182DC9882}">
      <dsp:nvSpPr>
        <dsp:cNvPr id="0" name=""/>
        <dsp:cNvSpPr/>
      </dsp:nvSpPr>
      <dsp:spPr>
        <a:xfrm>
          <a:off x="0" y="3993861"/>
          <a:ext cx="6781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DDD348-2047-B14D-85C7-6C471D04BE47}">
      <dsp:nvSpPr>
        <dsp:cNvPr id="0" name=""/>
        <dsp:cNvSpPr/>
      </dsp:nvSpPr>
      <dsp:spPr>
        <a:xfrm>
          <a:off x="339090" y="3757701"/>
          <a:ext cx="4747259"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435" tIns="0" rIns="179435"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feel prepared for college</a:t>
          </a:r>
          <a:r>
            <a:rPr lang="en-US" sz="1600" i="1" kern="1200" dirty="0">
              <a:latin typeface="Proxima Nova" panose="02000506030000020004" pitchFamily="2" charset="0"/>
            </a:rPr>
            <a:t> </a:t>
          </a:r>
          <a:r>
            <a:rPr lang="en-US" sz="1200" i="1" kern="1200" dirty="0">
              <a:latin typeface="Proxima Nova" panose="02000506030000020004" pitchFamily="2" charset="0"/>
            </a:rPr>
            <a:t>(same as above)</a:t>
          </a:r>
          <a:endParaRPr lang="en-US" sz="1600" i="1" kern="1200" dirty="0">
            <a:latin typeface="Proxima Nova" panose="02000506030000020004" pitchFamily="2" charset="0"/>
          </a:endParaRPr>
        </a:p>
      </dsp:txBody>
      <dsp:txXfrm>
        <a:off x="362147" y="3780758"/>
        <a:ext cx="4701145"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D8FFD-A73C-0D4C-AA2B-AB13C86D141A}">
      <dsp:nvSpPr>
        <dsp:cNvPr id="0" name=""/>
        <dsp:cNvSpPr/>
      </dsp:nvSpPr>
      <dsp:spPr>
        <a:xfrm>
          <a:off x="0" y="2209"/>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01E71D-577A-3F46-AB9D-A8532EA5A34E}">
      <dsp:nvSpPr>
        <dsp:cNvPr id="0" name=""/>
        <dsp:cNvSpPr/>
      </dsp:nvSpPr>
      <dsp:spPr>
        <a:xfrm>
          <a:off x="0" y="2209"/>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Affording tuition and fees</a:t>
          </a:r>
        </a:p>
      </dsp:txBody>
      <dsp:txXfrm>
        <a:off x="0" y="2209"/>
        <a:ext cx="10972800" cy="376795"/>
      </dsp:txXfrm>
    </dsp:sp>
    <dsp:sp modelId="{B048891E-C866-BF4A-8D9F-23A5408008BC}">
      <dsp:nvSpPr>
        <dsp:cNvPr id="0" name=""/>
        <dsp:cNvSpPr/>
      </dsp:nvSpPr>
      <dsp:spPr>
        <a:xfrm>
          <a:off x="0" y="379005"/>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CA5E9F-D3DD-5442-B239-7A97D8082FC0}">
      <dsp:nvSpPr>
        <dsp:cNvPr id="0" name=""/>
        <dsp:cNvSpPr/>
      </dsp:nvSpPr>
      <dsp:spPr>
        <a:xfrm>
          <a:off x="0" y="379005"/>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Living expenses</a:t>
          </a:r>
        </a:p>
      </dsp:txBody>
      <dsp:txXfrm>
        <a:off x="0" y="379005"/>
        <a:ext cx="10972800" cy="376795"/>
      </dsp:txXfrm>
    </dsp:sp>
    <dsp:sp modelId="{C287D766-18E2-AB4B-BBBA-F89118AD1944}">
      <dsp:nvSpPr>
        <dsp:cNvPr id="0" name=""/>
        <dsp:cNvSpPr/>
      </dsp:nvSpPr>
      <dsp:spPr>
        <a:xfrm>
          <a:off x="0" y="755800"/>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E79708-F8AA-B549-BB1A-18A0A5968AA7}">
      <dsp:nvSpPr>
        <dsp:cNvPr id="0" name=""/>
        <dsp:cNvSpPr/>
      </dsp:nvSpPr>
      <dsp:spPr>
        <a:xfrm>
          <a:off x="0" y="755800"/>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Performing well academically</a:t>
          </a:r>
        </a:p>
      </dsp:txBody>
      <dsp:txXfrm>
        <a:off x="0" y="755800"/>
        <a:ext cx="10972800" cy="376795"/>
      </dsp:txXfrm>
    </dsp:sp>
    <dsp:sp modelId="{282475C8-5BB9-2943-BA3C-DBEF7A5E2E75}">
      <dsp:nvSpPr>
        <dsp:cNvPr id="0" name=""/>
        <dsp:cNvSpPr/>
      </dsp:nvSpPr>
      <dsp:spPr>
        <a:xfrm>
          <a:off x="0" y="1132595"/>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2E0EE8-53AF-DA45-949F-8146ACBBEB10}">
      <dsp:nvSpPr>
        <dsp:cNvPr id="0" name=""/>
        <dsp:cNvSpPr/>
      </dsp:nvSpPr>
      <dsp:spPr>
        <a:xfrm>
          <a:off x="0" y="1132595"/>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Balancing work obligations</a:t>
          </a:r>
        </a:p>
      </dsp:txBody>
      <dsp:txXfrm>
        <a:off x="0" y="1132595"/>
        <a:ext cx="10972800" cy="376795"/>
      </dsp:txXfrm>
    </dsp:sp>
    <dsp:sp modelId="{7BAD1CEF-73D4-224C-8C48-38C8CA25E1EC}">
      <dsp:nvSpPr>
        <dsp:cNvPr id="0" name=""/>
        <dsp:cNvSpPr/>
      </dsp:nvSpPr>
      <dsp:spPr>
        <a:xfrm>
          <a:off x="0" y="1509390"/>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21A7F7-0ED4-8748-800E-F8EA08669064}">
      <dsp:nvSpPr>
        <dsp:cNvPr id="0" name=""/>
        <dsp:cNvSpPr/>
      </dsp:nvSpPr>
      <dsp:spPr>
        <a:xfrm>
          <a:off x="0" y="1509390"/>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Balancing family obligations</a:t>
          </a:r>
        </a:p>
      </dsp:txBody>
      <dsp:txXfrm>
        <a:off x="0" y="1509390"/>
        <a:ext cx="10972800" cy="376795"/>
      </dsp:txXfrm>
    </dsp:sp>
    <dsp:sp modelId="{1D110869-C564-714A-8B69-79DA77CDA13D}">
      <dsp:nvSpPr>
        <dsp:cNvPr id="0" name=""/>
        <dsp:cNvSpPr/>
      </dsp:nvSpPr>
      <dsp:spPr>
        <a:xfrm>
          <a:off x="0" y="1886186"/>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D44E07-E090-FB42-A660-4C1EC5FD43D2}">
      <dsp:nvSpPr>
        <dsp:cNvPr id="0" name=""/>
        <dsp:cNvSpPr/>
      </dsp:nvSpPr>
      <dsp:spPr>
        <a:xfrm>
          <a:off x="0" y="1886186"/>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Finding community</a:t>
          </a:r>
        </a:p>
      </dsp:txBody>
      <dsp:txXfrm>
        <a:off x="0" y="1886186"/>
        <a:ext cx="10972800" cy="376795"/>
      </dsp:txXfrm>
    </dsp:sp>
    <dsp:sp modelId="{5BEDB4BB-5F0C-864B-AF6E-DBA3693BB167}">
      <dsp:nvSpPr>
        <dsp:cNvPr id="0" name=""/>
        <dsp:cNvSpPr/>
      </dsp:nvSpPr>
      <dsp:spPr>
        <a:xfrm>
          <a:off x="0" y="2262981"/>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EB1A79-EEE1-7E42-B892-E82CA01F5DF1}">
      <dsp:nvSpPr>
        <dsp:cNvPr id="0" name=""/>
        <dsp:cNvSpPr/>
      </dsp:nvSpPr>
      <dsp:spPr>
        <a:xfrm>
          <a:off x="0" y="2262981"/>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Living away from home</a:t>
          </a:r>
        </a:p>
      </dsp:txBody>
      <dsp:txXfrm>
        <a:off x="0" y="2262981"/>
        <a:ext cx="10972800" cy="376795"/>
      </dsp:txXfrm>
    </dsp:sp>
    <dsp:sp modelId="{4ECC0AA3-0A9A-134C-970A-88197EA085FF}">
      <dsp:nvSpPr>
        <dsp:cNvPr id="0" name=""/>
        <dsp:cNvSpPr/>
      </dsp:nvSpPr>
      <dsp:spPr>
        <a:xfrm>
          <a:off x="0" y="2639776"/>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E8A3CC-4D23-8A44-BCC2-F546F4C76FC4}">
      <dsp:nvSpPr>
        <dsp:cNvPr id="0" name=""/>
        <dsp:cNvSpPr/>
      </dsp:nvSpPr>
      <dsp:spPr>
        <a:xfrm>
          <a:off x="0" y="2639776"/>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Having adequate support for emotional and mental health needs</a:t>
          </a:r>
        </a:p>
      </dsp:txBody>
      <dsp:txXfrm>
        <a:off x="0" y="2639776"/>
        <a:ext cx="10972800" cy="376795"/>
      </dsp:txXfrm>
    </dsp:sp>
    <dsp:sp modelId="{803282ED-D805-BE4C-B9D2-295BC4EC0A20}">
      <dsp:nvSpPr>
        <dsp:cNvPr id="0" name=""/>
        <dsp:cNvSpPr/>
      </dsp:nvSpPr>
      <dsp:spPr>
        <a:xfrm>
          <a:off x="0" y="3016572"/>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F10E6E-134B-5D43-8587-D103629CDECF}">
      <dsp:nvSpPr>
        <dsp:cNvPr id="0" name=""/>
        <dsp:cNvSpPr/>
      </dsp:nvSpPr>
      <dsp:spPr>
        <a:xfrm>
          <a:off x="0" y="3016572"/>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gender</a:t>
          </a:r>
        </a:p>
      </dsp:txBody>
      <dsp:txXfrm>
        <a:off x="0" y="3016572"/>
        <a:ext cx="10972800" cy="376795"/>
      </dsp:txXfrm>
    </dsp:sp>
    <dsp:sp modelId="{5C8CBAC4-BFD9-8C40-A6BD-0E1EDA65393D}">
      <dsp:nvSpPr>
        <dsp:cNvPr id="0" name=""/>
        <dsp:cNvSpPr/>
      </dsp:nvSpPr>
      <dsp:spPr>
        <a:xfrm>
          <a:off x="0" y="3393367"/>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D4957D-A683-7D4C-8C33-174FEBB0DBD6}">
      <dsp:nvSpPr>
        <dsp:cNvPr id="0" name=""/>
        <dsp:cNvSpPr/>
      </dsp:nvSpPr>
      <dsp:spPr>
        <a:xfrm>
          <a:off x="0" y="3393367"/>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sexual orientation</a:t>
          </a:r>
        </a:p>
      </dsp:txBody>
      <dsp:txXfrm>
        <a:off x="0" y="3393367"/>
        <a:ext cx="10972800" cy="376795"/>
      </dsp:txXfrm>
    </dsp:sp>
    <dsp:sp modelId="{6C683F96-BE00-5944-A501-889938619C80}">
      <dsp:nvSpPr>
        <dsp:cNvPr id="0" name=""/>
        <dsp:cNvSpPr/>
      </dsp:nvSpPr>
      <dsp:spPr>
        <a:xfrm>
          <a:off x="0" y="3770162"/>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F5CBC3-C496-F84F-939C-9079DF0C097C}">
      <dsp:nvSpPr>
        <dsp:cNvPr id="0" name=""/>
        <dsp:cNvSpPr/>
      </dsp:nvSpPr>
      <dsp:spPr>
        <a:xfrm>
          <a:off x="0" y="3770162"/>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race</a:t>
          </a:r>
        </a:p>
      </dsp:txBody>
      <dsp:txXfrm>
        <a:off x="0" y="3770162"/>
        <a:ext cx="10972800" cy="376795"/>
      </dsp:txXfrm>
    </dsp:sp>
    <dsp:sp modelId="{2C02CC51-0276-7442-9ED6-A2CD861614BF}">
      <dsp:nvSpPr>
        <dsp:cNvPr id="0" name=""/>
        <dsp:cNvSpPr/>
      </dsp:nvSpPr>
      <dsp:spPr>
        <a:xfrm>
          <a:off x="0" y="4146957"/>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2C6CE-C51B-C146-A0ED-80682F02D0AD}">
      <dsp:nvSpPr>
        <dsp:cNvPr id="0" name=""/>
        <dsp:cNvSpPr/>
      </dsp:nvSpPr>
      <dsp:spPr>
        <a:xfrm>
          <a:off x="0" y="4146957"/>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religion</a:t>
          </a:r>
        </a:p>
      </dsp:txBody>
      <dsp:txXfrm>
        <a:off x="0" y="4146957"/>
        <a:ext cx="10972800" cy="3767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21517C-C9F1-034E-BB02-6C0780CAD5EC}">
      <dsp:nvSpPr>
        <dsp:cNvPr id="0" name=""/>
        <dsp:cNvSpPr/>
      </dsp:nvSpPr>
      <dsp:spPr>
        <a:xfrm>
          <a:off x="1339" y="695821"/>
          <a:ext cx="5223867" cy="31343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0" i="0" kern="1200">
              <a:latin typeface="Proxima Nova Rg" panose="02000506030000020004" pitchFamily="2" charset="0"/>
            </a:rPr>
            <a:t>What do you think is the biggest challenge you’ll face in college?</a:t>
          </a:r>
          <a:endParaRPr lang="en-US" sz="3200" kern="1200">
            <a:latin typeface="Proxima Nova Rg" panose="02000506030000020004" pitchFamily="2" charset="0"/>
          </a:endParaRPr>
        </a:p>
      </dsp:txBody>
      <dsp:txXfrm>
        <a:off x="1339" y="695821"/>
        <a:ext cx="5223867" cy="3134320"/>
      </dsp:txXfrm>
    </dsp:sp>
    <dsp:sp modelId="{79FDE313-EF96-1E49-9705-797547C667DC}">
      <dsp:nvSpPr>
        <dsp:cNvPr id="0" name=""/>
        <dsp:cNvSpPr/>
      </dsp:nvSpPr>
      <dsp:spPr>
        <a:xfrm>
          <a:off x="5747593" y="695821"/>
          <a:ext cx="5223867" cy="31343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0" i="0" kern="1200">
              <a:latin typeface="Proxima Nova Rg" panose="02000506030000020004" pitchFamily="2" charset="0"/>
            </a:rPr>
            <a:t>What are you most excited about in college?</a:t>
          </a:r>
          <a:endParaRPr lang="en-US" sz="3200" kern="1200">
            <a:latin typeface="Proxima Nova Rg" panose="02000506030000020004" pitchFamily="2" charset="0"/>
          </a:endParaRPr>
        </a:p>
      </dsp:txBody>
      <dsp:txXfrm>
        <a:off x="5747593" y="695821"/>
        <a:ext cx="5223867" cy="31343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8C3B6-44AE-6744-9428-274E9BBA3EA7}">
      <dsp:nvSpPr>
        <dsp:cNvPr id="0" name=""/>
        <dsp:cNvSpPr/>
      </dsp:nvSpPr>
      <dsp:spPr>
        <a:xfrm>
          <a:off x="0" y="7316"/>
          <a:ext cx="4559300" cy="823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Proxima Nova Rg" panose="02000506030000020004" pitchFamily="2" charset="0"/>
            </a:rPr>
            <a:t>This paper will be released as part of Getting Down to Facts III</a:t>
          </a:r>
          <a:endParaRPr lang="en-US" sz="2200" kern="1200" dirty="0">
            <a:latin typeface="Proxima Nova Rg" panose="02000506030000020004" pitchFamily="2" charset="0"/>
          </a:endParaRPr>
        </a:p>
      </dsp:txBody>
      <dsp:txXfrm>
        <a:off x="40209" y="47525"/>
        <a:ext cx="4478882" cy="7432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E9450-C091-3E46-A3CA-2EE730631203}">
      <dsp:nvSpPr>
        <dsp:cNvPr id="0" name=""/>
        <dsp:cNvSpPr/>
      </dsp:nvSpPr>
      <dsp:spPr>
        <a:xfrm>
          <a:off x="962397" y="980"/>
          <a:ext cx="2585144" cy="12925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b="0" i="0" kern="1200" dirty="0">
              <a:solidFill>
                <a:schemeClr val="bg1"/>
              </a:solidFill>
              <a:latin typeface="Proxima Nova Rg" panose="02000506030000020004" pitchFamily="2" charset="0"/>
            </a:rPr>
            <a:t>Gender Affirming Care &amp; outcomes</a:t>
          </a:r>
          <a:endParaRPr lang="en-US" sz="2900" kern="1200" dirty="0">
            <a:solidFill>
              <a:schemeClr val="bg1"/>
            </a:solidFill>
            <a:latin typeface="Proxima Nova Rg" panose="02000506030000020004" pitchFamily="2" charset="0"/>
          </a:endParaRPr>
        </a:p>
      </dsp:txBody>
      <dsp:txXfrm>
        <a:off x="1000255" y="38838"/>
        <a:ext cx="2509428" cy="1216856"/>
      </dsp:txXfrm>
    </dsp:sp>
    <dsp:sp modelId="{EF37C6AA-9578-4649-9F32-AB0BCE6460F2}">
      <dsp:nvSpPr>
        <dsp:cNvPr id="0" name=""/>
        <dsp:cNvSpPr/>
      </dsp:nvSpPr>
      <dsp:spPr>
        <a:xfrm>
          <a:off x="1220911" y="1293552"/>
          <a:ext cx="258514" cy="969429"/>
        </a:xfrm>
        <a:custGeom>
          <a:avLst/>
          <a:gdLst/>
          <a:ahLst/>
          <a:cxnLst/>
          <a:rect l="0" t="0" r="0" b="0"/>
          <a:pathLst>
            <a:path>
              <a:moveTo>
                <a:pt x="0" y="0"/>
              </a:moveTo>
              <a:lnTo>
                <a:pt x="0" y="969429"/>
              </a:lnTo>
              <a:lnTo>
                <a:pt x="258514" y="9694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C06EA2-4018-C443-9C77-5F9069FECF7D}">
      <dsp:nvSpPr>
        <dsp:cNvPr id="0" name=""/>
        <dsp:cNvSpPr/>
      </dsp:nvSpPr>
      <dsp:spPr>
        <a:xfrm>
          <a:off x="1479425" y="1616695"/>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Proxima Nova Rg" panose="02000506030000020004" pitchFamily="2" charset="0"/>
            </a:rPr>
            <a:t>Pre- vs. post-puberty medical transition and differential outcomes</a:t>
          </a:r>
          <a:endParaRPr lang="en-US" sz="1800" kern="1200" dirty="0">
            <a:solidFill>
              <a:schemeClr val="bg1"/>
            </a:solidFill>
            <a:latin typeface="Proxima Nova Rg" panose="02000506030000020004" pitchFamily="2" charset="0"/>
          </a:endParaRPr>
        </a:p>
      </dsp:txBody>
      <dsp:txXfrm>
        <a:off x="1517283" y="1654553"/>
        <a:ext cx="1992399" cy="1216856"/>
      </dsp:txXfrm>
    </dsp:sp>
    <dsp:sp modelId="{CE4398D7-D0C7-C141-A450-D92881FC7504}">
      <dsp:nvSpPr>
        <dsp:cNvPr id="0" name=""/>
        <dsp:cNvSpPr/>
      </dsp:nvSpPr>
      <dsp:spPr>
        <a:xfrm>
          <a:off x="1220911" y="1293552"/>
          <a:ext cx="258514" cy="2585144"/>
        </a:xfrm>
        <a:custGeom>
          <a:avLst/>
          <a:gdLst/>
          <a:ahLst/>
          <a:cxnLst/>
          <a:rect l="0" t="0" r="0" b="0"/>
          <a:pathLst>
            <a:path>
              <a:moveTo>
                <a:pt x="0" y="0"/>
              </a:moveTo>
              <a:lnTo>
                <a:pt x="0" y="2585144"/>
              </a:lnTo>
              <a:lnTo>
                <a:pt x="258514" y="25851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3B77CC-9BE9-2447-A5BD-4DCDE1D73903}">
      <dsp:nvSpPr>
        <dsp:cNvPr id="0" name=""/>
        <dsp:cNvSpPr/>
      </dsp:nvSpPr>
      <dsp:spPr>
        <a:xfrm>
          <a:off x="1479425" y="3232410"/>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Proxima Nova Rg" panose="02000506030000020004" pitchFamily="2" charset="0"/>
            </a:rPr>
            <a:t>Effects of gender affirming surgeries</a:t>
          </a:r>
          <a:endParaRPr lang="en-US" sz="1800" kern="1200" dirty="0">
            <a:solidFill>
              <a:schemeClr val="bg1"/>
            </a:solidFill>
            <a:latin typeface="Proxima Nova Rg" panose="02000506030000020004" pitchFamily="2" charset="0"/>
          </a:endParaRPr>
        </a:p>
      </dsp:txBody>
      <dsp:txXfrm>
        <a:off x="1517283" y="3270268"/>
        <a:ext cx="1992399" cy="1216856"/>
      </dsp:txXfrm>
    </dsp:sp>
    <dsp:sp modelId="{3D76608C-05F3-B445-8BE6-EA0C9E2F6F3B}">
      <dsp:nvSpPr>
        <dsp:cNvPr id="0" name=""/>
        <dsp:cNvSpPr/>
      </dsp:nvSpPr>
      <dsp:spPr>
        <a:xfrm>
          <a:off x="4193827" y="980"/>
          <a:ext cx="2585144" cy="12925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b="0" i="0" kern="1200" dirty="0">
              <a:solidFill>
                <a:schemeClr val="bg1"/>
              </a:solidFill>
              <a:latin typeface="Proxima Nova Rg" panose="02000506030000020004" pitchFamily="2" charset="0"/>
            </a:rPr>
            <a:t>Discrimination &amp; disparities</a:t>
          </a:r>
          <a:endParaRPr lang="en-US" sz="2900" kern="1200" dirty="0">
            <a:solidFill>
              <a:schemeClr val="bg1"/>
            </a:solidFill>
            <a:latin typeface="Proxima Nova Rg" panose="02000506030000020004" pitchFamily="2" charset="0"/>
          </a:endParaRPr>
        </a:p>
      </dsp:txBody>
      <dsp:txXfrm>
        <a:off x="4231685" y="38838"/>
        <a:ext cx="2509428" cy="1216856"/>
      </dsp:txXfrm>
    </dsp:sp>
    <dsp:sp modelId="{26F64506-B074-4547-A24A-C27BFB6BE074}">
      <dsp:nvSpPr>
        <dsp:cNvPr id="0" name=""/>
        <dsp:cNvSpPr/>
      </dsp:nvSpPr>
      <dsp:spPr>
        <a:xfrm>
          <a:off x="4452342" y="1293552"/>
          <a:ext cx="258514" cy="969429"/>
        </a:xfrm>
        <a:custGeom>
          <a:avLst/>
          <a:gdLst/>
          <a:ahLst/>
          <a:cxnLst/>
          <a:rect l="0" t="0" r="0" b="0"/>
          <a:pathLst>
            <a:path>
              <a:moveTo>
                <a:pt x="0" y="0"/>
              </a:moveTo>
              <a:lnTo>
                <a:pt x="0" y="969429"/>
              </a:lnTo>
              <a:lnTo>
                <a:pt x="258514" y="9694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7AFA9A-3A83-C245-9A64-86D48E7474A5}">
      <dsp:nvSpPr>
        <dsp:cNvPr id="0" name=""/>
        <dsp:cNvSpPr/>
      </dsp:nvSpPr>
      <dsp:spPr>
        <a:xfrm>
          <a:off x="4710856" y="1616695"/>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solidFill>
                <a:schemeClr val="bg1"/>
              </a:solidFill>
              <a:latin typeface="Proxima Nova Rg" panose="02000506030000020004" pitchFamily="2" charset="0"/>
            </a:rPr>
            <a:t>Sorting in college majors and occupations</a:t>
          </a:r>
          <a:endParaRPr lang="en-US" sz="1800" kern="1200">
            <a:solidFill>
              <a:schemeClr val="bg1"/>
            </a:solidFill>
            <a:latin typeface="Proxima Nova Rg" panose="02000506030000020004" pitchFamily="2" charset="0"/>
          </a:endParaRPr>
        </a:p>
      </dsp:txBody>
      <dsp:txXfrm>
        <a:off x="4748714" y="1654553"/>
        <a:ext cx="1992399" cy="1216856"/>
      </dsp:txXfrm>
    </dsp:sp>
    <dsp:sp modelId="{CE2784A6-2C9B-1A4D-A6A1-5FC0A2F37D81}">
      <dsp:nvSpPr>
        <dsp:cNvPr id="0" name=""/>
        <dsp:cNvSpPr/>
      </dsp:nvSpPr>
      <dsp:spPr>
        <a:xfrm>
          <a:off x="4452342" y="1293552"/>
          <a:ext cx="258514" cy="2585144"/>
        </a:xfrm>
        <a:custGeom>
          <a:avLst/>
          <a:gdLst/>
          <a:ahLst/>
          <a:cxnLst/>
          <a:rect l="0" t="0" r="0" b="0"/>
          <a:pathLst>
            <a:path>
              <a:moveTo>
                <a:pt x="0" y="0"/>
              </a:moveTo>
              <a:lnTo>
                <a:pt x="0" y="2585144"/>
              </a:lnTo>
              <a:lnTo>
                <a:pt x="258514" y="25851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DCFAD7-0DE0-1D4B-9677-106D5F0EC1A5}">
      <dsp:nvSpPr>
        <dsp:cNvPr id="0" name=""/>
        <dsp:cNvSpPr/>
      </dsp:nvSpPr>
      <dsp:spPr>
        <a:xfrm>
          <a:off x="4710856" y="3232410"/>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Proxima Nova Rg" panose="02000506030000020004" pitchFamily="2" charset="0"/>
            </a:rPr>
            <a:t>Effects of anticipated discrimination (lab experiment)</a:t>
          </a:r>
          <a:endParaRPr lang="en-US" sz="1800" kern="1200" dirty="0">
            <a:solidFill>
              <a:schemeClr val="bg1"/>
            </a:solidFill>
            <a:latin typeface="Proxima Nova Rg" panose="02000506030000020004" pitchFamily="2" charset="0"/>
          </a:endParaRPr>
        </a:p>
      </dsp:txBody>
      <dsp:txXfrm>
        <a:off x="4748714" y="3270268"/>
        <a:ext cx="1992399" cy="1216856"/>
      </dsp:txXfrm>
    </dsp:sp>
    <dsp:sp modelId="{CE1CD388-60DF-1B45-8E8F-520C7627123B}">
      <dsp:nvSpPr>
        <dsp:cNvPr id="0" name=""/>
        <dsp:cNvSpPr/>
      </dsp:nvSpPr>
      <dsp:spPr>
        <a:xfrm>
          <a:off x="7425258" y="980"/>
          <a:ext cx="2585144" cy="12925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bg1"/>
              </a:solidFill>
              <a:latin typeface="Proxima Nova Rg" panose="02000506030000020004" pitchFamily="2" charset="0"/>
            </a:rPr>
            <a:t>Social Context &amp; Stereotype Change</a:t>
          </a:r>
        </a:p>
      </dsp:txBody>
      <dsp:txXfrm>
        <a:off x="7463116" y="38838"/>
        <a:ext cx="2509428" cy="1216856"/>
      </dsp:txXfrm>
    </dsp:sp>
    <dsp:sp modelId="{01D94D23-5177-9243-B905-F3ACDB44ED11}">
      <dsp:nvSpPr>
        <dsp:cNvPr id="0" name=""/>
        <dsp:cNvSpPr/>
      </dsp:nvSpPr>
      <dsp:spPr>
        <a:xfrm>
          <a:off x="7683772" y="1293552"/>
          <a:ext cx="258514" cy="969429"/>
        </a:xfrm>
        <a:custGeom>
          <a:avLst/>
          <a:gdLst/>
          <a:ahLst/>
          <a:cxnLst/>
          <a:rect l="0" t="0" r="0" b="0"/>
          <a:pathLst>
            <a:path>
              <a:moveTo>
                <a:pt x="0" y="0"/>
              </a:moveTo>
              <a:lnTo>
                <a:pt x="0" y="969429"/>
              </a:lnTo>
              <a:lnTo>
                <a:pt x="258514" y="9694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F27D31-7868-3140-8DA0-1195E169BE16}">
      <dsp:nvSpPr>
        <dsp:cNvPr id="0" name=""/>
        <dsp:cNvSpPr/>
      </dsp:nvSpPr>
      <dsp:spPr>
        <a:xfrm>
          <a:off x="7942287" y="1616695"/>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Proxima Nova Rg" panose="02000506030000020004" pitchFamily="2" charset="0"/>
            </a:rPr>
            <a:t>Peer effects of LGBTQ+ students (contact hypothesis)</a:t>
          </a:r>
        </a:p>
      </dsp:txBody>
      <dsp:txXfrm>
        <a:off x="7980145" y="1654553"/>
        <a:ext cx="1992399" cy="1216856"/>
      </dsp:txXfrm>
    </dsp:sp>
    <dsp:sp modelId="{B179003F-F029-A044-88A6-AC210080D793}">
      <dsp:nvSpPr>
        <dsp:cNvPr id="0" name=""/>
        <dsp:cNvSpPr/>
      </dsp:nvSpPr>
      <dsp:spPr>
        <a:xfrm>
          <a:off x="7683772" y="1293552"/>
          <a:ext cx="258514" cy="2585144"/>
        </a:xfrm>
        <a:custGeom>
          <a:avLst/>
          <a:gdLst/>
          <a:ahLst/>
          <a:cxnLst/>
          <a:rect l="0" t="0" r="0" b="0"/>
          <a:pathLst>
            <a:path>
              <a:moveTo>
                <a:pt x="0" y="0"/>
              </a:moveTo>
              <a:lnTo>
                <a:pt x="0" y="2585144"/>
              </a:lnTo>
              <a:lnTo>
                <a:pt x="258514" y="25851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B3029E-C7E1-7B44-9A8E-EE67AE7FF89A}">
      <dsp:nvSpPr>
        <dsp:cNvPr id="0" name=""/>
        <dsp:cNvSpPr/>
      </dsp:nvSpPr>
      <dsp:spPr>
        <a:xfrm>
          <a:off x="7942287" y="3232410"/>
          <a:ext cx="2068115" cy="1292572"/>
        </a:xfrm>
        <a:prstGeom prst="roundRect">
          <a:avLst>
            <a:gd name="adj" fmla="val 10000"/>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Proxima Nova Rg" panose="02000506030000020004" pitchFamily="2" charset="0"/>
            </a:rPr>
            <a:t>Beliefs and social norms about anti-trans sentiments</a:t>
          </a:r>
        </a:p>
      </dsp:txBody>
      <dsp:txXfrm>
        <a:off x="7980145" y="3270268"/>
        <a:ext cx="1992399" cy="121685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113DE-B6F4-1A48-9C60-D488E39FA653}">
      <dsp:nvSpPr>
        <dsp:cNvPr id="0" name=""/>
        <dsp:cNvSpPr/>
      </dsp:nvSpPr>
      <dsp:spPr>
        <a:xfrm>
          <a:off x="0" y="36506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B4138D-FAB0-0D48-A619-ACD349CE1A6F}">
      <dsp:nvSpPr>
        <dsp:cNvPr id="0" name=""/>
        <dsp:cNvSpPr/>
      </dsp:nvSpPr>
      <dsp:spPr>
        <a:xfrm>
          <a:off x="548640" y="12890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How do you rate your high school academic performance </a:t>
          </a:r>
          <a:r>
            <a:rPr lang="en-US" sz="1200" kern="1200" dirty="0">
              <a:latin typeface="Proxima Nova Rg" panose="02000506030000020004" pitchFamily="2" charset="0"/>
            </a:rPr>
            <a:t>(</a:t>
          </a:r>
          <a:r>
            <a:rPr lang="en-US" sz="1200" i="1" kern="1200" dirty="0">
              <a:latin typeface="Proxima Nova" panose="02000506030000020004" pitchFamily="2" charset="0"/>
            </a:rPr>
            <a:t>Poor to Excellent,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571697" y="151958"/>
        <a:ext cx="7634846" cy="426206"/>
      </dsp:txXfrm>
    </dsp:sp>
    <dsp:sp modelId="{5279683A-B8E3-AF4D-8FF3-E8FCF84F16EA}">
      <dsp:nvSpPr>
        <dsp:cNvPr id="0" name=""/>
        <dsp:cNvSpPr/>
      </dsp:nvSpPr>
      <dsp:spPr>
        <a:xfrm>
          <a:off x="0" y="109082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D4D5D2-4371-5046-BA2A-E24D60AEF50A}">
      <dsp:nvSpPr>
        <dsp:cNvPr id="0" name=""/>
        <dsp:cNvSpPr/>
      </dsp:nvSpPr>
      <dsp:spPr>
        <a:xfrm>
          <a:off x="548640" y="85466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How do you rate your high school social experience </a:t>
          </a:r>
          <a:r>
            <a:rPr lang="en-US" sz="1200" kern="1200" dirty="0">
              <a:latin typeface="Proxima Nova Rg" panose="02000506030000020004" pitchFamily="2" charset="0"/>
            </a:rPr>
            <a:t>(</a:t>
          </a:r>
          <a:r>
            <a:rPr lang="en-US" sz="1200" i="1" kern="1200" dirty="0">
              <a:latin typeface="Proxima Nova" panose="02000506030000020004" pitchFamily="2" charset="0"/>
            </a:rPr>
            <a:t>Very Negative to Very Positive,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571697" y="877718"/>
        <a:ext cx="7634846" cy="426206"/>
      </dsp:txXfrm>
    </dsp:sp>
    <dsp:sp modelId="{9C86EA4F-9C3F-BC49-BC9D-E29BF199012E}">
      <dsp:nvSpPr>
        <dsp:cNvPr id="0" name=""/>
        <dsp:cNvSpPr/>
      </dsp:nvSpPr>
      <dsp:spPr>
        <a:xfrm>
          <a:off x="0" y="181658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7226F1-D7D8-C945-822E-D8AEF511495B}">
      <dsp:nvSpPr>
        <dsp:cNvPr id="0" name=""/>
        <dsp:cNvSpPr/>
      </dsp:nvSpPr>
      <dsp:spPr>
        <a:xfrm>
          <a:off x="548640" y="158042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belong in my high school community </a:t>
          </a:r>
          <a:r>
            <a:rPr lang="en-US" sz="1200" kern="1200" dirty="0">
              <a:latin typeface="Proxima Nova Rg" panose="02000506030000020004" pitchFamily="2" charset="0"/>
            </a:rPr>
            <a:t>(</a:t>
          </a:r>
          <a:r>
            <a:rPr lang="en-US" sz="1200" i="1" kern="1200" dirty="0">
              <a:latin typeface="Proxima Nova" panose="02000506030000020004" pitchFamily="2" charset="0"/>
            </a:rPr>
            <a:t>Strongly Disagree to Strongly Agree, 5 pt Likert</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571697" y="1603478"/>
        <a:ext cx="7634846" cy="426206"/>
      </dsp:txXfrm>
    </dsp:sp>
    <dsp:sp modelId="{481E7E34-7969-A742-BDC2-28AB72440EB0}">
      <dsp:nvSpPr>
        <dsp:cNvPr id="0" name=""/>
        <dsp:cNvSpPr/>
      </dsp:nvSpPr>
      <dsp:spPr>
        <a:xfrm>
          <a:off x="0" y="254234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10E5B5-CFDD-6B4F-A475-E272A9F3380C}">
      <dsp:nvSpPr>
        <dsp:cNvPr id="0" name=""/>
        <dsp:cNvSpPr/>
      </dsp:nvSpPr>
      <dsp:spPr>
        <a:xfrm>
          <a:off x="548640" y="230618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Teachers and staff at my high school care about my future </a:t>
          </a:r>
          <a:r>
            <a:rPr lang="en-US" sz="1200" kern="1200" dirty="0">
              <a:latin typeface="Proxima Nova Rg" panose="02000506030000020004" pitchFamily="2" charset="0"/>
            </a:rPr>
            <a:t>(</a:t>
          </a:r>
          <a:r>
            <a:rPr lang="en-US" sz="1200" i="1" kern="1200" dirty="0">
              <a:latin typeface="Proxima Nova" panose="02000506030000020004" pitchFamily="2" charset="0"/>
            </a:rPr>
            <a:t>same as above</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571697" y="2329238"/>
        <a:ext cx="7634846" cy="426206"/>
      </dsp:txXfrm>
    </dsp:sp>
    <dsp:sp modelId="{C41CF316-D20F-E340-AF81-83D484B23DA0}">
      <dsp:nvSpPr>
        <dsp:cNvPr id="0" name=""/>
        <dsp:cNvSpPr/>
      </dsp:nvSpPr>
      <dsp:spPr>
        <a:xfrm>
          <a:off x="0" y="326810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30FFF-8E86-0743-860B-88C58A8CC43D}">
      <dsp:nvSpPr>
        <dsp:cNvPr id="0" name=""/>
        <dsp:cNvSpPr/>
      </dsp:nvSpPr>
      <dsp:spPr>
        <a:xfrm>
          <a:off x="548640" y="303194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received good advising from high school about college </a:t>
          </a:r>
          <a:r>
            <a:rPr lang="en-US" sz="1200" kern="1200" dirty="0">
              <a:latin typeface="Proxima Nova Rg" panose="02000506030000020004" pitchFamily="2" charset="0"/>
            </a:rPr>
            <a:t>(</a:t>
          </a:r>
          <a:r>
            <a:rPr lang="en-US" sz="1200" i="1" kern="1200" dirty="0">
              <a:latin typeface="Proxima Nova" panose="02000506030000020004" pitchFamily="2" charset="0"/>
            </a:rPr>
            <a:t>same as above</a:t>
          </a:r>
          <a:r>
            <a:rPr lang="en-US" sz="1200" kern="1200" dirty="0">
              <a:latin typeface="Proxima Nova Rg" panose="02000506030000020004" pitchFamily="2" charset="0"/>
            </a:rPr>
            <a:t>)</a:t>
          </a:r>
          <a:endParaRPr lang="en-US" sz="1600" kern="1200" dirty="0">
            <a:latin typeface="Proxima Nova Rg" panose="02000506030000020004" pitchFamily="2" charset="0"/>
          </a:endParaRPr>
        </a:p>
      </dsp:txBody>
      <dsp:txXfrm>
        <a:off x="571697" y="3054998"/>
        <a:ext cx="7634846" cy="426206"/>
      </dsp:txXfrm>
    </dsp:sp>
    <dsp:sp modelId="{6FB62475-48CC-1644-9E9E-1DE182DC9882}">
      <dsp:nvSpPr>
        <dsp:cNvPr id="0" name=""/>
        <dsp:cNvSpPr/>
      </dsp:nvSpPr>
      <dsp:spPr>
        <a:xfrm>
          <a:off x="0" y="3993861"/>
          <a:ext cx="10972800" cy="4031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DDD348-2047-B14D-85C7-6C471D04BE47}">
      <dsp:nvSpPr>
        <dsp:cNvPr id="0" name=""/>
        <dsp:cNvSpPr/>
      </dsp:nvSpPr>
      <dsp:spPr>
        <a:xfrm>
          <a:off x="548640" y="3757701"/>
          <a:ext cx="768096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0322" tIns="0" rIns="290322" bIns="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Proxima Nova Rg" panose="02000506030000020004" pitchFamily="2" charset="0"/>
            </a:rPr>
            <a:t>I feel prepared for college</a:t>
          </a:r>
          <a:r>
            <a:rPr lang="en-US" sz="1600" i="1" kern="1200" dirty="0">
              <a:latin typeface="Proxima Nova" panose="02000506030000020004" pitchFamily="2" charset="0"/>
            </a:rPr>
            <a:t> </a:t>
          </a:r>
          <a:r>
            <a:rPr lang="en-US" sz="1200" i="1" kern="1200" dirty="0">
              <a:latin typeface="Proxima Nova" panose="02000506030000020004" pitchFamily="2" charset="0"/>
            </a:rPr>
            <a:t>(same as above)</a:t>
          </a:r>
          <a:endParaRPr lang="en-US" sz="1600" i="1" kern="1200" dirty="0">
            <a:latin typeface="Proxima Nova" panose="02000506030000020004" pitchFamily="2" charset="0"/>
          </a:endParaRPr>
        </a:p>
      </dsp:txBody>
      <dsp:txXfrm>
        <a:off x="571697" y="3780758"/>
        <a:ext cx="7634846" cy="4262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D8FFD-A73C-0D4C-AA2B-AB13C86D141A}">
      <dsp:nvSpPr>
        <dsp:cNvPr id="0" name=""/>
        <dsp:cNvSpPr/>
      </dsp:nvSpPr>
      <dsp:spPr>
        <a:xfrm>
          <a:off x="0" y="2209"/>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01E71D-577A-3F46-AB9D-A8532EA5A34E}">
      <dsp:nvSpPr>
        <dsp:cNvPr id="0" name=""/>
        <dsp:cNvSpPr/>
      </dsp:nvSpPr>
      <dsp:spPr>
        <a:xfrm>
          <a:off x="0" y="2209"/>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Affording tuition and fees</a:t>
          </a:r>
        </a:p>
      </dsp:txBody>
      <dsp:txXfrm>
        <a:off x="0" y="2209"/>
        <a:ext cx="10972800" cy="376795"/>
      </dsp:txXfrm>
    </dsp:sp>
    <dsp:sp modelId="{B048891E-C866-BF4A-8D9F-23A5408008BC}">
      <dsp:nvSpPr>
        <dsp:cNvPr id="0" name=""/>
        <dsp:cNvSpPr/>
      </dsp:nvSpPr>
      <dsp:spPr>
        <a:xfrm>
          <a:off x="0" y="379005"/>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CA5E9F-D3DD-5442-B239-7A97D8082FC0}">
      <dsp:nvSpPr>
        <dsp:cNvPr id="0" name=""/>
        <dsp:cNvSpPr/>
      </dsp:nvSpPr>
      <dsp:spPr>
        <a:xfrm>
          <a:off x="0" y="379005"/>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Living expenses</a:t>
          </a:r>
        </a:p>
      </dsp:txBody>
      <dsp:txXfrm>
        <a:off x="0" y="379005"/>
        <a:ext cx="10972800" cy="376795"/>
      </dsp:txXfrm>
    </dsp:sp>
    <dsp:sp modelId="{C287D766-18E2-AB4B-BBBA-F89118AD1944}">
      <dsp:nvSpPr>
        <dsp:cNvPr id="0" name=""/>
        <dsp:cNvSpPr/>
      </dsp:nvSpPr>
      <dsp:spPr>
        <a:xfrm>
          <a:off x="0" y="755800"/>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E79708-F8AA-B549-BB1A-18A0A5968AA7}">
      <dsp:nvSpPr>
        <dsp:cNvPr id="0" name=""/>
        <dsp:cNvSpPr/>
      </dsp:nvSpPr>
      <dsp:spPr>
        <a:xfrm>
          <a:off x="0" y="755800"/>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Performing well academically</a:t>
          </a:r>
        </a:p>
      </dsp:txBody>
      <dsp:txXfrm>
        <a:off x="0" y="755800"/>
        <a:ext cx="10972800" cy="376795"/>
      </dsp:txXfrm>
    </dsp:sp>
    <dsp:sp modelId="{282475C8-5BB9-2943-BA3C-DBEF7A5E2E75}">
      <dsp:nvSpPr>
        <dsp:cNvPr id="0" name=""/>
        <dsp:cNvSpPr/>
      </dsp:nvSpPr>
      <dsp:spPr>
        <a:xfrm>
          <a:off x="0" y="1132595"/>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2E0EE8-53AF-DA45-949F-8146ACBBEB10}">
      <dsp:nvSpPr>
        <dsp:cNvPr id="0" name=""/>
        <dsp:cNvSpPr/>
      </dsp:nvSpPr>
      <dsp:spPr>
        <a:xfrm>
          <a:off x="0" y="1132595"/>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Balancing work obligations</a:t>
          </a:r>
        </a:p>
      </dsp:txBody>
      <dsp:txXfrm>
        <a:off x="0" y="1132595"/>
        <a:ext cx="10972800" cy="376795"/>
      </dsp:txXfrm>
    </dsp:sp>
    <dsp:sp modelId="{7BAD1CEF-73D4-224C-8C48-38C8CA25E1EC}">
      <dsp:nvSpPr>
        <dsp:cNvPr id="0" name=""/>
        <dsp:cNvSpPr/>
      </dsp:nvSpPr>
      <dsp:spPr>
        <a:xfrm>
          <a:off x="0" y="1509390"/>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21A7F7-0ED4-8748-800E-F8EA08669064}">
      <dsp:nvSpPr>
        <dsp:cNvPr id="0" name=""/>
        <dsp:cNvSpPr/>
      </dsp:nvSpPr>
      <dsp:spPr>
        <a:xfrm>
          <a:off x="0" y="1509390"/>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Balancing family obligations</a:t>
          </a:r>
        </a:p>
      </dsp:txBody>
      <dsp:txXfrm>
        <a:off x="0" y="1509390"/>
        <a:ext cx="10972800" cy="376795"/>
      </dsp:txXfrm>
    </dsp:sp>
    <dsp:sp modelId="{1D110869-C564-714A-8B69-79DA77CDA13D}">
      <dsp:nvSpPr>
        <dsp:cNvPr id="0" name=""/>
        <dsp:cNvSpPr/>
      </dsp:nvSpPr>
      <dsp:spPr>
        <a:xfrm>
          <a:off x="0" y="1886186"/>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D44E07-E090-FB42-A660-4C1EC5FD43D2}">
      <dsp:nvSpPr>
        <dsp:cNvPr id="0" name=""/>
        <dsp:cNvSpPr/>
      </dsp:nvSpPr>
      <dsp:spPr>
        <a:xfrm>
          <a:off x="0" y="1886186"/>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Finding community</a:t>
          </a:r>
        </a:p>
      </dsp:txBody>
      <dsp:txXfrm>
        <a:off x="0" y="1886186"/>
        <a:ext cx="10972800" cy="376795"/>
      </dsp:txXfrm>
    </dsp:sp>
    <dsp:sp modelId="{5BEDB4BB-5F0C-864B-AF6E-DBA3693BB167}">
      <dsp:nvSpPr>
        <dsp:cNvPr id="0" name=""/>
        <dsp:cNvSpPr/>
      </dsp:nvSpPr>
      <dsp:spPr>
        <a:xfrm>
          <a:off x="0" y="2262981"/>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EB1A79-EEE1-7E42-B892-E82CA01F5DF1}">
      <dsp:nvSpPr>
        <dsp:cNvPr id="0" name=""/>
        <dsp:cNvSpPr/>
      </dsp:nvSpPr>
      <dsp:spPr>
        <a:xfrm>
          <a:off x="0" y="2262981"/>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Living away from home</a:t>
          </a:r>
        </a:p>
      </dsp:txBody>
      <dsp:txXfrm>
        <a:off x="0" y="2262981"/>
        <a:ext cx="10972800" cy="376795"/>
      </dsp:txXfrm>
    </dsp:sp>
    <dsp:sp modelId="{4ECC0AA3-0A9A-134C-970A-88197EA085FF}">
      <dsp:nvSpPr>
        <dsp:cNvPr id="0" name=""/>
        <dsp:cNvSpPr/>
      </dsp:nvSpPr>
      <dsp:spPr>
        <a:xfrm>
          <a:off x="0" y="2639776"/>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E8A3CC-4D23-8A44-BCC2-F546F4C76FC4}">
      <dsp:nvSpPr>
        <dsp:cNvPr id="0" name=""/>
        <dsp:cNvSpPr/>
      </dsp:nvSpPr>
      <dsp:spPr>
        <a:xfrm>
          <a:off x="0" y="2639776"/>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Having adequate support for emotional and mental health needs</a:t>
          </a:r>
        </a:p>
      </dsp:txBody>
      <dsp:txXfrm>
        <a:off x="0" y="2639776"/>
        <a:ext cx="10972800" cy="376795"/>
      </dsp:txXfrm>
    </dsp:sp>
    <dsp:sp modelId="{803282ED-D805-BE4C-B9D2-295BC4EC0A20}">
      <dsp:nvSpPr>
        <dsp:cNvPr id="0" name=""/>
        <dsp:cNvSpPr/>
      </dsp:nvSpPr>
      <dsp:spPr>
        <a:xfrm>
          <a:off x="0" y="3016572"/>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F10E6E-134B-5D43-8587-D103629CDECF}">
      <dsp:nvSpPr>
        <dsp:cNvPr id="0" name=""/>
        <dsp:cNvSpPr/>
      </dsp:nvSpPr>
      <dsp:spPr>
        <a:xfrm>
          <a:off x="0" y="3016572"/>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gender</a:t>
          </a:r>
        </a:p>
      </dsp:txBody>
      <dsp:txXfrm>
        <a:off x="0" y="3016572"/>
        <a:ext cx="10972800" cy="376795"/>
      </dsp:txXfrm>
    </dsp:sp>
    <dsp:sp modelId="{5C8CBAC4-BFD9-8C40-A6BD-0E1EDA65393D}">
      <dsp:nvSpPr>
        <dsp:cNvPr id="0" name=""/>
        <dsp:cNvSpPr/>
      </dsp:nvSpPr>
      <dsp:spPr>
        <a:xfrm>
          <a:off x="0" y="3393367"/>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D4957D-A683-7D4C-8C33-174FEBB0DBD6}">
      <dsp:nvSpPr>
        <dsp:cNvPr id="0" name=""/>
        <dsp:cNvSpPr/>
      </dsp:nvSpPr>
      <dsp:spPr>
        <a:xfrm>
          <a:off x="0" y="3393367"/>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sexual orientation</a:t>
          </a:r>
        </a:p>
      </dsp:txBody>
      <dsp:txXfrm>
        <a:off x="0" y="3393367"/>
        <a:ext cx="10972800" cy="376795"/>
      </dsp:txXfrm>
    </dsp:sp>
    <dsp:sp modelId="{6C683F96-BE00-5944-A501-889938619C80}">
      <dsp:nvSpPr>
        <dsp:cNvPr id="0" name=""/>
        <dsp:cNvSpPr/>
      </dsp:nvSpPr>
      <dsp:spPr>
        <a:xfrm>
          <a:off x="0" y="3770162"/>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F5CBC3-C496-F84F-939C-9079DF0C097C}">
      <dsp:nvSpPr>
        <dsp:cNvPr id="0" name=""/>
        <dsp:cNvSpPr/>
      </dsp:nvSpPr>
      <dsp:spPr>
        <a:xfrm>
          <a:off x="0" y="3770162"/>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race</a:t>
          </a:r>
        </a:p>
      </dsp:txBody>
      <dsp:txXfrm>
        <a:off x="0" y="3770162"/>
        <a:ext cx="10972800" cy="376795"/>
      </dsp:txXfrm>
    </dsp:sp>
    <dsp:sp modelId="{2C02CC51-0276-7442-9ED6-A2CD861614BF}">
      <dsp:nvSpPr>
        <dsp:cNvPr id="0" name=""/>
        <dsp:cNvSpPr/>
      </dsp:nvSpPr>
      <dsp:spPr>
        <a:xfrm>
          <a:off x="0" y="4146957"/>
          <a:ext cx="10972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A2C6CE-C51B-C146-A0ED-80682F02D0AD}">
      <dsp:nvSpPr>
        <dsp:cNvPr id="0" name=""/>
        <dsp:cNvSpPr/>
      </dsp:nvSpPr>
      <dsp:spPr>
        <a:xfrm>
          <a:off x="0" y="4146957"/>
          <a:ext cx="10972800" cy="37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Proxima Nova Rg" panose="02000506030000020004" pitchFamily="2" charset="0"/>
            </a:rPr>
            <a:t>Discrimination based on religion</a:t>
          </a:r>
        </a:p>
      </dsp:txBody>
      <dsp:txXfrm>
        <a:off x="0" y="4146957"/>
        <a:ext cx="10972800" cy="37679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Proxima Nova Rg" panose="02000506030000020004" pitchFamily="2"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Proxima Nova Rg" panose="02000506030000020004" pitchFamily="2" charset="0"/>
              </a:defRPr>
            </a:lvl1pPr>
          </a:lstStyle>
          <a:p>
            <a:fld id="{9EC40DAF-C9C3-4514-874B-4535726919A4}" type="datetimeFigureOut">
              <a:rPr lang="en-US" smtClean="0"/>
              <a:pPr/>
              <a:t>1/3/26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Proxima Nova Rg" panose="0200050603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Proxima Nova Rg" panose="02000506030000020004" pitchFamily="2" charset="0"/>
              </a:defRPr>
            </a:lvl1pPr>
          </a:lstStyle>
          <a:p>
            <a:fld id="{68A90B27-3B5B-443C-A326-6050820812EE}" type="slidenum">
              <a:rPr lang="en-US" smtClean="0"/>
              <a:pPr/>
              <a:t>‹#›</a:t>
            </a:fld>
            <a:endParaRPr lang="en-US" dirty="0"/>
          </a:p>
        </p:txBody>
      </p:sp>
    </p:spTree>
    <p:extLst>
      <p:ext uri="{BB962C8B-B14F-4D97-AF65-F5344CB8AC3E}">
        <p14:creationId xmlns:p14="http://schemas.microsoft.com/office/powerpoint/2010/main" val="223807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Proxima Nova Rg" panose="02000506030000020004"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68A90B27-3B5B-443C-A326-6050820812E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F66B8-D090-4B18-49A0-98AA3173E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9E3BD-C82D-78B1-7D68-DF324FE69A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AAB9D4A-525C-5F33-B2EB-57B41F7C4617}"/>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5DC475CA-9D2C-75F4-F743-55538BE210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52839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a:t>
            </a:fld>
            <a:endParaRPr lang="en-US"/>
          </a:p>
        </p:txBody>
      </p:sp>
    </p:spTree>
    <p:extLst>
      <p:ext uri="{BB962C8B-B14F-4D97-AF65-F5344CB8AC3E}">
        <p14:creationId xmlns:p14="http://schemas.microsoft.com/office/powerpoint/2010/main" val="2489769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r>
              <a:rPr lang="en-US" sz="1800" dirty="0"/>
              <a:t>Research tends to consider the LGBTQ+ community as whole rather than examine subgroup differences based on sexual orientation or gender identity</a:t>
            </a:r>
          </a:p>
          <a:p>
            <a:pPr lvl="2">
              <a:buFont typeface="Courier New"/>
              <a:buChar char="o"/>
            </a:pPr>
            <a:r>
              <a:rPr lang="en-US" sz="1800" dirty="0"/>
              <a:t>From Feldman (2022): “This practice creates the problematic ideology that supporting gay and lesbian students looks the same as supporting transgender students. In addition, this practice assumes that various sexual minority groups face the same difficulties and have the same needs.”</a:t>
            </a:r>
          </a:p>
          <a:p>
            <a:pPr lvl="1">
              <a:buFont typeface="Courier New"/>
              <a:buChar char="o"/>
            </a:pPr>
            <a:r>
              <a:rPr lang="en-US" sz="1800" dirty="0"/>
              <a:t>The transgender and non-binary experience has been overlooked in education research (</a:t>
            </a:r>
            <a:r>
              <a:rPr lang="en-US" sz="1800" dirty="0" err="1"/>
              <a:t>Glavinic</a:t>
            </a:r>
            <a:r>
              <a:rPr lang="en-US" sz="1800" dirty="0"/>
              <a:t>, 2010; Goldberg &amp; </a:t>
            </a:r>
            <a:r>
              <a:rPr lang="en-US" sz="1800" dirty="0" err="1"/>
              <a:t>Kuvalanka</a:t>
            </a:r>
            <a:r>
              <a:rPr lang="en-US" sz="1800" dirty="0"/>
              <a:t>, 2018; Marine, 2017). </a:t>
            </a:r>
          </a:p>
        </p:txBody>
      </p:sp>
      <p:sp>
        <p:nvSpPr>
          <p:cNvPr id="4" name="Slide Number Placeholder 3"/>
          <p:cNvSpPr>
            <a:spLocks noGrp="1"/>
          </p:cNvSpPr>
          <p:nvPr>
            <p:ph type="sldNum" sz="quarter" idx="5"/>
          </p:nvPr>
        </p:nvSpPr>
        <p:spPr/>
        <p:txBody>
          <a:bodyPr/>
          <a:lstStyle/>
          <a:p>
            <a:fld id="{68A90B27-3B5B-443C-A326-6050820812EE}" type="slidenum">
              <a:rPr lang="en-US" smtClean="0"/>
              <a:pPr/>
              <a:t>4</a:t>
            </a:fld>
            <a:endParaRPr lang="en-US"/>
          </a:p>
        </p:txBody>
      </p:sp>
    </p:spTree>
    <p:extLst>
      <p:ext uri="{BB962C8B-B14F-4D97-AF65-F5344CB8AC3E}">
        <p14:creationId xmlns:p14="http://schemas.microsoft.com/office/powerpoint/2010/main" val="2334163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182CD-DA30-855A-51F1-469317021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EE76C-0EB2-4FA3-7DB4-174CA43E4AC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FF33BD-B1F1-CFA4-0DAD-1FBF5D403858}"/>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A8FFF58C-B211-FD85-96D3-0D2BFED242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42559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representation of how respondents identify</a:t>
            </a:r>
          </a:p>
        </p:txBody>
      </p:sp>
      <p:sp>
        <p:nvSpPr>
          <p:cNvPr id="4" name="Slide Number Placeholder 3"/>
          <p:cNvSpPr>
            <a:spLocks noGrp="1"/>
          </p:cNvSpPr>
          <p:nvPr>
            <p:ph type="sldNum" sz="quarter" idx="5"/>
          </p:nvPr>
        </p:nvSpPr>
        <p:spPr/>
        <p:txBody>
          <a:bodyPr/>
          <a:lstStyle/>
          <a:p>
            <a:fld id="{68A90B27-3B5B-443C-A326-6050820812EE}" type="slidenum">
              <a:rPr lang="en-US" smtClean="0"/>
              <a:pPr/>
              <a:t>12</a:t>
            </a:fld>
            <a:endParaRPr lang="en-US"/>
          </a:p>
        </p:txBody>
      </p:sp>
    </p:spTree>
    <p:extLst>
      <p:ext uri="{BB962C8B-B14F-4D97-AF65-F5344CB8AC3E}">
        <p14:creationId xmlns:p14="http://schemas.microsoft.com/office/powerpoint/2010/main" val="3042881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13</a:t>
            </a:fld>
            <a:endParaRPr lang="en-US"/>
          </a:p>
        </p:txBody>
      </p:sp>
    </p:spTree>
    <p:extLst>
      <p:ext uri="{BB962C8B-B14F-4D97-AF65-F5344CB8AC3E}">
        <p14:creationId xmlns:p14="http://schemas.microsoft.com/office/powerpoint/2010/main" val="5174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16</a:t>
            </a:fld>
            <a:endParaRPr lang="en-US" dirty="0"/>
          </a:p>
        </p:txBody>
      </p:sp>
    </p:spTree>
    <p:extLst>
      <p:ext uri="{BB962C8B-B14F-4D97-AF65-F5344CB8AC3E}">
        <p14:creationId xmlns:p14="http://schemas.microsoft.com/office/powerpoint/2010/main" val="1372204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667958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86244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27</a:t>
            </a:fld>
            <a:endParaRPr lang="en-US"/>
          </a:p>
        </p:txBody>
      </p:sp>
    </p:spTree>
    <p:extLst>
      <p:ext uri="{BB962C8B-B14F-4D97-AF65-F5344CB8AC3E}">
        <p14:creationId xmlns:p14="http://schemas.microsoft.com/office/powerpoint/2010/main" val="3277766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C743164-120C-744D-80E9-F21388A20B80}" type="slidenum">
              <a:rPr lang="en-US" smtClean="0"/>
              <a:pPr>
                <a:defRPr/>
              </a:pPr>
              <a:t>28</a:t>
            </a:fld>
            <a:endParaRPr lang="en-US"/>
          </a:p>
        </p:txBody>
      </p:sp>
    </p:spTree>
    <p:extLst>
      <p:ext uri="{BB962C8B-B14F-4D97-AF65-F5344CB8AC3E}">
        <p14:creationId xmlns:p14="http://schemas.microsoft.com/office/powerpoint/2010/main" val="3138081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FCBAD-4200-737A-6C0D-054862C31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7378E-2529-C193-BACE-76B6FC2D7C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2B82D0-B331-9298-310D-3DF1DEAF10DC}"/>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8678CA1E-154B-BCE0-2DA9-7A85CBB9B3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Proxima Nova Rg" panose="0200050603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Proxima Nova Rg" panose="02000506030000020004" pitchFamily="2" charset="0"/>
              <a:ea typeface="+mn-ea"/>
              <a:cs typeface="+mn-cs"/>
            </a:endParaRPr>
          </a:p>
        </p:txBody>
      </p:sp>
    </p:spTree>
    <p:extLst>
      <p:ext uri="{BB962C8B-B14F-4D97-AF65-F5344CB8AC3E}">
        <p14:creationId xmlns:p14="http://schemas.microsoft.com/office/powerpoint/2010/main" val="2931871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698541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A356A-7A23-C95F-14C3-C332D2087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A81E1-7B1A-FCEB-181C-4440C12D53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C467D1-C72E-836A-D150-4459946488A6}"/>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CA97D725-21A5-B9A7-665C-F51A4844B2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Proxima Nova Rg" panose="0200050603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Proxima Nova Rg" panose="02000506030000020004" pitchFamily="2" charset="0"/>
              <a:ea typeface="+mn-ea"/>
              <a:cs typeface="+mn-cs"/>
            </a:endParaRPr>
          </a:p>
        </p:txBody>
      </p:sp>
    </p:spTree>
    <p:extLst>
      <p:ext uri="{BB962C8B-B14F-4D97-AF65-F5344CB8AC3E}">
        <p14:creationId xmlns:p14="http://schemas.microsoft.com/office/powerpoint/2010/main" val="743033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36</a:t>
            </a:fld>
            <a:endParaRPr lang="en-US" dirty="0"/>
          </a:p>
        </p:txBody>
      </p:sp>
    </p:spTree>
    <p:extLst>
      <p:ext uri="{BB962C8B-B14F-4D97-AF65-F5344CB8AC3E}">
        <p14:creationId xmlns:p14="http://schemas.microsoft.com/office/powerpoint/2010/main" val="1341688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6E99-5B34-3C9D-2D73-D15C12C7F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823B0-1EE8-1BD5-AADB-6377F43498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C81D44C-21D4-2BC5-27AF-17C9639FFC9A}"/>
              </a:ext>
            </a:extLst>
          </p:cNvPr>
          <p:cNvSpPr>
            <a:spLocks noGrp="1"/>
          </p:cNvSpPr>
          <p:nvPr>
            <p:ph type="body" idx="1"/>
          </p:nvPr>
        </p:nvSpPr>
        <p:spPr/>
        <p:txBody>
          <a:bodyPr/>
          <a:lstStyle/>
          <a:p>
            <a:pPr lvl="1">
              <a:buFont typeface="Courier New"/>
              <a:buChar char="o"/>
            </a:pPr>
            <a:endParaRPr lang="en-US" sz="1800" dirty="0"/>
          </a:p>
        </p:txBody>
      </p:sp>
      <p:sp>
        <p:nvSpPr>
          <p:cNvPr id="4" name="Slide Number Placeholder 3">
            <a:extLst>
              <a:ext uri="{FF2B5EF4-FFF2-40B4-BE49-F238E27FC236}">
                <a16:creationId xmlns:a16="http://schemas.microsoft.com/office/drawing/2014/main" id="{AD62179D-4EF5-CC76-EFB3-56F6596A4E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Proxima Nova Rg" panose="0200050603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Proxima Nova Rg" panose="02000506030000020004" pitchFamily="2" charset="0"/>
              <a:ea typeface="+mn-ea"/>
              <a:cs typeface="+mn-cs"/>
            </a:endParaRPr>
          </a:p>
        </p:txBody>
      </p:sp>
    </p:spTree>
    <p:extLst>
      <p:ext uri="{BB962C8B-B14F-4D97-AF65-F5344CB8AC3E}">
        <p14:creationId xmlns:p14="http://schemas.microsoft.com/office/powerpoint/2010/main" val="3863277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0"/>
            <a:ext cx="12192000" cy="55626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Proxima Nova Rg" panose="02000506030000020004" pitchFamily="2" charset="0"/>
            </a:endParaRPr>
          </a:p>
        </p:txBody>
      </p:sp>
      <p:cxnSp>
        <p:nvCxnSpPr>
          <p:cNvPr id="8" name="Straight Connector 7"/>
          <p:cNvCxnSpPr>
            <a:cxnSpLocks/>
          </p:cNvCxnSpPr>
          <p:nvPr userDrawn="1"/>
        </p:nvCxnSpPr>
        <p:spPr>
          <a:xfrm>
            <a:off x="-50800" y="5562600"/>
            <a:ext cx="12293600"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381000"/>
            <a:ext cx="10363200" cy="3352799"/>
          </a:xfrm>
        </p:spPr>
        <p:txBody>
          <a:bodyPr/>
          <a:lstStyle>
            <a:lvl1pPr>
              <a:defRPr b="0" i="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3759200" y="5638800"/>
            <a:ext cx="4775200" cy="685800"/>
          </a:xfrm>
        </p:spPr>
        <p:txBody>
          <a:bodyPr>
            <a:noAutofit/>
          </a:bodyPr>
          <a:lstStyle>
            <a:lvl1pPr marL="0" indent="0" algn="ctr">
              <a:buNone/>
              <a:defRPr sz="2400" b="0" i="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b="0" i="0">
                <a:latin typeface="Proxima Nova Rg" panose="02000506030000020004" pitchFamily="2" charset="0"/>
                <a:cs typeface="Calibri" panose="020F0502020204030204" pitchFamily="34" charset="0"/>
              </a:defRPr>
            </a:lvl1pPr>
          </a:lstStyle>
          <a:p>
            <a:endParaRPr lang="en-US" dirty="0"/>
          </a:p>
        </p:txBody>
      </p:sp>
      <p:sp>
        <p:nvSpPr>
          <p:cNvPr id="5" name="Footer Placeholder 4"/>
          <p:cNvSpPr>
            <a:spLocks noGrp="1"/>
          </p:cNvSpPr>
          <p:nvPr>
            <p:ph type="ftr" sz="quarter" idx="11"/>
          </p:nvPr>
        </p:nvSpPr>
        <p:spPr/>
        <p:txBody>
          <a:bodyPr/>
          <a:lstStyle>
            <a:lvl1pPr>
              <a:defRPr b="0" i="0">
                <a:latin typeface="Proxima Nova Rg" panose="02000506030000020004" pitchFamily="2"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a:xfrm>
            <a:off x="9144000" y="6400801"/>
            <a:ext cx="2844800" cy="365125"/>
          </a:xfrm>
        </p:spPr>
        <p:txBody>
          <a:bodyPr/>
          <a:lstStyle>
            <a:lvl1pPr>
              <a:defRPr b="0" i="0">
                <a:latin typeface="Proxima Nova Rg" panose="02000506030000020004" pitchFamily="2" charset="0"/>
                <a:cs typeface="Calibri" panose="020F0502020204030204" pitchFamily="34" charset="0"/>
              </a:defRPr>
            </a:lvl1pPr>
          </a:lstStyle>
          <a:p>
            <a:fld id="{02147839-81A2-46CC-A3B2-864012D7A0C6}"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23675" y="0"/>
            <a:ext cx="12252960" cy="12954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Proxima Nova Rg" panose="02000506030000020004" pitchFamily="2" charset="0"/>
            </a:endParaRPr>
          </a:p>
        </p:txBody>
      </p:sp>
      <p:sp>
        <p:nvSpPr>
          <p:cNvPr id="2" name="Title 1"/>
          <p:cNvSpPr>
            <a:spLocks noGrp="1"/>
          </p:cNvSpPr>
          <p:nvPr>
            <p:ph type="title"/>
          </p:nvPr>
        </p:nvSpPr>
        <p:spPr>
          <a:xfrm>
            <a:off x="609600" y="76200"/>
            <a:ext cx="10972800" cy="1143000"/>
          </a:xfrm>
        </p:spPr>
        <p:txBody>
          <a:bodyPr>
            <a:normAutofit/>
          </a:bodyPr>
          <a:lstStyle>
            <a:lvl1pPr>
              <a:defRPr sz="4000" b="0" i="0">
                <a:solidFill>
                  <a:schemeClr val="bg1"/>
                </a:solidFill>
                <a:latin typeface="Proxima Nova Rg" panose="02000506030000020004"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b="0" i="0">
                <a:latin typeface="Proxima Nova Rg" panose="02000506030000020004" pitchFamily="2" charset="0"/>
                <a:cs typeface="Calibri" panose="020F0502020204030204" pitchFamily="34" charset="0"/>
              </a:defRPr>
            </a:lvl1pPr>
            <a:lvl2pPr>
              <a:defRPr b="0" i="0">
                <a:latin typeface="Proxima Nova Rg" panose="02000506030000020004" pitchFamily="2" charset="0"/>
                <a:cs typeface="Calibri" panose="020F0502020204030204" pitchFamily="34" charset="0"/>
              </a:defRPr>
            </a:lvl2pPr>
            <a:lvl3pPr>
              <a:defRPr b="0" i="0">
                <a:latin typeface="Proxima Nova Rg" panose="02000506030000020004" pitchFamily="2" charset="0"/>
                <a:cs typeface="Calibri" panose="020F0502020204030204" pitchFamily="34" charset="0"/>
              </a:defRPr>
            </a:lvl3pPr>
            <a:lvl4pPr>
              <a:defRPr b="0" i="0">
                <a:latin typeface="Proxima Nova Rg" panose="02000506030000020004" pitchFamily="2" charset="0"/>
                <a:cs typeface="Calibri" panose="020F0502020204030204" pitchFamily="34" charset="0"/>
              </a:defRPr>
            </a:lvl4pPr>
            <a:lvl5pPr>
              <a:defRPr b="0" i="0">
                <a:latin typeface="Proxima Nova Rg" panose="02000506030000020004" pitchFamily="2"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1660253" y="-1"/>
            <a:ext cx="569033" cy="316833"/>
          </a:xfrm>
        </p:spPr>
        <p:txBody>
          <a:bodyPr anchor="ctr"/>
          <a:lstStyle>
            <a:lvl1pPr>
              <a:defRPr sz="1600" b="0" i="0">
                <a:solidFill>
                  <a:schemeClr val="bg1"/>
                </a:solidFill>
                <a:latin typeface="Proxima Nova Rg" panose="02000506030000020004" pitchFamily="2" charset="0"/>
                <a:cs typeface="Calibri" panose="020F0502020204030204" pitchFamily="34" charset="0"/>
              </a:defRPr>
            </a:lvl1pPr>
          </a:lstStyle>
          <a:p>
            <a:fld id="{80DD8C35-F8B3-4049-95AF-A34E38FBBA50}" type="slidenum">
              <a:rPr lang="en-US" smtClean="0"/>
              <a:pPr/>
              <a:t>‹#›</a:t>
            </a:fld>
            <a:endParaRPr lang="en-US" dirty="0"/>
          </a:p>
        </p:txBody>
      </p:sp>
      <p:cxnSp>
        <p:nvCxnSpPr>
          <p:cNvPr id="9" name="Straight Connector 8"/>
          <p:cNvCxnSpPr>
            <a:cxnSpLocks/>
          </p:cNvCxnSpPr>
          <p:nvPr userDrawn="1"/>
        </p:nvCxnSpPr>
        <p:spPr>
          <a:xfrm>
            <a:off x="-69443" y="1295400"/>
            <a:ext cx="12330885"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0" i="0"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b="0"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0" i="0"/>
            </a:lvl1pPr>
          </a:lstStyle>
          <a:p>
            <a:r>
              <a:rPr lang="en-US" dirty="0"/>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b="0" i="0"/>
            </a:lvl1pPr>
            <a:lvl2pPr>
              <a:defRPr sz="2800" b="0" i="0"/>
            </a:lvl2pPr>
            <a:lvl3pPr>
              <a:defRPr sz="2400" b="0" i="0"/>
            </a:lvl3pPr>
            <a:lvl4pPr>
              <a:defRPr sz="2000" b="0" i="0"/>
            </a:lvl4pPr>
            <a:lvl5pPr>
              <a:defRPr sz="2000" b="0" i="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0" i="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b="0" i="0"/>
            </a:lvl1pPr>
            <a:lvl2pPr>
              <a:defRPr b="0" i="0"/>
            </a:lvl2pPr>
            <a:lvl3pPr>
              <a:defRPr b="0" i="0"/>
            </a:lvl3pPr>
            <a:lvl4pPr>
              <a:defRPr b="0" i="0"/>
            </a:lvl4pPr>
            <a:lvl5pPr>
              <a:defRPr b="0" i="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lvl1pPr>
              <a:defRPr b="0" i="0"/>
            </a:lvl1pPr>
          </a:lstStyle>
          <a:p>
            <a:r>
              <a:rPr lang="en-US" dirty="0"/>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b="0" i="0"/>
            </a:lvl1pPr>
            <a:lvl2pPr>
              <a:defRPr b="0" i="0"/>
            </a:lvl2pPr>
            <a:lvl3pPr>
              <a:defRPr b="0" i="0"/>
            </a:lvl3pPr>
            <a:lvl4pPr>
              <a:defRPr b="0" i="0"/>
            </a:lvl4pPr>
            <a:lvl5pPr>
              <a:defRPr b="0" i="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b="0" i="0">
                <a:solidFill>
                  <a:schemeClr val="tx1">
                    <a:tint val="75000"/>
                  </a:schemeClr>
                </a:solidFill>
                <a:latin typeface="Proxima Nova Rg" panose="02000506030000020004" pitchFamily="2" charset="0"/>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b="0" i="0">
                <a:solidFill>
                  <a:schemeClr val="tx1">
                    <a:tint val="75000"/>
                  </a:schemeClr>
                </a:solidFill>
                <a:latin typeface="Proxima Nova Rg" panose="02000506030000020004" pitchFamily="2" charset="0"/>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b="0" i="0">
                <a:solidFill>
                  <a:schemeClr val="tx1">
                    <a:tint val="75000"/>
                  </a:schemeClr>
                </a:solidFill>
                <a:latin typeface="Proxima Nova Rg" panose="02000506030000020004" pitchFamily="2" charset="0"/>
              </a:defRPr>
            </a:lvl1pPr>
          </a:lstStyle>
          <a:p>
            <a:fld id="{02147839-81A2-46CC-A3B2-864012D7A0C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b="0" i="0" kern="1200">
          <a:solidFill>
            <a:schemeClr val="tx1"/>
          </a:solidFill>
          <a:latin typeface="Proxima Nova Rg" panose="02000506030000020004" pitchFamily="2" charset="0"/>
          <a:ea typeface="+mj-ea"/>
          <a:cs typeface="Calibri" panose="020F0502020204030204" pitchFamily="34" charset="0"/>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Proxima Nova Rg" panose="02000506030000020004" pitchFamily="2"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Proxima Nova Rg" panose="02000506030000020004" pitchFamily="2"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Proxima Nova Rg" panose="02000506030000020004" pitchFamily="2"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Proxima Nova Rg" panose="02000506030000020004" pitchFamily="2"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Proxima Nova Rg" panose="02000506030000020004" pitchFamily="2"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34.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 Target="slide34.xml"/><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191000" y="5599386"/>
            <a:ext cx="4191000" cy="457200"/>
          </a:xfrm>
          <a:prstGeom prst="rect">
            <a:avLst/>
          </a:prstGeom>
        </p:spPr>
        <p:txBody>
          <a:bodyPr vert="horz" lIns="91440" tIns="45720" rIns="91440" bIns="45720" rtlCol="0">
            <a:noAutofit/>
          </a:bodyPr>
          <a:lstStyle/>
          <a:p>
            <a:pPr>
              <a:spcBef>
                <a:spcPct val="20000"/>
              </a:spcBef>
              <a:defRPr/>
            </a:pPr>
            <a:endParaRPr lang="en-US" sz="2400" dirty="0">
              <a:latin typeface="Proxima Nova Rg" panose="02000506030000020004" pitchFamily="2" charset="0"/>
            </a:endParaRPr>
          </a:p>
        </p:txBody>
      </p:sp>
      <p:sp>
        <p:nvSpPr>
          <p:cNvPr id="6" name="Subtitle 2"/>
          <p:cNvSpPr txBox="1">
            <a:spLocks/>
          </p:cNvSpPr>
          <p:nvPr/>
        </p:nvSpPr>
        <p:spPr>
          <a:xfrm>
            <a:off x="2971800" y="6947338"/>
            <a:ext cx="6629400" cy="457200"/>
          </a:xfrm>
          <a:prstGeom prst="rect">
            <a:avLst/>
          </a:prstGeom>
        </p:spPr>
        <p:txBody>
          <a:bodyPr vert="horz" lIns="91440" tIns="45720" rIns="91440" bIns="45720" rtlCol="0">
            <a:noAutofit/>
          </a:bodyPr>
          <a:lstStyle/>
          <a:p>
            <a:pPr algn="ctr">
              <a:spcBef>
                <a:spcPct val="20000"/>
              </a:spcBef>
              <a:defRPr/>
            </a:pPr>
            <a:endParaRPr lang="en-US" sz="2400" dirty="0">
              <a:latin typeface="Proxima Nova Rg" panose="02000506030000020004" pitchFamily="2" charset="0"/>
            </a:endParaRPr>
          </a:p>
        </p:txBody>
      </p:sp>
      <p:sp>
        <p:nvSpPr>
          <p:cNvPr id="8" name="Subtitle 2"/>
          <p:cNvSpPr txBox="1">
            <a:spLocks/>
          </p:cNvSpPr>
          <p:nvPr/>
        </p:nvSpPr>
        <p:spPr>
          <a:xfrm>
            <a:off x="3161148" y="3733800"/>
            <a:ext cx="5943600" cy="11430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200" dirty="0">
              <a:latin typeface="Proxima Nova Rg" panose="02000506030000020004" pitchFamily="2" charset="0"/>
            </a:endParaRPr>
          </a:p>
          <a:p>
            <a:endParaRPr lang="en-US" sz="2200" dirty="0">
              <a:latin typeface="Proxima Nova Rg" panose="02000506030000020004" pitchFamily="2" charset="0"/>
            </a:endParaRPr>
          </a:p>
          <a:p>
            <a:endParaRPr lang="en-US" dirty="0">
              <a:latin typeface="Proxima Nova Rg" panose="02000506030000020004" pitchFamily="2" charset="0"/>
            </a:endParaRPr>
          </a:p>
        </p:txBody>
      </p:sp>
      <p:pic>
        <p:nvPicPr>
          <p:cNvPr id="10" name="Picture 9">
            <a:extLst>
              <a:ext uri="{FF2B5EF4-FFF2-40B4-BE49-F238E27FC236}">
                <a16:creationId xmlns:a16="http://schemas.microsoft.com/office/drawing/2014/main" id="{53CE3EA1-96F6-7C41-BEFA-CDC86A1F3B82}"/>
              </a:ext>
            </a:extLst>
          </p:cNvPr>
          <p:cNvPicPr/>
          <p:nvPr/>
        </p:nvPicPr>
        <p:blipFill>
          <a:blip r:embed="rId3">
            <a:extLst>
              <a:ext uri="{28A0092B-C50C-407E-A947-70E740481C1C}">
                <a14:useLocalDpi xmlns:a14="http://schemas.microsoft.com/office/drawing/2010/main" val="0"/>
              </a:ext>
            </a:extLst>
          </a:blip>
          <a:stretch>
            <a:fillRect/>
          </a:stretch>
        </p:blipFill>
        <p:spPr>
          <a:xfrm>
            <a:off x="5067300" y="5663976"/>
            <a:ext cx="2438399" cy="1026768"/>
          </a:xfrm>
          <a:prstGeom prst="rect">
            <a:avLst/>
          </a:prstGeom>
        </p:spPr>
      </p:pic>
      <p:sp>
        <p:nvSpPr>
          <p:cNvPr id="9" name="Rectangle 8">
            <a:extLst>
              <a:ext uri="{FF2B5EF4-FFF2-40B4-BE49-F238E27FC236}">
                <a16:creationId xmlns:a16="http://schemas.microsoft.com/office/drawing/2014/main" id="{04E094FB-470F-D34D-850D-FAE0D60AF14D}"/>
              </a:ext>
            </a:extLst>
          </p:cNvPr>
          <p:cNvSpPr/>
          <p:nvPr/>
        </p:nvSpPr>
        <p:spPr>
          <a:xfrm>
            <a:off x="762000" y="939258"/>
            <a:ext cx="10668000" cy="1446550"/>
          </a:xfrm>
          <a:prstGeom prst="rect">
            <a:avLst/>
          </a:prstGeom>
        </p:spPr>
        <p:txBody>
          <a:bodyPr wrap="square" anchor="ctr">
            <a:spAutoFit/>
          </a:bodyPr>
          <a:lstStyle/>
          <a:p>
            <a:pPr algn="ctr"/>
            <a:r>
              <a:rPr lang="en-US" sz="4400" dirty="0">
                <a:solidFill>
                  <a:schemeClr val="bg1"/>
                </a:solidFill>
                <a:latin typeface="Proxima Nova Rg" panose="02000506030000020004" pitchFamily="2" charset="0"/>
                <a:cs typeface="Calibri" panose="020F0502020204030204" pitchFamily="34" charset="0"/>
              </a:rPr>
              <a:t>Transition to College for Gender and Sexual Minority Youth</a:t>
            </a:r>
          </a:p>
        </p:txBody>
      </p:sp>
      <p:sp>
        <p:nvSpPr>
          <p:cNvPr id="14" name="TextBox 13">
            <a:extLst>
              <a:ext uri="{FF2B5EF4-FFF2-40B4-BE49-F238E27FC236}">
                <a16:creationId xmlns:a16="http://schemas.microsoft.com/office/drawing/2014/main" id="{5CA2BD98-D2B6-7A41-8521-90679348B555}"/>
              </a:ext>
            </a:extLst>
          </p:cNvPr>
          <p:cNvSpPr txBox="1"/>
          <p:nvPr/>
        </p:nvSpPr>
        <p:spPr>
          <a:xfrm>
            <a:off x="2379693" y="2771061"/>
            <a:ext cx="7813611" cy="1384995"/>
          </a:xfrm>
          <a:prstGeom prst="rect">
            <a:avLst/>
          </a:prstGeom>
          <a:noFill/>
        </p:spPr>
        <p:txBody>
          <a:bodyPr wrap="square" rtlCol="0">
            <a:spAutoFit/>
          </a:bodyPr>
          <a:lstStyle/>
          <a:p>
            <a:pPr algn="ctr"/>
            <a:r>
              <a:rPr lang="en-US" spc="50" dirty="0">
                <a:solidFill>
                  <a:schemeClr val="bg1"/>
                </a:solidFill>
                <a:latin typeface="Proxima Nova Rg" panose="02000506030000020004" pitchFamily="2" charset="0"/>
                <a:cs typeface="Calibri Light" panose="020F0302020204030204" pitchFamily="34" charset="0"/>
              </a:rPr>
              <a:t>Christina Sun</a:t>
            </a:r>
          </a:p>
          <a:p>
            <a:pPr algn="ctr"/>
            <a:r>
              <a:rPr lang="en-US" i="1" spc="50" dirty="0">
                <a:solidFill>
                  <a:schemeClr val="bg1"/>
                </a:solidFill>
                <a:latin typeface="Proxima Nova" panose="02000506030000020004" pitchFamily="2" charset="0"/>
                <a:cs typeface="Calibri Light" panose="020F0302020204030204" pitchFamily="34" charset="0"/>
              </a:rPr>
              <a:t>With Alexandria Hurtt, Michal </a:t>
            </a:r>
            <a:r>
              <a:rPr lang="en-US" i="1" spc="50" dirty="0" err="1">
                <a:solidFill>
                  <a:schemeClr val="bg1"/>
                </a:solidFill>
                <a:latin typeface="Proxima Nova" panose="02000506030000020004" pitchFamily="2" charset="0"/>
                <a:cs typeface="Calibri Light" panose="020F0302020204030204" pitchFamily="34" charset="0"/>
              </a:rPr>
              <a:t>Kurlaender</a:t>
            </a:r>
            <a:r>
              <a:rPr lang="en-US" i="1" spc="50" dirty="0">
                <a:solidFill>
                  <a:schemeClr val="bg1"/>
                </a:solidFill>
                <a:latin typeface="Proxima Nova" panose="02000506030000020004" pitchFamily="2" charset="0"/>
                <a:cs typeface="Calibri Light" panose="020F0302020204030204" pitchFamily="34" charset="0"/>
              </a:rPr>
              <a:t>, Kairo Weber, and </a:t>
            </a:r>
            <a:r>
              <a:rPr lang="en-US" i="1" spc="50" dirty="0" err="1">
                <a:solidFill>
                  <a:schemeClr val="bg1"/>
                </a:solidFill>
                <a:latin typeface="Proxima Nova" panose="02000506030000020004" pitchFamily="2" charset="0"/>
                <a:cs typeface="Calibri Light" panose="020F0302020204030204" pitchFamily="34" charset="0"/>
              </a:rPr>
              <a:t>Baiyu</a:t>
            </a:r>
            <a:r>
              <a:rPr lang="en-US" i="1" spc="50" dirty="0">
                <a:solidFill>
                  <a:schemeClr val="bg1"/>
                </a:solidFill>
                <a:latin typeface="Proxima Nova" panose="02000506030000020004" pitchFamily="2" charset="0"/>
                <a:cs typeface="Calibri Light" panose="020F0302020204030204" pitchFamily="34" charset="0"/>
              </a:rPr>
              <a:t> Zhou</a:t>
            </a:r>
          </a:p>
          <a:p>
            <a:pPr algn="ctr"/>
            <a:endParaRPr lang="en-US" sz="1200" i="1" spc="50" dirty="0">
              <a:solidFill>
                <a:schemeClr val="bg1"/>
              </a:solidFill>
              <a:latin typeface="Proxima Nova" panose="02000506030000020004" pitchFamily="2" charset="0"/>
              <a:cs typeface="Calibri Light" panose="020F0302020204030204" pitchFamily="34" charset="0"/>
            </a:endParaRPr>
          </a:p>
          <a:p>
            <a:pPr algn="ctr"/>
            <a:r>
              <a:rPr lang="en-US" spc="50" dirty="0">
                <a:solidFill>
                  <a:schemeClr val="bg1"/>
                </a:solidFill>
                <a:latin typeface="Proxima Nova Rg" panose="02000506030000020004" pitchFamily="2" charset="0"/>
                <a:cs typeface="Calibri Light" panose="020F0302020204030204" pitchFamily="34" charset="0"/>
              </a:rPr>
              <a:t>Jan 5, 2026</a:t>
            </a:r>
          </a:p>
          <a:p>
            <a:pPr algn="ctr"/>
            <a:r>
              <a:rPr lang="en-US" spc="50" dirty="0">
                <a:solidFill>
                  <a:schemeClr val="bg1"/>
                </a:solidFill>
                <a:latin typeface="Proxima Nova Rg" panose="02000506030000020004" pitchFamily="2" charset="0"/>
                <a:cs typeface="Calibri Light" panose="020F0302020204030204" pitchFamily="34" charset="0"/>
              </a:rPr>
              <a:t>LGBTQ+ Policy Lab, Vanderbilt University</a:t>
            </a:r>
          </a:p>
        </p:txBody>
      </p:sp>
      <p:sp>
        <p:nvSpPr>
          <p:cNvPr id="11" name="Rectangle 10">
            <a:extLst>
              <a:ext uri="{FF2B5EF4-FFF2-40B4-BE49-F238E27FC236}">
                <a16:creationId xmlns:a16="http://schemas.microsoft.com/office/drawing/2014/main" id="{C38E4EAB-A72E-E94E-B1BC-80F1D02515FD}"/>
              </a:ext>
            </a:extLst>
          </p:cNvPr>
          <p:cNvSpPr/>
          <p:nvPr/>
        </p:nvSpPr>
        <p:spPr>
          <a:xfrm>
            <a:off x="762000" y="4368968"/>
            <a:ext cx="10668000" cy="1015663"/>
          </a:xfrm>
          <a:prstGeom prst="rect">
            <a:avLst/>
          </a:prstGeom>
        </p:spPr>
        <p:txBody>
          <a:bodyPr wrap="square">
            <a:spAutoFit/>
          </a:bodyPr>
          <a:lstStyle/>
          <a:p>
            <a:pPr algn="just"/>
            <a:r>
              <a:rPr lang="en-US" sz="1200" dirty="0">
                <a:solidFill>
                  <a:schemeClr val="bg1"/>
                </a:solidFill>
                <a:latin typeface="Proxima Nova Rg" panose="02000506030000020004" pitchFamily="2" charset="0"/>
                <a:ea typeface="Calibri Light" charset="0"/>
                <a:cs typeface="Calibri" panose="020F0502020204030204" pitchFamily="34" charset="0"/>
              </a:rPr>
              <a:t>Note: This research was supported by the College Futures Foundation and conducted in partnership with the California Student Aid Commission. The authors are also grateful for ongoing support from the Stuart Foundation to the California Education Lab. 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F78A3822-55DD-CB1E-0C89-15F9625480A8}"/>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ABEA78-5326-CA4A-D9E9-A849516C973C}"/>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0A0252E-7E11-2479-87B3-A6D20DDD31C0}"/>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D1D58EE8-B95B-E0C3-A7D6-9E094A74532E}"/>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3D6E91E6-66B9-68C3-2869-047B2516C2E5}"/>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B30A2602-9BC8-68B6-43AE-9E8C4EC11294}"/>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30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rPr>
              <a:t>INTRODUCTION</a:t>
            </a:r>
          </a:p>
        </p:txBody>
      </p:sp>
      <p:sp>
        <p:nvSpPr>
          <p:cNvPr id="3" name="Slide Number Placeholder 2">
            <a:extLst>
              <a:ext uri="{FF2B5EF4-FFF2-40B4-BE49-F238E27FC236}">
                <a16:creationId xmlns:a16="http://schemas.microsoft.com/office/drawing/2014/main" id="{4F8B9323-C984-7BE8-53AC-F650907550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u="none" strike="noStrike" kern="1200" cap="none" spc="0" normalizeH="0" baseline="0" noProof="0" smtClean="0">
                <a:ln>
                  <a:noFill/>
                </a:ln>
                <a:solidFill>
                  <a:prstClr val="white"/>
                </a:solidFill>
                <a:effectLst/>
                <a:uLnTx/>
                <a:uFillTx/>
                <a:ea typeface="+mn-ea"/>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u="none" strike="noStrike" kern="1200" cap="none" spc="0" normalizeH="0" baseline="0" noProof="0" dirty="0">
              <a:ln>
                <a:noFill/>
              </a:ln>
              <a:solidFill>
                <a:prstClr val="white"/>
              </a:solidFill>
              <a:effectLst/>
              <a:uLnTx/>
              <a:uFillTx/>
              <a:ea typeface="+mn-ea"/>
            </a:endParaRPr>
          </a:p>
        </p:txBody>
      </p:sp>
    </p:spTree>
    <p:extLst>
      <p:ext uri="{BB962C8B-B14F-4D97-AF65-F5344CB8AC3E}">
        <p14:creationId xmlns:p14="http://schemas.microsoft.com/office/powerpoint/2010/main" val="244659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Overview</a:t>
            </a:r>
          </a:p>
        </p:txBody>
      </p:sp>
      <p:sp>
        <p:nvSpPr>
          <p:cNvPr id="4" name="Slide Number Placeholder 3"/>
          <p:cNvSpPr>
            <a:spLocks noGrp="1"/>
          </p:cNvSpPr>
          <p:nvPr>
            <p:ph type="sldNum" sz="quarter" idx="12"/>
          </p:nvPr>
        </p:nvSpPr>
        <p:spPr>
          <a:xfrm>
            <a:off x="8704556" y="-118270"/>
            <a:ext cx="3487444" cy="388939"/>
          </a:xfrm>
        </p:spPr>
        <p:txBody>
          <a:bodyPr/>
          <a:lstStyle/>
          <a:p>
            <a:endParaRPr lang="en-US" dirty="0"/>
          </a:p>
          <a:p>
            <a:fld id="{80DD8C35-F8B3-4049-95AF-A34E38FBBA50}" type="slidenum">
              <a:rPr lang="en-US" smtClean="0"/>
              <a:pPr/>
              <a:t>3</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1676400" y="1524001"/>
            <a:ext cx="8839200" cy="3120854"/>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400" dirty="0">
                <a:latin typeface="Proxima Nova Rg" panose="02000506030000020004" pitchFamily="2" charset="0"/>
              </a:rPr>
              <a:t>Data: large survey of California high school seniors</a:t>
            </a:r>
          </a:p>
          <a:p>
            <a:pPr>
              <a:defRPr/>
            </a:pPr>
            <a:r>
              <a:rPr lang="en-US" sz="2400" dirty="0">
                <a:latin typeface="Proxima Nova Rg" panose="02000506030000020004" pitchFamily="2" charset="0"/>
              </a:rPr>
              <a:t>Analysis: mixed methods</a:t>
            </a:r>
          </a:p>
          <a:p>
            <a:pPr>
              <a:defRPr/>
            </a:pPr>
            <a:r>
              <a:rPr lang="en-US" sz="2400" dirty="0">
                <a:latin typeface="Proxima Nova Rg" panose="02000506030000020004" pitchFamily="2" charset="0"/>
              </a:rPr>
              <a:t>Focus: gender and sexual minority students.</a:t>
            </a:r>
          </a:p>
          <a:p>
            <a:pPr>
              <a:defRPr/>
            </a:pPr>
            <a:r>
              <a:rPr lang="en-US" sz="2400" dirty="0">
                <a:latin typeface="Proxima Nova Rg" panose="02000506030000020004" pitchFamily="2" charset="0"/>
              </a:rPr>
              <a:t>We examine:</a:t>
            </a:r>
          </a:p>
          <a:p>
            <a:pPr lvl="1">
              <a:defRPr/>
            </a:pPr>
            <a:r>
              <a:rPr lang="en-US" sz="2400" dirty="0">
                <a:latin typeface="Proxima Nova Rg" panose="02000506030000020004" pitchFamily="2" charset="0"/>
              </a:rPr>
              <a:t>Identities</a:t>
            </a:r>
          </a:p>
          <a:p>
            <a:pPr lvl="1">
              <a:defRPr/>
            </a:pPr>
            <a:r>
              <a:rPr lang="en-US" sz="2400" dirty="0">
                <a:latin typeface="Proxima Nova Rg" panose="02000506030000020004" pitchFamily="2" charset="0"/>
              </a:rPr>
              <a:t>High school experiences</a:t>
            </a:r>
          </a:p>
          <a:p>
            <a:pPr lvl="1">
              <a:defRPr/>
            </a:pPr>
            <a:r>
              <a:rPr lang="en-US" sz="2400" dirty="0">
                <a:latin typeface="Proxima Nova Rg" panose="02000506030000020004" pitchFamily="2" charset="0"/>
              </a:rPr>
              <a:t>Concerns about college</a:t>
            </a:r>
          </a:p>
        </p:txBody>
      </p:sp>
    </p:spTree>
    <p:extLst>
      <p:ext uri="{BB962C8B-B14F-4D97-AF65-F5344CB8AC3E}">
        <p14:creationId xmlns:p14="http://schemas.microsoft.com/office/powerpoint/2010/main" val="4162196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Motivation</a:t>
            </a:r>
          </a:p>
        </p:txBody>
      </p:sp>
      <p:sp>
        <p:nvSpPr>
          <p:cNvPr id="4" name="Slide Number Placeholder 3"/>
          <p:cNvSpPr>
            <a:spLocks noGrp="1"/>
          </p:cNvSpPr>
          <p:nvPr>
            <p:ph type="sldNum" sz="quarter" idx="12"/>
          </p:nvPr>
        </p:nvSpPr>
        <p:spPr>
          <a:xfrm>
            <a:off x="8704556" y="-118270"/>
            <a:ext cx="3487444" cy="388939"/>
          </a:xfrm>
        </p:spPr>
        <p:txBody>
          <a:bodyPr/>
          <a:lstStyle/>
          <a:p>
            <a:endParaRPr lang="en-US" dirty="0"/>
          </a:p>
          <a:p>
            <a:fld id="{80DD8C35-F8B3-4049-95AF-A34E38FBBA50}" type="slidenum">
              <a:rPr lang="en-US" smtClean="0"/>
              <a:pPr/>
              <a:t>4</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990600" y="1676400"/>
            <a:ext cx="10210800" cy="3711785"/>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400" dirty="0">
                <a:latin typeface="Proxima Nova Rg" panose="02000506030000020004" pitchFamily="2" charset="0"/>
              </a:rPr>
              <a:t>Schools shape students’ perceptions of college and future educational attainment (Lynn et al., 2010; </a:t>
            </a:r>
            <a:r>
              <a:rPr lang="en-US" sz="2400" dirty="0" err="1">
                <a:latin typeface="Proxima Nova Rg" panose="02000506030000020004" pitchFamily="2" charset="0"/>
              </a:rPr>
              <a:t>Uwah</a:t>
            </a:r>
            <a:r>
              <a:rPr lang="en-US" sz="2400" dirty="0">
                <a:latin typeface="Proxima Nova Rg" panose="02000506030000020004" pitchFamily="2" charset="0"/>
              </a:rPr>
              <a:t> et al., 2008)</a:t>
            </a:r>
          </a:p>
          <a:p>
            <a:pPr>
              <a:defRPr/>
            </a:pPr>
            <a:r>
              <a:rPr lang="en-US" sz="2400" dirty="0">
                <a:latin typeface="Proxima Nova Rg" panose="02000506030000020004" pitchFamily="2" charset="0"/>
              </a:rPr>
              <a:t>The high school to college transition is crucial for young adults (Luh et al., 2023)</a:t>
            </a:r>
          </a:p>
          <a:p>
            <a:pPr>
              <a:defRPr/>
            </a:pPr>
            <a:r>
              <a:rPr lang="en-US" sz="2400" dirty="0">
                <a:latin typeface="Proxima Nova Rg" panose="02000506030000020004" pitchFamily="2" charset="0"/>
              </a:rPr>
              <a:t>Limited evidence regarding LGBTQ+ students</a:t>
            </a:r>
          </a:p>
          <a:p>
            <a:pPr lvl="1">
              <a:defRPr/>
            </a:pPr>
            <a:r>
              <a:rPr lang="en-US" sz="2400" dirty="0">
                <a:latin typeface="Proxima Nova Rg" panose="02000506030000020004" pitchFamily="2" charset="0"/>
              </a:rPr>
              <a:t>Research tends to consider the community as a whole</a:t>
            </a:r>
          </a:p>
          <a:p>
            <a:pPr lvl="1">
              <a:defRPr/>
            </a:pPr>
            <a:r>
              <a:rPr lang="en-US" sz="2400" dirty="0">
                <a:latin typeface="Proxima Nova Rg" panose="02000506030000020004" pitchFamily="2" charset="0"/>
              </a:rPr>
              <a:t>The transgender and non-binary experience has been overlooked in education research (</a:t>
            </a:r>
            <a:r>
              <a:rPr lang="en-US" sz="2400" dirty="0" err="1">
                <a:latin typeface="Proxima Nova Rg" panose="02000506030000020004" pitchFamily="2" charset="0"/>
              </a:rPr>
              <a:t>Glavinic</a:t>
            </a:r>
            <a:r>
              <a:rPr lang="en-US" sz="2400" dirty="0">
                <a:latin typeface="Proxima Nova Rg" panose="02000506030000020004" pitchFamily="2" charset="0"/>
              </a:rPr>
              <a:t>, 2010; Goldberg &amp; </a:t>
            </a:r>
            <a:r>
              <a:rPr lang="en-US" sz="2400" dirty="0" err="1">
                <a:latin typeface="Proxima Nova Rg" panose="02000506030000020004" pitchFamily="2" charset="0"/>
              </a:rPr>
              <a:t>Kuvalanka</a:t>
            </a:r>
            <a:r>
              <a:rPr lang="en-US" sz="2400" dirty="0">
                <a:latin typeface="Proxima Nova Rg" panose="02000506030000020004" pitchFamily="2" charset="0"/>
              </a:rPr>
              <a:t>, 2018; Marine, 2017). </a:t>
            </a:r>
          </a:p>
        </p:txBody>
      </p:sp>
    </p:spTree>
    <p:extLst>
      <p:ext uri="{BB962C8B-B14F-4D97-AF65-F5344CB8AC3E}">
        <p14:creationId xmlns:p14="http://schemas.microsoft.com/office/powerpoint/2010/main" val="139288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414C-4A71-207F-59B1-77404A7ED600}"/>
              </a:ext>
            </a:extLst>
          </p:cNvPr>
          <p:cNvSpPr>
            <a:spLocks noGrp="1"/>
          </p:cNvSpPr>
          <p:nvPr>
            <p:ph type="title"/>
          </p:nvPr>
        </p:nvSpPr>
        <p:spPr/>
        <p:txBody>
          <a:bodyPr/>
          <a:lstStyle/>
          <a:p>
            <a:r>
              <a:rPr lang="en-US" dirty="0"/>
              <a:t>Preview of Results</a:t>
            </a:r>
          </a:p>
        </p:txBody>
      </p:sp>
      <p:sp>
        <p:nvSpPr>
          <p:cNvPr id="3" name="Content Placeholder 2">
            <a:extLst>
              <a:ext uri="{FF2B5EF4-FFF2-40B4-BE49-F238E27FC236}">
                <a16:creationId xmlns:a16="http://schemas.microsoft.com/office/drawing/2014/main" id="{02B4D30E-7646-16A2-0AFD-7AFD1F7D9EEF}"/>
              </a:ext>
            </a:extLst>
          </p:cNvPr>
          <p:cNvSpPr>
            <a:spLocks noGrp="1"/>
          </p:cNvSpPr>
          <p:nvPr>
            <p:ph idx="1"/>
          </p:nvPr>
        </p:nvSpPr>
        <p:spPr/>
        <p:txBody>
          <a:bodyPr/>
          <a:lstStyle/>
          <a:p>
            <a:r>
              <a:rPr lang="en-US" dirty="0"/>
              <a:t>Diverse labels for identities</a:t>
            </a:r>
          </a:p>
          <a:p>
            <a:r>
              <a:rPr lang="en-US" dirty="0"/>
              <a:t>LGBTQ+ students have</a:t>
            </a:r>
          </a:p>
          <a:p>
            <a:pPr lvl="1"/>
            <a:r>
              <a:rPr lang="en-US" dirty="0"/>
              <a:t>Significantly less positive high school experiences</a:t>
            </a:r>
          </a:p>
          <a:p>
            <a:pPr lvl="1"/>
            <a:r>
              <a:rPr lang="en-US" dirty="0"/>
              <a:t>Significantly higher levels of worry about college</a:t>
            </a:r>
          </a:p>
          <a:p>
            <a:r>
              <a:rPr lang="en-US" dirty="0"/>
              <a:t>Transgender students have higher levels of concern about discrimination than other gender diverse students</a:t>
            </a:r>
          </a:p>
          <a:p>
            <a:endParaRPr lang="en-US" dirty="0"/>
          </a:p>
        </p:txBody>
      </p:sp>
      <p:sp>
        <p:nvSpPr>
          <p:cNvPr id="4" name="Slide Number Placeholder 3">
            <a:extLst>
              <a:ext uri="{FF2B5EF4-FFF2-40B4-BE49-F238E27FC236}">
                <a16:creationId xmlns:a16="http://schemas.microsoft.com/office/drawing/2014/main" id="{3677AA6D-57B8-253C-EF86-66A2A2142155}"/>
              </a:ext>
            </a:extLst>
          </p:cNvPr>
          <p:cNvSpPr>
            <a:spLocks noGrp="1"/>
          </p:cNvSpPr>
          <p:nvPr>
            <p:ph type="sldNum" sz="quarter" idx="12"/>
          </p:nvPr>
        </p:nvSpPr>
        <p:spPr/>
        <p:txBody>
          <a:bodyPr/>
          <a:lstStyle/>
          <a:p>
            <a:fld id="{80DD8C35-F8B3-4049-95AF-A34E38FBBA50}" type="slidenum">
              <a:rPr lang="en-US" smtClean="0"/>
              <a:pPr/>
              <a:t>5</a:t>
            </a:fld>
            <a:endParaRPr lang="en-US" dirty="0"/>
          </a:p>
        </p:txBody>
      </p:sp>
    </p:spTree>
    <p:extLst>
      <p:ext uri="{BB962C8B-B14F-4D97-AF65-F5344CB8AC3E}">
        <p14:creationId xmlns:p14="http://schemas.microsoft.com/office/powerpoint/2010/main" val="3650288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D43AC69B-57DC-24DC-AF49-12D4CB5C32B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2B74B02-D3E4-723E-D57B-1CF30F167213}"/>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CCA4ACCC-7D75-9318-C29D-FAC8DA20ACC7}"/>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494838CD-1EB9-E51A-2B95-C737B1E2706A}"/>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57D26A5A-BFAE-2502-6F48-124D205AB391}"/>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7A7CF1E8-D7FF-2749-9707-DEE358A771B9}"/>
              </a:ext>
            </a:extLst>
          </p:cNvPr>
          <p:cNvSpPr txBox="1"/>
          <p:nvPr/>
        </p:nvSpPr>
        <p:spPr>
          <a:xfrm>
            <a:off x="3009665" y="2971801"/>
            <a:ext cx="624838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30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rPr>
              <a:t>BACKGROUND &amp; METHODOLOGY</a:t>
            </a:r>
          </a:p>
        </p:txBody>
      </p:sp>
      <p:sp>
        <p:nvSpPr>
          <p:cNvPr id="3" name="Slide Number Placeholder 2">
            <a:extLst>
              <a:ext uri="{FF2B5EF4-FFF2-40B4-BE49-F238E27FC236}">
                <a16:creationId xmlns:a16="http://schemas.microsoft.com/office/drawing/2014/main" id="{BBC604A1-177F-248B-EC2D-91BB50E90B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u="none" strike="noStrike" kern="1200" cap="none" spc="0" normalizeH="0" baseline="0" noProof="0" smtClean="0">
                <a:ln>
                  <a:noFill/>
                </a:ln>
                <a:solidFill>
                  <a:prstClr val="white"/>
                </a:solidFill>
                <a:effectLst/>
                <a:uLnTx/>
                <a:uFillTx/>
                <a:ea typeface="+mn-ea"/>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u="none" strike="noStrike" kern="1200" cap="none" spc="0" normalizeH="0" baseline="0" noProof="0" dirty="0">
              <a:ln>
                <a:noFill/>
              </a:ln>
              <a:solidFill>
                <a:prstClr val="white"/>
              </a:solidFill>
              <a:effectLst/>
              <a:uLnTx/>
              <a:uFillTx/>
              <a:ea typeface="+mn-ea"/>
            </a:endParaRPr>
          </a:p>
        </p:txBody>
      </p:sp>
    </p:spTree>
    <p:extLst>
      <p:ext uri="{BB962C8B-B14F-4D97-AF65-F5344CB8AC3E}">
        <p14:creationId xmlns:p14="http://schemas.microsoft.com/office/powerpoint/2010/main" val="2815819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0BFC6-3976-0F7A-B822-77B125EB602B}"/>
              </a:ext>
            </a:extLst>
          </p:cNvPr>
          <p:cNvSpPr>
            <a:spLocks noGrp="1"/>
          </p:cNvSpPr>
          <p:nvPr>
            <p:ph type="title"/>
          </p:nvPr>
        </p:nvSpPr>
        <p:spPr/>
        <p:txBody>
          <a:bodyPr/>
          <a:lstStyle/>
          <a:p>
            <a:r>
              <a:rPr lang="en-US" dirty="0">
                <a:latin typeface="Proxima Nova Rg" panose="02000506030000020004" pitchFamily="2" charset="0"/>
              </a:rPr>
              <a:t>Social and Political Context</a:t>
            </a:r>
          </a:p>
        </p:txBody>
      </p:sp>
      <p:sp>
        <p:nvSpPr>
          <p:cNvPr id="4" name="Slide Number Placeholder 3">
            <a:extLst>
              <a:ext uri="{FF2B5EF4-FFF2-40B4-BE49-F238E27FC236}">
                <a16:creationId xmlns:a16="http://schemas.microsoft.com/office/drawing/2014/main" id="{1705CBDC-A6C8-2682-B6D2-FBB79AAC1762}"/>
              </a:ext>
            </a:extLst>
          </p:cNvPr>
          <p:cNvSpPr>
            <a:spLocks noGrp="1"/>
          </p:cNvSpPr>
          <p:nvPr>
            <p:ph type="sldNum" sz="quarter" idx="12"/>
          </p:nvPr>
        </p:nvSpPr>
        <p:spPr/>
        <p:txBody>
          <a:bodyPr/>
          <a:lstStyle/>
          <a:p>
            <a:fld id="{80DD8C35-F8B3-4049-95AF-A34E38FBBA50}" type="slidenum">
              <a:rPr lang="en-US" smtClean="0">
                <a:latin typeface="Proxima Nova Rg" panose="02000506030000020004" pitchFamily="2" charset="0"/>
              </a:rPr>
              <a:pPr/>
              <a:t>7</a:t>
            </a:fld>
            <a:endParaRPr lang="en-US" dirty="0">
              <a:latin typeface="Proxima Nova Rg" panose="02000506030000020004" pitchFamily="2" charset="0"/>
            </a:endParaRPr>
          </a:p>
        </p:txBody>
      </p:sp>
      <p:pic>
        <p:nvPicPr>
          <p:cNvPr id="5" name="Picture 4" descr="Presidential vote share in California counties">
            <a:extLst>
              <a:ext uri="{FF2B5EF4-FFF2-40B4-BE49-F238E27FC236}">
                <a16:creationId xmlns:a16="http://schemas.microsoft.com/office/drawing/2014/main" id="{1BCFAFF9-5BA4-B30D-6A55-A3C7D0AE8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903" y="1577585"/>
            <a:ext cx="5276866" cy="2747717"/>
          </a:xfrm>
          <a:prstGeom prst="rect">
            <a:avLst/>
          </a:prstGeom>
        </p:spPr>
      </p:pic>
      <p:sp>
        <p:nvSpPr>
          <p:cNvPr id="6" name="TextBox 5">
            <a:extLst>
              <a:ext uri="{FF2B5EF4-FFF2-40B4-BE49-F238E27FC236}">
                <a16:creationId xmlns:a16="http://schemas.microsoft.com/office/drawing/2014/main" id="{CDC6C85D-AF15-FE1D-E904-8189301AD671}"/>
              </a:ext>
            </a:extLst>
          </p:cNvPr>
          <p:cNvSpPr txBox="1"/>
          <p:nvPr/>
        </p:nvSpPr>
        <p:spPr>
          <a:xfrm>
            <a:off x="609600" y="5324565"/>
            <a:ext cx="6058303" cy="461665"/>
          </a:xfrm>
          <a:prstGeom prst="rect">
            <a:avLst/>
          </a:prstGeom>
          <a:noFill/>
        </p:spPr>
        <p:txBody>
          <a:bodyPr wrap="square" rtlCol="0">
            <a:spAutoFit/>
          </a:bodyPr>
          <a:lstStyle/>
          <a:p>
            <a:r>
              <a:rPr lang="en-US" sz="1200" dirty="0">
                <a:latin typeface="Proxima Nova Rg" panose="02000506030000020004" pitchFamily="2" charset="0"/>
                <a:cs typeface="Calibri" panose="020F0502020204030204" pitchFamily="34" charset="0"/>
              </a:rPr>
              <a:t>Sources: Trans Legislation Tracker (</a:t>
            </a:r>
            <a:r>
              <a:rPr lang="en-US" sz="1200" dirty="0" err="1">
                <a:latin typeface="Proxima Nova Rg" panose="02000506030000020004" pitchFamily="2" charset="0"/>
                <a:cs typeface="Calibri" panose="020F0502020204030204" pitchFamily="34" charset="0"/>
              </a:rPr>
              <a:t>translegislation.com</a:t>
            </a:r>
            <a:r>
              <a:rPr lang="en-US" sz="1200" dirty="0">
                <a:latin typeface="Proxima Nova Rg" panose="02000506030000020004" pitchFamily="2" charset="0"/>
                <a:cs typeface="Calibri" panose="020F0502020204030204" pitchFamily="34" charset="0"/>
              </a:rPr>
              <a:t>) and Public Policy Institute of California</a:t>
            </a:r>
          </a:p>
        </p:txBody>
      </p:sp>
      <p:sp>
        <p:nvSpPr>
          <p:cNvPr id="9" name="TextBox 8">
            <a:extLst>
              <a:ext uri="{FF2B5EF4-FFF2-40B4-BE49-F238E27FC236}">
                <a16:creationId xmlns:a16="http://schemas.microsoft.com/office/drawing/2014/main" id="{EC3F2658-6010-8EF8-E3BD-84DF4F0CBD38}"/>
              </a:ext>
            </a:extLst>
          </p:cNvPr>
          <p:cNvSpPr txBox="1"/>
          <p:nvPr/>
        </p:nvSpPr>
        <p:spPr>
          <a:xfrm>
            <a:off x="6705600" y="4724400"/>
            <a:ext cx="4876800" cy="120032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u="none" strike="noStrike" kern="1200" cap="none" spc="0" normalizeH="0" baseline="0" noProof="0" dirty="0">
                <a:ln>
                  <a:noFill/>
                </a:ln>
                <a:solidFill>
                  <a:prstClr val="black"/>
                </a:solidFill>
                <a:effectLst/>
                <a:uLnTx/>
                <a:uFillTx/>
                <a:latin typeface="Proxima Nova Rg" panose="02000506030000020004" pitchFamily="2" charset="0"/>
                <a:cs typeface="Calibri" panose="020F0502020204030204" pitchFamily="34" charset="0"/>
              </a:rPr>
              <a:t>California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u="none" strike="noStrike" kern="1200" cap="none" spc="0" normalizeH="0" baseline="0" noProof="0" dirty="0">
                <a:ln>
                  <a:noFill/>
                </a:ln>
                <a:solidFill>
                  <a:prstClr val="black"/>
                </a:solidFill>
                <a:effectLst/>
                <a:uLnTx/>
                <a:uFillTx/>
                <a:latin typeface="Proxima Nova Rg" panose="02000506030000020004" pitchFamily="2" charset="0"/>
                <a:cs typeface="Calibri" panose="020F0502020204030204" pitchFamily="34" charset="0"/>
              </a:rPr>
              <a:t>Diverse political leanings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dirty="0">
                <a:solidFill>
                  <a:prstClr val="black"/>
                </a:solidFill>
                <a:latin typeface="Proxima Nova Rg" panose="02000506030000020004" pitchFamily="2" charset="0"/>
                <a:cs typeface="Calibri" panose="020F0502020204030204" pitchFamily="34" charset="0"/>
              </a:rPr>
              <a:t>Rise of anti-trans hate groups</a:t>
            </a:r>
            <a:endParaRPr lang="en-US" sz="1600" dirty="0">
              <a:latin typeface="Proxima Nova Rg" panose="02000506030000020004" pitchFamily="2" charset="0"/>
              <a:cs typeface="Calibri" panose="020F0502020204030204" pitchFamily="34" charset="0"/>
            </a:endParaRPr>
          </a:p>
        </p:txBody>
      </p:sp>
      <p:sp>
        <p:nvSpPr>
          <p:cNvPr id="10" name="TextBox 9">
            <a:extLst>
              <a:ext uri="{FF2B5EF4-FFF2-40B4-BE49-F238E27FC236}">
                <a16:creationId xmlns:a16="http://schemas.microsoft.com/office/drawing/2014/main" id="{3920C92C-6FFF-2545-6FF3-ACC620C41572}"/>
              </a:ext>
            </a:extLst>
          </p:cNvPr>
          <p:cNvSpPr txBox="1"/>
          <p:nvPr/>
        </p:nvSpPr>
        <p:spPr>
          <a:xfrm>
            <a:off x="952098" y="1572041"/>
            <a:ext cx="4572000" cy="369332"/>
          </a:xfrm>
          <a:prstGeom prst="rect">
            <a:avLst/>
          </a:prstGeom>
          <a:noFill/>
        </p:spPr>
        <p:txBody>
          <a:bodyPr wrap="square" rtlCol="0">
            <a:spAutoFit/>
          </a:bodyPr>
          <a:lstStyle/>
          <a:p>
            <a:r>
              <a:rPr lang="en-US" dirty="0">
                <a:latin typeface="Proxima Nova Rg" panose="02000506030000020004" pitchFamily="2" charset="0"/>
                <a:cs typeface="Calibri" panose="020F0502020204030204" pitchFamily="34" charset="0"/>
              </a:rPr>
              <a:t>Number of anti-trans bills in the US</a:t>
            </a:r>
          </a:p>
        </p:txBody>
      </p:sp>
      <p:pic>
        <p:nvPicPr>
          <p:cNvPr id="11" name="Picture 10" descr="A graph of different colored bars&#10;&#10;AI-generated content may be incorrect.">
            <a:extLst>
              <a:ext uri="{FF2B5EF4-FFF2-40B4-BE49-F238E27FC236}">
                <a16:creationId xmlns:a16="http://schemas.microsoft.com/office/drawing/2014/main" id="{6C336F28-04E1-C811-8454-C4436E174E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228" y="2483509"/>
            <a:ext cx="5319069" cy="2747717"/>
          </a:xfrm>
          <a:prstGeom prst="rect">
            <a:avLst/>
          </a:prstGeom>
        </p:spPr>
      </p:pic>
    </p:spTree>
    <p:extLst>
      <p:ext uri="{BB962C8B-B14F-4D97-AF65-F5344CB8AC3E}">
        <p14:creationId xmlns:p14="http://schemas.microsoft.com/office/powerpoint/2010/main" val="540230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711CD9D-1359-73E6-6415-8A8A46985DCF}"/>
              </a:ext>
            </a:extLst>
          </p:cNvPr>
          <p:cNvSpPr>
            <a:spLocks noGrp="1"/>
          </p:cNvSpPr>
          <p:nvPr>
            <p:ph idx="1"/>
          </p:nvPr>
        </p:nvSpPr>
        <p:spPr>
          <a:xfrm>
            <a:off x="995052" y="1524000"/>
            <a:ext cx="10201895" cy="5556504"/>
          </a:xfrm>
        </p:spPr>
        <p:txBody>
          <a:bodyPr>
            <a:normAutofit/>
          </a:bodyPr>
          <a:lstStyle/>
          <a:p>
            <a:pPr marL="457200" indent="-336550">
              <a:lnSpc>
                <a:spcPct val="105000"/>
              </a:lnSpc>
              <a:spcBef>
                <a:spcPts val="0"/>
              </a:spcBef>
              <a:buClr>
                <a:schemeClr val="dk1"/>
              </a:buClr>
              <a:buSzPts val="1700"/>
              <a:buChar char="●"/>
            </a:pPr>
            <a:r>
              <a:rPr lang="en-US" sz="2400" dirty="0">
                <a:solidFill>
                  <a:schemeClr val="dk1"/>
                </a:solidFill>
              </a:rPr>
              <a:t>Web survey in partnership with California Student Aid Commission (CSAC), May 2023</a:t>
            </a:r>
          </a:p>
          <a:p>
            <a:pPr marL="457200" indent="-336550">
              <a:lnSpc>
                <a:spcPct val="105000"/>
              </a:lnSpc>
              <a:spcBef>
                <a:spcPts val="1000"/>
              </a:spcBef>
              <a:buClr>
                <a:schemeClr val="dk1"/>
              </a:buClr>
              <a:buSzPts val="1700"/>
              <a:buChar char="●"/>
            </a:pPr>
            <a:r>
              <a:rPr lang="en-US" sz="2400" dirty="0">
                <a:solidFill>
                  <a:schemeClr val="dk1"/>
                </a:solidFill>
              </a:rPr>
              <a:t>Distributed by email to all high school seniors in California</a:t>
            </a:r>
          </a:p>
          <a:p>
            <a:pPr marL="457200" indent="-336550">
              <a:lnSpc>
                <a:spcPct val="105000"/>
              </a:lnSpc>
              <a:spcBef>
                <a:spcPts val="1000"/>
              </a:spcBef>
              <a:buClr>
                <a:schemeClr val="dk1"/>
              </a:buClr>
              <a:buSzPts val="1700"/>
              <a:buChar char="●"/>
            </a:pPr>
            <a:r>
              <a:rPr lang="en-US" sz="2400" dirty="0">
                <a:solidFill>
                  <a:schemeClr val="dk1"/>
                </a:solidFill>
              </a:rPr>
              <a:t>Main purpose of survey: experiences navigating financial aid</a:t>
            </a:r>
          </a:p>
          <a:p>
            <a:pPr marL="457200" indent="-336550">
              <a:lnSpc>
                <a:spcPct val="105000"/>
              </a:lnSpc>
              <a:spcBef>
                <a:spcPts val="1000"/>
              </a:spcBef>
              <a:buClr>
                <a:schemeClr val="dk1"/>
              </a:buClr>
              <a:buSzPts val="1700"/>
              <a:buChar char="●"/>
            </a:pPr>
            <a:r>
              <a:rPr lang="en-US" sz="2400" dirty="0">
                <a:solidFill>
                  <a:schemeClr val="dk1"/>
                </a:solidFill>
              </a:rPr>
              <a:t>We included questions on </a:t>
            </a:r>
          </a:p>
          <a:p>
            <a:pPr marL="857250" lvl="1" indent="-209550">
              <a:lnSpc>
                <a:spcPct val="105000"/>
              </a:lnSpc>
              <a:spcBef>
                <a:spcPts val="1000"/>
              </a:spcBef>
              <a:buClr>
                <a:schemeClr val="dk1"/>
              </a:buClr>
              <a:buSzPts val="1500"/>
              <a:buChar char="○"/>
            </a:pPr>
            <a:r>
              <a:rPr lang="en-US" sz="2400" dirty="0">
                <a:solidFill>
                  <a:schemeClr val="dk1"/>
                </a:solidFill>
                <a:hlinkClick r:id="rId2" action="ppaction://hlinksldjump"/>
              </a:rPr>
              <a:t>HS social and academic experiences</a:t>
            </a:r>
            <a:endParaRPr lang="en-US" sz="2400" dirty="0">
              <a:solidFill>
                <a:schemeClr val="dk1"/>
              </a:solidFill>
            </a:endParaRPr>
          </a:p>
          <a:p>
            <a:pPr marL="857250" lvl="1" indent="-209550">
              <a:lnSpc>
                <a:spcPct val="105000"/>
              </a:lnSpc>
              <a:spcBef>
                <a:spcPts val="1000"/>
              </a:spcBef>
              <a:buClr>
                <a:schemeClr val="dk1"/>
              </a:buClr>
              <a:buSzPts val="1500"/>
              <a:buChar char="○"/>
            </a:pPr>
            <a:r>
              <a:rPr lang="en-US" sz="2400" dirty="0">
                <a:solidFill>
                  <a:schemeClr val="dk1"/>
                </a:solidFill>
                <a:hlinkClick r:id="rId3" action="ppaction://hlinksldjump"/>
              </a:rPr>
              <a:t>Concerns about college</a:t>
            </a:r>
            <a:endParaRPr lang="en-US" sz="2400" dirty="0">
              <a:solidFill>
                <a:schemeClr val="dk1"/>
              </a:solidFill>
            </a:endParaRPr>
          </a:p>
          <a:p>
            <a:pPr marL="857250" lvl="1" indent="-209550">
              <a:lnSpc>
                <a:spcPct val="105000"/>
              </a:lnSpc>
              <a:spcBef>
                <a:spcPts val="1000"/>
              </a:spcBef>
              <a:buClr>
                <a:schemeClr val="dk1"/>
              </a:buClr>
              <a:buSzPts val="1500"/>
              <a:buChar char="○"/>
            </a:pPr>
            <a:r>
              <a:rPr lang="en-US" sz="2400" dirty="0">
                <a:solidFill>
                  <a:schemeClr val="dk1"/>
                </a:solidFill>
                <a:hlinkClick r:id="rId4" action="ppaction://hlinksldjump"/>
              </a:rPr>
              <a:t>SOGI items</a:t>
            </a:r>
            <a:endParaRPr lang="en-US" sz="2400" dirty="0">
              <a:solidFill>
                <a:schemeClr val="dk1"/>
              </a:solidFill>
            </a:endParaRPr>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8</a:t>
            </a:fld>
            <a:endParaRPr lang="en-US" dirty="0"/>
          </a:p>
        </p:txBody>
      </p:sp>
    </p:spTree>
    <p:extLst>
      <p:ext uri="{BB962C8B-B14F-4D97-AF65-F5344CB8AC3E}">
        <p14:creationId xmlns:p14="http://schemas.microsoft.com/office/powerpoint/2010/main" val="825801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SOGI Items</a:t>
            </a:r>
          </a:p>
        </p:txBody>
      </p:sp>
      <p:sp>
        <p:nvSpPr>
          <p:cNvPr id="3" name="Content Placeholder 2">
            <a:extLst>
              <a:ext uri="{FF2B5EF4-FFF2-40B4-BE49-F238E27FC236}">
                <a16:creationId xmlns:a16="http://schemas.microsoft.com/office/drawing/2014/main" id="{9C48E90E-9A2F-9871-B9C8-FD6F4E606DE2}"/>
              </a:ext>
            </a:extLst>
          </p:cNvPr>
          <p:cNvSpPr>
            <a:spLocks noGrp="1"/>
          </p:cNvSpPr>
          <p:nvPr>
            <p:ph idx="1"/>
          </p:nvPr>
        </p:nvSpPr>
        <p:spPr/>
        <p:txBody>
          <a:bodyPr/>
          <a:lstStyle/>
          <a:p>
            <a:pPr marL="0" indent="0">
              <a:buNone/>
            </a:pPr>
            <a:r>
              <a:rPr lang="en-US" dirty="0"/>
              <a:t>Gender						Sexual Orientation</a:t>
            </a:r>
          </a:p>
        </p:txBody>
      </p:sp>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9</a:t>
            </a:fld>
            <a:endParaRPr lang="en-US" dirty="0"/>
          </a:p>
        </p:txBody>
      </p:sp>
      <p:grpSp>
        <p:nvGrpSpPr>
          <p:cNvPr id="5" name="Google Shape;111;p22">
            <a:extLst>
              <a:ext uri="{FF2B5EF4-FFF2-40B4-BE49-F238E27FC236}">
                <a16:creationId xmlns:a16="http://schemas.microsoft.com/office/drawing/2014/main" id="{17D5D725-6FBC-B6D2-314E-41EB9EB6A89E}"/>
              </a:ext>
            </a:extLst>
          </p:cNvPr>
          <p:cNvGrpSpPr>
            <a:grpSpLocks noChangeAspect="1"/>
          </p:cNvGrpSpPr>
          <p:nvPr/>
        </p:nvGrpSpPr>
        <p:grpSpPr>
          <a:xfrm>
            <a:off x="609601" y="2292085"/>
            <a:ext cx="4967925" cy="3383280"/>
            <a:chOff x="810975" y="1761575"/>
            <a:chExt cx="4598300" cy="3100576"/>
          </a:xfrm>
        </p:grpSpPr>
        <p:pic>
          <p:nvPicPr>
            <p:cNvPr id="6" name="Google Shape;112;p22">
              <a:extLst>
                <a:ext uri="{FF2B5EF4-FFF2-40B4-BE49-F238E27FC236}">
                  <a16:creationId xmlns:a16="http://schemas.microsoft.com/office/drawing/2014/main" id="{94534749-E0A7-FBEC-9BD9-D938B35A8727}"/>
                </a:ext>
              </a:extLst>
            </p:cNvPr>
            <p:cNvPicPr preferRelativeResize="0"/>
            <p:nvPr/>
          </p:nvPicPr>
          <p:blipFill>
            <a:blip r:embed="rId2">
              <a:alphaModFix/>
            </a:blip>
            <a:stretch>
              <a:fillRect/>
            </a:stretch>
          </p:blipFill>
          <p:spPr>
            <a:xfrm>
              <a:off x="810975" y="1761575"/>
              <a:ext cx="4598300" cy="1157191"/>
            </a:xfrm>
            <a:prstGeom prst="rect">
              <a:avLst/>
            </a:prstGeom>
            <a:noFill/>
            <a:ln>
              <a:noFill/>
            </a:ln>
          </p:spPr>
        </p:pic>
        <p:pic>
          <p:nvPicPr>
            <p:cNvPr id="7" name="Google Shape;113;p22">
              <a:extLst>
                <a:ext uri="{FF2B5EF4-FFF2-40B4-BE49-F238E27FC236}">
                  <a16:creationId xmlns:a16="http://schemas.microsoft.com/office/drawing/2014/main" id="{361D95E9-3C10-DEC9-2E65-C229F2BBCDD6}"/>
                </a:ext>
              </a:extLst>
            </p:cNvPr>
            <p:cNvPicPr preferRelativeResize="0"/>
            <p:nvPr/>
          </p:nvPicPr>
          <p:blipFill>
            <a:blip r:embed="rId3">
              <a:alphaModFix/>
            </a:blip>
            <a:stretch>
              <a:fillRect/>
            </a:stretch>
          </p:blipFill>
          <p:spPr>
            <a:xfrm>
              <a:off x="810975" y="2918775"/>
              <a:ext cx="4598299" cy="1943376"/>
            </a:xfrm>
            <a:prstGeom prst="rect">
              <a:avLst/>
            </a:prstGeom>
            <a:noFill/>
            <a:ln>
              <a:noFill/>
            </a:ln>
          </p:spPr>
        </p:pic>
      </p:grpSp>
      <p:pic>
        <p:nvPicPr>
          <p:cNvPr id="9" name="Google Shape;120;p23">
            <a:extLst>
              <a:ext uri="{FF2B5EF4-FFF2-40B4-BE49-F238E27FC236}">
                <a16:creationId xmlns:a16="http://schemas.microsoft.com/office/drawing/2014/main" id="{B42763DF-8BF5-AC49-2430-563546819C17}"/>
              </a:ext>
            </a:extLst>
          </p:cNvPr>
          <p:cNvPicPr preferRelativeResize="0">
            <a:picLocks noChangeAspect="1"/>
          </p:cNvPicPr>
          <p:nvPr/>
        </p:nvPicPr>
        <p:blipFill>
          <a:blip r:embed="rId4">
            <a:alphaModFix/>
          </a:blip>
          <a:stretch>
            <a:fillRect/>
          </a:stretch>
        </p:blipFill>
        <p:spPr>
          <a:xfrm>
            <a:off x="6858000" y="2352821"/>
            <a:ext cx="4510212" cy="2926080"/>
          </a:xfrm>
          <a:prstGeom prst="rect">
            <a:avLst/>
          </a:prstGeom>
          <a:noFill/>
          <a:ln>
            <a:noFill/>
          </a:ln>
        </p:spPr>
      </p:pic>
      <p:sp>
        <p:nvSpPr>
          <p:cNvPr id="8" name="TextBox 7">
            <a:extLst>
              <a:ext uri="{FF2B5EF4-FFF2-40B4-BE49-F238E27FC236}">
                <a16:creationId xmlns:a16="http://schemas.microsoft.com/office/drawing/2014/main" id="{49F23DA5-A12C-F5F1-15CC-0E60E7518151}"/>
              </a:ext>
            </a:extLst>
          </p:cNvPr>
          <p:cNvSpPr txBox="1"/>
          <p:nvPr/>
        </p:nvSpPr>
        <p:spPr>
          <a:xfrm>
            <a:off x="990600" y="6126164"/>
            <a:ext cx="6553200" cy="369332"/>
          </a:xfrm>
          <a:prstGeom prst="rect">
            <a:avLst/>
          </a:prstGeom>
          <a:noFill/>
        </p:spPr>
        <p:txBody>
          <a:bodyPr wrap="square" rtlCol="0">
            <a:spAutoFit/>
          </a:bodyPr>
          <a:lstStyle/>
          <a:p>
            <a:r>
              <a:rPr lang="en-US" i="1" dirty="0">
                <a:latin typeface="Proxima Nova" panose="02000506030000020004" pitchFamily="2" charset="0"/>
              </a:rPr>
              <a:t>Based on Williams Institute recommendations</a:t>
            </a:r>
          </a:p>
        </p:txBody>
      </p:sp>
    </p:spTree>
    <p:extLst>
      <p:ext uri="{BB962C8B-B14F-4D97-AF65-F5344CB8AC3E}">
        <p14:creationId xmlns:p14="http://schemas.microsoft.com/office/powerpoint/2010/main" val="211023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F1C8-9177-1BCB-ED87-3C5CBCF3F70C}"/>
              </a:ext>
            </a:extLst>
          </p:cNvPr>
          <p:cNvSpPr>
            <a:spLocks noGrp="1"/>
          </p:cNvSpPr>
          <p:nvPr>
            <p:ph type="title"/>
          </p:nvPr>
        </p:nvSpPr>
        <p:spPr/>
        <p:txBody>
          <a:bodyPr/>
          <a:lstStyle/>
          <a:p>
            <a:r>
              <a:rPr lang="en-US" dirty="0"/>
              <a:t>Sample by LGBTQ+ Status</a:t>
            </a:r>
          </a:p>
        </p:txBody>
      </p:sp>
      <p:sp>
        <p:nvSpPr>
          <p:cNvPr id="4" name="Slide Number Placeholder 3">
            <a:extLst>
              <a:ext uri="{FF2B5EF4-FFF2-40B4-BE49-F238E27FC236}">
                <a16:creationId xmlns:a16="http://schemas.microsoft.com/office/drawing/2014/main" id="{FE92655F-D3F4-D0BA-F10D-B0E3FBF404F8}"/>
              </a:ext>
            </a:extLst>
          </p:cNvPr>
          <p:cNvSpPr>
            <a:spLocks noGrp="1"/>
          </p:cNvSpPr>
          <p:nvPr>
            <p:ph type="sldNum" sz="quarter" idx="12"/>
          </p:nvPr>
        </p:nvSpPr>
        <p:spPr/>
        <p:txBody>
          <a:bodyPr/>
          <a:lstStyle/>
          <a:p>
            <a:fld id="{80DD8C35-F8B3-4049-95AF-A34E38FBBA50}" type="slidenum">
              <a:rPr lang="en-US" smtClean="0"/>
              <a:pPr/>
              <a:t>10</a:t>
            </a:fld>
            <a:endParaRPr lang="en-US" dirty="0"/>
          </a:p>
        </p:txBody>
      </p:sp>
      <p:graphicFrame>
        <p:nvGraphicFramePr>
          <p:cNvPr id="12" name="Content Placeholder 11">
            <a:extLst>
              <a:ext uri="{FF2B5EF4-FFF2-40B4-BE49-F238E27FC236}">
                <a16:creationId xmlns:a16="http://schemas.microsoft.com/office/drawing/2014/main" id="{3A84C234-266B-5920-BE17-0BBAE7CA2647}"/>
              </a:ext>
            </a:extLst>
          </p:cNvPr>
          <p:cNvGraphicFramePr>
            <a:graphicFrameLocks noGrp="1"/>
          </p:cNvGraphicFramePr>
          <p:nvPr>
            <p:ph idx="1"/>
            <p:extLst>
              <p:ext uri="{D42A27DB-BD31-4B8C-83A1-F6EECF244321}">
                <p14:modId xmlns:p14="http://schemas.microsoft.com/office/powerpoint/2010/main" val="386825705"/>
              </p:ext>
            </p:extLst>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5864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10D65-95A3-9F79-9ADE-7BA56803EED0}"/>
              </a:ext>
            </a:extLst>
          </p:cNvPr>
          <p:cNvSpPr>
            <a:spLocks noGrp="1"/>
          </p:cNvSpPr>
          <p:nvPr>
            <p:ph type="title"/>
          </p:nvPr>
        </p:nvSpPr>
        <p:spPr/>
        <p:txBody>
          <a:bodyPr/>
          <a:lstStyle/>
          <a:p>
            <a:r>
              <a:rPr lang="en-US" dirty="0"/>
              <a:t>Classification of Gender Identity</a:t>
            </a:r>
          </a:p>
        </p:txBody>
      </p:sp>
      <p:pic>
        <p:nvPicPr>
          <p:cNvPr id="8" name="Content Placeholder 7" descr="Flow chart of classification of gender identity using survey items">
            <a:extLst>
              <a:ext uri="{FF2B5EF4-FFF2-40B4-BE49-F238E27FC236}">
                <a16:creationId xmlns:a16="http://schemas.microsoft.com/office/drawing/2014/main" id="{D2D804D4-44EA-DBB8-8BC8-8C67035EA8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1576" y="1447800"/>
            <a:ext cx="7928848" cy="5181600"/>
          </a:xfrm>
        </p:spPr>
      </p:pic>
      <p:sp>
        <p:nvSpPr>
          <p:cNvPr id="4" name="Slide Number Placeholder 3">
            <a:extLst>
              <a:ext uri="{FF2B5EF4-FFF2-40B4-BE49-F238E27FC236}">
                <a16:creationId xmlns:a16="http://schemas.microsoft.com/office/drawing/2014/main" id="{F098938A-289B-D53B-0990-D791FDC0E612}"/>
              </a:ext>
            </a:extLst>
          </p:cNvPr>
          <p:cNvSpPr>
            <a:spLocks noGrp="1"/>
          </p:cNvSpPr>
          <p:nvPr>
            <p:ph type="sldNum" sz="quarter" idx="12"/>
          </p:nvPr>
        </p:nvSpPr>
        <p:spPr/>
        <p:txBody>
          <a:bodyPr/>
          <a:lstStyle/>
          <a:p>
            <a:fld id="{80DD8C35-F8B3-4049-95AF-A34E38FBBA50}" type="slidenum">
              <a:rPr lang="en-US" smtClean="0"/>
              <a:pPr/>
              <a:t>11</a:t>
            </a:fld>
            <a:endParaRPr lang="en-US" dirty="0"/>
          </a:p>
        </p:txBody>
      </p:sp>
    </p:spTree>
    <p:extLst>
      <p:ext uri="{BB962C8B-B14F-4D97-AF65-F5344CB8AC3E}">
        <p14:creationId xmlns:p14="http://schemas.microsoft.com/office/powerpoint/2010/main" val="2642752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100-D13A-1167-29AF-813D6C3A94A8}"/>
              </a:ext>
            </a:extLst>
          </p:cNvPr>
          <p:cNvSpPr>
            <a:spLocks noGrp="1"/>
          </p:cNvSpPr>
          <p:nvPr>
            <p:ph type="title"/>
          </p:nvPr>
        </p:nvSpPr>
        <p:spPr/>
        <p:txBody>
          <a:bodyPr/>
          <a:lstStyle/>
          <a:p>
            <a:r>
              <a:rPr lang="en-US" dirty="0"/>
              <a:t>Gender and Sexuality Diversity</a:t>
            </a:r>
          </a:p>
        </p:txBody>
      </p:sp>
      <p:sp>
        <p:nvSpPr>
          <p:cNvPr id="4" name="Slide Number Placeholder 3">
            <a:extLst>
              <a:ext uri="{FF2B5EF4-FFF2-40B4-BE49-F238E27FC236}">
                <a16:creationId xmlns:a16="http://schemas.microsoft.com/office/drawing/2014/main" id="{B9097EBF-B75E-79FD-F33D-3B1F69BB851E}"/>
              </a:ext>
            </a:extLst>
          </p:cNvPr>
          <p:cNvSpPr>
            <a:spLocks noGrp="1"/>
          </p:cNvSpPr>
          <p:nvPr>
            <p:ph type="sldNum" sz="quarter" idx="12"/>
          </p:nvPr>
        </p:nvSpPr>
        <p:spPr/>
        <p:txBody>
          <a:bodyPr/>
          <a:lstStyle/>
          <a:p>
            <a:fld id="{80DD8C35-F8B3-4049-95AF-A34E38FBBA50}" type="slidenum">
              <a:rPr lang="en-US" smtClean="0"/>
              <a:pPr/>
              <a:t>12</a:t>
            </a:fld>
            <a:endParaRPr lang="en-US" dirty="0"/>
          </a:p>
        </p:txBody>
      </p:sp>
      <p:pic>
        <p:nvPicPr>
          <p:cNvPr id="8" name="Picture 7" descr="A person's head with words&#10;&#10;Description automatically generated">
            <a:extLst>
              <a:ext uri="{FF2B5EF4-FFF2-40B4-BE49-F238E27FC236}">
                <a16:creationId xmlns:a16="http://schemas.microsoft.com/office/drawing/2014/main" id="{C1DCFE1C-FEDD-FC4F-F5E5-5E5A5E38D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8" y="1781906"/>
            <a:ext cx="5257802" cy="4819652"/>
          </a:xfrm>
          <a:prstGeom prst="rect">
            <a:avLst/>
          </a:prstGeom>
        </p:spPr>
      </p:pic>
      <p:pic>
        <p:nvPicPr>
          <p:cNvPr id="10" name="Picture 9" descr="A heart shaped sign with words&#10;&#10;Description automatically generated">
            <a:extLst>
              <a:ext uri="{FF2B5EF4-FFF2-40B4-BE49-F238E27FC236}">
                <a16:creationId xmlns:a16="http://schemas.microsoft.com/office/drawing/2014/main" id="{7C317E38-933E-0CF3-9AAD-D4397532D4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308" y="1629507"/>
            <a:ext cx="5590309" cy="5124450"/>
          </a:xfrm>
          <a:prstGeom prst="rect">
            <a:avLst/>
          </a:prstGeom>
        </p:spPr>
      </p:pic>
    </p:spTree>
    <p:extLst>
      <p:ext uri="{BB962C8B-B14F-4D97-AF65-F5344CB8AC3E}">
        <p14:creationId xmlns:p14="http://schemas.microsoft.com/office/powerpoint/2010/main" val="85418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1200329"/>
          </a:xfrm>
          <a:prstGeom prst="rect">
            <a:avLst/>
          </a:prstGeom>
          <a:noFill/>
        </p:spPr>
        <p:txBody>
          <a:bodyPr wrap="square" rtlCol="0">
            <a:spAutoFit/>
          </a:bodyPr>
          <a:lstStyle/>
          <a:p>
            <a:pPr algn="ctr"/>
            <a:r>
              <a:rPr lang="en-US" sz="3600" spc="300" dirty="0">
                <a:solidFill>
                  <a:schemeClr val="bg1"/>
                </a:solidFill>
                <a:latin typeface="Proxima Nova Rg" panose="02000506030000020004" pitchFamily="2" charset="0"/>
                <a:cs typeface="Calibri" panose="020F0502020204030204" pitchFamily="34" charset="0"/>
              </a:rPr>
              <a:t>HIGH SCHOOL EXPERIENCE</a:t>
            </a:r>
          </a:p>
        </p:txBody>
      </p:sp>
      <p:sp>
        <p:nvSpPr>
          <p:cNvPr id="3" name="Slide Number Placeholder 2">
            <a:extLst>
              <a:ext uri="{FF2B5EF4-FFF2-40B4-BE49-F238E27FC236}">
                <a16:creationId xmlns:a16="http://schemas.microsoft.com/office/drawing/2014/main" id="{6B20D7AB-3315-C64B-53D1-E9A1CC23F833}"/>
              </a:ext>
            </a:extLst>
          </p:cNvPr>
          <p:cNvSpPr>
            <a:spLocks noGrp="1"/>
          </p:cNvSpPr>
          <p:nvPr>
            <p:ph type="sldNum" sz="quarter" idx="12"/>
          </p:nvPr>
        </p:nvSpPr>
        <p:spPr/>
        <p:txBody>
          <a:bodyPr/>
          <a:lstStyle/>
          <a:p>
            <a:fld id="{80DD8C35-F8B3-4049-95AF-A34E38FBBA50}" type="slidenum">
              <a:rPr lang="en-US" smtClean="0"/>
              <a:pPr/>
              <a:t>13</a:t>
            </a:fld>
            <a:endParaRPr lang="en-US" dirty="0"/>
          </a:p>
        </p:txBody>
      </p:sp>
    </p:spTree>
    <p:extLst>
      <p:ext uri="{BB962C8B-B14F-4D97-AF65-F5344CB8AC3E}">
        <p14:creationId xmlns:p14="http://schemas.microsoft.com/office/powerpoint/2010/main" val="1481700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3BFF-7510-B29C-647E-645EA0A800A8}"/>
              </a:ext>
            </a:extLst>
          </p:cNvPr>
          <p:cNvSpPr>
            <a:spLocks noGrp="1"/>
          </p:cNvSpPr>
          <p:nvPr>
            <p:ph type="title"/>
          </p:nvPr>
        </p:nvSpPr>
        <p:spPr>
          <a:xfrm>
            <a:off x="457200" y="140830"/>
            <a:ext cx="11277600" cy="1143000"/>
          </a:xfrm>
        </p:spPr>
        <p:txBody>
          <a:bodyPr anchor="ctr">
            <a:normAutofit fontScale="90000"/>
          </a:bodyPr>
          <a:lstStyle/>
          <a:p>
            <a:pPr>
              <a:lnSpc>
                <a:spcPct val="90000"/>
              </a:lnSpc>
            </a:pPr>
            <a:r>
              <a:rPr lang="en" dirty="0"/>
              <a:t>LGBTQ+ Students More Likely to Experience Bullying</a:t>
            </a:r>
            <a:endParaRPr lang="en-US" dirty="0"/>
          </a:p>
        </p:txBody>
      </p:sp>
      <p:sp>
        <p:nvSpPr>
          <p:cNvPr id="4" name="Slide Number Placeholder 3">
            <a:extLst>
              <a:ext uri="{FF2B5EF4-FFF2-40B4-BE49-F238E27FC236}">
                <a16:creationId xmlns:a16="http://schemas.microsoft.com/office/drawing/2014/main" id="{708AED36-6317-78DC-59BA-35F38CEB8342}"/>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14</a:t>
            </a:fld>
            <a:endParaRPr lang="en-US" dirty="0"/>
          </a:p>
        </p:txBody>
      </p:sp>
      <p:pic>
        <p:nvPicPr>
          <p:cNvPr id="6" name="Picture 5">
            <a:extLst>
              <a:ext uri="{FF2B5EF4-FFF2-40B4-BE49-F238E27FC236}">
                <a16:creationId xmlns:a16="http://schemas.microsoft.com/office/drawing/2014/main" id="{D796E637-CBBE-B2F0-5187-31980582CB29}"/>
              </a:ext>
            </a:extLst>
          </p:cNvPr>
          <p:cNvPicPr>
            <a:picLocks noChangeAspect="1"/>
          </p:cNvPicPr>
          <p:nvPr/>
        </p:nvPicPr>
        <p:blipFill>
          <a:blip r:embed="rId2"/>
          <a:stretch>
            <a:fillRect/>
          </a:stretch>
        </p:blipFill>
        <p:spPr>
          <a:xfrm>
            <a:off x="2120348" y="1524000"/>
            <a:ext cx="7951304" cy="5029200"/>
          </a:xfrm>
          <a:prstGeom prst="rect">
            <a:avLst/>
          </a:prstGeom>
        </p:spPr>
      </p:pic>
    </p:spTree>
    <p:extLst>
      <p:ext uri="{BB962C8B-B14F-4D97-AF65-F5344CB8AC3E}">
        <p14:creationId xmlns:p14="http://schemas.microsoft.com/office/powerpoint/2010/main" val="69484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D2C4-F64C-4F53-20B7-5AF9134D19C8}"/>
              </a:ext>
            </a:extLst>
          </p:cNvPr>
          <p:cNvSpPr>
            <a:spLocks noGrp="1"/>
          </p:cNvSpPr>
          <p:nvPr>
            <p:ph type="title"/>
          </p:nvPr>
        </p:nvSpPr>
        <p:spPr>
          <a:xfrm>
            <a:off x="647700" y="85725"/>
            <a:ext cx="10896600" cy="1143000"/>
          </a:xfrm>
        </p:spPr>
        <p:txBody>
          <a:bodyPr anchor="ctr">
            <a:noAutofit/>
          </a:bodyPr>
          <a:lstStyle/>
          <a:p>
            <a:pPr>
              <a:lnSpc>
                <a:spcPct val="90000"/>
              </a:lnSpc>
            </a:pPr>
            <a:r>
              <a:rPr lang="en-US" dirty="0"/>
              <a:t>Reasons Bullied: Gender and Sexual Orientation</a:t>
            </a:r>
          </a:p>
        </p:txBody>
      </p:sp>
      <p:sp>
        <p:nvSpPr>
          <p:cNvPr id="4" name="Slide Number Placeholder 3">
            <a:extLst>
              <a:ext uri="{FF2B5EF4-FFF2-40B4-BE49-F238E27FC236}">
                <a16:creationId xmlns:a16="http://schemas.microsoft.com/office/drawing/2014/main" id="{DC9146AD-0370-80A3-2C14-82949BB4B6D8}"/>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15</a:t>
            </a:fld>
            <a:endParaRPr lang="en-US" dirty="0"/>
          </a:p>
        </p:txBody>
      </p:sp>
      <p:pic>
        <p:nvPicPr>
          <p:cNvPr id="5" name="Picture 4">
            <a:extLst>
              <a:ext uri="{FF2B5EF4-FFF2-40B4-BE49-F238E27FC236}">
                <a16:creationId xmlns:a16="http://schemas.microsoft.com/office/drawing/2014/main" id="{160787F0-2E7F-41A4-90A3-9C9C6388D3F8}"/>
              </a:ext>
            </a:extLst>
          </p:cNvPr>
          <p:cNvPicPr>
            <a:picLocks noChangeAspect="1"/>
          </p:cNvPicPr>
          <p:nvPr/>
        </p:nvPicPr>
        <p:blipFill>
          <a:blip r:embed="rId2"/>
          <a:stretch>
            <a:fillRect/>
          </a:stretch>
        </p:blipFill>
        <p:spPr>
          <a:xfrm>
            <a:off x="1575803" y="1600200"/>
            <a:ext cx="9040393" cy="4876800"/>
          </a:xfrm>
          <a:prstGeom prst="rect">
            <a:avLst/>
          </a:prstGeom>
        </p:spPr>
      </p:pic>
    </p:spTree>
    <p:extLst>
      <p:ext uri="{BB962C8B-B14F-4D97-AF65-F5344CB8AC3E}">
        <p14:creationId xmlns:p14="http://schemas.microsoft.com/office/powerpoint/2010/main" val="1956644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C20BB-D138-74C3-D484-3C9347111A4F}"/>
              </a:ext>
            </a:extLst>
          </p:cNvPr>
          <p:cNvSpPr>
            <a:spLocks noGrp="1"/>
          </p:cNvSpPr>
          <p:nvPr>
            <p:ph type="title"/>
          </p:nvPr>
        </p:nvSpPr>
        <p:spPr/>
        <p:txBody>
          <a:bodyPr/>
          <a:lstStyle/>
          <a:p>
            <a:r>
              <a:rPr lang="en-US" dirty="0"/>
              <a:t>High School Experience Index</a:t>
            </a:r>
          </a:p>
        </p:txBody>
      </p:sp>
      <p:sp>
        <p:nvSpPr>
          <p:cNvPr id="3" name="Content Placeholder 2">
            <a:extLst>
              <a:ext uri="{FF2B5EF4-FFF2-40B4-BE49-F238E27FC236}">
                <a16:creationId xmlns:a16="http://schemas.microsoft.com/office/drawing/2014/main" id="{006C6C52-92FA-150A-EFED-D434A46FBC6F}"/>
              </a:ext>
            </a:extLst>
          </p:cNvPr>
          <p:cNvSpPr>
            <a:spLocks noGrp="1"/>
          </p:cNvSpPr>
          <p:nvPr>
            <p:ph idx="1"/>
          </p:nvPr>
        </p:nvSpPr>
        <p:spPr>
          <a:xfrm>
            <a:off x="152400" y="1600200"/>
            <a:ext cx="4876800" cy="4525963"/>
          </a:xfrm>
        </p:spPr>
        <p:txBody>
          <a:bodyPr/>
          <a:lstStyle/>
          <a:p>
            <a:r>
              <a:rPr lang="en-US" dirty="0">
                <a:solidFill>
                  <a:schemeClr val="dk1"/>
                </a:solidFill>
              </a:rPr>
              <a:t>We construct an index from </a:t>
            </a:r>
            <a:r>
              <a:rPr lang="en-US" dirty="0">
                <a:solidFill>
                  <a:schemeClr val="dk1"/>
                </a:solidFill>
                <a:hlinkClick r:id="rId3" action="ppaction://hlinksldjump"/>
              </a:rPr>
              <a:t>HS experience</a:t>
            </a:r>
            <a:r>
              <a:rPr lang="en-US" dirty="0">
                <a:solidFill>
                  <a:schemeClr val="dk1"/>
                </a:solidFill>
              </a:rPr>
              <a:t> items</a:t>
            </a:r>
          </a:p>
          <a:p>
            <a:pPr lvl="1"/>
            <a:r>
              <a:rPr lang="en-US" dirty="0">
                <a:solidFill>
                  <a:schemeClr val="dk1"/>
                </a:solidFill>
              </a:rPr>
              <a:t>6 items, range [-2, 2]</a:t>
            </a:r>
          </a:p>
          <a:p>
            <a:pPr lvl="1"/>
            <a:r>
              <a:rPr lang="en-US" dirty="0">
                <a:solidFill>
                  <a:schemeClr val="dk1"/>
                </a:solidFill>
              </a:rPr>
              <a:t>Alpha &gt; 0.7</a:t>
            </a:r>
          </a:p>
          <a:p>
            <a:r>
              <a:rPr lang="en-US" dirty="0">
                <a:solidFill>
                  <a:schemeClr val="dk1"/>
                </a:solidFill>
              </a:rPr>
              <a:t>Index range [-12, 12]</a:t>
            </a:r>
          </a:p>
          <a:p>
            <a:pPr lvl="1"/>
            <a:r>
              <a:rPr lang="en-US" dirty="0">
                <a:solidFill>
                  <a:schemeClr val="dk1"/>
                </a:solidFill>
              </a:rPr>
              <a:t>Lower value = more negative experience</a:t>
            </a:r>
          </a:p>
          <a:p>
            <a:pPr marL="0" indent="0">
              <a:buNone/>
            </a:pPr>
            <a:endParaRPr lang="en-US" dirty="0">
              <a:solidFill>
                <a:schemeClr val="dk1"/>
              </a:solidFill>
            </a:endParaRPr>
          </a:p>
          <a:p>
            <a:endParaRPr lang="en-US" dirty="0"/>
          </a:p>
        </p:txBody>
      </p:sp>
      <p:sp>
        <p:nvSpPr>
          <p:cNvPr id="4" name="Slide Number Placeholder 3">
            <a:extLst>
              <a:ext uri="{FF2B5EF4-FFF2-40B4-BE49-F238E27FC236}">
                <a16:creationId xmlns:a16="http://schemas.microsoft.com/office/drawing/2014/main" id="{26751B7F-71F6-D930-D488-681CC36AA124}"/>
              </a:ext>
            </a:extLst>
          </p:cNvPr>
          <p:cNvSpPr>
            <a:spLocks noGrp="1"/>
          </p:cNvSpPr>
          <p:nvPr>
            <p:ph type="sldNum" sz="quarter" idx="12"/>
          </p:nvPr>
        </p:nvSpPr>
        <p:spPr/>
        <p:txBody>
          <a:bodyPr/>
          <a:lstStyle/>
          <a:p>
            <a:fld id="{80DD8C35-F8B3-4049-95AF-A34E38FBBA50}" type="slidenum">
              <a:rPr lang="en-US" smtClean="0"/>
              <a:pPr/>
              <a:t>16</a:t>
            </a:fld>
            <a:endParaRPr lang="en-US" dirty="0"/>
          </a:p>
        </p:txBody>
      </p:sp>
      <p:graphicFrame>
        <p:nvGraphicFramePr>
          <p:cNvPr id="5" name="Content Placeholder 7">
            <a:extLst>
              <a:ext uri="{FF2B5EF4-FFF2-40B4-BE49-F238E27FC236}">
                <a16:creationId xmlns:a16="http://schemas.microsoft.com/office/drawing/2014/main" id="{684A2B15-A552-689A-7130-54C9F4506B53}"/>
              </a:ext>
            </a:extLst>
          </p:cNvPr>
          <p:cNvGraphicFramePr>
            <a:graphicFrameLocks/>
          </p:cNvGraphicFramePr>
          <p:nvPr>
            <p:extLst>
              <p:ext uri="{D42A27DB-BD31-4B8C-83A1-F6EECF244321}">
                <p14:modId xmlns:p14="http://schemas.microsoft.com/office/powerpoint/2010/main" val="3388335008"/>
              </p:ext>
            </p:extLst>
          </p:nvPr>
        </p:nvGraphicFramePr>
        <p:xfrm>
          <a:off x="5029200" y="1600200"/>
          <a:ext cx="6781800" cy="45259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96528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03E4-B254-81C4-39EF-5536E13F551F}"/>
              </a:ext>
            </a:extLst>
          </p:cNvPr>
          <p:cNvSpPr>
            <a:spLocks noGrp="1"/>
          </p:cNvSpPr>
          <p:nvPr>
            <p:ph type="title"/>
          </p:nvPr>
        </p:nvSpPr>
        <p:spPr/>
        <p:txBody>
          <a:bodyPr>
            <a:normAutofit fontScale="90000"/>
          </a:bodyPr>
          <a:lstStyle/>
          <a:p>
            <a:r>
              <a:rPr lang="en-US" dirty="0"/>
              <a:t>Disparities in HS Experience: Regression Analysis</a:t>
            </a:r>
          </a:p>
        </p:txBody>
      </p:sp>
      <p:pic>
        <p:nvPicPr>
          <p:cNvPr id="6" name="Content Placeholder 5" descr="A graph with a bar chart&#10;&#10;AI-generated content may be incorrect.">
            <a:extLst>
              <a:ext uri="{FF2B5EF4-FFF2-40B4-BE49-F238E27FC236}">
                <a16:creationId xmlns:a16="http://schemas.microsoft.com/office/drawing/2014/main" id="{0458DB08-5D8E-2BD0-D9A0-45E3CA392E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6048" y="1786050"/>
            <a:ext cx="5662568" cy="4114800"/>
          </a:xfrm>
        </p:spPr>
      </p:pic>
      <p:sp>
        <p:nvSpPr>
          <p:cNvPr id="4" name="Slide Number Placeholder 3">
            <a:extLst>
              <a:ext uri="{FF2B5EF4-FFF2-40B4-BE49-F238E27FC236}">
                <a16:creationId xmlns:a16="http://schemas.microsoft.com/office/drawing/2014/main" id="{AAAAA666-C00A-46A2-110F-EFACF3FA64C7}"/>
              </a:ext>
            </a:extLst>
          </p:cNvPr>
          <p:cNvSpPr>
            <a:spLocks noGrp="1"/>
          </p:cNvSpPr>
          <p:nvPr>
            <p:ph type="sldNum" sz="quarter" idx="12"/>
          </p:nvPr>
        </p:nvSpPr>
        <p:spPr/>
        <p:txBody>
          <a:bodyPr/>
          <a:lstStyle/>
          <a:p>
            <a:fld id="{80DD8C35-F8B3-4049-95AF-A34E38FBBA50}" type="slidenum">
              <a:rPr lang="en-US" smtClean="0"/>
              <a:pPr/>
              <a:t>17</a:t>
            </a:fld>
            <a:endParaRPr lang="en-US" dirty="0"/>
          </a:p>
        </p:txBody>
      </p:sp>
      <p:pic>
        <p:nvPicPr>
          <p:cNvPr id="8" name="Picture 7" descr="A graph with numbers and lines&#10;&#10;AI-generated content may be incorrect.">
            <a:extLst>
              <a:ext uri="{FF2B5EF4-FFF2-40B4-BE49-F238E27FC236}">
                <a16:creationId xmlns:a16="http://schemas.microsoft.com/office/drawing/2014/main" id="{6134A2BA-9FD9-69DD-F8D8-76A8B7EE9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84" y="1786050"/>
            <a:ext cx="5662570" cy="4114800"/>
          </a:xfrm>
          <a:prstGeom prst="rect">
            <a:avLst/>
          </a:prstGeom>
        </p:spPr>
      </p:pic>
    </p:spTree>
    <p:extLst>
      <p:ext uri="{BB962C8B-B14F-4D97-AF65-F5344CB8AC3E}">
        <p14:creationId xmlns:p14="http://schemas.microsoft.com/office/powerpoint/2010/main" val="2480556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1200329"/>
          </a:xfrm>
          <a:prstGeom prst="rect">
            <a:avLst/>
          </a:prstGeom>
          <a:noFill/>
        </p:spPr>
        <p:txBody>
          <a:bodyPr wrap="square" rtlCol="0">
            <a:spAutoFit/>
          </a:bodyPr>
          <a:lstStyle/>
          <a:p>
            <a:pPr algn="ctr">
              <a:defRPr/>
            </a:pPr>
            <a:r>
              <a:rPr lang="en-US" sz="3600" spc="300" dirty="0">
                <a:solidFill>
                  <a:prstClr val="white"/>
                </a:solidFill>
                <a:latin typeface="Proxima Nova Rg" panose="02000506030000020004" pitchFamily="2" charset="0"/>
                <a:cs typeface="Calibri" panose="020F0502020204030204" pitchFamily="34" charset="0"/>
              </a:rPr>
              <a:t>WORRIES ABOUT COLLEGE</a:t>
            </a:r>
          </a:p>
        </p:txBody>
      </p:sp>
      <p:sp>
        <p:nvSpPr>
          <p:cNvPr id="3" name="Slide Number Placeholder 2">
            <a:extLst>
              <a:ext uri="{FF2B5EF4-FFF2-40B4-BE49-F238E27FC236}">
                <a16:creationId xmlns:a16="http://schemas.microsoft.com/office/drawing/2014/main" id="{2E7B4148-6A9F-0B46-6DC4-F0C771BDEA40}"/>
              </a:ext>
            </a:extLst>
          </p:cNvPr>
          <p:cNvSpPr>
            <a:spLocks noGrp="1"/>
          </p:cNvSpPr>
          <p:nvPr>
            <p:ph type="sldNum" sz="quarter" idx="12"/>
          </p:nvPr>
        </p:nvSpPr>
        <p:spPr/>
        <p:txBody>
          <a:bodyPr/>
          <a:lstStyle/>
          <a:p>
            <a:fld id="{80DD8C35-F8B3-4049-95AF-A34E38FBBA50}" type="slidenum">
              <a:rPr lang="en-US" smtClean="0"/>
              <a:pPr/>
              <a:t>18</a:t>
            </a:fld>
            <a:endParaRPr lang="en-US" dirty="0"/>
          </a:p>
        </p:txBody>
      </p:sp>
    </p:spTree>
    <p:extLst>
      <p:ext uri="{BB962C8B-B14F-4D97-AF65-F5344CB8AC3E}">
        <p14:creationId xmlns:p14="http://schemas.microsoft.com/office/powerpoint/2010/main" val="272534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04151-5110-415E-9D2F-4603AFE2C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FA4D6-868E-CA7B-9F4F-89E36ACC87E3}"/>
              </a:ext>
            </a:extLst>
          </p:cNvPr>
          <p:cNvSpPr>
            <a:spLocks noGrp="1"/>
          </p:cNvSpPr>
          <p:nvPr>
            <p:ph type="title"/>
          </p:nvPr>
        </p:nvSpPr>
        <p:spPr/>
        <p:txBody>
          <a:bodyPr/>
          <a:lstStyle/>
          <a:p>
            <a:r>
              <a:rPr lang="en-US" dirty="0">
                <a:latin typeface="Proxima Nova Rg" panose="02000506030000020004" pitchFamily="2" charset="0"/>
              </a:rPr>
              <a:t>Survey Items: College Concerns</a:t>
            </a:r>
          </a:p>
        </p:txBody>
      </p:sp>
      <p:graphicFrame>
        <p:nvGraphicFramePr>
          <p:cNvPr id="5" name="Content Placeholder 4">
            <a:extLst>
              <a:ext uri="{FF2B5EF4-FFF2-40B4-BE49-F238E27FC236}">
                <a16:creationId xmlns:a16="http://schemas.microsoft.com/office/drawing/2014/main" id="{6D0C50E1-2AFA-562C-9357-B3AB9D91A68C}"/>
              </a:ext>
            </a:extLst>
          </p:cNvPr>
          <p:cNvGraphicFramePr>
            <a:graphicFrameLocks noGrp="1"/>
          </p:cNvGraphicFramePr>
          <p:nvPr>
            <p:ph idx="1"/>
          </p:nvPr>
        </p:nvGraphicFramePr>
        <p:xfrm>
          <a:off x="609600" y="1981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E4712DE-9090-6521-79F4-D1D122526136}"/>
              </a:ext>
            </a:extLst>
          </p:cNvPr>
          <p:cNvSpPr>
            <a:spLocks noGrp="1"/>
          </p:cNvSpPr>
          <p:nvPr>
            <p:ph type="sldNum" sz="quarter" idx="12"/>
          </p:nvPr>
        </p:nvSpPr>
        <p:spPr/>
        <p:txBody>
          <a:bodyPr/>
          <a:lstStyle/>
          <a:p>
            <a:fld id="{80DD8C35-F8B3-4049-95AF-A34E38FBBA50}" type="slidenum">
              <a:rPr lang="en-US" smtClean="0"/>
              <a:pPr/>
              <a:t>19</a:t>
            </a:fld>
            <a:endParaRPr lang="en-US" dirty="0"/>
          </a:p>
        </p:txBody>
      </p:sp>
      <p:sp>
        <p:nvSpPr>
          <p:cNvPr id="6" name="TextBox 5">
            <a:extLst>
              <a:ext uri="{FF2B5EF4-FFF2-40B4-BE49-F238E27FC236}">
                <a16:creationId xmlns:a16="http://schemas.microsoft.com/office/drawing/2014/main" id="{1A7F5158-5579-470C-270B-03359F2BAF17}"/>
              </a:ext>
            </a:extLst>
          </p:cNvPr>
          <p:cNvSpPr txBox="1"/>
          <p:nvPr/>
        </p:nvSpPr>
        <p:spPr>
          <a:xfrm>
            <a:off x="457200" y="1409700"/>
            <a:ext cx="4800600" cy="381000"/>
          </a:xfrm>
          <a:prstGeom prst="rect">
            <a:avLst/>
          </a:prstGeom>
          <a:noFill/>
        </p:spPr>
        <p:txBody>
          <a:bodyPr wrap="square" rtlCol="0">
            <a:spAutoFit/>
          </a:bodyPr>
          <a:lstStyle/>
          <a:p>
            <a:r>
              <a:rPr lang="en-US" b="1" dirty="0">
                <a:solidFill>
                  <a:srgbClr val="014B84"/>
                </a:solidFill>
                <a:latin typeface="Proxima Nova" panose="02000506030000020004" pitchFamily="2" charset="0"/>
              </a:rPr>
              <a:t>How worried are you about… </a:t>
            </a:r>
            <a:r>
              <a:rPr lang="en-US" i="1" dirty="0">
                <a:solidFill>
                  <a:srgbClr val="014B84"/>
                </a:solidFill>
                <a:latin typeface="Proxima Nova" panose="02000506030000020004" pitchFamily="2" charset="0"/>
              </a:rPr>
              <a:t>(4 pt Likert)</a:t>
            </a:r>
          </a:p>
        </p:txBody>
      </p:sp>
    </p:spTree>
    <p:extLst>
      <p:ext uri="{BB962C8B-B14F-4D97-AF65-F5344CB8AC3E}">
        <p14:creationId xmlns:p14="http://schemas.microsoft.com/office/powerpoint/2010/main" val="2645036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F736-3A32-7D9C-C8CA-7E454B011802}"/>
              </a:ext>
            </a:extLst>
          </p:cNvPr>
          <p:cNvSpPr>
            <a:spLocks noGrp="1"/>
          </p:cNvSpPr>
          <p:nvPr>
            <p:ph type="title"/>
          </p:nvPr>
        </p:nvSpPr>
        <p:spPr/>
        <p:txBody>
          <a:bodyPr>
            <a:normAutofit/>
          </a:bodyPr>
          <a:lstStyle/>
          <a:p>
            <a:r>
              <a:rPr lang="en-US" dirty="0"/>
              <a:t>Principal Components Analysis (PCA)</a:t>
            </a:r>
          </a:p>
        </p:txBody>
      </p:sp>
      <p:sp>
        <p:nvSpPr>
          <p:cNvPr id="3" name="Content Placeholder 2">
            <a:extLst>
              <a:ext uri="{FF2B5EF4-FFF2-40B4-BE49-F238E27FC236}">
                <a16:creationId xmlns:a16="http://schemas.microsoft.com/office/drawing/2014/main" id="{6EFB2A65-2993-69E7-EF6E-F280E0CB9F6B}"/>
              </a:ext>
            </a:extLst>
          </p:cNvPr>
          <p:cNvSpPr>
            <a:spLocks noGrp="1"/>
          </p:cNvSpPr>
          <p:nvPr>
            <p:ph idx="1"/>
          </p:nvPr>
        </p:nvSpPr>
        <p:spPr/>
        <p:txBody>
          <a:bodyPr/>
          <a:lstStyle/>
          <a:p>
            <a:r>
              <a:rPr lang="en-US" dirty="0"/>
              <a:t>Explore dimensionality of worries</a:t>
            </a:r>
            <a:endParaRPr lang="en-US" dirty="0">
              <a:solidFill>
                <a:srgbClr val="014B84"/>
              </a:solidFill>
            </a:endParaRPr>
          </a:p>
          <a:p>
            <a:r>
              <a:rPr lang="en-US" dirty="0">
                <a:solidFill>
                  <a:srgbClr val="014B84"/>
                </a:solidFill>
              </a:rPr>
              <a:t>Create 3 worry indices using principal components</a:t>
            </a:r>
            <a:endParaRPr lang="en-US" dirty="0"/>
          </a:p>
          <a:p>
            <a:pPr lvl="1"/>
            <a:r>
              <a:rPr lang="en-US" dirty="0"/>
              <a:t>General Worries (32.03%)</a:t>
            </a:r>
          </a:p>
          <a:p>
            <a:pPr lvl="1"/>
            <a:r>
              <a:rPr lang="en-US" dirty="0"/>
              <a:t>Worries about Discrimination (13.79%)</a:t>
            </a:r>
          </a:p>
          <a:p>
            <a:pPr lvl="1"/>
            <a:r>
              <a:rPr lang="en-US" dirty="0"/>
              <a:t>Worries about financial burdens (10.26%)</a:t>
            </a:r>
          </a:p>
          <a:p>
            <a:r>
              <a:rPr lang="en-US" dirty="0"/>
              <a:t>Higher values = more worried</a:t>
            </a:r>
          </a:p>
          <a:p>
            <a:pPr marL="457200" lvl="1" indent="0">
              <a:buNone/>
            </a:pPr>
            <a:endParaRPr lang="en-US" dirty="0"/>
          </a:p>
        </p:txBody>
      </p:sp>
      <p:sp>
        <p:nvSpPr>
          <p:cNvPr id="4" name="Slide Number Placeholder 3">
            <a:extLst>
              <a:ext uri="{FF2B5EF4-FFF2-40B4-BE49-F238E27FC236}">
                <a16:creationId xmlns:a16="http://schemas.microsoft.com/office/drawing/2014/main" id="{BDDE2ED7-F244-BC54-BE30-5D19F75BA8C5}"/>
              </a:ext>
            </a:extLst>
          </p:cNvPr>
          <p:cNvSpPr>
            <a:spLocks noGrp="1"/>
          </p:cNvSpPr>
          <p:nvPr>
            <p:ph type="sldNum" sz="quarter" idx="12"/>
          </p:nvPr>
        </p:nvSpPr>
        <p:spPr/>
        <p:txBody>
          <a:bodyPr/>
          <a:lstStyle/>
          <a:p>
            <a:fld id="{80DD8C35-F8B3-4049-95AF-A34E38FBBA50}" type="slidenum">
              <a:rPr lang="en-US" smtClean="0"/>
              <a:pPr/>
              <a:t>20</a:t>
            </a:fld>
            <a:endParaRPr lang="en-US" dirty="0"/>
          </a:p>
        </p:txBody>
      </p:sp>
    </p:spTree>
    <p:extLst>
      <p:ext uri="{BB962C8B-B14F-4D97-AF65-F5344CB8AC3E}">
        <p14:creationId xmlns:p14="http://schemas.microsoft.com/office/powerpoint/2010/main" val="2151782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27E61-EDE1-93C5-33F6-2D9368FAB6F5}"/>
              </a:ext>
            </a:extLst>
          </p:cNvPr>
          <p:cNvSpPr>
            <a:spLocks noGrp="1"/>
          </p:cNvSpPr>
          <p:nvPr>
            <p:ph type="title"/>
          </p:nvPr>
        </p:nvSpPr>
        <p:spPr/>
        <p:txBody>
          <a:bodyPr/>
          <a:lstStyle/>
          <a:p>
            <a:r>
              <a:rPr lang="en-US" dirty="0"/>
              <a:t>General Worries: Regression Analysis</a:t>
            </a:r>
          </a:p>
        </p:txBody>
      </p:sp>
      <p:pic>
        <p:nvPicPr>
          <p:cNvPr id="6" name="Content Placeholder 5" descr="A graph with blue and yellow lines&#10;&#10;AI-generated content may be incorrect.">
            <a:extLst>
              <a:ext uri="{FF2B5EF4-FFF2-40B4-BE49-F238E27FC236}">
                <a16:creationId xmlns:a16="http://schemas.microsoft.com/office/drawing/2014/main" id="{44E84F26-4428-BF9D-87B9-9B52788F5E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703" y="1752600"/>
            <a:ext cx="5662568" cy="4114800"/>
          </a:xfrm>
        </p:spPr>
      </p:pic>
      <p:sp>
        <p:nvSpPr>
          <p:cNvPr id="4" name="Slide Number Placeholder 3">
            <a:extLst>
              <a:ext uri="{FF2B5EF4-FFF2-40B4-BE49-F238E27FC236}">
                <a16:creationId xmlns:a16="http://schemas.microsoft.com/office/drawing/2014/main" id="{AA3F63E8-9D5A-A187-C06A-29AAC90E4E10}"/>
              </a:ext>
            </a:extLst>
          </p:cNvPr>
          <p:cNvSpPr>
            <a:spLocks noGrp="1"/>
          </p:cNvSpPr>
          <p:nvPr>
            <p:ph type="sldNum" sz="quarter" idx="12"/>
          </p:nvPr>
        </p:nvSpPr>
        <p:spPr/>
        <p:txBody>
          <a:bodyPr/>
          <a:lstStyle/>
          <a:p>
            <a:fld id="{80DD8C35-F8B3-4049-95AF-A34E38FBBA50}" type="slidenum">
              <a:rPr lang="en-US" smtClean="0"/>
              <a:pPr/>
              <a:t>21</a:t>
            </a:fld>
            <a:endParaRPr lang="en-US" dirty="0"/>
          </a:p>
        </p:txBody>
      </p:sp>
      <p:pic>
        <p:nvPicPr>
          <p:cNvPr id="10" name="Picture 9" descr="A graph with a line and a line&#10;&#10;AI-generated content may be incorrect.">
            <a:extLst>
              <a:ext uri="{FF2B5EF4-FFF2-40B4-BE49-F238E27FC236}">
                <a16:creationId xmlns:a16="http://schemas.microsoft.com/office/drawing/2014/main" id="{CB0250C7-EAB7-C894-9B7F-1FE4F60043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2199" y="1752600"/>
            <a:ext cx="5662570" cy="4114800"/>
          </a:xfrm>
          <a:prstGeom prst="rect">
            <a:avLst/>
          </a:prstGeom>
        </p:spPr>
      </p:pic>
    </p:spTree>
    <p:extLst>
      <p:ext uri="{BB962C8B-B14F-4D97-AF65-F5344CB8AC3E}">
        <p14:creationId xmlns:p14="http://schemas.microsoft.com/office/powerpoint/2010/main" val="2692124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EFC1-2D0E-3D9C-92A4-670F70FCFDDA}"/>
              </a:ext>
            </a:extLst>
          </p:cNvPr>
          <p:cNvSpPr>
            <a:spLocks noGrp="1"/>
          </p:cNvSpPr>
          <p:nvPr>
            <p:ph type="title"/>
          </p:nvPr>
        </p:nvSpPr>
        <p:spPr/>
        <p:txBody>
          <a:bodyPr>
            <a:normAutofit fontScale="90000"/>
          </a:bodyPr>
          <a:lstStyle/>
          <a:p>
            <a:r>
              <a:rPr lang="en-US" dirty="0"/>
              <a:t>Worries about Discrimination: Regression Analysis</a:t>
            </a:r>
          </a:p>
        </p:txBody>
      </p:sp>
      <p:sp>
        <p:nvSpPr>
          <p:cNvPr id="4" name="Slide Number Placeholder 3">
            <a:extLst>
              <a:ext uri="{FF2B5EF4-FFF2-40B4-BE49-F238E27FC236}">
                <a16:creationId xmlns:a16="http://schemas.microsoft.com/office/drawing/2014/main" id="{C0CBC291-B9AC-E344-C40F-E570B7DC69CA}"/>
              </a:ext>
            </a:extLst>
          </p:cNvPr>
          <p:cNvSpPr>
            <a:spLocks noGrp="1"/>
          </p:cNvSpPr>
          <p:nvPr>
            <p:ph type="sldNum" sz="quarter" idx="12"/>
          </p:nvPr>
        </p:nvSpPr>
        <p:spPr/>
        <p:txBody>
          <a:bodyPr/>
          <a:lstStyle/>
          <a:p>
            <a:fld id="{80DD8C35-F8B3-4049-95AF-A34E38FBBA50}" type="slidenum">
              <a:rPr lang="en-US" smtClean="0"/>
              <a:pPr/>
              <a:t>22</a:t>
            </a:fld>
            <a:endParaRPr lang="en-US" dirty="0"/>
          </a:p>
        </p:txBody>
      </p:sp>
      <p:pic>
        <p:nvPicPr>
          <p:cNvPr id="6" name="Picture 5" descr="A graph with numbers and lines&#10;&#10;AI-generated content may be incorrect.">
            <a:extLst>
              <a:ext uri="{FF2B5EF4-FFF2-40B4-BE49-F238E27FC236}">
                <a16:creationId xmlns:a16="http://schemas.microsoft.com/office/drawing/2014/main" id="{B99EB7C5-8CF0-7D58-5F24-5E6BDD718D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881554"/>
            <a:ext cx="5662570" cy="4114800"/>
          </a:xfrm>
          <a:prstGeom prst="rect">
            <a:avLst/>
          </a:prstGeom>
        </p:spPr>
      </p:pic>
      <p:pic>
        <p:nvPicPr>
          <p:cNvPr id="8" name="Picture 7" descr="A graph with a line and dots&#10;&#10;AI-generated content may be incorrect.">
            <a:extLst>
              <a:ext uri="{FF2B5EF4-FFF2-40B4-BE49-F238E27FC236}">
                <a16:creationId xmlns:a16="http://schemas.microsoft.com/office/drawing/2014/main" id="{5FFC2AEB-A694-B91B-22F4-B389E3BC59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2199" y="1881554"/>
            <a:ext cx="5662570" cy="4114800"/>
          </a:xfrm>
          <a:prstGeom prst="rect">
            <a:avLst/>
          </a:prstGeom>
        </p:spPr>
      </p:pic>
    </p:spTree>
    <p:extLst>
      <p:ext uri="{BB962C8B-B14F-4D97-AF65-F5344CB8AC3E}">
        <p14:creationId xmlns:p14="http://schemas.microsoft.com/office/powerpoint/2010/main" val="2050165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B5A9-343E-7145-9126-12F0DCB66486}"/>
              </a:ext>
            </a:extLst>
          </p:cNvPr>
          <p:cNvSpPr>
            <a:spLocks noGrp="1"/>
          </p:cNvSpPr>
          <p:nvPr>
            <p:ph type="title"/>
          </p:nvPr>
        </p:nvSpPr>
        <p:spPr/>
        <p:txBody>
          <a:bodyPr>
            <a:normAutofit fontScale="90000"/>
          </a:bodyPr>
          <a:lstStyle/>
          <a:p>
            <a:r>
              <a:rPr lang="en-US" dirty="0"/>
              <a:t>Worries about Financial Burdens: Regression Analysis</a:t>
            </a:r>
          </a:p>
        </p:txBody>
      </p:sp>
      <p:sp>
        <p:nvSpPr>
          <p:cNvPr id="4" name="Slide Number Placeholder 3">
            <a:extLst>
              <a:ext uri="{FF2B5EF4-FFF2-40B4-BE49-F238E27FC236}">
                <a16:creationId xmlns:a16="http://schemas.microsoft.com/office/drawing/2014/main" id="{99FCAEBC-CFB2-1DB2-E786-12F6B3196277}"/>
              </a:ext>
            </a:extLst>
          </p:cNvPr>
          <p:cNvSpPr>
            <a:spLocks noGrp="1"/>
          </p:cNvSpPr>
          <p:nvPr>
            <p:ph type="sldNum" sz="quarter" idx="12"/>
          </p:nvPr>
        </p:nvSpPr>
        <p:spPr/>
        <p:txBody>
          <a:bodyPr/>
          <a:lstStyle/>
          <a:p>
            <a:fld id="{80DD8C35-F8B3-4049-95AF-A34E38FBBA50}" type="slidenum">
              <a:rPr lang="en-US" smtClean="0"/>
              <a:pPr/>
              <a:t>23</a:t>
            </a:fld>
            <a:endParaRPr lang="en-US" dirty="0"/>
          </a:p>
        </p:txBody>
      </p:sp>
      <p:pic>
        <p:nvPicPr>
          <p:cNvPr id="6" name="Picture 5" descr="A graph with numbers and lines&#10;&#10;AI-generated content may be incorrect.">
            <a:extLst>
              <a:ext uri="{FF2B5EF4-FFF2-40B4-BE49-F238E27FC236}">
                <a16:creationId xmlns:a16="http://schemas.microsoft.com/office/drawing/2014/main" id="{62778E15-4AA1-B53A-B2B0-5C1CA76B0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981200"/>
            <a:ext cx="5662570" cy="4114800"/>
          </a:xfrm>
          <a:prstGeom prst="rect">
            <a:avLst/>
          </a:prstGeom>
        </p:spPr>
      </p:pic>
      <p:pic>
        <p:nvPicPr>
          <p:cNvPr id="8" name="Picture 7" descr="A graph with numbers and lines&#10;&#10;AI-generated content may be incorrect.">
            <a:extLst>
              <a:ext uri="{FF2B5EF4-FFF2-40B4-BE49-F238E27FC236}">
                <a16:creationId xmlns:a16="http://schemas.microsoft.com/office/drawing/2014/main" id="{FAAA0745-E06D-C80D-CCC7-6473DCD270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5645" y="1981200"/>
            <a:ext cx="5662570" cy="4114800"/>
          </a:xfrm>
          <a:prstGeom prst="rect">
            <a:avLst/>
          </a:prstGeom>
        </p:spPr>
      </p:pic>
    </p:spTree>
    <p:extLst>
      <p:ext uri="{BB962C8B-B14F-4D97-AF65-F5344CB8AC3E}">
        <p14:creationId xmlns:p14="http://schemas.microsoft.com/office/powerpoint/2010/main" val="1286686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89255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u="none" strike="noStrike" kern="1200" cap="none" spc="30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rPr>
              <a:t>WHAT STUDENTS SAY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u="none" strike="noStrike" kern="1200" cap="none" spc="30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rPr>
              <a:t>CW: SUICIDE</a:t>
            </a:r>
          </a:p>
        </p:txBody>
      </p:sp>
      <p:sp>
        <p:nvSpPr>
          <p:cNvPr id="3" name="Slide Number Placeholder 2">
            <a:extLst>
              <a:ext uri="{FF2B5EF4-FFF2-40B4-BE49-F238E27FC236}">
                <a16:creationId xmlns:a16="http://schemas.microsoft.com/office/drawing/2014/main" id="{88912889-2BE4-9E82-B6D7-08F3271D92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u="none" strike="noStrike" kern="1200" cap="none" spc="0" normalizeH="0" baseline="0" noProof="0" smtClean="0">
                <a:ln>
                  <a:noFill/>
                </a:ln>
                <a:solidFill>
                  <a:prstClr val="white"/>
                </a:solidFill>
                <a:effectLst/>
                <a:uLnTx/>
                <a:uFillTx/>
                <a:ea typeface="+mn-ea"/>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600" u="none" strike="noStrike" kern="1200" cap="none" spc="0" normalizeH="0" baseline="0" noProof="0" dirty="0">
              <a:ln>
                <a:noFill/>
              </a:ln>
              <a:solidFill>
                <a:prstClr val="white"/>
              </a:solidFill>
              <a:effectLst/>
              <a:uLnTx/>
              <a:uFillTx/>
              <a:ea typeface="+mn-ea"/>
            </a:endParaRPr>
          </a:p>
        </p:txBody>
      </p:sp>
    </p:spTree>
    <p:extLst>
      <p:ext uri="{BB962C8B-B14F-4D97-AF65-F5344CB8AC3E}">
        <p14:creationId xmlns:p14="http://schemas.microsoft.com/office/powerpoint/2010/main" val="511672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CE7C8-845A-7595-2F2F-DD7819717143}"/>
              </a:ext>
            </a:extLst>
          </p:cNvPr>
          <p:cNvSpPr>
            <a:spLocks noGrp="1"/>
          </p:cNvSpPr>
          <p:nvPr>
            <p:ph type="title"/>
          </p:nvPr>
        </p:nvSpPr>
        <p:spPr/>
        <p:txBody>
          <a:bodyPr/>
          <a:lstStyle/>
          <a:p>
            <a:r>
              <a:rPr lang="en-US" dirty="0"/>
              <a:t>Open-Ended Items</a:t>
            </a:r>
          </a:p>
        </p:txBody>
      </p:sp>
      <p:graphicFrame>
        <p:nvGraphicFramePr>
          <p:cNvPr id="5" name="Content Placeholder 4">
            <a:extLst>
              <a:ext uri="{FF2B5EF4-FFF2-40B4-BE49-F238E27FC236}">
                <a16:creationId xmlns:a16="http://schemas.microsoft.com/office/drawing/2014/main" id="{68DF6284-8360-7D2E-26C4-0DD4AC9E68DF}"/>
              </a:ext>
            </a:extLst>
          </p:cNvPr>
          <p:cNvGraphicFramePr>
            <a:graphicFrameLocks noGrp="1"/>
          </p:cNvGraphicFramePr>
          <p:nvPr>
            <p:ph idx="1"/>
            <p:extLst>
              <p:ext uri="{D42A27DB-BD31-4B8C-83A1-F6EECF244321}">
                <p14:modId xmlns:p14="http://schemas.microsoft.com/office/powerpoint/2010/main" val="3725042028"/>
              </p:ext>
            </p:extLst>
          </p:nvPr>
        </p:nvGraphicFramePr>
        <p:xfrm>
          <a:off x="609600" y="1600201"/>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85635692-A64A-918F-C311-11FDAF26DD85}"/>
              </a:ext>
            </a:extLst>
          </p:cNvPr>
          <p:cNvSpPr>
            <a:spLocks noGrp="1"/>
          </p:cNvSpPr>
          <p:nvPr>
            <p:ph type="sldNum" sz="quarter" idx="12"/>
          </p:nvPr>
        </p:nvSpPr>
        <p:spPr/>
        <p:txBody>
          <a:bodyPr/>
          <a:lstStyle/>
          <a:p>
            <a:fld id="{80DD8C35-F8B3-4049-95AF-A34E38FBBA50}" type="slidenum">
              <a:rPr lang="en-US" smtClean="0"/>
              <a:pPr/>
              <a:t>25</a:t>
            </a:fld>
            <a:endParaRPr lang="en-US" dirty="0"/>
          </a:p>
        </p:txBody>
      </p:sp>
    </p:spTree>
    <p:extLst>
      <p:ext uri="{BB962C8B-B14F-4D97-AF65-F5344CB8AC3E}">
        <p14:creationId xmlns:p14="http://schemas.microsoft.com/office/powerpoint/2010/main" val="3893540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9CD0-33FC-DDF6-ECCB-868AE2A0CC84}"/>
              </a:ext>
            </a:extLst>
          </p:cNvPr>
          <p:cNvSpPr>
            <a:spLocks noGrp="1"/>
          </p:cNvSpPr>
          <p:nvPr>
            <p:ph type="title"/>
          </p:nvPr>
        </p:nvSpPr>
        <p:spPr/>
        <p:txBody>
          <a:bodyPr>
            <a:normAutofit/>
          </a:bodyPr>
          <a:lstStyle/>
          <a:p>
            <a:r>
              <a:rPr lang="en-US" dirty="0"/>
              <a:t>Fears of Discrimination</a:t>
            </a:r>
          </a:p>
        </p:txBody>
      </p:sp>
      <p:sp>
        <p:nvSpPr>
          <p:cNvPr id="3" name="Content Placeholder 2">
            <a:extLst>
              <a:ext uri="{FF2B5EF4-FFF2-40B4-BE49-F238E27FC236}">
                <a16:creationId xmlns:a16="http://schemas.microsoft.com/office/drawing/2014/main" id="{A539B00E-0177-8C7A-4050-EDEDB31DB1B5}"/>
              </a:ext>
            </a:extLst>
          </p:cNvPr>
          <p:cNvSpPr>
            <a:spLocks noGrp="1"/>
          </p:cNvSpPr>
          <p:nvPr>
            <p:ph idx="1"/>
          </p:nvPr>
        </p:nvSpPr>
        <p:spPr/>
        <p:txBody>
          <a:bodyPr>
            <a:normAutofit/>
          </a:bodyPr>
          <a:lstStyle/>
          <a:p>
            <a:pPr marL="0" indent="0">
              <a:buNone/>
            </a:pPr>
            <a:r>
              <a:rPr lang="en-US" sz="2000" dirty="0"/>
              <a:t>“Transphobia”</a:t>
            </a:r>
          </a:p>
          <a:p>
            <a:pPr marL="0" indent="0">
              <a:buNone/>
            </a:pPr>
            <a:r>
              <a:rPr lang="en-US" sz="2000" dirty="0"/>
              <a:t> </a:t>
            </a:r>
          </a:p>
          <a:p>
            <a:pPr marL="0" indent="0">
              <a:buNone/>
            </a:pPr>
            <a:r>
              <a:rPr lang="en-US" sz="2000" dirty="0"/>
              <a:t>“Political and social conflicts. I could die from hate crimes, but it's more likely that I end up killing myself. I struggle a lot with being trans and if not able to transition in college, I'm going to give up on everything. The political climate in Taiwan could reach a tipping point while I am in college. If that happens, I am likely going to drop everything to help my family.”</a:t>
            </a:r>
          </a:p>
          <a:p>
            <a:pPr marL="0" indent="0">
              <a:buNone/>
            </a:pPr>
            <a:r>
              <a:rPr lang="en-US" sz="2000" dirty="0"/>
              <a:t> </a:t>
            </a:r>
          </a:p>
          <a:p>
            <a:pPr marL="0" indent="0">
              <a:buNone/>
            </a:pPr>
            <a:r>
              <a:rPr lang="en-US" sz="2000" dirty="0"/>
              <a:t>“lack of community due to discrimination”</a:t>
            </a:r>
          </a:p>
          <a:p>
            <a:pPr marL="0" indent="0">
              <a:buNone/>
            </a:pPr>
            <a:br>
              <a:rPr lang="en-US" sz="2000" dirty="0"/>
            </a:br>
            <a:r>
              <a:rPr lang="en-US" sz="2000" dirty="0"/>
              <a:t>“I think the biggest challenge will be standing up for myself.”</a:t>
            </a:r>
          </a:p>
          <a:p>
            <a:pPr marL="0" indent="0">
              <a:buNone/>
            </a:pPr>
            <a:br>
              <a:rPr lang="en-US" sz="2000" dirty="0"/>
            </a:br>
            <a:r>
              <a:rPr lang="en-US" sz="2000" dirty="0"/>
              <a:t>“Coming out to people around me.”</a:t>
            </a:r>
          </a:p>
        </p:txBody>
      </p:sp>
      <p:sp>
        <p:nvSpPr>
          <p:cNvPr id="4" name="Slide Number Placeholder 3">
            <a:extLst>
              <a:ext uri="{FF2B5EF4-FFF2-40B4-BE49-F238E27FC236}">
                <a16:creationId xmlns:a16="http://schemas.microsoft.com/office/drawing/2014/main" id="{D21B305D-EC0E-45E5-AD0A-7FDAA03CCA04}"/>
              </a:ext>
            </a:extLst>
          </p:cNvPr>
          <p:cNvSpPr>
            <a:spLocks noGrp="1"/>
          </p:cNvSpPr>
          <p:nvPr>
            <p:ph type="sldNum" sz="quarter" idx="12"/>
          </p:nvPr>
        </p:nvSpPr>
        <p:spPr/>
        <p:txBody>
          <a:bodyPr/>
          <a:lstStyle/>
          <a:p>
            <a:fld id="{80DD8C35-F8B3-4049-95AF-A34E38FBBA50}" type="slidenum">
              <a:rPr lang="en-US" smtClean="0"/>
              <a:pPr/>
              <a:t>26</a:t>
            </a:fld>
            <a:endParaRPr lang="en-US" dirty="0"/>
          </a:p>
        </p:txBody>
      </p:sp>
    </p:spTree>
    <p:extLst>
      <p:ext uri="{BB962C8B-B14F-4D97-AF65-F5344CB8AC3E}">
        <p14:creationId xmlns:p14="http://schemas.microsoft.com/office/powerpoint/2010/main" val="3818617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0450-C460-CD18-3FBE-9CDFBEE146E5}"/>
              </a:ext>
            </a:extLst>
          </p:cNvPr>
          <p:cNvSpPr>
            <a:spLocks noGrp="1"/>
          </p:cNvSpPr>
          <p:nvPr>
            <p:ph type="title"/>
          </p:nvPr>
        </p:nvSpPr>
        <p:spPr/>
        <p:txBody>
          <a:bodyPr>
            <a:normAutofit/>
          </a:bodyPr>
          <a:lstStyle/>
          <a:p>
            <a:r>
              <a:rPr lang="en-US" dirty="0"/>
              <a:t>Excitement about College</a:t>
            </a:r>
          </a:p>
        </p:txBody>
      </p:sp>
      <p:sp>
        <p:nvSpPr>
          <p:cNvPr id="3" name="Content Placeholder 2">
            <a:extLst>
              <a:ext uri="{FF2B5EF4-FFF2-40B4-BE49-F238E27FC236}">
                <a16:creationId xmlns:a16="http://schemas.microsoft.com/office/drawing/2014/main" id="{4B68379F-85C8-E21F-AA7C-982EC658A91C}"/>
              </a:ext>
            </a:extLst>
          </p:cNvPr>
          <p:cNvSpPr>
            <a:spLocks noGrp="1"/>
          </p:cNvSpPr>
          <p:nvPr>
            <p:ph idx="1"/>
          </p:nvPr>
        </p:nvSpPr>
        <p:spPr/>
        <p:txBody>
          <a:bodyPr>
            <a:normAutofit fontScale="92500" lnSpcReduction="20000"/>
          </a:bodyPr>
          <a:lstStyle/>
          <a:p>
            <a:pPr marL="0" indent="0">
              <a:buNone/>
            </a:pPr>
            <a:r>
              <a:rPr lang="en-US" sz="2000" dirty="0"/>
              <a:t>“Being able to build a community for myself where I truly feel that I belong.”</a:t>
            </a:r>
          </a:p>
          <a:p>
            <a:pPr marL="0" indent="0">
              <a:buNone/>
            </a:pPr>
            <a:br>
              <a:rPr lang="en-US" sz="2000" dirty="0"/>
            </a:br>
            <a:r>
              <a:rPr lang="en-US" sz="2000" dirty="0"/>
              <a:t>“I'm excited to be myself. I live in a house of five. I'm the youngest of my three siblings, meaning I've had to share a room with my 23 year old sister since I was born. I've never had privacy and I never felt like I could be myself. To use broad terms, I could never properly express myself as a gay, trans teen. I can't wait to make new friends and enjoy my new found independence.</a:t>
            </a:r>
            <a:br>
              <a:rPr lang="en-US" sz="2000" dirty="0"/>
            </a:br>
            <a:br>
              <a:rPr lang="en-US" sz="2000" dirty="0"/>
            </a:br>
            <a:r>
              <a:rPr lang="en-US" sz="2000" dirty="0"/>
              <a:t>“I’m [excited] about moving from home and working to establish my independence.”</a:t>
            </a:r>
          </a:p>
          <a:p>
            <a:pPr marL="0" indent="0">
              <a:buNone/>
            </a:pPr>
            <a:endParaRPr lang="en-US" sz="2000" dirty="0"/>
          </a:p>
          <a:p>
            <a:pPr marL="0" indent="0">
              <a:buNone/>
            </a:pPr>
            <a:r>
              <a:rPr lang="en-US" sz="2000" dirty="0"/>
              <a:t>“Getting out of my small area bubble and living on my own as my own person.”</a:t>
            </a:r>
            <a:br>
              <a:rPr lang="en-US" sz="2000" dirty="0"/>
            </a:br>
            <a:endParaRPr lang="en-US" sz="2000" dirty="0"/>
          </a:p>
          <a:p>
            <a:pPr marL="0" indent="0">
              <a:buNone/>
            </a:pPr>
            <a:r>
              <a:rPr lang="en-US" sz="2000" dirty="0"/>
              <a:t>“Finding likeminded people with similar interests and finding people who have the same sexual orientation”</a:t>
            </a:r>
          </a:p>
          <a:p>
            <a:pPr marL="0" indent="0">
              <a:buNone/>
            </a:pPr>
            <a:endParaRPr lang="en-US" sz="2000" dirty="0"/>
          </a:p>
          <a:p>
            <a:pPr marL="0" indent="0">
              <a:buNone/>
            </a:pPr>
            <a:r>
              <a:rPr lang="en-US" sz="2000" dirty="0"/>
              <a:t>Creating a healthy social circle, increased responsibility and freedom, and learning about specific subjects that interest me.</a:t>
            </a:r>
            <a:br>
              <a:rPr lang="en-US" sz="2000" dirty="0"/>
            </a:br>
            <a:endParaRPr lang="en-US" sz="2000" dirty="0"/>
          </a:p>
        </p:txBody>
      </p:sp>
      <p:sp>
        <p:nvSpPr>
          <p:cNvPr id="4" name="Slide Number Placeholder 3">
            <a:extLst>
              <a:ext uri="{FF2B5EF4-FFF2-40B4-BE49-F238E27FC236}">
                <a16:creationId xmlns:a16="http://schemas.microsoft.com/office/drawing/2014/main" id="{2C17A943-E34F-893A-2828-9E1C1FE7917E}"/>
              </a:ext>
            </a:extLst>
          </p:cNvPr>
          <p:cNvSpPr>
            <a:spLocks noGrp="1"/>
          </p:cNvSpPr>
          <p:nvPr>
            <p:ph type="sldNum" sz="quarter" idx="12"/>
          </p:nvPr>
        </p:nvSpPr>
        <p:spPr/>
        <p:txBody>
          <a:bodyPr/>
          <a:lstStyle/>
          <a:p>
            <a:fld id="{80DD8C35-F8B3-4049-95AF-A34E38FBBA50}" type="slidenum">
              <a:rPr lang="en-US" smtClean="0"/>
              <a:pPr/>
              <a:t>27</a:t>
            </a:fld>
            <a:endParaRPr lang="en-US" dirty="0"/>
          </a:p>
        </p:txBody>
      </p:sp>
    </p:spTree>
    <p:extLst>
      <p:ext uri="{BB962C8B-B14F-4D97-AF65-F5344CB8AC3E}">
        <p14:creationId xmlns:p14="http://schemas.microsoft.com/office/powerpoint/2010/main" val="762873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786252" y="5105401"/>
            <a:ext cx="8696325" cy="1564339"/>
          </a:xfrm>
          <a:prstGeom prst="rect">
            <a:avLst/>
          </a:prstGeom>
          <a:noFill/>
        </p:spPr>
        <p:txBody>
          <a:bodyPr wrap="square" rtlCol="0">
            <a:spAutoFit/>
          </a:bodyPr>
          <a:lstStyle/>
          <a:p>
            <a:pPr>
              <a:lnSpc>
                <a:spcPct val="115000"/>
              </a:lnSpc>
              <a:spcAft>
                <a:spcPts val="1800"/>
              </a:spcAft>
            </a:pPr>
            <a:r>
              <a:rPr lang="en-US" sz="1400" dirty="0">
                <a:solidFill>
                  <a:schemeClr val="dk1"/>
                </a:solidFill>
                <a:latin typeface="Proxima Nova Rg" panose="02000506030000020004" pitchFamily="2" charset="0"/>
                <a:ea typeface="Calibri"/>
                <a:cs typeface="Calibri"/>
                <a:sym typeface="Calibri"/>
              </a:rPr>
              <a:t>This research was supported by the College Futures Foundation and conducted in partnership with the California Student Aid Commission. </a:t>
            </a:r>
            <a:r>
              <a:rPr lang="en-US" sz="1400" dirty="0">
                <a:solidFill>
                  <a:schemeClr val="dk1"/>
                </a:solidFill>
                <a:highlight>
                  <a:srgbClr val="FFFFFF"/>
                </a:highlight>
                <a:latin typeface="Proxima Nova Rg" panose="02000506030000020004" pitchFamily="2" charset="0"/>
                <a:ea typeface="Calibri"/>
                <a:cs typeface="Calibri"/>
                <a:sym typeface="Calibri"/>
              </a:rPr>
              <a:t>The authors are also grateful for ongoing support from the Stuart Foundation to the California Education Lab.</a:t>
            </a:r>
            <a:r>
              <a:rPr lang="en-US" sz="1000" dirty="0">
                <a:solidFill>
                  <a:schemeClr val="dk1"/>
                </a:solidFill>
                <a:highlight>
                  <a:srgbClr val="FFFFFF"/>
                </a:highlight>
                <a:latin typeface="Proxima Nova Rg" panose="02000506030000020004" pitchFamily="2" charset="0"/>
                <a:ea typeface="Calibri"/>
                <a:cs typeface="Calibri"/>
                <a:sym typeface="Calibri"/>
              </a:rPr>
              <a:t> </a:t>
            </a:r>
            <a:r>
              <a:rPr lang="en-US" sz="1400" dirty="0">
                <a:solidFill>
                  <a:schemeClr val="dk1"/>
                </a:solidFill>
                <a:latin typeface="Proxima Nova Rg" panose="02000506030000020004" pitchFamily="2" charset="0"/>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
        <p:nvSpPr>
          <p:cNvPr id="3" name="Rectangle 2"/>
          <p:cNvSpPr/>
          <p:nvPr/>
        </p:nvSpPr>
        <p:spPr>
          <a:xfrm>
            <a:off x="381001" y="1474619"/>
            <a:ext cx="5105400" cy="3908762"/>
          </a:xfrm>
          <a:prstGeom prst="rect">
            <a:avLst/>
          </a:prstGeom>
        </p:spPr>
        <p:txBody>
          <a:bodyPr wrap="square">
            <a:spAutoFit/>
          </a:bodyPr>
          <a:lstStyle/>
          <a:p>
            <a:pPr marL="257175" indent="-257175">
              <a:buFont typeface="Wingdings" charset="2"/>
              <a:buChar char="§"/>
              <a:defRPr/>
            </a:pPr>
            <a:r>
              <a:rPr lang="en-US" sz="2400" dirty="0">
                <a:latin typeface="Proxima Nova Rg" panose="02000506030000020004" pitchFamily="2" charset="0"/>
                <a:ea typeface="Calibri Light" charset="0"/>
                <a:cs typeface="Calibri" panose="020F0502020204030204" pitchFamily="34" charset="0"/>
              </a:rPr>
              <a:t>California Education Lab</a:t>
            </a:r>
          </a:p>
          <a:p>
            <a:pPr marL="7143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Elizabeth Friedmann</a:t>
            </a:r>
          </a:p>
          <a:p>
            <a:pPr marL="7143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Sherrie Reed</a:t>
            </a:r>
          </a:p>
          <a:p>
            <a:pPr marL="7143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Paco Martorell</a:t>
            </a:r>
          </a:p>
          <a:p>
            <a:pPr marL="7143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Scott Carrell</a:t>
            </a:r>
          </a:p>
          <a:p>
            <a:pPr marL="342900" lvl="1">
              <a:defRPr/>
            </a:pPr>
            <a:endParaRPr lang="en-US" sz="2000" dirty="0">
              <a:latin typeface="Proxima Nova Rg" panose="02000506030000020004" pitchFamily="2" charset="0"/>
              <a:ea typeface="Calibri Light" charset="0"/>
              <a:cs typeface="Calibri" panose="020F0502020204030204" pitchFamily="34" charset="0"/>
            </a:endParaRPr>
          </a:p>
          <a:p>
            <a:pPr marL="142875" indent="-257175">
              <a:buFont typeface="Wingdings" charset="2"/>
              <a:buChar char="§"/>
              <a:defRPr/>
            </a:pPr>
            <a:r>
              <a:rPr lang="en-US" sz="2400" dirty="0">
                <a:latin typeface="Proxima Nova Rg" panose="02000506030000020004" pitchFamily="2" charset="0"/>
                <a:ea typeface="Calibri Light" charset="0"/>
                <a:cs typeface="Calibri" panose="020F0502020204030204" pitchFamily="34" charset="0"/>
              </a:rPr>
              <a:t>California Student Aid Commission</a:t>
            </a:r>
          </a:p>
          <a:p>
            <a:pPr marL="6000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Marlene Garcia</a:t>
            </a:r>
          </a:p>
          <a:p>
            <a:pPr marL="6000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Jessica Moldoff</a:t>
            </a:r>
          </a:p>
          <a:p>
            <a:pPr marL="600075" lvl="1" indent="-257175">
              <a:buFont typeface="Wingdings" charset="2"/>
              <a:buChar char="§"/>
              <a:defRPr/>
            </a:pPr>
            <a:r>
              <a:rPr lang="en-US" sz="2000" dirty="0">
                <a:latin typeface="Proxima Nova Rg" panose="02000506030000020004" pitchFamily="2" charset="0"/>
                <a:ea typeface="Calibri Light" charset="0"/>
                <a:cs typeface="Calibri" panose="020F0502020204030204" pitchFamily="34" charset="0"/>
              </a:rPr>
              <a:t>Ryan Fuller</a:t>
            </a:r>
          </a:p>
          <a:p>
            <a:pPr marL="142875" indent="-257175">
              <a:buFont typeface="Wingdings" charset="2"/>
              <a:buChar char="§"/>
              <a:defRPr/>
            </a:pPr>
            <a:endParaRPr lang="en-US" sz="2000" dirty="0">
              <a:latin typeface="Proxima Nova Rg" panose="02000506030000020004" pitchFamily="2" charset="0"/>
              <a:ea typeface="Calibri Light" charset="0"/>
              <a:cs typeface="Calibri" panose="020F0502020204030204" pitchFamily="34" charset="0"/>
            </a:endParaRPr>
          </a:p>
          <a:p>
            <a:pPr marL="142875" indent="-257175">
              <a:buFont typeface="Wingdings" charset="2"/>
              <a:buChar char="§"/>
              <a:defRPr/>
            </a:pPr>
            <a:endParaRPr lang="en-US" sz="2000" dirty="0">
              <a:latin typeface="Proxima Nova Rg" panose="02000506030000020004" pitchFamily="2" charset="0"/>
              <a:ea typeface="Calibri Light" charset="0"/>
              <a:cs typeface="Calibri" panose="020F0502020204030204" pitchFamily="34" charset="0"/>
            </a:endParaRPr>
          </a:p>
        </p:txBody>
      </p:sp>
      <p:sp>
        <p:nvSpPr>
          <p:cNvPr id="2" name="Slide Number Placeholder 1"/>
          <p:cNvSpPr>
            <a:spLocks noGrp="1"/>
          </p:cNvSpPr>
          <p:nvPr>
            <p:ph type="sldNum" sz="quarter" idx="12"/>
          </p:nvPr>
        </p:nvSpPr>
        <p:spPr/>
        <p:txBody>
          <a:bodyPr/>
          <a:lstStyle/>
          <a:p>
            <a:pPr algn="r"/>
            <a:fld id="{E977C9FB-1514-7A49-9A51-0E844952849F}" type="slidenum">
              <a:rPr lang="en-US" smtClean="0"/>
              <a:pPr algn="r"/>
              <a:t>28</a:t>
            </a:fld>
            <a:endParaRPr lang="en-US" dirty="0"/>
          </a:p>
        </p:txBody>
      </p:sp>
      <p:sp>
        <p:nvSpPr>
          <p:cNvPr id="6" name="Title 5">
            <a:extLst>
              <a:ext uri="{FF2B5EF4-FFF2-40B4-BE49-F238E27FC236}">
                <a16:creationId xmlns:a16="http://schemas.microsoft.com/office/drawing/2014/main" id="{7AABD298-2642-4046-B663-0A422FCCD820}"/>
              </a:ext>
            </a:extLst>
          </p:cNvPr>
          <p:cNvSpPr>
            <a:spLocks noGrp="1"/>
          </p:cNvSpPr>
          <p:nvPr>
            <p:ph type="title"/>
          </p:nvPr>
        </p:nvSpPr>
        <p:spPr/>
        <p:txBody>
          <a:bodyPr/>
          <a:lstStyle/>
          <a:p>
            <a:r>
              <a:rPr lang="en-US" dirty="0"/>
              <a:t>Acknowledgements &amp; Dissemination</a:t>
            </a:r>
          </a:p>
        </p:txBody>
      </p:sp>
      <p:graphicFrame>
        <p:nvGraphicFramePr>
          <p:cNvPr id="8" name="Diagram 7">
            <a:extLst>
              <a:ext uri="{FF2B5EF4-FFF2-40B4-BE49-F238E27FC236}">
                <a16:creationId xmlns:a16="http://schemas.microsoft.com/office/drawing/2014/main" id="{EFE70E62-991D-4367-5582-34418CE2783E}"/>
              </a:ext>
            </a:extLst>
          </p:cNvPr>
          <p:cNvGraphicFramePr/>
          <p:nvPr>
            <p:extLst>
              <p:ext uri="{D42A27DB-BD31-4B8C-83A1-F6EECF244321}">
                <p14:modId xmlns:p14="http://schemas.microsoft.com/office/powerpoint/2010/main" val="1426586915"/>
              </p:ext>
            </p:extLst>
          </p:nvPr>
        </p:nvGraphicFramePr>
        <p:xfrm>
          <a:off x="6781800" y="1600200"/>
          <a:ext cx="4559300" cy="830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logo with a couple of children&#10;&#10;AI-generated content may be incorrect.">
            <a:extLst>
              <a:ext uri="{FF2B5EF4-FFF2-40B4-BE49-F238E27FC236}">
                <a16:creationId xmlns:a16="http://schemas.microsoft.com/office/drawing/2014/main" id="{505EB5CB-1476-D2B9-3CBA-E214A1941C9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24600" y="2861850"/>
            <a:ext cx="4559300" cy="1812897"/>
          </a:xfrm>
          <a:prstGeom prst="rect">
            <a:avLst/>
          </a:prstGeom>
        </p:spPr>
      </p:pic>
    </p:spTree>
    <p:extLst>
      <p:ext uri="{BB962C8B-B14F-4D97-AF65-F5344CB8AC3E}">
        <p14:creationId xmlns:p14="http://schemas.microsoft.com/office/powerpoint/2010/main" val="1810935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C20B2802-19FE-2FBA-92C9-E0327E6C8F9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CC9D1DD-D42D-EA4A-8992-BAA3428335AE}"/>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69E0F59B-B145-30CD-5F32-BA7942D7B91A}"/>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01C66325-073A-1D17-17E1-4186640EEA38}"/>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26B46562-6032-947D-DB7F-F774B859F931}"/>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6D140C50-9F76-A528-06F9-CBCED988775B}"/>
              </a:ext>
            </a:extLst>
          </p:cNvPr>
          <p:cNvSpPr txBox="1"/>
          <p:nvPr/>
        </p:nvSpPr>
        <p:spPr>
          <a:xfrm>
            <a:off x="3009665" y="2971801"/>
            <a:ext cx="624838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spc="300" dirty="0">
                <a:solidFill>
                  <a:srgbClr val="E2A100"/>
                </a:solidFill>
                <a:latin typeface="Proxima Nova Rg" panose="02000506030000020004" pitchFamily="2" charset="0"/>
                <a:cs typeface="Calibri" panose="020F0502020204030204" pitchFamily="34" charset="0"/>
              </a:rPr>
              <a:t>FUTURE LGBTQ+ RESEARCH AGENDA</a:t>
            </a:r>
            <a:endParaRPr kumimoji="0" lang="en-US" sz="3600" b="0" i="0" u="none" strike="noStrike" kern="1200" cap="none" spc="300" normalizeH="0" baseline="0" noProof="0" dirty="0">
              <a:ln>
                <a:noFill/>
              </a:ln>
              <a:solidFill>
                <a:srgbClr val="E2A100"/>
              </a:solidFill>
              <a:effectLst/>
              <a:uLnTx/>
              <a:uFillTx/>
              <a:latin typeface="Proxima Nova Rg" panose="02000506030000020004" pitchFamily="2" charset="0"/>
              <a:ea typeface="+mn-ea"/>
              <a:cs typeface="Calibri" panose="020F0502020204030204" pitchFamily="34" charset="0"/>
            </a:endParaRPr>
          </a:p>
        </p:txBody>
      </p:sp>
      <p:sp>
        <p:nvSpPr>
          <p:cNvPr id="3" name="Slide Number Placeholder 2">
            <a:extLst>
              <a:ext uri="{FF2B5EF4-FFF2-40B4-BE49-F238E27FC236}">
                <a16:creationId xmlns:a16="http://schemas.microsoft.com/office/drawing/2014/main" id="{D7A6FDC5-835A-DB13-43B2-2918714AE6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Proxima Nova Rg" panose="02000506030000020004" pitchFamily="2"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600" b="0" i="0" u="none" strike="noStrike" kern="1200" cap="none" spc="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endParaRPr>
          </a:p>
        </p:txBody>
      </p:sp>
    </p:spTree>
    <p:extLst>
      <p:ext uri="{BB962C8B-B14F-4D97-AF65-F5344CB8AC3E}">
        <p14:creationId xmlns:p14="http://schemas.microsoft.com/office/powerpoint/2010/main" val="3914553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1369E-5A6D-6CDC-B673-BA4FB1627E3F}"/>
              </a:ext>
            </a:extLst>
          </p:cNvPr>
          <p:cNvSpPr>
            <a:spLocks noGrp="1"/>
          </p:cNvSpPr>
          <p:nvPr>
            <p:ph type="title"/>
          </p:nvPr>
        </p:nvSpPr>
        <p:spPr/>
        <p:txBody>
          <a:bodyPr/>
          <a:lstStyle/>
          <a:p>
            <a:r>
              <a:rPr lang="en-US" dirty="0">
                <a:latin typeface="Proxima Nova Rg" panose="02000506030000020004" pitchFamily="2" charset="0"/>
              </a:rPr>
              <a:t>Research Agenda &amp; Ideas</a:t>
            </a:r>
          </a:p>
        </p:txBody>
      </p:sp>
      <p:graphicFrame>
        <p:nvGraphicFramePr>
          <p:cNvPr id="5" name="Content Placeholder 4">
            <a:extLst>
              <a:ext uri="{FF2B5EF4-FFF2-40B4-BE49-F238E27FC236}">
                <a16:creationId xmlns:a16="http://schemas.microsoft.com/office/drawing/2014/main" id="{A56A9CD4-E921-75A4-575D-E18EA0BE976B}"/>
              </a:ext>
            </a:extLst>
          </p:cNvPr>
          <p:cNvGraphicFramePr>
            <a:graphicFrameLocks noGrp="1"/>
          </p:cNvGraphicFramePr>
          <p:nvPr>
            <p:ph idx="1"/>
            <p:extLst>
              <p:ext uri="{D42A27DB-BD31-4B8C-83A1-F6EECF244321}">
                <p14:modId xmlns:p14="http://schemas.microsoft.com/office/powerpoint/2010/main" val="2015885846"/>
              </p:ext>
            </p:extLst>
          </p:nvPr>
        </p:nvGraphicFramePr>
        <p:xfrm>
          <a:off x="609600" y="1600201"/>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DC116FD-B10A-63D2-7181-DC37D6C0F236}"/>
              </a:ext>
            </a:extLst>
          </p:cNvPr>
          <p:cNvSpPr>
            <a:spLocks noGrp="1"/>
          </p:cNvSpPr>
          <p:nvPr>
            <p:ph type="sldNum" sz="quarter" idx="12"/>
          </p:nvPr>
        </p:nvSpPr>
        <p:spPr/>
        <p:txBody>
          <a:bodyPr/>
          <a:lstStyle/>
          <a:p>
            <a:fld id="{80DD8C35-F8B3-4049-95AF-A34E38FBBA50}" type="slidenum">
              <a:rPr lang="en-US" smtClean="0">
                <a:latin typeface="Proxima Nova Rg" panose="02000506030000020004" pitchFamily="2" charset="0"/>
              </a:rPr>
              <a:pPr/>
              <a:t>30</a:t>
            </a:fld>
            <a:endParaRPr lang="en-US" dirty="0">
              <a:latin typeface="Proxima Nova Rg" panose="02000506030000020004" pitchFamily="2" charset="0"/>
            </a:endParaRPr>
          </a:p>
        </p:txBody>
      </p:sp>
    </p:spTree>
    <p:extLst>
      <p:ext uri="{BB962C8B-B14F-4D97-AF65-F5344CB8AC3E}">
        <p14:creationId xmlns:p14="http://schemas.microsoft.com/office/powerpoint/2010/main" val="4112264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3009665" y="2971801"/>
            <a:ext cx="6248389" cy="1200329"/>
          </a:xfrm>
          <a:prstGeom prst="rect">
            <a:avLst/>
          </a:prstGeom>
          <a:noFill/>
        </p:spPr>
        <p:txBody>
          <a:bodyPr wrap="square" rtlCol="0">
            <a:spAutoFit/>
          </a:bodyPr>
          <a:lstStyle/>
          <a:p>
            <a:pPr algn="ctr">
              <a:defRPr/>
            </a:pPr>
            <a:r>
              <a:rPr lang="en-US" sz="3600" spc="300" dirty="0">
                <a:solidFill>
                  <a:prstClr val="white"/>
                </a:solidFill>
                <a:latin typeface="Proxima Nova Rg" panose="02000506030000020004" pitchFamily="2" charset="0"/>
                <a:cs typeface="Calibri" panose="020F0502020204030204" pitchFamily="34" charset="0"/>
              </a:rPr>
              <a:t>QUESTIONS &amp; COMMENTS</a:t>
            </a:r>
          </a:p>
        </p:txBody>
      </p:sp>
      <p:sp>
        <p:nvSpPr>
          <p:cNvPr id="3" name="Slide Number Placeholder 2">
            <a:extLst>
              <a:ext uri="{FF2B5EF4-FFF2-40B4-BE49-F238E27FC236}">
                <a16:creationId xmlns:a16="http://schemas.microsoft.com/office/drawing/2014/main" id="{1FDBFED9-35E0-4C43-DC65-9FDAC509E9A5}"/>
              </a:ext>
            </a:extLst>
          </p:cNvPr>
          <p:cNvSpPr>
            <a:spLocks noGrp="1"/>
          </p:cNvSpPr>
          <p:nvPr>
            <p:ph type="sldNum" sz="quarter" idx="12"/>
          </p:nvPr>
        </p:nvSpPr>
        <p:spPr/>
        <p:txBody>
          <a:bodyPr/>
          <a:lstStyle/>
          <a:p>
            <a:fld id="{80DD8C35-F8B3-4049-95AF-A34E38FBBA50}" type="slidenum">
              <a:rPr lang="en-US" smtClean="0"/>
              <a:pPr/>
              <a:t>31</a:t>
            </a:fld>
            <a:endParaRPr lang="en-US" dirty="0"/>
          </a:p>
        </p:txBody>
      </p:sp>
    </p:spTree>
    <p:extLst>
      <p:ext uri="{BB962C8B-B14F-4D97-AF65-F5344CB8AC3E}">
        <p14:creationId xmlns:p14="http://schemas.microsoft.com/office/powerpoint/2010/main" val="4065304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CD0-89E0-0C25-25CB-3D96A7F32F7F}"/>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95EEB7A1-768F-E1A9-4049-3EC2DF230FEC}"/>
              </a:ext>
            </a:extLst>
          </p:cNvPr>
          <p:cNvSpPr>
            <a:spLocks noGrp="1"/>
          </p:cNvSpPr>
          <p:nvPr>
            <p:ph idx="1"/>
          </p:nvPr>
        </p:nvSpPr>
        <p:spPr>
          <a:xfrm>
            <a:off x="609600" y="1600201"/>
            <a:ext cx="5029200" cy="3657600"/>
          </a:xfrm>
        </p:spPr>
        <p:txBody>
          <a:bodyPr/>
          <a:lstStyle/>
          <a:p>
            <a:pPr marL="0" indent="0">
              <a:buNone/>
            </a:pPr>
            <a:r>
              <a:rPr lang="en-US" dirty="0">
                <a:solidFill>
                  <a:srgbClr val="014B84"/>
                </a:solidFill>
              </a:rPr>
              <a:t>Appreciate your comments and feedback!</a:t>
            </a:r>
          </a:p>
          <a:p>
            <a:pPr marL="0" indent="0">
              <a:buNone/>
            </a:pPr>
            <a:endParaRPr lang="en-US" dirty="0">
              <a:solidFill>
                <a:srgbClr val="014B84"/>
              </a:solidFill>
            </a:endParaRPr>
          </a:p>
          <a:p>
            <a:pPr marL="0" indent="0">
              <a:buNone/>
            </a:pPr>
            <a:r>
              <a:rPr lang="en-US" b="1" dirty="0">
                <a:solidFill>
                  <a:srgbClr val="E2A100"/>
                </a:solidFill>
              </a:rPr>
              <a:t>	</a:t>
            </a:r>
            <a:r>
              <a:rPr lang="en-US" b="1" dirty="0" err="1">
                <a:solidFill>
                  <a:srgbClr val="E2A100"/>
                </a:solidFill>
              </a:rPr>
              <a:t>christinasun.net</a:t>
            </a:r>
            <a:endParaRPr lang="en-US" b="1" dirty="0">
              <a:solidFill>
                <a:srgbClr val="E2A100"/>
              </a:solidFill>
            </a:endParaRPr>
          </a:p>
          <a:p>
            <a:pPr marL="0" indent="0">
              <a:buNone/>
            </a:pPr>
            <a:r>
              <a:rPr lang="en-US" b="1" dirty="0">
                <a:solidFill>
                  <a:srgbClr val="E2A100"/>
                </a:solidFill>
              </a:rPr>
              <a:t>	</a:t>
            </a:r>
          </a:p>
          <a:p>
            <a:pPr marL="0" indent="0">
              <a:buNone/>
            </a:pPr>
            <a:r>
              <a:rPr lang="en-US" b="1" dirty="0">
                <a:solidFill>
                  <a:srgbClr val="E2A100"/>
                </a:solidFill>
              </a:rPr>
              <a:t>	</a:t>
            </a:r>
            <a:r>
              <a:rPr lang="en-US" b="1" dirty="0" err="1">
                <a:solidFill>
                  <a:srgbClr val="E2A100"/>
                </a:solidFill>
              </a:rPr>
              <a:t>ucsun@ucdavis.edu</a:t>
            </a:r>
            <a:endParaRPr lang="en-US" b="1" dirty="0">
              <a:solidFill>
                <a:srgbClr val="E2A100"/>
              </a:solidFill>
            </a:endParaRPr>
          </a:p>
          <a:p>
            <a:pPr marL="0" indent="0">
              <a:buNone/>
            </a:pPr>
            <a:endParaRPr lang="en-US" b="1" dirty="0">
              <a:solidFill>
                <a:srgbClr val="E2A100"/>
              </a:solidFill>
            </a:endParaRPr>
          </a:p>
        </p:txBody>
      </p:sp>
      <p:sp>
        <p:nvSpPr>
          <p:cNvPr id="4" name="Slide Number Placeholder 3">
            <a:extLst>
              <a:ext uri="{FF2B5EF4-FFF2-40B4-BE49-F238E27FC236}">
                <a16:creationId xmlns:a16="http://schemas.microsoft.com/office/drawing/2014/main" id="{74F251DA-A9D1-B2F6-38B9-655D17AB46BE}"/>
              </a:ext>
            </a:extLst>
          </p:cNvPr>
          <p:cNvSpPr>
            <a:spLocks noGrp="1"/>
          </p:cNvSpPr>
          <p:nvPr>
            <p:ph type="sldNum" sz="quarter" idx="12"/>
          </p:nvPr>
        </p:nvSpPr>
        <p:spPr/>
        <p:txBody>
          <a:bodyPr/>
          <a:lstStyle/>
          <a:p>
            <a:fld id="{80DD8C35-F8B3-4049-95AF-A34E38FBBA50}" type="slidenum">
              <a:rPr lang="en-US" smtClean="0"/>
              <a:pPr/>
              <a:t>32</a:t>
            </a:fld>
            <a:endParaRPr lang="en-US" dirty="0"/>
          </a:p>
        </p:txBody>
      </p:sp>
      <p:pic>
        <p:nvPicPr>
          <p:cNvPr id="6" name="Picture 5" descr="A qr code on a white background&#10;&#10;AI-generated content may be incorrect.">
            <a:extLst>
              <a:ext uri="{FF2B5EF4-FFF2-40B4-BE49-F238E27FC236}">
                <a16:creationId xmlns:a16="http://schemas.microsoft.com/office/drawing/2014/main" id="{CA70692C-1B9A-BECF-B0D1-4D68EB14E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1828800"/>
            <a:ext cx="3657600" cy="3657600"/>
          </a:xfrm>
          <a:prstGeom prst="rect">
            <a:avLst/>
          </a:prstGeom>
        </p:spPr>
      </p:pic>
      <p:pic>
        <p:nvPicPr>
          <p:cNvPr id="12" name="Graphic 11" descr="Envelope with solid fill">
            <a:extLst>
              <a:ext uri="{FF2B5EF4-FFF2-40B4-BE49-F238E27FC236}">
                <a16:creationId xmlns:a16="http://schemas.microsoft.com/office/drawing/2014/main" id="{91D85C03-F18A-C0BF-DD33-DF52E7DA79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6154" y="4366103"/>
            <a:ext cx="731520" cy="731520"/>
          </a:xfrm>
          <a:prstGeom prst="rect">
            <a:avLst/>
          </a:prstGeom>
        </p:spPr>
      </p:pic>
      <p:pic>
        <p:nvPicPr>
          <p:cNvPr id="16" name="Graphic 15" descr="Internet with solid fill">
            <a:extLst>
              <a:ext uri="{FF2B5EF4-FFF2-40B4-BE49-F238E27FC236}">
                <a16:creationId xmlns:a16="http://schemas.microsoft.com/office/drawing/2014/main" id="{5C930826-40DB-5604-3761-8AB0595F13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6154" y="3177382"/>
            <a:ext cx="731520" cy="731520"/>
          </a:xfrm>
          <a:prstGeom prst="rect">
            <a:avLst/>
          </a:prstGeom>
        </p:spPr>
      </p:pic>
    </p:spTree>
    <p:extLst>
      <p:ext uri="{BB962C8B-B14F-4D97-AF65-F5344CB8AC3E}">
        <p14:creationId xmlns:p14="http://schemas.microsoft.com/office/powerpoint/2010/main" val="209368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FC2C4B84-5B8B-1FF1-79FD-F59F82DA8524}"/>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648B188-672B-69F5-D2B2-3AFDDEC66D38}"/>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7DE2C0A-BD57-F04E-937A-50F72B5ED457}"/>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4E1EFB97-0A2A-F961-3379-6FB850ED8EE8}"/>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826ED36-1035-FFDA-70AB-4EC87569B0A5}"/>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3ADF84A0-330D-C2D0-6985-CF63D6EF1BD6}"/>
              </a:ext>
            </a:extLst>
          </p:cNvPr>
          <p:cNvSpPr txBox="1"/>
          <p:nvPr/>
        </p:nvSpPr>
        <p:spPr>
          <a:xfrm>
            <a:off x="3009665" y="2971801"/>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300" normalizeH="0" baseline="0" noProof="0" dirty="0">
                <a:ln>
                  <a:noFill/>
                </a:ln>
                <a:solidFill>
                  <a:srgbClr val="E2A100"/>
                </a:solidFill>
                <a:effectLst/>
                <a:uLnTx/>
                <a:uFillTx/>
                <a:latin typeface="Proxima Nova Rg" panose="02000506030000020004" pitchFamily="2" charset="0"/>
                <a:ea typeface="+mn-ea"/>
                <a:cs typeface="Calibri" panose="020F0502020204030204" pitchFamily="34" charset="0"/>
              </a:rPr>
              <a:t>APPENDIX</a:t>
            </a:r>
          </a:p>
        </p:txBody>
      </p:sp>
      <p:sp>
        <p:nvSpPr>
          <p:cNvPr id="3" name="Slide Number Placeholder 2">
            <a:extLst>
              <a:ext uri="{FF2B5EF4-FFF2-40B4-BE49-F238E27FC236}">
                <a16:creationId xmlns:a16="http://schemas.microsoft.com/office/drawing/2014/main" id="{704345DD-4932-CBF1-60A1-370ACA19BCD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Proxima Nova Rg" panose="02000506030000020004" pitchFamily="2"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endParaRPr>
          </a:p>
        </p:txBody>
      </p:sp>
    </p:spTree>
    <p:extLst>
      <p:ext uri="{BB962C8B-B14F-4D97-AF65-F5344CB8AC3E}">
        <p14:creationId xmlns:p14="http://schemas.microsoft.com/office/powerpoint/2010/main" val="2572215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Survey Items: High School Experience</a:t>
            </a:r>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34</a:t>
            </a:fld>
            <a:endParaRPr lang="en-US" dirty="0"/>
          </a:p>
        </p:txBody>
      </p:sp>
      <p:graphicFrame>
        <p:nvGraphicFramePr>
          <p:cNvPr id="6" name="Content Placeholder 7">
            <a:extLst>
              <a:ext uri="{FF2B5EF4-FFF2-40B4-BE49-F238E27FC236}">
                <a16:creationId xmlns:a16="http://schemas.microsoft.com/office/drawing/2014/main" id="{619070F7-C7FC-6327-6151-100E235F2F4A}"/>
              </a:ext>
            </a:extLst>
          </p:cNvPr>
          <p:cNvGraphicFramePr>
            <a:graphicFrameLocks/>
          </p:cNvGraphicFramePr>
          <p:nvPr/>
        </p:nvGraphicFramePr>
        <p:xfrm>
          <a:off x="609600" y="1600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0813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DD130-BAA9-848D-4D05-85DE5FAC5CD9}"/>
              </a:ext>
            </a:extLst>
          </p:cNvPr>
          <p:cNvSpPr>
            <a:spLocks noGrp="1"/>
          </p:cNvSpPr>
          <p:nvPr>
            <p:ph type="title"/>
          </p:nvPr>
        </p:nvSpPr>
        <p:spPr/>
        <p:txBody>
          <a:bodyPr/>
          <a:lstStyle/>
          <a:p>
            <a:r>
              <a:rPr lang="en-US" dirty="0">
                <a:latin typeface="Proxima Nova Rg" panose="02000506030000020004" pitchFamily="2" charset="0"/>
              </a:rPr>
              <a:t>Survey Items: College Concerns</a:t>
            </a:r>
          </a:p>
        </p:txBody>
      </p:sp>
      <p:graphicFrame>
        <p:nvGraphicFramePr>
          <p:cNvPr id="5" name="Content Placeholder 4">
            <a:extLst>
              <a:ext uri="{FF2B5EF4-FFF2-40B4-BE49-F238E27FC236}">
                <a16:creationId xmlns:a16="http://schemas.microsoft.com/office/drawing/2014/main" id="{D4ECCD1B-4B53-18C0-5922-02C5BC80C3C7}"/>
              </a:ext>
            </a:extLst>
          </p:cNvPr>
          <p:cNvGraphicFramePr>
            <a:graphicFrameLocks noGrp="1"/>
          </p:cNvGraphicFramePr>
          <p:nvPr>
            <p:ph idx="1"/>
          </p:nvPr>
        </p:nvGraphicFramePr>
        <p:xfrm>
          <a:off x="609600" y="1981200"/>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542D392C-031C-BD16-14E4-E61507740377}"/>
              </a:ext>
            </a:extLst>
          </p:cNvPr>
          <p:cNvSpPr>
            <a:spLocks noGrp="1"/>
          </p:cNvSpPr>
          <p:nvPr>
            <p:ph type="sldNum" sz="quarter" idx="12"/>
          </p:nvPr>
        </p:nvSpPr>
        <p:spPr/>
        <p:txBody>
          <a:bodyPr/>
          <a:lstStyle/>
          <a:p>
            <a:fld id="{80DD8C35-F8B3-4049-95AF-A34E38FBBA50}" type="slidenum">
              <a:rPr lang="en-US" smtClean="0"/>
              <a:pPr/>
              <a:t>35</a:t>
            </a:fld>
            <a:endParaRPr lang="en-US" dirty="0"/>
          </a:p>
        </p:txBody>
      </p:sp>
      <p:sp>
        <p:nvSpPr>
          <p:cNvPr id="6" name="TextBox 5">
            <a:extLst>
              <a:ext uri="{FF2B5EF4-FFF2-40B4-BE49-F238E27FC236}">
                <a16:creationId xmlns:a16="http://schemas.microsoft.com/office/drawing/2014/main" id="{AD18B5B6-82B0-1591-C017-BD950C011242}"/>
              </a:ext>
            </a:extLst>
          </p:cNvPr>
          <p:cNvSpPr txBox="1"/>
          <p:nvPr/>
        </p:nvSpPr>
        <p:spPr>
          <a:xfrm>
            <a:off x="457200" y="1409700"/>
            <a:ext cx="4800600" cy="381000"/>
          </a:xfrm>
          <a:prstGeom prst="rect">
            <a:avLst/>
          </a:prstGeom>
          <a:noFill/>
        </p:spPr>
        <p:txBody>
          <a:bodyPr wrap="square" rtlCol="0">
            <a:spAutoFit/>
          </a:bodyPr>
          <a:lstStyle/>
          <a:p>
            <a:r>
              <a:rPr lang="en-US" b="1" dirty="0">
                <a:solidFill>
                  <a:srgbClr val="014B84"/>
                </a:solidFill>
                <a:latin typeface="Proxima Nova" panose="02000506030000020004" pitchFamily="2" charset="0"/>
              </a:rPr>
              <a:t>How worried are you about… </a:t>
            </a:r>
            <a:r>
              <a:rPr lang="en-US" i="1" dirty="0">
                <a:solidFill>
                  <a:srgbClr val="014B84"/>
                </a:solidFill>
                <a:latin typeface="Proxima Nova" panose="02000506030000020004" pitchFamily="2" charset="0"/>
              </a:rPr>
              <a:t>(5 pt Likert)</a:t>
            </a:r>
          </a:p>
        </p:txBody>
      </p:sp>
    </p:spTree>
    <p:extLst>
      <p:ext uri="{BB962C8B-B14F-4D97-AF65-F5344CB8AC3E}">
        <p14:creationId xmlns:p14="http://schemas.microsoft.com/office/powerpoint/2010/main" val="3416938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1BAD7-908D-4F1B-16B6-A8FBA460D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CC438-2D3F-52DA-19F5-1D57C784C423}"/>
              </a:ext>
            </a:extLst>
          </p:cNvPr>
          <p:cNvSpPr>
            <a:spLocks noGrp="1"/>
          </p:cNvSpPr>
          <p:nvPr>
            <p:ph type="title"/>
          </p:nvPr>
        </p:nvSpPr>
        <p:spPr/>
        <p:txBody>
          <a:bodyPr/>
          <a:lstStyle/>
          <a:p>
            <a:r>
              <a:rPr lang="en-US" dirty="0"/>
              <a:t>PCA Analysis: 3 Dimensions of Worries</a:t>
            </a:r>
          </a:p>
        </p:txBody>
      </p:sp>
      <p:sp>
        <p:nvSpPr>
          <p:cNvPr id="3" name="Content Placeholder 2">
            <a:extLst>
              <a:ext uri="{FF2B5EF4-FFF2-40B4-BE49-F238E27FC236}">
                <a16:creationId xmlns:a16="http://schemas.microsoft.com/office/drawing/2014/main" id="{F0EF0A7E-AE87-E89F-1187-F45CB8724A1B}"/>
              </a:ext>
            </a:extLst>
          </p:cNvPr>
          <p:cNvSpPr>
            <a:spLocks noGrp="1"/>
          </p:cNvSpPr>
          <p:nvPr>
            <p:ph idx="1"/>
          </p:nvPr>
        </p:nvSpPr>
        <p:spPr/>
        <p:txBody>
          <a:bodyPr/>
          <a:lstStyle/>
          <a:p>
            <a:pPr marL="0" indent="0">
              <a:buNone/>
            </a:pPr>
            <a:r>
              <a:rPr lang="en-US" dirty="0">
                <a:solidFill>
                  <a:srgbClr val="014B84"/>
                </a:solidFill>
              </a:rPr>
              <a:t>Create 3 worry indices using principal components</a:t>
            </a:r>
          </a:p>
          <a:p>
            <a:r>
              <a:rPr lang="en-US" sz="2800" dirty="0"/>
              <a:t>General Worries (32.03%)</a:t>
            </a:r>
          </a:p>
          <a:p>
            <a:pPr lvl="1"/>
            <a:r>
              <a:rPr lang="en-US" sz="2400" dirty="0"/>
              <a:t>Range: [0, 10.23]</a:t>
            </a:r>
          </a:p>
          <a:p>
            <a:r>
              <a:rPr lang="en-US" sz="2800" dirty="0"/>
              <a:t>Worries about Discrimination (13.79%)</a:t>
            </a:r>
          </a:p>
          <a:p>
            <a:pPr lvl="1"/>
            <a:r>
              <a:rPr lang="en-US" sz="2400" dirty="0"/>
              <a:t>Range: [-3.83, 5.12]</a:t>
            </a:r>
          </a:p>
          <a:p>
            <a:r>
              <a:rPr lang="en-US" sz="2800" dirty="0"/>
              <a:t>Worries about financial burdens (10.26%)</a:t>
            </a:r>
          </a:p>
          <a:p>
            <a:pPr lvl="1"/>
            <a:r>
              <a:rPr lang="en-US" sz="2400" dirty="0"/>
              <a:t>Range: [-3.64, 3.65] </a:t>
            </a:r>
          </a:p>
        </p:txBody>
      </p:sp>
      <p:sp>
        <p:nvSpPr>
          <p:cNvPr id="4" name="Slide Number Placeholder 3">
            <a:extLst>
              <a:ext uri="{FF2B5EF4-FFF2-40B4-BE49-F238E27FC236}">
                <a16:creationId xmlns:a16="http://schemas.microsoft.com/office/drawing/2014/main" id="{41E9E308-A018-FD2C-26E9-BEE680FD2D90}"/>
              </a:ext>
            </a:extLst>
          </p:cNvPr>
          <p:cNvSpPr>
            <a:spLocks noGrp="1"/>
          </p:cNvSpPr>
          <p:nvPr>
            <p:ph type="sldNum" sz="quarter" idx="12"/>
          </p:nvPr>
        </p:nvSpPr>
        <p:spPr/>
        <p:txBody>
          <a:bodyPr/>
          <a:lstStyle/>
          <a:p>
            <a:fld id="{80DD8C35-F8B3-4049-95AF-A34E38FBBA50}" type="slidenum">
              <a:rPr lang="en-US" smtClean="0"/>
              <a:pPr/>
              <a:t>36</a:t>
            </a:fld>
            <a:endParaRPr lang="en-US" dirty="0"/>
          </a:p>
        </p:txBody>
      </p:sp>
    </p:spTree>
    <p:extLst>
      <p:ext uri="{BB962C8B-B14F-4D97-AF65-F5344CB8AC3E}">
        <p14:creationId xmlns:p14="http://schemas.microsoft.com/office/powerpoint/2010/main" val="4173914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8354-9D4E-DD11-CA2F-CBB6D5955656}"/>
              </a:ext>
            </a:extLst>
          </p:cNvPr>
          <p:cNvSpPr>
            <a:spLocks noGrp="1"/>
          </p:cNvSpPr>
          <p:nvPr>
            <p:ph type="title"/>
          </p:nvPr>
        </p:nvSpPr>
        <p:spPr/>
        <p:txBody>
          <a:bodyPr/>
          <a:lstStyle/>
          <a:p>
            <a:r>
              <a:rPr lang="en-US" dirty="0"/>
              <a:t>Sample Characteristics</a:t>
            </a:r>
          </a:p>
        </p:txBody>
      </p:sp>
      <p:graphicFrame>
        <p:nvGraphicFramePr>
          <p:cNvPr id="6" name="Content Placeholder 5">
            <a:extLst>
              <a:ext uri="{FF2B5EF4-FFF2-40B4-BE49-F238E27FC236}">
                <a16:creationId xmlns:a16="http://schemas.microsoft.com/office/drawing/2014/main" id="{89386A15-5850-1C10-567B-AEB7DA257C5A}"/>
              </a:ext>
            </a:extLst>
          </p:cNvPr>
          <p:cNvGraphicFramePr>
            <a:graphicFrameLocks noGrp="1"/>
          </p:cNvGraphicFramePr>
          <p:nvPr>
            <p:ph idx="1"/>
          </p:nvPr>
        </p:nvGraphicFramePr>
        <p:xfrm>
          <a:off x="362505" y="1371600"/>
          <a:ext cx="6495496" cy="5333999"/>
        </p:xfrm>
        <a:graphic>
          <a:graphicData uri="http://schemas.openxmlformats.org/drawingml/2006/table">
            <a:tbl>
              <a:tblPr/>
              <a:tblGrid>
                <a:gridCol w="217146">
                  <a:extLst>
                    <a:ext uri="{9D8B030D-6E8A-4147-A177-3AD203B41FA5}">
                      <a16:colId xmlns:a16="http://schemas.microsoft.com/office/drawing/2014/main" val="4141389349"/>
                    </a:ext>
                  </a:extLst>
                </a:gridCol>
                <a:gridCol w="2870102">
                  <a:extLst>
                    <a:ext uri="{9D8B030D-6E8A-4147-A177-3AD203B41FA5}">
                      <a16:colId xmlns:a16="http://schemas.microsoft.com/office/drawing/2014/main" val="2197951119"/>
                    </a:ext>
                  </a:extLst>
                </a:gridCol>
                <a:gridCol w="859143">
                  <a:extLst>
                    <a:ext uri="{9D8B030D-6E8A-4147-A177-3AD203B41FA5}">
                      <a16:colId xmlns:a16="http://schemas.microsoft.com/office/drawing/2014/main" val="1387991838"/>
                    </a:ext>
                  </a:extLst>
                </a:gridCol>
                <a:gridCol w="906349">
                  <a:extLst>
                    <a:ext uri="{9D8B030D-6E8A-4147-A177-3AD203B41FA5}">
                      <a16:colId xmlns:a16="http://schemas.microsoft.com/office/drawing/2014/main" val="422527557"/>
                    </a:ext>
                  </a:extLst>
                </a:gridCol>
                <a:gridCol w="821378">
                  <a:extLst>
                    <a:ext uri="{9D8B030D-6E8A-4147-A177-3AD203B41FA5}">
                      <a16:colId xmlns:a16="http://schemas.microsoft.com/office/drawing/2014/main" val="1874896247"/>
                    </a:ext>
                  </a:extLst>
                </a:gridCol>
                <a:gridCol w="821378">
                  <a:extLst>
                    <a:ext uri="{9D8B030D-6E8A-4147-A177-3AD203B41FA5}">
                      <a16:colId xmlns:a16="http://schemas.microsoft.com/office/drawing/2014/main" val="1834706841"/>
                    </a:ext>
                  </a:extLst>
                </a:gridCol>
              </a:tblGrid>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gridSpan="2">
                  <a:txBody>
                    <a:bodyPr/>
                    <a:lstStyle/>
                    <a:p>
                      <a:pPr algn="ctr" fontAlgn="b"/>
                      <a:r>
                        <a:rPr lang="en-US" sz="900" b="0" i="0" u="none" strike="noStrike" dirty="0">
                          <a:effectLst/>
                          <a:latin typeface="Proxima Nova Rg" panose="02000506030000020004" pitchFamily="2" charset="0"/>
                        </a:rPr>
                        <a:t>Survey Respondents</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algn="ctr" fontAlgn="b"/>
                      <a:r>
                        <a:rPr lang="en-US" sz="900" b="0" i="0" u="none" strike="noStrike" dirty="0">
                          <a:effectLst/>
                          <a:latin typeface="Proxima Nova Rg" panose="02000506030000020004" pitchFamily="2" charset="0"/>
                        </a:rPr>
                        <a:t>Statewide</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pPr algn="l" fontAlgn="b"/>
                      <a:endParaRPr lang="en-US" sz="900" b="0" i="0" u="none" strike="noStrike" dirty="0">
                        <a:effectLst/>
                        <a:latin typeface="Calibri" panose="020F0502020204030204" pitchFamily="34" charset="0"/>
                      </a:endParaRP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7316227"/>
                  </a:ext>
                </a:extLst>
              </a:tr>
              <a:tr h="328636">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N</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Percent </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N</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Percent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2930509"/>
                  </a:ext>
                </a:extLst>
              </a:tr>
              <a:tr h="240157">
                <a:tc gridSpan="2">
                  <a:txBody>
                    <a:bodyPr/>
                    <a:lstStyle/>
                    <a:p>
                      <a:pPr algn="l" fontAlgn="b"/>
                      <a:r>
                        <a:rPr lang="en-US" sz="900" b="0" i="0" u="none" strike="noStrike" dirty="0">
                          <a:effectLst/>
                          <a:latin typeface="Proxima Nova Rg" panose="02000506030000020004" pitchFamily="2" charset="0"/>
                        </a:rPr>
                        <a:t>Total</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r" fontAlgn="b"/>
                      <a:r>
                        <a:rPr lang="en-US" sz="900" b="0" i="0" u="none" strike="noStrike" dirty="0">
                          <a:effectLst/>
                          <a:latin typeface="Proxima Nova Rg" panose="02000506030000020004" pitchFamily="2" charset="0"/>
                        </a:rPr>
                        <a:t>10,221</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488936</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900" b="0" i="0" u="none" strike="noStrike" dirty="0">
                          <a:effectLst/>
                          <a:latin typeface="Proxima Nova Rg" panose="02000506030000020004" pitchFamily="2" charset="0"/>
                        </a:rPr>
                        <a:t>-</a:t>
                      </a:r>
                    </a:p>
                  </a:txBody>
                  <a:tcPr marL="8044" marR="8044" marT="80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9893915"/>
                  </a:ext>
                </a:extLst>
              </a:tr>
              <a:tr h="214878">
                <a:tc gridSpan="2">
                  <a:txBody>
                    <a:bodyPr/>
                    <a:lstStyle/>
                    <a:p>
                      <a:pPr algn="l" fontAlgn="b"/>
                      <a:r>
                        <a:rPr lang="en-US" sz="900" b="0" i="0" u="none" strike="noStrike" dirty="0">
                          <a:effectLst/>
                          <a:latin typeface="Proxima Nova Rg" panose="02000506030000020004" pitchFamily="2" charset="0"/>
                        </a:rPr>
                        <a:t>Race/ethnicity</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ctr"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2102655243"/>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American Indian/Alaskan Native/Pacific Islander</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247</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2.42</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2349</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0.48</a:t>
                      </a:r>
                    </a:p>
                  </a:txBody>
                  <a:tcPr marL="8044" marR="8044" marT="8044" marB="0" anchor="b">
                    <a:lnL>
                      <a:noFill/>
                    </a:lnL>
                    <a:lnR>
                      <a:noFill/>
                    </a:lnR>
                    <a:lnT>
                      <a:noFill/>
                    </a:lnT>
                    <a:lnB>
                      <a:noFill/>
                    </a:lnB>
                    <a:noFill/>
                  </a:tcPr>
                </a:tc>
                <a:extLst>
                  <a:ext uri="{0D108BD9-81ED-4DB2-BD59-A6C34878D82A}">
                    <a16:rowId xmlns:a16="http://schemas.microsoft.com/office/drawing/2014/main" val="2936504454"/>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Black/African American</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559</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5.47</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23852</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4.88</a:t>
                      </a:r>
                    </a:p>
                  </a:txBody>
                  <a:tcPr marL="8044" marR="8044" marT="8044" marB="0" anchor="b">
                    <a:lnL>
                      <a:noFill/>
                    </a:lnL>
                    <a:lnR>
                      <a:noFill/>
                    </a:lnR>
                    <a:lnT>
                      <a:noFill/>
                    </a:lnT>
                    <a:lnB>
                      <a:noFill/>
                    </a:lnB>
                    <a:noFill/>
                  </a:tcPr>
                </a:tc>
                <a:extLst>
                  <a:ext uri="{0D108BD9-81ED-4DB2-BD59-A6C34878D82A}">
                    <a16:rowId xmlns:a16="http://schemas.microsoft.com/office/drawing/2014/main" val="3575621036"/>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Hispanic/Latinx</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4066</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39.78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272323</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55.70</a:t>
                      </a:r>
                    </a:p>
                  </a:txBody>
                  <a:tcPr marL="8044" marR="8044" marT="8044" marB="0" anchor="b">
                    <a:lnL>
                      <a:noFill/>
                    </a:lnL>
                    <a:lnR>
                      <a:noFill/>
                    </a:lnR>
                    <a:lnT>
                      <a:noFill/>
                    </a:lnT>
                    <a:lnB>
                      <a:noFill/>
                    </a:lnB>
                    <a:noFill/>
                  </a:tcPr>
                </a:tc>
                <a:extLst>
                  <a:ext uri="{0D108BD9-81ED-4DB2-BD59-A6C34878D82A}">
                    <a16:rowId xmlns:a16="http://schemas.microsoft.com/office/drawing/2014/main" val="3848481240"/>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Filipino</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244</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2.39</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13231</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2.71</a:t>
                      </a:r>
                    </a:p>
                  </a:txBody>
                  <a:tcPr marL="8044" marR="8044" marT="8044" marB="0" anchor="b">
                    <a:lnL>
                      <a:noFill/>
                    </a:lnL>
                    <a:lnR>
                      <a:noFill/>
                    </a:lnR>
                    <a:lnT>
                      <a:noFill/>
                    </a:lnT>
                    <a:lnB>
                      <a:noFill/>
                    </a:lnB>
                    <a:noFill/>
                  </a:tcPr>
                </a:tc>
                <a:extLst>
                  <a:ext uri="{0D108BD9-81ED-4DB2-BD59-A6C34878D82A}">
                    <a16:rowId xmlns:a16="http://schemas.microsoft.com/office/drawing/2014/main" val="443180574"/>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Asian</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1163</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11.38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46278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9.47</a:t>
                      </a:r>
                    </a:p>
                  </a:txBody>
                  <a:tcPr marL="8044" marR="8044" marT="8044" marB="0" anchor="b">
                    <a:lnL>
                      <a:noFill/>
                    </a:lnL>
                    <a:lnR>
                      <a:noFill/>
                    </a:lnR>
                    <a:lnT>
                      <a:noFill/>
                    </a:lnT>
                    <a:lnB>
                      <a:noFill/>
                    </a:lnB>
                    <a:noFill/>
                  </a:tcPr>
                </a:tc>
                <a:extLst>
                  <a:ext uri="{0D108BD9-81ED-4DB2-BD59-A6C34878D82A}">
                    <a16:rowId xmlns:a16="http://schemas.microsoft.com/office/drawing/2014/main" val="1322325008"/>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Other</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198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1.94</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17435</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3.57</a:t>
                      </a:r>
                    </a:p>
                  </a:txBody>
                  <a:tcPr marL="8044" marR="8044" marT="8044" marB="0" anchor="b">
                    <a:lnL>
                      <a:noFill/>
                    </a:lnL>
                    <a:lnR>
                      <a:noFill/>
                    </a:lnR>
                    <a:lnT>
                      <a:noFill/>
                    </a:lnT>
                    <a:lnB>
                      <a:noFill/>
                    </a:lnB>
                    <a:noFill/>
                  </a:tcPr>
                </a:tc>
                <a:extLst>
                  <a:ext uri="{0D108BD9-81ED-4DB2-BD59-A6C34878D82A}">
                    <a16:rowId xmlns:a16="http://schemas.microsoft.com/office/drawing/2014/main" val="4148895951"/>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White/Non-Hispanic</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1553</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15.19</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103787</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21.23</a:t>
                      </a:r>
                    </a:p>
                  </a:txBody>
                  <a:tcPr marL="8044" marR="8044" marT="8044" marB="0" anchor="b">
                    <a:lnL>
                      <a:noFill/>
                    </a:lnL>
                    <a:lnR>
                      <a:noFill/>
                    </a:lnR>
                    <a:lnT>
                      <a:noFill/>
                    </a:lnT>
                    <a:lnB>
                      <a:noFill/>
                    </a:lnB>
                    <a:noFill/>
                  </a:tcPr>
                </a:tc>
                <a:extLst>
                  <a:ext uri="{0D108BD9-81ED-4DB2-BD59-A6C34878D82A}">
                    <a16:rowId xmlns:a16="http://schemas.microsoft.com/office/drawing/2014/main" val="2781872016"/>
                  </a:ext>
                </a:extLst>
              </a:tr>
              <a:tr h="189597">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effectLst/>
                          <a:latin typeface="Proxima Nova Rg" panose="02000506030000020004" pitchFamily="2"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2191</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21.44</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7576</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1.55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246080"/>
                  </a:ext>
                </a:extLst>
              </a:tr>
              <a:tr h="189597">
                <a:tc gridSpan="2">
                  <a:txBody>
                    <a:bodyPr/>
                    <a:lstStyle/>
                    <a:p>
                      <a:pPr algn="l" fontAlgn="b"/>
                      <a:r>
                        <a:rPr lang="en-US" sz="900" b="0" i="0" u="none" strike="noStrike" dirty="0">
                          <a:effectLst/>
                          <a:latin typeface="Proxima Nova Rg" panose="02000506030000020004" pitchFamily="2" charset="0"/>
                        </a:rPr>
                        <a:t>Gender</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r"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1121661510"/>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Cis woman</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4503</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44.06</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Female</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48</a:t>
                      </a:r>
                    </a:p>
                  </a:txBody>
                  <a:tcPr marL="8044" marR="8044" marT="8044" marB="0" anchor="b">
                    <a:lnL>
                      <a:noFill/>
                    </a:lnL>
                    <a:lnR>
                      <a:noFill/>
                    </a:lnR>
                    <a:lnT>
                      <a:noFill/>
                    </a:lnT>
                    <a:lnB>
                      <a:noFill/>
                    </a:lnB>
                    <a:noFill/>
                  </a:tcPr>
                </a:tc>
                <a:extLst>
                  <a:ext uri="{0D108BD9-81ED-4DB2-BD59-A6C34878D82A}">
                    <a16:rowId xmlns:a16="http://schemas.microsoft.com/office/drawing/2014/main" val="718521647"/>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Cis man</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2864</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28.02</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Male</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51.5</a:t>
                      </a:r>
                    </a:p>
                  </a:txBody>
                  <a:tcPr marL="8044" marR="8044" marT="8044" marB="0" anchor="b">
                    <a:lnL>
                      <a:noFill/>
                    </a:lnL>
                    <a:lnR>
                      <a:noFill/>
                    </a:lnR>
                    <a:lnT>
                      <a:noFill/>
                    </a:lnT>
                    <a:lnB>
                      <a:noFill/>
                    </a:lnB>
                    <a:noFill/>
                  </a:tcPr>
                </a:tc>
                <a:extLst>
                  <a:ext uri="{0D108BD9-81ED-4DB2-BD59-A6C34878D82A}">
                    <a16:rowId xmlns:a16="http://schemas.microsoft.com/office/drawing/2014/main" val="1398408186"/>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Non-binary/Gender variant</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418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4.09</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Non-binary</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&lt; 0.5</a:t>
                      </a:r>
                    </a:p>
                  </a:txBody>
                  <a:tcPr marL="8044" marR="8044" marT="8044" marB="0" anchor="b">
                    <a:lnL>
                      <a:noFill/>
                    </a:lnL>
                    <a:lnR>
                      <a:noFill/>
                    </a:lnR>
                    <a:lnT>
                      <a:noFill/>
                    </a:lnT>
                    <a:lnB>
                      <a:noFill/>
                    </a:lnB>
                    <a:noFill/>
                  </a:tcPr>
                </a:tc>
                <a:extLst>
                  <a:ext uri="{0D108BD9-81ED-4DB2-BD59-A6C34878D82A}">
                    <a16:rowId xmlns:a16="http://schemas.microsoft.com/office/drawing/2014/main" val="779386919"/>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Unsure/prefer not to say</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191</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1.87</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508541772"/>
                  </a:ext>
                </a:extLst>
              </a:tr>
              <a:tr h="189597">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effectLst/>
                          <a:latin typeface="Proxima Nova Rg" panose="02000506030000020004" pitchFamily="2"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2245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21.96</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723785182"/>
                  </a:ext>
                </a:extLst>
              </a:tr>
              <a:tr h="189597">
                <a:tc gridSpan="2">
                  <a:txBody>
                    <a:bodyPr/>
                    <a:lstStyle/>
                    <a:p>
                      <a:pPr algn="l" fontAlgn="b"/>
                      <a:r>
                        <a:rPr lang="en-US" sz="900" b="0" i="0" u="none" strike="noStrike" dirty="0">
                          <a:effectLst/>
                          <a:latin typeface="Proxima Nova Rg" panose="02000506030000020004" pitchFamily="2" charset="0"/>
                        </a:rPr>
                        <a:t>Parent level of education</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hMerge="1">
                  <a:txBody>
                    <a:bodyPr/>
                    <a:lstStyle/>
                    <a:p>
                      <a:endParaRPr lang="en-US"/>
                    </a:p>
                  </a:txBody>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r" fontAlgn="b"/>
                      <a:r>
                        <a:rPr lang="en-US" sz="900" b="0" i="0" u="none" strike="noStrike" dirty="0">
                          <a:effectLst/>
                          <a:latin typeface="Proxima Nova Rg" panose="02000506030000020004" pitchFamily="2" charset="0"/>
                        </a:rPr>
                        <a:t> </a:t>
                      </a:r>
                    </a:p>
                  </a:txBody>
                  <a:tcPr marL="8044" marR="8044" marT="8044" marB="0" anchor="b">
                    <a:lnL>
                      <a:noFill/>
                    </a:lnL>
                    <a:lnR>
                      <a:noFill/>
                    </a:lnR>
                    <a:lnT w="635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a:noFill/>
                    </a:lnB>
                    <a:solidFill>
                      <a:srgbClr val="E7E6E6"/>
                    </a:solidFill>
                  </a:tcPr>
                </a:tc>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a:noFill/>
                    </a:lnB>
                    <a:solidFill>
                      <a:srgbClr val="E7E6E6"/>
                    </a:solidFill>
                  </a:tcPr>
                </a:tc>
                <a:extLst>
                  <a:ext uri="{0D108BD9-81ED-4DB2-BD59-A6C34878D82A}">
                    <a16:rowId xmlns:a16="http://schemas.microsoft.com/office/drawing/2014/main" val="2786121315"/>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Did not complete high school</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1467</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14.35</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1510082180"/>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High school diploma</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1708</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16.71</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343661734"/>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Some college, no college degree</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1023</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10.01</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1022611398"/>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Associate degree</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474</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4.64</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914567752"/>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Bachelor's degree</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1394</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13.64</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783521892"/>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Graduate/professional degree </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1485</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14.53</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784530849"/>
                  </a:ext>
                </a:extLst>
              </a:tr>
              <a:tr h="189597">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r>
                        <a:rPr lang="en-US" sz="900" b="0" i="0" u="none" strike="noStrike" dirty="0">
                          <a:effectLst/>
                          <a:latin typeface="Proxima Nova Rg" panose="02000506030000020004" pitchFamily="2" charset="0"/>
                        </a:rPr>
                        <a:t>Don't know</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447</a:t>
                      </a:r>
                    </a:p>
                  </a:txBody>
                  <a:tcPr marL="8044" marR="8044" marT="8044" marB="0" anchor="b">
                    <a:lnL>
                      <a:noFill/>
                    </a:lnL>
                    <a:lnR>
                      <a:noFill/>
                    </a:lnR>
                    <a:lnT>
                      <a:noFill/>
                    </a:lnT>
                    <a:lnB>
                      <a:noFill/>
                    </a:lnB>
                    <a:noFill/>
                  </a:tcPr>
                </a:tc>
                <a:tc>
                  <a:txBody>
                    <a:bodyPr/>
                    <a:lstStyle/>
                    <a:p>
                      <a:pPr algn="r" fontAlgn="b"/>
                      <a:r>
                        <a:rPr lang="en-US" sz="900" b="0" i="0" u="none" strike="noStrike" dirty="0">
                          <a:effectLst/>
                          <a:latin typeface="Proxima Nova Rg" panose="02000506030000020004" pitchFamily="2" charset="0"/>
                        </a:rPr>
                        <a:t>4.37</a:t>
                      </a: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2298599764"/>
                  </a:ext>
                </a:extLst>
              </a:tr>
              <a:tr h="189597">
                <a:tc>
                  <a:txBody>
                    <a:bodyPr/>
                    <a:lstStyle/>
                    <a:p>
                      <a:pPr algn="l" fontAlgn="b"/>
                      <a:r>
                        <a:rPr lang="en-US" sz="900" b="0" i="0" u="none" strike="noStrike" dirty="0">
                          <a:effectLst/>
                          <a:latin typeface="Proxima Nova Rg" panose="02000506030000020004" pitchFamily="2" charset="0"/>
                        </a:rPr>
                        <a:t> </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900" b="0" i="0" u="none" strike="noStrike" dirty="0">
                          <a:effectLst/>
                          <a:latin typeface="Proxima Nova Rg" panose="02000506030000020004" pitchFamily="2" charset="0"/>
                        </a:rPr>
                        <a:t>Not reported</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2223</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900" b="0" i="0" u="none" strike="noStrike" dirty="0">
                          <a:effectLst/>
                          <a:latin typeface="Proxima Nova Rg" panose="02000506030000020004" pitchFamily="2" charset="0"/>
                        </a:rPr>
                        <a:t>21.75</a:t>
                      </a:r>
                    </a:p>
                  </a:txBody>
                  <a:tcPr marL="8044" marR="8044" marT="804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tc>
                  <a:txBody>
                    <a:bodyPr/>
                    <a:lstStyle/>
                    <a:p>
                      <a:pPr algn="l" fontAlgn="b"/>
                      <a:endParaRPr lang="en-US" sz="900" b="0" i="0" u="none" strike="noStrike" dirty="0">
                        <a:effectLst/>
                        <a:latin typeface="Proxima Nova Rg" panose="02000506030000020004" pitchFamily="2" charset="0"/>
                      </a:endParaRPr>
                    </a:p>
                  </a:txBody>
                  <a:tcPr marL="8044" marR="8044" marT="8044" marB="0" anchor="b">
                    <a:lnL>
                      <a:noFill/>
                    </a:lnL>
                    <a:lnR>
                      <a:noFill/>
                    </a:lnR>
                    <a:lnT>
                      <a:noFill/>
                    </a:lnT>
                    <a:lnB>
                      <a:noFill/>
                    </a:lnB>
                    <a:noFill/>
                  </a:tcPr>
                </a:tc>
                <a:extLst>
                  <a:ext uri="{0D108BD9-81ED-4DB2-BD59-A6C34878D82A}">
                    <a16:rowId xmlns:a16="http://schemas.microsoft.com/office/drawing/2014/main" val="397316607"/>
                  </a:ext>
                </a:extLst>
              </a:tr>
            </a:tbl>
          </a:graphicData>
        </a:graphic>
      </p:graphicFrame>
      <p:sp>
        <p:nvSpPr>
          <p:cNvPr id="4" name="Slide Number Placeholder 3">
            <a:extLst>
              <a:ext uri="{FF2B5EF4-FFF2-40B4-BE49-F238E27FC236}">
                <a16:creationId xmlns:a16="http://schemas.microsoft.com/office/drawing/2014/main" id="{3506257C-B94F-E120-E7B4-50598765E34E}"/>
              </a:ext>
            </a:extLst>
          </p:cNvPr>
          <p:cNvSpPr>
            <a:spLocks noGrp="1"/>
          </p:cNvSpPr>
          <p:nvPr>
            <p:ph type="sldNum" sz="quarter" idx="12"/>
          </p:nvPr>
        </p:nvSpPr>
        <p:spPr/>
        <p:txBody>
          <a:bodyPr/>
          <a:lstStyle/>
          <a:p>
            <a:fld id="{80DD8C35-F8B3-4049-95AF-A34E38FBBA50}" type="slidenum">
              <a:rPr lang="en-US" smtClean="0"/>
              <a:pPr/>
              <a:t>37</a:t>
            </a:fld>
            <a:endParaRPr lang="en-US" dirty="0"/>
          </a:p>
        </p:txBody>
      </p:sp>
      <p:sp>
        <p:nvSpPr>
          <p:cNvPr id="7" name="TextBox 6">
            <a:extLst>
              <a:ext uri="{FF2B5EF4-FFF2-40B4-BE49-F238E27FC236}">
                <a16:creationId xmlns:a16="http://schemas.microsoft.com/office/drawing/2014/main" id="{9A52E66D-78E8-CD5D-2637-5DB605D76C15}"/>
              </a:ext>
            </a:extLst>
          </p:cNvPr>
          <p:cNvSpPr txBox="1"/>
          <p:nvPr/>
        </p:nvSpPr>
        <p:spPr>
          <a:xfrm>
            <a:off x="7467600" y="1752600"/>
            <a:ext cx="4192653" cy="3970318"/>
          </a:xfrm>
          <a:prstGeom prst="rect">
            <a:avLst/>
          </a:prstGeom>
          <a:noFill/>
        </p:spPr>
        <p:txBody>
          <a:bodyPr wrap="square" rtlCol="0">
            <a:spAutoFit/>
          </a:bodyPr>
          <a:lstStyle/>
          <a:p>
            <a:r>
              <a:rPr lang="en-US" dirty="0">
                <a:latin typeface="Proxima Nova Rg" panose="02000506030000020004" pitchFamily="2" charset="0"/>
                <a:cs typeface="Calibri" panose="020F0502020204030204" pitchFamily="34" charset="0"/>
              </a:rPr>
              <a:t>Compared to all 12</a:t>
            </a:r>
            <a:r>
              <a:rPr lang="en-US" baseline="30000" dirty="0">
                <a:latin typeface="Proxima Nova Rg" panose="02000506030000020004" pitchFamily="2" charset="0"/>
                <a:cs typeface="Calibri" panose="020F0502020204030204" pitchFamily="34" charset="0"/>
              </a:rPr>
              <a:t>th</a:t>
            </a:r>
            <a:r>
              <a:rPr lang="en-US" dirty="0">
                <a:latin typeface="Proxima Nova Rg" panose="02000506030000020004" pitchFamily="2" charset="0"/>
                <a:cs typeface="Calibri" panose="020F0502020204030204" pitchFamily="34" charset="0"/>
              </a:rPr>
              <a:t> graders enrolled in California public high schools, our sample:</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Overrepresents American Indian/Alaskan Native/Pacific Islanders</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Overrepresents Black/African Americans</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Underrepresents Hispanic/Latinx students</a:t>
            </a:r>
          </a:p>
          <a:p>
            <a:pPr marL="285750" indent="-285750">
              <a:buFont typeface="Arial" panose="020B0604020202020204" pitchFamily="34" charset="0"/>
              <a:buChar char="•"/>
            </a:pPr>
            <a:endParaRPr lang="en-US" sz="1600" dirty="0">
              <a:latin typeface="Proxima Nova Rg" panose="02000506030000020004" pitchFamily="2" charset="0"/>
              <a:cs typeface="Calibri" panose="020F0502020204030204" pitchFamily="34" charset="0"/>
            </a:endParaRPr>
          </a:p>
          <a:p>
            <a:r>
              <a:rPr lang="en-US" dirty="0">
                <a:latin typeface="Proxima Nova Rg" panose="02000506030000020004" pitchFamily="2" charset="0"/>
                <a:cs typeface="Calibri" panose="020F0502020204030204" pitchFamily="34" charset="0"/>
              </a:rPr>
              <a:t>The state only includes 3 categories for the gender identity information it collects:</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Male</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Female</a:t>
            </a:r>
          </a:p>
          <a:p>
            <a:pPr marL="285750" indent="-285750">
              <a:buFont typeface="Arial" panose="020B0604020202020204" pitchFamily="34" charset="0"/>
              <a:buChar char="•"/>
            </a:pPr>
            <a:r>
              <a:rPr lang="en-US" sz="1600" dirty="0">
                <a:latin typeface="Proxima Nova Rg" panose="02000506030000020004" pitchFamily="2" charset="0"/>
                <a:cs typeface="Calibri" panose="020F0502020204030204" pitchFamily="34" charset="0"/>
              </a:rPr>
              <a:t>Non-binary</a:t>
            </a:r>
          </a:p>
        </p:txBody>
      </p:sp>
    </p:spTree>
    <p:extLst>
      <p:ext uri="{BB962C8B-B14F-4D97-AF65-F5344CB8AC3E}">
        <p14:creationId xmlns:p14="http://schemas.microsoft.com/office/powerpoint/2010/main" val="1794705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452B-246D-9E1D-7BD1-669988BC6399}"/>
              </a:ext>
            </a:extLst>
          </p:cNvPr>
          <p:cNvSpPr>
            <a:spLocks noGrp="1"/>
          </p:cNvSpPr>
          <p:nvPr>
            <p:ph type="title"/>
          </p:nvPr>
        </p:nvSpPr>
        <p:spPr/>
        <p:txBody>
          <a:bodyPr>
            <a:normAutofit/>
          </a:bodyPr>
          <a:lstStyle/>
          <a:p>
            <a:r>
              <a:rPr lang="en-US" dirty="0"/>
              <a:t>Data</a:t>
            </a:r>
          </a:p>
        </p:txBody>
      </p:sp>
      <p:sp>
        <p:nvSpPr>
          <p:cNvPr id="3" name="Content Placeholder 2">
            <a:extLst>
              <a:ext uri="{FF2B5EF4-FFF2-40B4-BE49-F238E27FC236}">
                <a16:creationId xmlns:a16="http://schemas.microsoft.com/office/drawing/2014/main" id="{653B61DE-228D-44E4-125E-A61489E4E78E}"/>
              </a:ext>
            </a:extLst>
          </p:cNvPr>
          <p:cNvSpPr>
            <a:spLocks noGrp="1"/>
          </p:cNvSpPr>
          <p:nvPr>
            <p:ph idx="1"/>
          </p:nvPr>
        </p:nvSpPr>
        <p:spPr>
          <a:xfrm>
            <a:off x="1676400" y="1447800"/>
            <a:ext cx="8839200" cy="5181600"/>
          </a:xfrm>
        </p:spPr>
        <p:txBody>
          <a:bodyPr>
            <a:normAutofit/>
          </a:bodyPr>
          <a:lstStyle/>
          <a:p>
            <a:pPr marL="457200">
              <a:spcBef>
                <a:spcPts val="0"/>
              </a:spcBef>
              <a:spcAft>
                <a:spcPts val="600"/>
              </a:spcAft>
              <a:buClr>
                <a:schemeClr val="dk1"/>
              </a:buClr>
              <a:buSzPts val="1800"/>
              <a:buChar char="●"/>
            </a:pPr>
            <a:r>
              <a:rPr lang="en-US" sz="2800" dirty="0">
                <a:solidFill>
                  <a:schemeClr val="dk1"/>
                </a:solidFill>
              </a:rPr>
              <a:t>Raw sample: 10,221 complete responses</a:t>
            </a:r>
          </a:p>
          <a:p>
            <a:pPr marL="857250" lvl="1">
              <a:spcBef>
                <a:spcPts val="0"/>
              </a:spcBef>
              <a:spcAft>
                <a:spcPts val="600"/>
              </a:spcAft>
              <a:buClr>
                <a:schemeClr val="dk1"/>
              </a:buClr>
              <a:buSzPts val="1800"/>
              <a:buChar char="●"/>
            </a:pPr>
            <a:r>
              <a:rPr lang="en-US" sz="2400" dirty="0">
                <a:solidFill>
                  <a:schemeClr val="dk1"/>
                </a:solidFill>
              </a:rPr>
              <a:t>Response rate of 3.5%</a:t>
            </a:r>
          </a:p>
          <a:p>
            <a:pPr marL="457200">
              <a:spcBef>
                <a:spcPts val="0"/>
              </a:spcBef>
              <a:spcAft>
                <a:spcPts val="600"/>
              </a:spcAft>
              <a:buClr>
                <a:schemeClr val="dk1"/>
              </a:buClr>
              <a:buSzPts val="1800"/>
              <a:buChar char="●"/>
            </a:pPr>
            <a:r>
              <a:rPr lang="en-US" sz="2800" dirty="0">
                <a:solidFill>
                  <a:schemeClr val="dk1"/>
                </a:solidFill>
              </a:rPr>
              <a:t>Analytic sample: 9,230 college-bound HS seniors </a:t>
            </a:r>
          </a:p>
          <a:p>
            <a:pPr marL="914400" lvl="1" indent="-317500">
              <a:spcBef>
                <a:spcPts val="0"/>
              </a:spcBef>
              <a:spcAft>
                <a:spcPts val="600"/>
              </a:spcAft>
              <a:buClr>
                <a:schemeClr val="dk1"/>
              </a:buClr>
              <a:buSzPts val="1400"/>
              <a:buChar char="○"/>
            </a:pPr>
            <a:r>
              <a:rPr lang="en-US" sz="2400" dirty="0">
                <a:solidFill>
                  <a:schemeClr val="dk1"/>
                </a:solidFill>
              </a:rPr>
              <a:t>7,522 reported gender identity</a:t>
            </a:r>
          </a:p>
          <a:p>
            <a:pPr marL="914400" lvl="1" indent="-317500">
              <a:spcBef>
                <a:spcPts val="0"/>
              </a:spcBef>
              <a:spcAft>
                <a:spcPts val="600"/>
              </a:spcAft>
              <a:buClr>
                <a:schemeClr val="dk1"/>
              </a:buClr>
              <a:buSzPts val="1400"/>
              <a:buChar char="○"/>
            </a:pPr>
            <a:r>
              <a:rPr lang="en-US" sz="2400" dirty="0">
                <a:solidFill>
                  <a:schemeClr val="dk1"/>
                </a:solidFill>
              </a:rPr>
              <a:t>7,481 reported sexual orientation</a:t>
            </a:r>
          </a:p>
          <a:p>
            <a:pPr marL="457200">
              <a:spcBef>
                <a:spcPts val="0"/>
              </a:spcBef>
              <a:spcAft>
                <a:spcPts val="600"/>
              </a:spcAft>
              <a:buClr>
                <a:schemeClr val="dk1"/>
              </a:buClr>
              <a:buSzPts val="1800"/>
              <a:buChar char="●"/>
            </a:pPr>
            <a:r>
              <a:rPr lang="en-US" sz="2800" dirty="0">
                <a:solidFill>
                  <a:schemeClr val="dk1"/>
                </a:solidFill>
              </a:rPr>
              <a:t>1,828 LGBTQ+ students (excluding Prefer Not to Say)</a:t>
            </a:r>
          </a:p>
          <a:p>
            <a:pPr marL="914400" lvl="1" indent="-317500">
              <a:spcBef>
                <a:spcPts val="0"/>
              </a:spcBef>
              <a:spcAft>
                <a:spcPts val="600"/>
              </a:spcAft>
              <a:buClr>
                <a:schemeClr val="dk1"/>
              </a:buClr>
              <a:buSzPts val="1400"/>
              <a:buChar char="○"/>
            </a:pPr>
            <a:r>
              <a:rPr lang="en-US" sz="2400" dirty="0">
                <a:solidFill>
                  <a:schemeClr val="dk1"/>
                </a:solidFill>
              </a:rPr>
              <a:t>417 non-cisgender</a:t>
            </a:r>
          </a:p>
          <a:p>
            <a:pPr marL="914400" lvl="1" indent="-317500">
              <a:spcBef>
                <a:spcPts val="0"/>
              </a:spcBef>
              <a:spcAft>
                <a:spcPts val="600"/>
              </a:spcAft>
              <a:buClr>
                <a:schemeClr val="dk1"/>
              </a:buClr>
              <a:buSzPts val="1400"/>
              <a:buChar char="○"/>
            </a:pPr>
            <a:r>
              <a:rPr lang="en-US" sz="2400" dirty="0">
                <a:solidFill>
                  <a:schemeClr val="dk1"/>
                </a:solidFill>
              </a:rPr>
              <a:t>1,782 non-heterosexual </a:t>
            </a:r>
          </a:p>
          <a:p>
            <a:endParaRPr lang="en-US" sz="2800" dirty="0"/>
          </a:p>
        </p:txBody>
      </p:sp>
      <p:sp>
        <p:nvSpPr>
          <p:cNvPr id="4" name="Slide Number Placeholder 3">
            <a:extLst>
              <a:ext uri="{FF2B5EF4-FFF2-40B4-BE49-F238E27FC236}">
                <a16:creationId xmlns:a16="http://schemas.microsoft.com/office/drawing/2014/main" id="{E3D90B5A-980A-F4E4-CECA-584A746C26A7}"/>
              </a:ext>
            </a:extLst>
          </p:cNvPr>
          <p:cNvSpPr>
            <a:spLocks noGrp="1"/>
          </p:cNvSpPr>
          <p:nvPr>
            <p:ph type="sldNum" sz="quarter" idx="12"/>
          </p:nvPr>
        </p:nvSpPr>
        <p:spPr/>
        <p:txBody>
          <a:bodyPr/>
          <a:lstStyle/>
          <a:p>
            <a:fld id="{80DD8C35-F8B3-4049-95AF-A34E38FBBA50}" type="slidenum">
              <a:rPr lang="en-US" smtClean="0"/>
              <a:pPr/>
              <a:t>38</a:t>
            </a:fld>
            <a:endParaRPr lang="en-US" dirty="0"/>
          </a:p>
        </p:txBody>
      </p:sp>
    </p:spTree>
    <p:extLst>
      <p:ext uri="{BB962C8B-B14F-4D97-AF65-F5344CB8AC3E}">
        <p14:creationId xmlns:p14="http://schemas.microsoft.com/office/powerpoint/2010/main" val="3952782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Classification of Gender Identity</a:t>
            </a:r>
          </a:p>
        </p:txBody>
      </p:sp>
      <p:graphicFrame>
        <p:nvGraphicFramePr>
          <p:cNvPr id="8" name="Content Placeholder 7">
            <a:extLst>
              <a:ext uri="{FF2B5EF4-FFF2-40B4-BE49-F238E27FC236}">
                <a16:creationId xmlns:a16="http://schemas.microsoft.com/office/drawing/2014/main" id="{EAFA8A81-453A-00DC-00C0-CEAD0A8DADEB}"/>
              </a:ext>
            </a:extLst>
          </p:cNvPr>
          <p:cNvGraphicFramePr>
            <a:graphicFrameLocks noGrp="1"/>
          </p:cNvGraphicFramePr>
          <p:nvPr>
            <p:ph idx="1"/>
          </p:nvPr>
        </p:nvGraphicFramePr>
        <p:xfrm>
          <a:off x="1981201" y="1828800"/>
          <a:ext cx="8229597" cy="39471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989149363"/>
                    </a:ext>
                  </a:extLst>
                </a:gridCol>
                <a:gridCol w="3809998">
                  <a:extLst>
                    <a:ext uri="{9D8B030D-6E8A-4147-A177-3AD203B41FA5}">
                      <a16:colId xmlns:a16="http://schemas.microsoft.com/office/drawing/2014/main" val="537727586"/>
                    </a:ext>
                  </a:extLst>
                </a:gridCol>
                <a:gridCol w="2743199">
                  <a:extLst>
                    <a:ext uri="{9D8B030D-6E8A-4147-A177-3AD203B41FA5}">
                      <a16:colId xmlns:a16="http://schemas.microsoft.com/office/drawing/2014/main" val="81270153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Proxima Nova Rg" panose="02000506030000020004" pitchFamily="2" charset="0"/>
                        </a:rPr>
                        <a:t>Assigned Sex at Birth</a:t>
                      </a:r>
                    </a:p>
                    <a:p>
                      <a:endParaRPr lang="en-US" dirty="0"/>
                    </a:p>
                  </a:txBody>
                  <a:tcPr/>
                </a:tc>
                <a:tc>
                  <a:txBody>
                    <a:bodyPr/>
                    <a:lstStyle/>
                    <a:p>
                      <a:r>
                        <a:rPr lang="en-US" b="0" i="0" dirty="0">
                          <a:latin typeface="Proxima Nova Rg" panose="02000506030000020004" pitchFamily="2" charset="0"/>
                        </a:rPr>
                        <a:t>Current Gender</a:t>
                      </a:r>
                    </a:p>
                  </a:txBody>
                  <a:tcPr/>
                </a:tc>
                <a:tc>
                  <a:txBody>
                    <a:bodyPr/>
                    <a:lstStyle/>
                    <a:p>
                      <a:r>
                        <a:rPr lang="en-US" b="0" i="0" dirty="0">
                          <a:latin typeface="Proxima Nova Rg" panose="02000506030000020004" pitchFamily="2" charset="0"/>
                        </a:rPr>
                        <a:t>Gender Identity Classification</a:t>
                      </a:r>
                    </a:p>
                  </a:txBody>
                  <a:tcPr/>
                </a:tc>
                <a:extLst>
                  <a:ext uri="{0D108BD9-81ED-4DB2-BD59-A6C34878D82A}">
                    <a16:rowId xmlns:a16="http://schemas.microsoft.com/office/drawing/2014/main" val="4022714487"/>
                  </a:ext>
                </a:extLst>
              </a:tr>
              <a:tr h="370840">
                <a:tc>
                  <a:txBody>
                    <a:bodyPr/>
                    <a:lstStyle/>
                    <a:p>
                      <a:r>
                        <a:rPr lang="en-US" b="0" i="0" dirty="0">
                          <a:latin typeface="Proxima Nova Rg" panose="02000506030000020004" pitchFamily="2" charset="0"/>
                        </a:rPr>
                        <a:t>Male</a:t>
                      </a:r>
                    </a:p>
                  </a:txBody>
                  <a:tcPr/>
                </a:tc>
                <a:tc>
                  <a:txBody>
                    <a:bodyPr/>
                    <a:lstStyle/>
                    <a:p>
                      <a:r>
                        <a:rPr lang="en-US" b="0" i="0" dirty="0">
                          <a:latin typeface="Proxima Nova Rg" panose="02000506030000020004" pitchFamily="2" charset="0"/>
                        </a:rPr>
                        <a:t>Man</a:t>
                      </a:r>
                    </a:p>
                  </a:txBody>
                  <a:tcPr/>
                </a:tc>
                <a:tc>
                  <a:txBody>
                    <a:bodyPr/>
                    <a:lstStyle/>
                    <a:p>
                      <a:r>
                        <a:rPr lang="en-US" b="0" i="0" dirty="0">
                          <a:latin typeface="Proxima Nova Rg" panose="02000506030000020004" pitchFamily="2" charset="0"/>
                        </a:rPr>
                        <a:t>Cisgender Man</a:t>
                      </a:r>
                    </a:p>
                  </a:txBody>
                  <a:tcPr/>
                </a:tc>
                <a:extLst>
                  <a:ext uri="{0D108BD9-81ED-4DB2-BD59-A6C34878D82A}">
                    <a16:rowId xmlns:a16="http://schemas.microsoft.com/office/drawing/2014/main" val="1993829323"/>
                  </a:ext>
                </a:extLst>
              </a:tr>
              <a:tr h="370840">
                <a:tc>
                  <a:txBody>
                    <a:bodyPr/>
                    <a:lstStyle/>
                    <a:p>
                      <a:r>
                        <a:rPr lang="en-US" b="0" i="0" dirty="0">
                          <a:latin typeface="Proxima Nova Rg" panose="02000506030000020004" pitchFamily="2" charset="0"/>
                        </a:rPr>
                        <a:t>Female</a:t>
                      </a:r>
                    </a:p>
                  </a:txBody>
                  <a:tcPr/>
                </a:tc>
                <a:tc>
                  <a:txBody>
                    <a:bodyPr/>
                    <a:lstStyle/>
                    <a:p>
                      <a:r>
                        <a:rPr lang="en-US" b="0" i="0" dirty="0">
                          <a:latin typeface="Proxima Nova Rg" panose="02000506030000020004" pitchFamily="2" charset="0"/>
                        </a:rPr>
                        <a:t>Woman</a:t>
                      </a:r>
                    </a:p>
                  </a:txBody>
                  <a:tcPr/>
                </a:tc>
                <a:tc>
                  <a:txBody>
                    <a:bodyPr/>
                    <a:lstStyle/>
                    <a:p>
                      <a:r>
                        <a:rPr lang="en-US" b="0" i="0" dirty="0">
                          <a:latin typeface="Proxima Nova Rg" panose="02000506030000020004" pitchFamily="2" charset="0"/>
                        </a:rPr>
                        <a:t>Cisgender Woman</a:t>
                      </a:r>
                    </a:p>
                  </a:txBody>
                  <a:tcPr/>
                </a:tc>
                <a:extLst>
                  <a:ext uri="{0D108BD9-81ED-4DB2-BD59-A6C34878D82A}">
                    <a16:rowId xmlns:a16="http://schemas.microsoft.com/office/drawing/2014/main" val="2975970056"/>
                  </a:ext>
                </a:extLst>
              </a:tr>
              <a:tr h="370840">
                <a:tc>
                  <a:txBody>
                    <a:bodyPr/>
                    <a:lstStyle/>
                    <a:p>
                      <a:r>
                        <a:rPr lang="en-US" b="0" i="0" dirty="0">
                          <a:latin typeface="Proxima Nova Rg" panose="02000506030000020004" pitchFamily="2" charset="0"/>
                        </a:rPr>
                        <a:t>Male</a:t>
                      </a:r>
                    </a:p>
                  </a:txBody>
                  <a:tcPr/>
                </a:tc>
                <a:tc>
                  <a:txBody>
                    <a:bodyPr/>
                    <a:lstStyle/>
                    <a:p>
                      <a:r>
                        <a:rPr lang="en-US" b="0" i="0" dirty="0">
                          <a:latin typeface="Proxima Nova Rg" panose="02000506030000020004" pitchFamily="2" charset="0"/>
                        </a:rPr>
                        <a:t>Woman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Proxima Nova Rg" panose="02000506030000020004" pitchFamily="2" charset="0"/>
                        </a:rPr>
                        <a:t>(Binary) Transgender Woman</a:t>
                      </a:r>
                    </a:p>
                  </a:txBody>
                  <a:tcPr/>
                </a:tc>
                <a:extLst>
                  <a:ext uri="{0D108BD9-81ED-4DB2-BD59-A6C34878D82A}">
                    <a16:rowId xmlns:a16="http://schemas.microsoft.com/office/drawing/2014/main" val="2180934802"/>
                  </a:ext>
                </a:extLst>
              </a:tr>
              <a:tr h="370840">
                <a:tc>
                  <a:txBody>
                    <a:bodyPr/>
                    <a:lstStyle/>
                    <a:p>
                      <a:r>
                        <a:rPr lang="en-US" b="0" i="0" dirty="0">
                          <a:latin typeface="Proxima Nova Rg" panose="02000506030000020004" pitchFamily="2" charset="0"/>
                        </a:rPr>
                        <a:t>Female</a:t>
                      </a:r>
                    </a:p>
                  </a:txBody>
                  <a:tcPr/>
                </a:tc>
                <a:tc>
                  <a:txBody>
                    <a:bodyPr/>
                    <a:lstStyle/>
                    <a:p>
                      <a:r>
                        <a:rPr lang="en-US" b="0" i="0" dirty="0">
                          <a:latin typeface="Proxima Nova Rg" panose="02000506030000020004" pitchFamily="2" charset="0"/>
                        </a:rPr>
                        <a:t>Man</a:t>
                      </a:r>
                    </a:p>
                  </a:txBody>
                  <a:tcPr/>
                </a:tc>
                <a:tc>
                  <a:txBody>
                    <a:bodyPr/>
                    <a:lstStyle/>
                    <a:p>
                      <a:r>
                        <a:rPr lang="en-US" b="0" i="0" dirty="0">
                          <a:latin typeface="Proxima Nova Rg" panose="02000506030000020004" pitchFamily="2" charset="0"/>
                        </a:rPr>
                        <a:t>(Binary) Transgender Man</a:t>
                      </a:r>
                    </a:p>
                  </a:txBody>
                  <a:tcPr/>
                </a:tc>
                <a:extLst>
                  <a:ext uri="{0D108BD9-81ED-4DB2-BD59-A6C34878D82A}">
                    <a16:rowId xmlns:a16="http://schemas.microsoft.com/office/drawing/2014/main" val="2339953570"/>
                  </a:ext>
                </a:extLst>
              </a:tr>
              <a:tr h="370840">
                <a:tc>
                  <a:txBody>
                    <a:bodyPr/>
                    <a:lstStyle/>
                    <a:p>
                      <a:r>
                        <a:rPr lang="en-US" b="0" i="0" dirty="0">
                          <a:latin typeface="Proxima Nova Rg" panose="02000506030000020004" pitchFamily="2" charset="0"/>
                        </a:rPr>
                        <a:t>Any</a:t>
                      </a:r>
                    </a:p>
                  </a:txBody>
                  <a:tcPr/>
                </a:tc>
                <a:tc>
                  <a:txBody>
                    <a:bodyPr/>
                    <a:lstStyle/>
                    <a:p>
                      <a:r>
                        <a:rPr lang="en-US" b="0" i="0" dirty="0">
                          <a:latin typeface="Proxima Nova Rg" panose="02000506030000020004" pitchFamily="2" charset="0"/>
                        </a:rPr>
                        <a:t>Non-binary/Self Describe/Questioning</a:t>
                      </a:r>
                    </a:p>
                  </a:txBody>
                  <a:tcPr/>
                </a:tc>
                <a:tc>
                  <a:txBody>
                    <a:bodyPr/>
                    <a:lstStyle/>
                    <a:p>
                      <a:r>
                        <a:rPr lang="en-US" b="0" i="0" dirty="0">
                          <a:latin typeface="Proxima Nova Rg" panose="02000506030000020004" pitchFamily="2" charset="0"/>
                        </a:rPr>
                        <a:t>Non-binary/Gender Diverse/Questioning</a:t>
                      </a:r>
                    </a:p>
                  </a:txBody>
                  <a:tcPr/>
                </a:tc>
                <a:extLst>
                  <a:ext uri="{0D108BD9-81ED-4DB2-BD59-A6C34878D82A}">
                    <a16:rowId xmlns:a16="http://schemas.microsoft.com/office/drawing/2014/main" val="3415227245"/>
                  </a:ext>
                </a:extLst>
              </a:tr>
              <a:tr h="370840">
                <a:tc>
                  <a:txBody>
                    <a:bodyPr/>
                    <a:lstStyle/>
                    <a:p>
                      <a:r>
                        <a:rPr lang="en-US" b="0" i="0" dirty="0">
                          <a:latin typeface="Proxima Nova Rg" panose="02000506030000020004" pitchFamily="2" charset="0"/>
                        </a:rPr>
                        <a:t>Any</a:t>
                      </a:r>
                    </a:p>
                  </a:txBody>
                  <a:tcPr/>
                </a:tc>
                <a:tc>
                  <a:txBody>
                    <a:bodyPr/>
                    <a:lstStyle/>
                    <a:p>
                      <a:r>
                        <a:rPr lang="en-US" b="0" i="0" dirty="0">
                          <a:latin typeface="Proxima Nova Rg" panose="02000506030000020004" pitchFamily="2" charset="0"/>
                        </a:rPr>
                        <a:t>Prefer not to say/Attack helicopters</a:t>
                      </a:r>
                    </a:p>
                  </a:txBody>
                  <a:tcPr/>
                </a:tc>
                <a:tc>
                  <a:txBody>
                    <a:bodyPr/>
                    <a:lstStyle/>
                    <a:p>
                      <a:r>
                        <a:rPr lang="en-US" b="0" i="0" dirty="0">
                          <a:latin typeface="Proxima Nova Rg" panose="02000506030000020004" pitchFamily="2" charset="0"/>
                        </a:rPr>
                        <a:t>Prefer not to say</a:t>
                      </a:r>
                    </a:p>
                  </a:txBody>
                  <a:tcPr/>
                </a:tc>
                <a:extLst>
                  <a:ext uri="{0D108BD9-81ED-4DB2-BD59-A6C34878D82A}">
                    <a16:rowId xmlns:a16="http://schemas.microsoft.com/office/drawing/2014/main" val="2770170423"/>
                  </a:ext>
                </a:extLst>
              </a:tr>
            </a:tbl>
          </a:graphicData>
        </a:graphic>
      </p:graphicFrame>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39</a:t>
            </a:fld>
            <a:endParaRPr lang="en-US" dirty="0"/>
          </a:p>
        </p:txBody>
      </p:sp>
    </p:spTree>
    <p:extLst>
      <p:ext uri="{BB962C8B-B14F-4D97-AF65-F5344CB8AC3E}">
        <p14:creationId xmlns:p14="http://schemas.microsoft.com/office/powerpoint/2010/main" val="788974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7BA0-6789-1E6A-1BEF-A1F7A0EFCEFF}"/>
              </a:ext>
            </a:extLst>
          </p:cNvPr>
          <p:cNvSpPr>
            <a:spLocks noGrp="1"/>
          </p:cNvSpPr>
          <p:nvPr>
            <p:ph type="title"/>
          </p:nvPr>
        </p:nvSpPr>
        <p:spPr/>
        <p:txBody>
          <a:bodyPr/>
          <a:lstStyle/>
          <a:p>
            <a:r>
              <a:rPr lang="en-US" dirty="0"/>
              <a:t>Classification of Sexual Orientation</a:t>
            </a:r>
          </a:p>
        </p:txBody>
      </p:sp>
      <p:graphicFrame>
        <p:nvGraphicFramePr>
          <p:cNvPr id="6" name="Content Placeholder 5">
            <a:extLst>
              <a:ext uri="{FF2B5EF4-FFF2-40B4-BE49-F238E27FC236}">
                <a16:creationId xmlns:a16="http://schemas.microsoft.com/office/drawing/2014/main" id="{7BF6BF64-35FA-2033-04DF-F849E05D8809}"/>
              </a:ext>
            </a:extLst>
          </p:cNvPr>
          <p:cNvGraphicFramePr>
            <a:graphicFrameLocks noGrp="1"/>
          </p:cNvGraphicFramePr>
          <p:nvPr>
            <p:ph idx="1"/>
          </p:nvPr>
        </p:nvGraphicFramePr>
        <p:xfrm>
          <a:off x="609600" y="1676400"/>
          <a:ext cx="10972800" cy="312928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550922073"/>
                    </a:ext>
                  </a:extLst>
                </a:gridCol>
                <a:gridCol w="5486400">
                  <a:extLst>
                    <a:ext uri="{9D8B030D-6E8A-4147-A177-3AD203B41FA5}">
                      <a16:colId xmlns:a16="http://schemas.microsoft.com/office/drawing/2014/main" val="36056556"/>
                    </a:ext>
                  </a:extLst>
                </a:gridCol>
              </a:tblGrid>
              <a:tr h="294640">
                <a:tc>
                  <a:txBody>
                    <a:bodyPr/>
                    <a:lstStyle/>
                    <a:p>
                      <a:r>
                        <a:rPr lang="en-US" b="0" i="0" dirty="0">
                          <a:latin typeface="Proxima Nova Rg" panose="02000506030000020004" pitchFamily="2" charset="0"/>
                        </a:rPr>
                        <a:t>Sexual Orientation</a:t>
                      </a:r>
                    </a:p>
                  </a:txBody>
                  <a:tcPr/>
                </a:tc>
                <a:tc>
                  <a:txBody>
                    <a:bodyPr/>
                    <a:lstStyle/>
                    <a:p>
                      <a:r>
                        <a:rPr lang="en-US" b="0" i="0" dirty="0">
                          <a:latin typeface="Proxima Nova Rg" panose="02000506030000020004" pitchFamily="2" charset="0"/>
                        </a:rPr>
                        <a:t>Sexual Orientation Classification</a:t>
                      </a:r>
                    </a:p>
                  </a:txBody>
                  <a:tcPr/>
                </a:tc>
                <a:extLst>
                  <a:ext uri="{0D108BD9-81ED-4DB2-BD59-A6C34878D82A}">
                    <a16:rowId xmlns:a16="http://schemas.microsoft.com/office/drawing/2014/main" val="3697325495"/>
                  </a:ext>
                </a:extLst>
              </a:tr>
              <a:tr h="370840">
                <a:tc>
                  <a:txBody>
                    <a:bodyPr/>
                    <a:lstStyle/>
                    <a:p>
                      <a:r>
                        <a:rPr lang="en-US" b="0" i="0" dirty="0">
                          <a:latin typeface="Proxima Nova Rg" panose="02000506030000020004" pitchFamily="2" charset="0"/>
                        </a:rPr>
                        <a:t>Lesbian or Gay</a:t>
                      </a:r>
                    </a:p>
                  </a:txBody>
                  <a:tcPr/>
                </a:tc>
                <a:tc>
                  <a:txBody>
                    <a:bodyPr/>
                    <a:lstStyle/>
                    <a:p>
                      <a:r>
                        <a:rPr lang="en-US" b="0" i="0" dirty="0">
                          <a:latin typeface="Proxima Nova Rg" panose="02000506030000020004" pitchFamily="2" charset="0"/>
                        </a:rPr>
                        <a:t>Gay/Lesbian</a:t>
                      </a:r>
                    </a:p>
                  </a:txBody>
                  <a:tcPr/>
                </a:tc>
                <a:extLst>
                  <a:ext uri="{0D108BD9-81ED-4DB2-BD59-A6C34878D82A}">
                    <a16:rowId xmlns:a16="http://schemas.microsoft.com/office/drawing/2014/main" val="658375853"/>
                  </a:ext>
                </a:extLst>
              </a:tr>
              <a:tr h="370840">
                <a:tc>
                  <a:txBody>
                    <a:bodyPr/>
                    <a:lstStyle/>
                    <a:p>
                      <a:r>
                        <a:rPr lang="en-US" b="0" i="0" dirty="0">
                          <a:latin typeface="Proxima Nova Rg" panose="02000506030000020004" pitchFamily="2" charset="0"/>
                        </a:rPr>
                        <a:t>Straight (not gay or lesbian)</a:t>
                      </a:r>
                    </a:p>
                  </a:txBody>
                  <a:tcPr/>
                </a:tc>
                <a:tc>
                  <a:txBody>
                    <a:bodyPr/>
                    <a:lstStyle/>
                    <a:p>
                      <a:r>
                        <a:rPr lang="en-US" b="0" i="0" dirty="0">
                          <a:latin typeface="Proxima Nova Rg" panose="02000506030000020004" pitchFamily="2" charset="0"/>
                        </a:rPr>
                        <a:t>Heterosexual</a:t>
                      </a:r>
                    </a:p>
                  </a:txBody>
                  <a:tcPr/>
                </a:tc>
                <a:extLst>
                  <a:ext uri="{0D108BD9-81ED-4DB2-BD59-A6C34878D82A}">
                    <a16:rowId xmlns:a16="http://schemas.microsoft.com/office/drawing/2014/main" val="4004636364"/>
                  </a:ext>
                </a:extLst>
              </a:tr>
              <a:tr h="370840">
                <a:tc>
                  <a:txBody>
                    <a:bodyPr/>
                    <a:lstStyle/>
                    <a:p>
                      <a:r>
                        <a:rPr lang="en-US" b="0" i="0" dirty="0">
                          <a:latin typeface="Proxima Nova Rg" panose="02000506030000020004" pitchFamily="2" charset="0"/>
                        </a:rPr>
                        <a:t>Bisexual/Self described pansexual</a:t>
                      </a:r>
                    </a:p>
                  </a:txBody>
                  <a:tcPr/>
                </a:tc>
                <a:tc>
                  <a:txBody>
                    <a:bodyPr/>
                    <a:lstStyle/>
                    <a:p>
                      <a:r>
                        <a:rPr lang="en-US" b="0" i="0" dirty="0">
                          <a:latin typeface="Proxima Nova Rg" panose="02000506030000020004" pitchFamily="2" charset="0"/>
                        </a:rPr>
                        <a:t>Bisexual/Pansexual</a:t>
                      </a:r>
                    </a:p>
                  </a:txBody>
                  <a:tcPr/>
                </a:tc>
                <a:extLst>
                  <a:ext uri="{0D108BD9-81ED-4DB2-BD59-A6C34878D82A}">
                    <a16:rowId xmlns:a16="http://schemas.microsoft.com/office/drawing/2014/main" val="122349234"/>
                  </a:ext>
                </a:extLst>
              </a:tr>
              <a:tr h="370840">
                <a:tc>
                  <a:txBody>
                    <a:bodyPr/>
                    <a:lstStyle/>
                    <a:p>
                      <a:r>
                        <a:rPr lang="en-US" b="0" i="0" dirty="0">
                          <a:latin typeface="Proxima Nova Rg" panose="02000506030000020004" pitchFamily="2" charset="0"/>
                        </a:rPr>
                        <a:t>Asexual/Self described asexual/demisexual/aromantic</a:t>
                      </a:r>
                    </a:p>
                  </a:txBody>
                  <a:tcPr/>
                </a:tc>
                <a:tc>
                  <a:txBody>
                    <a:bodyPr/>
                    <a:lstStyle/>
                    <a:p>
                      <a:r>
                        <a:rPr lang="en-US" b="0" i="0" dirty="0">
                          <a:latin typeface="Proxima Nova Rg" panose="02000506030000020004" pitchFamily="2" charset="0"/>
                        </a:rPr>
                        <a:t>Asexual/Demisexual/Aromantic</a:t>
                      </a:r>
                    </a:p>
                  </a:txBody>
                  <a:tcPr/>
                </a:tc>
                <a:extLst>
                  <a:ext uri="{0D108BD9-81ED-4DB2-BD59-A6C34878D82A}">
                    <a16:rowId xmlns:a16="http://schemas.microsoft.com/office/drawing/2014/main" val="42138091"/>
                  </a:ext>
                </a:extLst>
              </a:tr>
              <a:tr h="370840">
                <a:tc>
                  <a:txBody>
                    <a:bodyPr/>
                    <a:lstStyle/>
                    <a:p>
                      <a:r>
                        <a:rPr lang="en-US" b="0" i="0" dirty="0">
                          <a:latin typeface="Proxima Nova Rg" panose="02000506030000020004" pitchFamily="2" charset="0"/>
                        </a:rPr>
                        <a:t>Self described other non-heterosexual orientations/questioning</a:t>
                      </a:r>
                    </a:p>
                  </a:txBody>
                  <a:tcPr/>
                </a:tc>
                <a:tc>
                  <a:txBody>
                    <a:bodyPr/>
                    <a:lstStyle/>
                    <a:p>
                      <a:r>
                        <a:rPr lang="en-US" b="0" i="0" dirty="0">
                          <a:latin typeface="Proxima Nova Rg" panose="02000506030000020004" pitchFamily="2" charset="0"/>
                        </a:rPr>
                        <a:t>Other/Queer/Questioning</a:t>
                      </a:r>
                    </a:p>
                  </a:txBody>
                  <a:tcPr/>
                </a:tc>
                <a:extLst>
                  <a:ext uri="{0D108BD9-81ED-4DB2-BD59-A6C34878D82A}">
                    <a16:rowId xmlns:a16="http://schemas.microsoft.com/office/drawing/2014/main" val="2419595280"/>
                  </a:ext>
                </a:extLst>
              </a:tr>
              <a:tr h="370840">
                <a:tc>
                  <a:txBody>
                    <a:bodyPr/>
                    <a:lstStyle/>
                    <a:p>
                      <a:r>
                        <a:rPr lang="en-US" b="0" i="0" dirty="0">
                          <a:latin typeface="Proxima Nova Rg" panose="02000506030000020004" pitchFamily="2" charset="0"/>
                        </a:rPr>
                        <a:t>Prefer not to say/Attack helicopters</a:t>
                      </a:r>
                    </a:p>
                  </a:txBody>
                  <a:tcPr/>
                </a:tc>
                <a:tc>
                  <a:txBody>
                    <a:bodyPr/>
                    <a:lstStyle/>
                    <a:p>
                      <a:r>
                        <a:rPr lang="en-US" b="0" i="0" dirty="0">
                          <a:latin typeface="Proxima Nova Rg" panose="02000506030000020004" pitchFamily="2" charset="0"/>
                        </a:rPr>
                        <a:t>Prefer not to say</a:t>
                      </a:r>
                    </a:p>
                  </a:txBody>
                  <a:tcPr/>
                </a:tc>
                <a:extLst>
                  <a:ext uri="{0D108BD9-81ED-4DB2-BD59-A6C34878D82A}">
                    <a16:rowId xmlns:a16="http://schemas.microsoft.com/office/drawing/2014/main" val="9883438"/>
                  </a:ext>
                </a:extLst>
              </a:tr>
            </a:tbl>
          </a:graphicData>
        </a:graphic>
      </p:graphicFrame>
      <p:sp>
        <p:nvSpPr>
          <p:cNvPr id="4" name="Slide Number Placeholder 3">
            <a:extLst>
              <a:ext uri="{FF2B5EF4-FFF2-40B4-BE49-F238E27FC236}">
                <a16:creationId xmlns:a16="http://schemas.microsoft.com/office/drawing/2014/main" id="{EAF3D81F-3217-7933-44B5-41C244915F41}"/>
              </a:ext>
            </a:extLst>
          </p:cNvPr>
          <p:cNvSpPr>
            <a:spLocks noGrp="1"/>
          </p:cNvSpPr>
          <p:nvPr>
            <p:ph type="sldNum" sz="quarter" idx="12"/>
          </p:nvPr>
        </p:nvSpPr>
        <p:spPr/>
        <p:txBody>
          <a:bodyPr/>
          <a:lstStyle/>
          <a:p>
            <a:fld id="{80DD8C35-F8B3-4049-95AF-A34E38FBBA50}" type="slidenum">
              <a:rPr lang="en-US" smtClean="0"/>
              <a:pPr/>
              <a:t>40</a:t>
            </a:fld>
            <a:endParaRPr lang="en-US" dirty="0"/>
          </a:p>
        </p:txBody>
      </p:sp>
    </p:spTree>
    <p:extLst>
      <p:ext uri="{BB962C8B-B14F-4D97-AF65-F5344CB8AC3E}">
        <p14:creationId xmlns:p14="http://schemas.microsoft.com/office/powerpoint/2010/main" val="3931647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FA85-4D16-0D82-E713-88B2D51AA37D}"/>
              </a:ext>
            </a:extLst>
          </p:cNvPr>
          <p:cNvSpPr>
            <a:spLocks noGrp="1"/>
          </p:cNvSpPr>
          <p:nvPr>
            <p:ph type="title"/>
          </p:nvPr>
        </p:nvSpPr>
        <p:spPr>
          <a:xfrm>
            <a:off x="1981200" y="76200"/>
            <a:ext cx="9296400" cy="1143000"/>
          </a:xfrm>
        </p:spPr>
        <p:txBody>
          <a:bodyPr anchor="ctr">
            <a:noAutofit/>
          </a:bodyPr>
          <a:lstStyle/>
          <a:p>
            <a:pPr>
              <a:lnSpc>
                <a:spcPct val="90000"/>
              </a:lnSpc>
            </a:pPr>
            <a:r>
              <a:rPr lang="en-US" dirty="0"/>
              <a:t>Self Rating of High School Social Experience</a:t>
            </a:r>
          </a:p>
        </p:txBody>
      </p:sp>
      <p:pic>
        <p:nvPicPr>
          <p:cNvPr id="7" name="Picture 6">
            <a:extLst>
              <a:ext uri="{FF2B5EF4-FFF2-40B4-BE49-F238E27FC236}">
                <a16:creationId xmlns:a16="http://schemas.microsoft.com/office/drawing/2014/main" id="{65856D3E-5F19-B5FE-5B28-B4F240F27F51}"/>
              </a:ext>
            </a:extLst>
          </p:cNvPr>
          <p:cNvPicPr>
            <a:picLocks noChangeAspect="1"/>
          </p:cNvPicPr>
          <p:nvPr/>
        </p:nvPicPr>
        <p:blipFill>
          <a:blip r:embed="rId2"/>
          <a:stretch>
            <a:fillRect/>
          </a:stretch>
        </p:blipFill>
        <p:spPr>
          <a:xfrm>
            <a:off x="1290513" y="1506761"/>
            <a:ext cx="9610974" cy="5236939"/>
          </a:xfrm>
          <a:prstGeom prst="rect">
            <a:avLst/>
          </a:prstGeom>
          <a:noFill/>
        </p:spPr>
      </p:pic>
      <p:sp>
        <p:nvSpPr>
          <p:cNvPr id="4" name="Slide Number Placeholder 3">
            <a:extLst>
              <a:ext uri="{FF2B5EF4-FFF2-40B4-BE49-F238E27FC236}">
                <a16:creationId xmlns:a16="http://schemas.microsoft.com/office/drawing/2014/main" id="{6535B22B-7645-AE9B-7AB7-E57DE46AE916}"/>
              </a:ext>
            </a:extLst>
          </p:cNvPr>
          <p:cNvSpPr>
            <a:spLocks noGrp="1"/>
          </p:cNvSpPr>
          <p:nvPr>
            <p:ph type="sldNum" sz="quarter" idx="12"/>
          </p:nvPr>
        </p:nvSpPr>
        <p:spPr>
          <a:xfrm>
            <a:off x="11765225" y="-1"/>
            <a:ext cx="426775" cy="316833"/>
          </a:xfrm>
        </p:spPr>
        <p:txBody>
          <a:bodyPr anchor="ctr">
            <a:normAutofit/>
          </a:bodyPr>
          <a:lstStyle/>
          <a:p>
            <a:pPr algn="just">
              <a:lnSpc>
                <a:spcPct val="90000"/>
              </a:lnSpc>
              <a:spcAft>
                <a:spcPts val="600"/>
              </a:spcAft>
            </a:pPr>
            <a:fld id="{80DD8C35-F8B3-4049-95AF-A34E38FBBA50}" type="slidenum">
              <a:rPr lang="en-US" smtClean="0"/>
              <a:pPr algn="just">
                <a:lnSpc>
                  <a:spcPct val="90000"/>
                </a:lnSpc>
                <a:spcAft>
                  <a:spcPts val="600"/>
                </a:spcAft>
              </a:pPr>
              <a:t>41</a:t>
            </a:fld>
            <a:endParaRPr lang="en-US" dirty="0"/>
          </a:p>
        </p:txBody>
      </p:sp>
    </p:spTree>
    <p:extLst>
      <p:ext uri="{BB962C8B-B14F-4D97-AF65-F5344CB8AC3E}">
        <p14:creationId xmlns:p14="http://schemas.microsoft.com/office/powerpoint/2010/main" val="2718711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A70A97B-198F-8F7F-D542-06F274B72328}"/>
              </a:ext>
            </a:extLst>
          </p:cNvPr>
          <p:cNvSpPr>
            <a:spLocks noGrp="1"/>
          </p:cNvSpPr>
          <p:nvPr>
            <p:ph type="title"/>
          </p:nvPr>
        </p:nvSpPr>
        <p:spPr>
          <a:xfrm>
            <a:off x="1905000" y="97455"/>
            <a:ext cx="8382000" cy="1143000"/>
          </a:xfrm>
        </p:spPr>
        <p:txBody>
          <a:bodyPr>
            <a:noAutofit/>
          </a:bodyPr>
          <a:lstStyle/>
          <a:p>
            <a:r>
              <a:rPr lang="en-US" dirty="0"/>
              <a:t>Belonging in High School</a:t>
            </a:r>
          </a:p>
        </p:txBody>
      </p:sp>
      <p:pic>
        <p:nvPicPr>
          <p:cNvPr id="7" name="Picture 6">
            <a:extLst>
              <a:ext uri="{FF2B5EF4-FFF2-40B4-BE49-F238E27FC236}">
                <a16:creationId xmlns:a16="http://schemas.microsoft.com/office/drawing/2014/main" id="{9D39FF1D-103D-EA6A-2FE2-ADC8FB25A845}"/>
              </a:ext>
            </a:extLst>
          </p:cNvPr>
          <p:cNvPicPr>
            <a:picLocks noChangeAspect="1"/>
          </p:cNvPicPr>
          <p:nvPr/>
        </p:nvPicPr>
        <p:blipFill>
          <a:blip r:embed="rId2"/>
          <a:stretch>
            <a:fillRect/>
          </a:stretch>
        </p:blipFill>
        <p:spPr>
          <a:xfrm>
            <a:off x="1143000" y="1431224"/>
            <a:ext cx="9906000" cy="5329321"/>
          </a:xfrm>
          <a:prstGeom prst="rect">
            <a:avLst/>
          </a:prstGeom>
          <a:noFill/>
        </p:spPr>
      </p:pic>
      <p:sp>
        <p:nvSpPr>
          <p:cNvPr id="4" name="Slide Number Placeholder 3">
            <a:extLst>
              <a:ext uri="{FF2B5EF4-FFF2-40B4-BE49-F238E27FC236}">
                <a16:creationId xmlns:a16="http://schemas.microsoft.com/office/drawing/2014/main" id="{6613CB27-9F84-6489-0D66-1E3D7317F1A9}"/>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42</a:t>
            </a:fld>
            <a:endParaRPr lang="en-US" dirty="0"/>
          </a:p>
        </p:txBody>
      </p:sp>
    </p:spTree>
    <p:extLst>
      <p:ext uri="{BB962C8B-B14F-4D97-AF65-F5344CB8AC3E}">
        <p14:creationId xmlns:p14="http://schemas.microsoft.com/office/powerpoint/2010/main" val="3604376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BB9A-AAA1-6C49-9A2A-9CCB86A1ACAF}"/>
              </a:ext>
            </a:extLst>
          </p:cNvPr>
          <p:cNvSpPr>
            <a:spLocks noGrp="1"/>
          </p:cNvSpPr>
          <p:nvPr>
            <p:ph type="title"/>
          </p:nvPr>
        </p:nvSpPr>
        <p:spPr>
          <a:xfrm>
            <a:off x="867394" y="116809"/>
            <a:ext cx="10457211" cy="1143000"/>
          </a:xfrm>
        </p:spPr>
        <p:txBody>
          <a:bodyPr anchor="ctr">
            <a:noAutofit/>
          </a:bodyPr>
          <a:lstStyle/>
          <a:p>
            <a:r>
              <a:rPr lang="en-US" dirty="0"/>
              <a:t>Worried about Discrimination on Gender</a:t>
            </a:r>
          </a:p>
        </p:txBody>
      </p:sp>
      <p:pic>
        <p:nvPicPr>
          <p:cNvPr id="7" name="Picture 6">
            <a:extLst>
              <a:ext uri="{FF2B5EF4-FFF2-40B4-BE49-F238E27FC236}">
                <a16:creationId xmlns:a16="http://schemas.microsoft.com/office/drawing/2014/main" id="{9E7A9668-246C-22FC-473B-15AD2F9E9FE2}"/>
              </a:ext>
            </a:extLst>
          </p:cNvPr>
          <p:cNvPicPr>
            <a:picLocks noChangeAspect="1"/>
          </p:cNvPicPr>
          <p:nvPr/>
        </p:nvPicPr>
        <p:blipFill>
          <a:blip r:embed="rId2"/>
          <a:stretch>
            <a:fillRect/>
          </a:stretch>
        </p:blipFill>
        <p:spPr>
          <a:xfrm>
            <a:off x="1380175" y="1524000"/>
            <a:ext cx="9431650" cy="5096425"/>
          </a:xfrm>
          <a:prstGeom prst="rect">
            <a:avLst/>
          </a:prstGeom>
          <a:noFill/>
        </p:spPr>
      </p:pic>
      <p:sp>
        <p:nvSpPr>
          <p:cNvPr id="4" name="Slide Number Placeholder 3">
            <a:extLst>
              <a:ext uri="{FF2B5EF4-FFF2-40B4-BE49-F238E27FC236}">
                <a16:creationId xmlns:a16="http://schemas.microsoft.com/office/drawing/2014/main" id="{55F3480C-4A0D-768A-264C-B6C4F87A358A}"/>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43</a:t>
            </a:fld>
            <a:endParaRPr lang="en-US" dirty="0"/>
          </a:p>
        </p:txBody>
      </p:sp>
    </p:spTree>
    <p:extLst>
      <p:ext uri="{BB962C8B-B14F-4D97-AF65-F5344CB8AC3E}">
        <p14:creationId xmlns:p14="http://schemas.microsoft.com/office/powerpoint/2010/main" val="37811369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F0CA-B02F-0B45-2972-D96604BE64EC}"/>
              </a:ext>
            </a:extLst>
          </p:cNvPr>
          <p:cNvSpPr>
            <a:spLocks noGrp="1"/>
          </p:cNvSpPr>
          <p:nvPr>
            <p:ph type="title"/>
          </p:nvPr>
        </p:nvSpPr>
        <p:spPr>
          <a:xfrm>
            <a:off x="571500" y="105252"/>
            <a:ext cx="11049000" cy="1143000"/>
          </a:xfrm>
        </p:spPr>
        <p:txBody>
          <a:bodyPr anchor="ctr">
            <a:noAutofit/>
          </a:bodyPr>
          <a:lstStyle/>
          <a:p>
            <a:r>
              <a:rPr lang="en-US" dirty="0"/>
              <a:t>Worried about Discrimination on Sexual orientation</a:t>
            </a:r>
          </a:p>
        </p:txBody>
      </p:sp>
      <p:pic>
        <p:nvPicPr>
          <p:cNvPr id="7" name="Picture 6">
            <a:extLst>
              <a:ext uri="{FF2B5EF4-FFF2-40B4-BE49-F238E27FC236}">
                <a16:creationId xmlns:a16="http://schemas.microsoft.com/office/drawing/2014/main" id="{7EACA165-1D9B-3EC4-D873-BB0C961DB29E}"/>
              </a:ext>
            </a:extLst>
          </p:cNvPr>
          <p:cNvPicPr>
            <a:picLocks noChangeAspect="1"/>
          </p:cNvPicPr>
          <p:nvPr/>
        </p:nvPicPr>
        <p:blipFill>
          <a:blip r:embed="rId2"/>
          <a:stretch>
            <a:fillRect/>
          </a:stretch>
        </p:blipFill>
        <p:spPr>
          <a:xfrm>
            <a:off x="1276350" y="1447800"/>
            <a:ext cx="9639300" cy="5193811"/>
          </a:xfrm>
          <a:prstGeom prst="rect">
            <a:avLst/>
          </a:prstGeom>
          <a:noFill/>
        </p:spPr>
      </p:pic>
      <p:sp>
        <p:nvSpPr>
          <p:cNvPr id="4" name="Slide Number Placeholder 3">
            <a:extLst>
              <a:ext uri="{FF2B5EF4-FFF2-40B4-BE49-F238E27FC236}">
                <a16:creationId xmlns:a16="http://schemas.microsoft.com/office/drawing/2014/main" id="{7A39D37F-3D9C-01B8-1AD6-2E1FA217C54E}"/>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44</a:t>
            </a:fld>
            <a:endParaRPr lang="en-US" dirty="0"/>
          </a:p>
        </p:txBody>
      </p:sp>
    </p:spTree>
    <p:extLst>
      <p:ext uri="{BB962C8B-B14F-4D97-AF65-F5344CB8AC3E}">
        <p14:creationId xmlns:p14="http://schemas.microsoft.com/office/powerpoint/2010/main" val="3034432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BC8FC1D-F6CB-C476-BE36-BCDE7874A59C}"/>
              </a:ext>
            </a:extLst>
          </p:cNvPr>
          <p:cNvSpPr>
            <a:spLocks noGrp="1"/>
          </p:cNvSpPr>
          <p:nvPr>
            <p:ph type="title"/>
          </p:nvPr>
        </p:nvSpPr>
        <p:spPr>
          <a:xfrm>
            <a:off x="1981200" y="76200"/>
            <a:ext cx="8229600" cy="1143000"/>
          </a:xfrm>
        </p:spPr>
        <p:txBody>
          <a:bodyPr>
            <a:noAutofit/>
          </a:bodyPr>
          <a:lstStyle/>
          <a:p>
            <a:r>
              <a:rPr lang="en-US" dirty="0"/>
              <a:t>Worried about Finding Community</a:t>
            </a:r>
          </a:p>
        </p:txBody>
      </p:sp>
      <p:pic>
        <p:nvPicPr>
          <p:cNvPr id="7" name="Picture 6">
            <a:extLst>
              <a:ext uri="{FF2B5EF4-FFF2-40B4-BE49-F238E27FC236}">
                <a16:creationId xmlns:a16="http://schemas.microsoft.com/office/drawing/2014/main" id="{FA402CA9-3F61-6380-B71D-E36E368CAE30}"/>
              </a:ext>
            </a:extLst>
          </p:cNvPr>
          <p:cNvPicPr>
            <a:picLocks noChangeAspect="1"/>
          </p:cNvPicPr>
          <p:nvPr/>
        </p:nvPicPr>
        <p:blipFill>
          <a:blip r:embed="rId2"/>
          <a:stretch>
            <a:fillRect/>
          </a:stretch>
        </p:blipFill>
        <p:spPr>
          <a:xfrm>
            <a:off x="1118106" y="1417460"/>
            <a:ext cx="9955788" cy="5364340"/>
          </a:xfrm>
          <a:prstGeom prst="rect">
            <a:avLst/>
          </a:prstGeom>
          <a:noFill/>
        </p:spPr>
      </p:pic>
      <p:sp>
        <p:nvSpPr>
          <p:cNvPr id="4" name="Slide Number Placeholder 3">
            <a:extLst>
              <a:ext uri="{FF2B5EF4-FFF2-40B4-BE49-F238E27FC236}">
                <a16:creationId xmlns:a16="http://schemas.microsoft.com/office/drawing/2014/main" id="{E5E81443-BDE9-8673-A315-522C739E0690}"/>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45</a:t>
            </a:fld>
            <a:endParaRPr lang="en-US" dirty="0"/>
          </a:p>
        </p:txBody>
      </p:sp>
    </p:spTree>
    <p:extLst>
      <p:ext uri="{BB962C8B-B14F-4D97-AF65-F5344CB8AC3E}">
        <p14:creationId xmlns:p14="http://schemas.microsoft.com/office/powerpoint/2010/main" val="2484867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01D6DF0-0A08-3115-96F9-67822E951D47}"/>
              </a:ext>
            </a:extLst>
          </p:cNvPr>
          <p:cNvSpPr>
            <a:spLocks noGrp="1"/>
          </p:cNvSpPr>
          <p:nvPr>
            <p:ph type="title"/>
          </p:nvPr>
        </p:nvSpPr>
        <p:spPr>
          <a:xfrm>
            <a:off x="1676400" y="76200"/>
            <a:ext cx="8534400" cy="1143000"/>
          </a:xfrm>
        </p:spPr>
        <p:txBody>
          <a:bodyPr>
            <a:noAutofit/>
          </a:bodyPr>
          <a:lstStyle/>
          <a:p>
            <a:r>
              <a:rPr lang="en-US" dirty="0"/>
              <a:t>Worried about Adequate Support</a:t>
            </a:r>
          </a:p>
        </p:txBody>
      </p:sp>
      <p:pic>
        <p:nvPicPr>
          <p:cNvPr id="6" name="Picture 5">
            <a:extLst>
              <a:ext uri="{FF2B5EF4-FFF2-40B4-BE49-F238E27FC236}">
                <a16:creationId xmlns:a16="http://schemas.microsoft.com/office/drawing/2014/main" id="{114F737F-C899-CD25-F7FE-C4CD868BAEBF}"/>
              </a:ext>
            </a:extLst>
          </p:cNvPr>
          <p:cNvPicPr>
            <a:picLocks noChangeAspect="1"/>
          </p:cNvPicPr>
          <p:nvPr/>
        </p:nvPicPr>
        <p:blipFill>
          <a:blip r:embed="rId2"/>
          <a:stretch>
            <a:fillRect/>
          </a:stretch>
        </p:blipFill>
        <p:spPr>
          <a:xfrm>
            <a:off x="1051587" y="1370586"/>
            <a:ext cx="10088825" cy="5436023"/>
          </a:xfrm>
          <a:prstGeom prst="rect">
            <a:avLst/>
          </a:prstGeom>
          <a:noFill/>
        </p:spPr>
      </p:pic>
      <p:sp>
        <p:nvSpPr>
          <p:cNvPr id="4" name="Slide Number Placeholder 3">
            <a:extLst>
              <a:ext uri="{FF2B5EF4-FFF2-40B4-BE49-F238E27FC236}">
                <a16:creationId xmlns:a16="http://schemas.microsoft.com/office/drawing/2014/main" id="{67E2E169-26EE-2BCE-EDDA-BDE3E703EF1E}"/>
              </a:ext>
            </a:extLst>
          </p:cNvPr>
          <p:cNvSpPr>
            <a:spLocks noGrp="1"/>
          </p:cNvSpPr>
          <p:nvPr>
            <p:ph type="sldNum" sz="quarter" idx="12"/>
          </p:nvPr>
        </p:nvSpPr>
        <p:spPr>
          <a:xfrm>
            <a:off x="11765225"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46</a:t>
            </a:fld>
            <a:endParaRPr lang="en-US" dirty="0"/>
          </a:p>
        </p:txBody>
      </p:sp>
    </p:spTree>
    <p:extLst>
      <p:ext uri="{BB962C8B-B14F-4D97-AF65-F5344CB8AC3E}">
        <p14:creationId xmlns:p14="http://schemas.microsoft.com/office/powerpoint/2010/main" val="28255008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8B75F-2305-F175-885A-CBD0FCF7EF41}"/>
              </a:ext>
            </a:extLst>
          </p:cNvPr>
          <p:cNvSpPr>
            <a:spLocks noGrp="1"/>
          </p:cNvSpPr>
          <p:nvPr>
            <p:ph type="title"/>
          </p:nvPr>
        </p:nvSpPr>
        <p:spPr/>
        <p:txBody>
          <a:bodyPr/>
          <a:lstStyle/>
          <a:p>
            <a:r>
              <a:rPr lang="en-US" dirty="0"/>
              <a:t>Queer Identity by Parent Education: Gender</a:t>
            </a:r>
          </a:p>
        </p:txBody>
      </p:sp>
      <p:sp>
        <p:nvSpPr>
          <p:cNvPr id="4" name="Slide Number Placeholder 3">
            <a:extLst>
              <a:ext uri="{FF2B5EF4-FFF2-40B4-BE49-F238E27FC236}">
                <a16:creationId xmlns:a16="http://schemas.microsoft.com/office/drawing/2014/main" id="{F9768F7D-4CFC-97C6-834E-6B234DFD55A2}"/>
              </a:ext>
            </a:extLst>
          </p:cNvPr>
          <p:cNvSpPr>
            <a:spLocks noGrp="1"/>
          </p:cNvSpPr>
          <p:nvPr>
            <p:ph type="sldNum" sz="quarter" idx="12"/>
          </p:nvPr>
        </p:nvSpPr>
        <p:spPr/>
        <p:txBody>
          <a:bodyPr/>
          <a:lstStyle/>
          <a:p>
            <a:fld id="{80DD8C35-F8B3-4049-95AF-A34E38FBBA50}" type="slidenum">
              <a:rPr lang="en-US" smtClean="0"/>
              <a:pPr/>
              <a:t>47</a:t>
            </a:fld>
            <a:endParaRPr lang="en-US" dirty="0"/>
          </a:p>
        </p:txBody>
      </p:sp>
      <p:pic>
        <p:nvPicPr>
          <p:cNvPr id="6" name="Picture 5">
            <a:extLst>
              <a:ext uri="{FF2B5EF4-FFF2-40B4-BE49-F238E27FC236}">
                <a16:creationId xmlns:a16="http://schemas.microsoft.com/office/drawing/2014/main" id="{4F58F864-6495-D283-3745-FBD72AD2CFA3}"/>
              </a:ext>
            </a:extLst>
          </p:cNvPr>
          <p:cNvPicPr>
            <a:picLocks noChangeAspect="1"/>
          </p:cNvPicPr>
          <p:nvPr/>
        </p:nvPicPr>
        <p:blipFill>
          <a:blip r:embed="rId2"/>
          <a:stretch>
            <a:fillRect/>
          </a:stretch>
        </p:blipFill>
        <p:spPr>
          <a:xfrm>
            <a:off x="1638300" y="1524000"/>
            <a:ext cx="8915400" cy="4845040"/>
          </a:xfrm>
          <a:prstGeom prst="rect">
            <a:avLst/>
          </a:prstGeom>
        </p:spPr>
      </p:pic>
    </p:spTree>
    <p:extLst>
      <p:ext uri="{BB962C8B-B14F-4D97-AF65-F5344CB8AC3E}">
        <p14:creationId xmlns:p14="http://schemas.microsoft.com/office/powerpoint/2010/main" val="2903615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4D6A-589F-BAB0-4DC6-FF0B38CC88EB}"/>
              </a:ext>
            </a:extLst>
          </p:cNvPr>
          <p:cNvSpPr>
            <a:spLocks noGrp="1"/>
          </p:cNvSpPr>
          <p:nvPr>
            <p:ph type="title"/>
          </p:nvPr>
        </p:nvSpPr>
        <p:spPr>
          <a:xfrm>
            <a:off x="419100" y="0"/>
            <a:ext cx="11353800" cy="1143000"/>
          </a:xfrm>
        </p:spPr>
        <p:txBody>
          <a:bodyPr>
            <a:normAutofit fontScale="90000"/>
          </a:bodyPr>
          <a:lstStyle/>
          <a:p>
            <a:r>
              <a:rPr lang="en-US" dirty="0"/>
              <a:t>Queer Identity by Parent Education: Sexual Orientation</a:t>
            </a:r>
          </a:p>
        </p:txBody>
      </p:sp>
      <p:sp>
        <p:nvSpPr>
          <p:cNvPr id="4" name="Slide Number Placeholder 3">
            <a:extLst>
              <a:ext uri="{FF2B5EF4-FFF2-40B4-BE49-F238E27FC236}">
                <a16:creationId xmlns:a16="http://schemas.microsoft.com/office/drawing/2014/main" id="{62079C09-4655-47BD-53F0-73E382DFC016}"/>
              </a:ext>
            </a:extLst>
          </p:cNvPr>
          <p:cNvSpPr>
            <a:spLocks noGrp="1"/>
          </p:cNvSpPr>
          <p:nvPr>
            <p:ph type="sldNum" sz="quarter" idx="12"/>
          </p:nvPr>
        </p:nvSpPr>
        <p:spPr/>
        <p:txBody>
          <a:bodyPr/>
          <a:lstStyle/>
          <a:p>
            <a:fld id="{80DD8C35-F8B3-4049-95AF-A34E38FBBA50}" type="slidenum">
              <a:rPr lang="en-US" smtClean="0"/>
              <a:pPr/>
              <a:t>48</a:t>
            </a:fld>
            <a:endParaRPr lang="en-US" dirty="0"/>
          </a:p>
        </p:txBody>
      </p:sp>
      <p:pic>
        <p:nvPicPr>
          <p:cNvPr id="6" name="Picture 5">
            <a:extLst>
              <a:ext uri="{FF2B5EF4-FFF2-40B4-BE49-F238E27FC236}">
                <a16:creationId xmlns:a16="http://schemas.microsoft.com/office/drawing/2014/main" id="{16A268CC-7176-D231-0E67-1C99F31B703A}"/>
              </a:ext>
            </a:extLst>
          </p:cNvPr>
          <p:cNvPicPr>
            <a:picLocks noChangeAspect="1"/>
          </p:cNvPicPr>
          <p:nvPr/>
        </p:nvPicPr>
        <p:blipFill>
          <a:blip r:embed="rId2"/>
          <a:stretch>
            <a:fillRect/>
          </a:stretch>
        </p:blipFill>
        <p:spPr>
          <a:xfrm>
            <a:off x="2057400" y="1447800"/>
            <a:ext cx="8197850" cy="5063899"/>
          </a:xfrm>
          <a:prstGeom prst="rect">
            <a:avLst/>
          </a:prstGeom>
        </p:spPr>
      </p:pic>
    </p:spTree>
    <p:extLst>
      <p:ext uri="{BB962C8B-B14F-4D97-AF65-F5344CB8AC3E}">
        <p14:creationId xmlns:p14="http://schemas.microsoft.com/office/powerpoint/2010/main" val="199447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E70B-7DDE-0025-34D0-7DAE5C368250}"/>
              </a:ext>
            </a:extLst>
          </p:cNvPr>
          <p:cNvSpPr>
            <a:spLocks noGrp="1"/>
          </p:cNvSpPr>
          <p:nvPr>
            <p:ph type="title"/>
          </p:nvPr>
        </p:nvSpPr>
        <p:spPr/>
        <p:txBody>
          <a:bodyPr>
            <a:normAutofit fontScale="90000"/>
          </a:bodyPr>
          <a:lstStyle/>
          <a:p>
            <a:r>
              <a:rPr lang="en-US" dirty="0"/>
              <a:t>Most Gender Diverse Students Also Identify as Non-Heterosexual</a:t>
            </a:r>
          </a:p>
        </p:txBody>
      </p:sp>
      <p:sp>
        <p:nvSpPr>
          <p:cNvPr id="4" name="Slide Number Placeholder 3">
            <a:extLst>
              <a:ext uri="{FF2B5EF4-FFF2-40B4-BE49-F238E27FC236}">
                <a16:creationId xmlns:a16="http://schemas.microsoft.com/office/drawing/2014/main" id="{4E99C34D-3D8F-67D6-A1A9-1718003FDA65}"/>
              </a:ext>
            </a:extLst>
          </p:cNvPr>
          <p:cNvSpPr>
            <a:spLocks noGrp="1"/>
          </p:cNvSpPr>
          <p:nvPr>
            <p:ph type="sldNum" sz="quarter" idx="12"/>
          </p:nvPr>
        </p:nvSpPr>
        <p:spPr/>
        <p:txBody>
          <a:bodyPr/>
          <a:lstStyle/>
          <a:p>
            <a:fld id="{80DD8C35-F8B3-4049-95AF-A34E38FBBA50}" type="slidenum">
              <a:rPr lang="en-US" smtClean="0"/>
              <a:pPr/>
              <a:t>49</a:t>
            </a:fld>
            <a:endParaRPr lang="en-US" dirty="0"/>
          </a:p>
        </p:txBody>
      </p:sp>
      <p:pic>
        <p:nvPicPr>
          <p:cNvPr id="6" name="Picture 5">
            <a:extLst>
              <a:ext uri="{FF2B5EF4-FFF2-40B4-BE49-F238E27FC236}">
                <a16:creationId xmlns:a16="http://schemas.microsoft.com/office/drawing/2014/main" id="{12CEF141-5DFF-DA1B-FD69-1F764441029F}"/>
              </a:ext>
            </a:extLst>
          </p:cNvPr>
          <p:cNvPicPr>
            <a:picLocks noChangeAspect="1"/>
          </p:cNvPicPr>
          <p:nvPr/>
        </p:nvPicPr>
        <p:blipFill>
          <a:blip r:embed="rId2"/>
          <a:stretch>
            <a:fillRect/>
          </a:stretch>
        </p:blipFill>
        <p:spPr>
          <a:xfrm>
            <a:off x="1752600" y="1447800"/>
            <a:ext cx="8496300" cy="5249397"/>
          </a:xfrm>
          <a:prstGeom prst="rect">
            <a:avLst/>
          </a:prstGeom>
        </p:spPr>
      </p:pic>
    </p:spTree>
    <p:extLst>
      <p:ext uri="{BB962C8B-B14F-4D97-AF65-F5344CB8AC3E}">
        <p14:creationId xmlns:p14="http://schemas.microsoft.com/office/powerpoint/2010/main" val="1567425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a:extLst>
            <a:ext uri="{FF2B5EF4-FFF2-40B4-BE49-F238E27FC236}">
              <a16:creationId xmlns:a16="http://schemas.microsoft.com/office/drawing/2014/main" id="{AF81C40B-D408-30BE-D985-517B9D1A9BA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A51C68D-8863-B60F-7F34-9FFC86609425}"/>
              </a:ext>
            </a:extLst>
          </p:cNvPr>
          <p:cNvCxnSpPr>
            <a:cxnSpLocks/>
          </p:cNvCxnSpPr>
          <p:nvPr/>
        </p:nvCxnSpPr>
        <p:spPr>
          <a:xfrm>
            <a:off x="1512316"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A1604B55-7D8A-AF0E-5F59-294D2DEFA02E}"/>
              </a:ext>
            </a:extLst>
          </p:cNvPr>
          <p:cNvCxnSpPr>
            <a:cxnSpLocks/>
          </p:cNvCxnSpPr>
          <p:nvPr/>
        </p:nvCxnSpPr>
        <p:spPr>
          <a:xfrm>
            <a:off x="1512316"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0736581C-7131-BAC0-18E8-3EF87497914B}"/>
              </a:ext>
            </a:extLst>
          </p:cNvPr>
          <p:cNvCxnSpPr>
            <a:cxnSpLocks/>
          </p:cNvCxnSpPr>
          <p:nvPr/>
        </p:nvCxnSpPr>
        <p:spPr>
          <a:xfrm flipH="1" flipV="1">
            <a:off x="1728299" y="1"/>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F8454263-EFD0-657E-1964-5E92C4C9F96F}"/>
              </a:ext>
            </a:extLst>
          </p:cNvPr>
          <p:cNvCxnSpPr>
            <a:cxnSpLocks/>
          </p:cNvCxnSpPr>
          <p:nvPr/>
        </p:nvCxnSpPr>
        <p:spPr>
          <a:xfrm flipV="1">
            <a:off x="10462508" y="1"/>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921431BE-C214-B8D3-67CB-B2B6CE94EDC1}"/>
              </a:ext>
            </a:extLst>
          </p:cNvPr>
          <p:cNvSpPr txBox="1"/>
          <p:nvPr/>
        </p:nvSpPr>
        <p:spPr>
          <a:xfrm>
            <a:off x="3009665" y="2971801"/>
            <a:ext cx="624838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30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rPr>
              <a:t>EDUCATIONAL ASPIRATIONS</a:t>
            </a:r>
          </a:p>
        </p:txBody>
      </p:sp>
      <p:sp>
        <p:nvSpPr>
          <p:cNvPr id="3" name="Slide Number Placeholder 2">
            <a:extLst>
              <a:ext uri="{FF2B5EF4-FFF2-40B4-BE49-F238E27FC236}">
                <a16:creationId xmlns:a16="http://schemas.microsoft.com/office/drawing/2014/main" id="{A4421307-D7C4-BC12-6EE6-7F335E9519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Proxima Nova Rg" panose="02000506030000020004" pitchFamily="2"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600" b="0" i="0" u="none" strike="noStrike" kern="1200" cap="none" spc="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endParaRPr>
          </a:p>
        </p:txBody>
      </p:sp>
    </p:spTree>
    <p:extLst>
      <p:ext uri="{BB962C8B-B14F-4D97-AF65-F5344CB8AC3E}">
        <p14:creationId xmlns:p14="http://schemas.microsoft.com/office/powerpoint/2010/main" val="1982400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22E2F-4612-2941-EAC5-F08D0C9FB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95C98-C326-502C-E772-8A7A76BB290F}"/>
              </a:ext>
            </a:extLst>
          </p:cNvPr>
          <p:cNvSpPr>
            <a:spLocks noGrp="1"/>
          </p:cNvSpPr>
          <p:nvPr>
            <p:ph type="title"/>
          </p:nvPr>
        </p:nvSpPr>
        <p:spPr>
          <a:xfrm>
            <a:off x="266700" y="152553"/>
            <a:ext cx="11658600" cy="1143000"/>
          </a:xfrm>
        </p:spPr>
        <p:txBody>
          <a:bodyPr anchor="ctr">
            <a:normAutofit fontScale="90000"/>
          </a:bodyPr>
          <a:lstStyle/>
          <a:p>
            <a:r>
              <a:rPr lang="en-US" dirty="0"/>
              <a:t>LGBTQ+ Students Have Higher Educational Aspirations</a:t>
            </a:r>
          </a:p>
        </p:txBody>
      </p:sp>
      <p:pic>
        <p:nvPicPr>
          <p:cNvPr id="6" name="Picture 5">
            <a:extLst>
              <a:ext uri="{FF2B5EF4-FFF2-40B4-BE49-F238E27FC236}">
                <a16:creationId xmlns:a16="http://schemas.microsoft.com/office/drawing/2014/main" id="{0C4B0DF9-2DC8-CD8E-45CD-A99990111F1E}"/>
              </a:ext>
            </a:extLst>
          </p:cNvPr>
          <p:cNvPicPr>
            <a:picLocks noChangeAspect="1"/>
          </p:cNvPicPr>
          <p:nvPr/>
        </p:nvPicPr>
        <p:blipFill>
          <a:blip r:embed="rId2"/>
          <a:stretch>
            <a:fillRect/>
          </a:stretch>
        </p:blipFill>
        <p:spPr>
          <a:xfrm>
            <a:off x="1600200" y="1447800"/>
            <a:ext cx="9525000" cy="5182183"/>
          </a:xfrm>
          <a:prstGeom prst="rect">
            <a:avLst/>
          </a:prstGeom>
          <a:noFill/>
        </p:spPr>
      </p:pic>
      <p:sp>
        <p:nvSpPr>
          <p:cNvPr id="4" name="Slide Number Placeholder 3">
            <a:extLst>
              <a:ext uri="{FF2B5EF4-FFF2-40B4-BE49-F238E27FC236}">
                <a16:creationId xmlns:a16="http://schemas.microsoft.com/office/drawing/2014/main" id="{93AD26EC-8D16-D99B-D54B-F0EA9E6AB71E}"/>
              </a:ext>
            </a:extLst>
          </p:cNvPr>
          <p:cNvSpPr>
            <a:spLocks noGrp="1"/>
          </p:cNvSpPr>
          <p:nvPr>
            <p:ph type="sldNum" sz="quarter" idx="12"/>
          </p:nvPr>
        </p:nvSpPr>
        <p:spPr>
          <a:xfrm>
            <a:off x="11765225" y="-1"/>
            <a:ext cx="426775" cy="316833"/>
          </a:xfrm>
        </p:spPr>
        <p:txBody>
          <a:bodyPr anchor="ctr">
            <a:normAutofit fontScale="92500"/>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Proxima Nova Rg" panose="02000506030000020004" pitchFamily="2" charset="0"/>
                <a:ea typeface="+mn-ea"/>
                <a:cs typeface="Calibri" panose="020F0502020204030204" pitchFamily="34" charset="0"/>
              </a:rPr>
              <a:pPr marL="0" marR="0" lvl="0" indent="0" algn="r" defTabSz="914400" rtl="0" eaLnBrk="1" fontAlgn="auto" latinLnBrk="0" hangingPunct="1">
                <a:lnSpc>
                  <a:spcPct val="90000"/>
                </a:lnSpc>
                <a:spcBef>
                  <a:spcPts val="0"/>
                </a:spcBef>
                <a:spcAft>
                  <a:spcPts val="600"/>
                </a:spcAft>
                <a:buClrTx/>
                <a:buSzTx/>
                <a:buFontTx/>
                <a:buNone/>
                <a:tabLst/>
                <a:defRPr/>
              </a:pPr>
              <a:t>51</a:t>
            </a:fld>
            <a:endParaRPr kumimoji="0" lang="en-US" sz="1600" b="0" i="0" u="none" strike="noStrike" kern="1200" cap="none" spc="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endParaRPr>
          </a:p>
        </p:txBody>
      </p:sp>
    </p:spTree>
    <p:extLst>
      <p:ext uri="{BB962C8B-B14F-4D97-AF65-F5344CB8AC3E}">
        <p14:creationId xmlns:p14="http://schemas.microsoft.com/office/powerpoint/2010/main" val="11169284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5260-4EBC-A283-553A-EBF72F554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2D9F8-99C0-99A6-1D80-B4BBCEFE1350}"/>
              </a:ext>
            </a:extLst>
          </p:cNvPr>
          <p:cNvSpPr>
            <a:spLocks noGrp="1"/>
          </p:cNvSpPr>
          <p:nvPr>
            <p:ph type="title"/>
          </p:nvPr>
        </p:nvSpPr>
        <p:spPr>
          <a:xfrm>
            <a:off x="1981200" y="76200"/>
            <a:ext cx="8229600" cy="1143000"/>
          </a:xfrm>
        </p:spPr>
        <p:txBody>
          <a:bodyPr anchor="ctr">
            <a:normAutofit/>
          </a:bodyPr>
          <a:lstStyle/>
          <a:p>
            <a:pPr>
              <a:lnSpc>
                <a:spcPct val="90000"/>
              </a:lnSpc>
            </a:pPr>
            <a:r>
              <a:rPr lang="en-US" dirty="0"/>
              <a:t>Intended College Majors</a:t>
            </a:r>
          </a:p>
        </p:txBody>
      </p:sp>
      <p:pic>
        <p:nvPicPr>
          <p:cNvPr id="5" name="Picture 4">
            <a:extLst>
              <a:ext uri="{FF2B5EF4-FFF2-40B4-BE49-F238E27FC236}">
                <a16:creationId xmlns:a16="http://schemas.microsoft.com/office/drawing/2014/main" id="{0F352CC5-A875-CA48-7999-2F8322992FA0}"/>
              </a:ext>
            </a:extLst>
          </p:cNvPr>
          <p:cNvPicPr>
            <a:picLocks noChangeAspect="1"/>
          </p:cNvPicPr>
          <p:nvPr/>
        </p:nvPicPr>
        <p:blipFill>
          <a:blip r:embed="rId2"/>
          <a:stretch>
            <a:fillRect/>
          </a:stretch>
        </p:blipFill>
        <p:spPr>
          <a:xfrm>
            <a:off x="244122" y="1524000"/>
            <a:ext cx="11703756" cy="5029200"/>
          </a:xfrm>
          <a:prstGeom prst="rect">
            <a:avLst/>
          </a:prstGeom>
        </p:spPr>
      </p:pic>
      <p:sp>
        <p:nvSpPr>
          <p:cNvPr id="6" name="Slide Number Placeholder 5">
            <a:extLst>
              <a:ext uri="{FF2B5EF4-FFF2-40B4-BE49-F238E27FC236}">
                <a16:creationId xmlns:a16="http://schemas.microsoft.com/office/drawing/2014/main" id="{DA3828CD-88DE-1573-7194-0E80A4481A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DD8C35-F8B3-4049-95AF-A34E38FBBA50}" type="slidenum">
              <a:rPr kumimoji="0" lang="en-US" sz="1600" b="0" i="0" u="none" strike="noStrike" kern="1200" cap="none" spc="0" normalizeH="0" baseline="0" noProof="0" smtClean="0">
                <a:ln>
                  <a:noFill/>
                </a:ln>
                <a:solidFill>
                  <a:prstClr val="white"/>
                </a:solidFill>
                <a:effectLst/>
                <a:uLnTx/>
                <a:uFillTx/>
                <a:latin typeface="Proxima Nova Rg" panose="02000506030000020004" pitchFamily="2" charset="0"/>
                <a:ea typeface="+mn-ea"/>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600" b="0" i="0" u="none" strike="noStrike" kern="1200" cap="none" spc="0" normalizeH="0" baseline="0" noProof="0" dirty="0">
              <a:ln>
                <a:noFill/>
              </a:ln>
              <a:solidFill>
                <a:prstClr val="white"/>
              </a:solidFill>
              <a:effectLst/>
              <a:uLnTx/>
              <a:uFillTx/>
              <a:latin typeface="Proxima Nova Rg" panose="02000506030000020004" pitchFamily="2" charset="0"/>
              <a:ea typeface="+mn-ea"/>
              <a:cs typeface="Calibri" panose="020F0502020204030204" pitchFamily="34" charset="0"/>
            </a:endParaRPr>
          </a:p>
        </p:txBody>
      </p:sp>
    </p:spTree>
    <p:extLst>
      <p:ext uri="{BB962C8B-B14F-4D97-AF65-F5344CB8AC3E}">
        <p14:creationId xmlns:p14="http://schemas.microsoft.com/office/powerpoint/2010/main" val="2898003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0113A-78A8-A6FD-D146-563F0F18D885}"/>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1589B5AC-7601-3FB4-DC06-545CC3BABD65}"/>
              </a:ext>
            </a:extLst>
          </p:cNvPr>
          <p:cNvSpPr>
            <a:spLocks noGrp="1"/>
          </p:cNvSpPr>
          <p:nvPr>
            <p:ph idx="1"/>
          </p:nvPr>
        </p:nvSpPr>
        <p:spPr/>
        <p:txBody>
          <a:bodyPr/>
          <a:lstStyle/>
          <a:p>
            <a:r>
              <a:rPr lang="en-US" dirty="0"/>
              <a:t>We cannot do subgroup analysis for every single identity</a:t>
            </a:r>
          </a:p>
          <a:p>
            <a:r>
              <a:rPr lang="en-US" dirty="0"/>
              <a:t>Have to combine some gender/sexual orientation categories due to cell size issues</a:t>
            </a:r>
          </a:p>
          <a:p>
            <a:r>
              <a:rPr lang="en-US" dirty="0"/>
              <a:t>We follow a particular classification method and definitions for gender/sexual identities</a:t>
            </a:r>
          </a:p>
          <a:p>
            <a:pPr lvl="1"/>
            <a:r>
              <a:rPr lang="en-US" dirty="0"/>
              <a:t>E.g. Is transgender an umbrella term or a specific subgroup?</a:t>
            </a:r>
          </a:p>
        </p:txBody>
      </p:sp>
      <p:sp>
        <p:nvSpPr>
          <p:cNvPr id="4" name="Slide Number Placeholder 3">
            <a:extLst>
              <a:ext uri="{FF2B5EF4-FFF2-40B4-BE49-F238E27FC236}">
                <a16:creationId xmlns:a16="http://schemas.microsoft.com/office/drawing/2014/main" id="{751DBF75-FAC4-C466-2AB6-27CFFCA2A11B}"/>
              </a:ext>
            </a:extLst>
          </p:cNvPr>
          <p:cNvSpPr>
            <a:spLocks noGrp="1"/>
          </p:cNvSpPr>
          <p:nvPr>
            <p:ph type="sldNum" sz="quarter" idx="12"/>
          </p:nvPr>
        </p:nvSpPr>
        <p:spPr/>
        <p:txBody>
          <a:bodyPr/>
          <a:lstStyle/>
          <a:p>
            <a:fld id="{80DD8C35-F8B3-4049-95AF-A34E38FBBA50}" type="slidenum">
              <a:rPr lang="en-US" smtClean="0"/>
              <a:pPr/>
              <a:t>53</a:t>
            </a:fld>
            <a:endParaRPr lang="en-US" dirty="0"/>
          </a:p>
        </p:txBody>
      </p:sp>
    </p:spTree>
    <p:extLst>
      <p:ext uri="{BB962C8B-B14F-4D97-AF65-F5344CB8AC3E}">
        <p14:creationId xmlns:p14="http://schemas.microsoft.com/office/powerpoint/2010/main" val="3705686547"/>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F271C"/>
      </a:dk2>
      <a:lt2>
        <a:srgbClr val="E7DEC9"/>
      </a:lt2>
      <a:accent1>
        <a:srgbClr val="354369"/>
      </a:accent1>
      <a:accent2>
        <a:srgbClr val="C58C00"/>
      </a:accent2>
      <a:accent3>
        <a:srgbClr val="C32D2E"/>
      </a:accent3>
      <a:accent4>
        <a:srgbClr val="446E27"/>
      </a:accent4>
      <a:accent5>
        <a:srgbClr val="964305"/>
      </a:accent5>
      <a:accent6>
        <a:srgbClr val="3891A7"/>
      </a:accent6>
      <a:hlink>
        <a:srgbClr val="8DC765"/>
      </a:hlink>
      <a:folHlink>
        <a:srgbClr val="AA8A1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7648</TotalTime>
  <Words>2165</Words>
  <Application>Microsoft Macintosh PowerPoint</Application>
  <PresentationFormat>Widescreen</PresentationFormat>
  <Paragraphs>441</Paragraphs>
  <Slides>53</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Courier New</vt:lpstr>
      <vt:lpstr>Proxima Nova</vt:lpstr>
      <vt:lpstr>Proxima Nova Rg</vt:lpstr>
      <vt:lpstr>Wingdings</vt:lpstr>
      <vt:lpstr>Office Theme</vt:lpstr>
      <vt:lpstr>PowerPoint Presentation</vt:lpstr>
      <vt:lpstr>PowerPoint Presentation</vt:lpstr>
      <vt:lpstr>Overview</vt:lpstr>
      <vt:lpstr>Motivation</vt:lpstr>
      <vt:lpstr>Preview of Results</vt:lpstr>
      <vt:lpstr>PowerPoint Presentation</vt:lpstr>
      <vt:lpstr>Social and Political Context</vt:lpstr>
      <vt:lpstr>Methodology</vt:lpstr>
      <vt:lpstr>SOGI Items</vt:lpstr>
      <vt:lpstr>Sample by LGBTQ+ Status</vt:lpstr>
      <vt:lpstr>Classification of Gender Identity</vt:lpstr>
      <vt:lpstr>Gender and Sexuality Diversity</vt:lpstr>
      <vt:lpstr>PowerPoint Presentation</vt:lpstr>
      <vt:lpstr>LGBTQ+ Students More Likely to Experience Bullying</vt:lpstr>
      <vt:lpstr>Reasons Bullied: Gender and Sexual Orientation</vt:lpstr>
      <vt:lpstr>High School Experience Index</vt:lpstr>
      <vt:lpstr>Disparities in HS Experience: Regression Analysis</vt:lpstr>
      <vt:lpstr>PowerPoint Presentation</vt:lpstr>
      <vt:lpstr>Survey Items: College Concerns</vt:lpstr>
      <vt:lpstr>Principal Components Analysis (PCA)</vt:lpstr>
      <vt:lpstr>General Worries: Regression Analysis</vt:lpstr>
      <vt:lpstr>Worries about Discrimination: Regression Analysis</vt:lpstr>
      <vt:lpstr>Worries about Financial Burdens: Regression Analysis</vt:lpstr>
      <vt:lpstr>PowerPoint Presentation</vt:lpstr>
      <vt:lpstr>Open-Ended Items</vt:lpstr>
      <vt:lpstr>Fears of Discrimination</vt:lpstr>
      <vt:lpstr>Excitement about College</vt:lpstr>
      <vt:lpstr>Acknowledgements &amp; Dissemination</vt:lpstr>
      <vt:lpstr>PowerPoint Presentation</vt:lpstr>
      <vt:lpstr>Research Agenda &amp; Ideas</vt:lpstr>
      <vt:lpstr>PowerPoint Presentation</vt:lpstr>
      <vt:lpstr>THANK YOU</vt:lpstr>
      <vt:lpstr>PowerPoint Presentation</vt:lpstr>
      <vt:lpstr>Survey Items: High School Experience</vt:lpstr>
      <vt:lpstr>Survey Items: College Concerns</vt:lpstr>
      <vt:lpstr>PCA Analysis: 3 Dimensions of Worries</vt:lpstr>
      <vt:lpstr>Sample Characteristics</vt:lpstr>
      <vt:lpstr>Data</vt:lpstr>
      <vt:lpstr>Classification of Gender Identity</vt:lpstr>
      <vt:lpstr>Classification of Sexual Orientation</vt:lpstr>
      <vt:lpstr>Self Rating of High School Social Experience</vt:lpstr>
      <vt:lpstr>Belonging in High School</vt:lpstr>
      <vt:lpstr>Worried about Discrimination on Gender</vt:lpstr>
      <vt:lpstr>Worried about Discrimination on Sexual orientation</vt:lpstr>
      <vt:lpstr>Worried about Finding Community</vt:lpstr>
      <vt:lpstr>Worried about Adequate Support</vt:lpstr>
      <vt:lpstr>Queer Identity by Parent Education: Gender</vt:lpstr>
      <vt:lpstr>Queer Identity by Parent Education: Sexual Orientation</vt:lpstr>
      <vt:lpstr>Most Gender Diverse Students Also Identify as Non-Heterosexual</vt:lpstr>
      <vt:lpstr>PowerPoint Presentation</vt:lpstr>
      <vt:lpstr>LGBTQ+ Students Have Higher Educational Aspirations</vt:lpstr>
      <vt:lpstr>Intended College Majors</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Pandemic Response in California:  Identifying the Structural &amp; Instructional Changes in K-12 After COVID-19 </dc:title>
  <dc:creator>Alexandria Maylen Hurtt</dc:creator>
  <cp:lastModifiedBy>Christina Sun</cp:lastModifiedBy>
  <cp:revision>139</cp:revision>
  <dcterms:created xsi:type="dcterms:W3CDTF">2020-06-29T15:40:49Z</dcterms:created>
  <dcterms:modified xsi:type="dcterms:W3CDTF">2026-01-05T18:14:45Z</dcterms:modified>
</cp:coreProperties>
</file>