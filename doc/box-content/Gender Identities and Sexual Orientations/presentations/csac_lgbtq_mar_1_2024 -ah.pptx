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33"/>
  </p:notesMasterIdLst>
  <p:sldIdLst>
    <p:sldId id="256" r:id="rId2"/>
    <p:sldId id="517" r:id="rId3"/>
    <p:sldId id="518" r:id="rId4"/>
    <p:sldId id="519" r:id="rId5"/>
    <p:sldId id="520" r:id="rId6"/>
    <p:sldId id="521" r:id="rId7"/>
    <p:sldId id="522" r:id="rId8"/>
    <p:sldId id="523" r:id="rId9"/>
    <p:sldId id="524" r:id="rId10"/>
    <p:sldId id="543" r:id="rId11"/>
    <p:sldId id="544" r:id="rId12"/>
    <p:sldId id="525" r:id="rId13"/>
    <p:sldId id="526" r:id="rId14"/>
    <p:sldId id="493" r:id="rId15"/>
    <p:sldId id="527" r:id="rId16"/>
    <p:sldId id="528" r:id="rId17"/>
    <p:sldId id="529" r:id="rId18"/>
    <p:sldId id="530" r:id="rId19"/>
    <p:sldId id="532" r:id="rId20"/>
    <p:sldId id="534" r:id="rId21"/>
    <p:sldId id="531" r:id="rId22"/>
    <p:sldId id="533" r:id="rId23"/>
    <p:sldId id="535" r:id="rId24"/>
    <p:sldId id="538" r:id="rId25"/>
    <p:sldId id="536" r:id="rId26"/>
    <p:sldId id="537" r:id="rId27"/>
    <p:sldId id="539" r:id="rId28"/>
    <p:sldId id="541" r:id="rId29"/>
    <p:sldId id="542" r:id="rId30"/>
    <p:sldId id="540" r:id="rId31"/>
    <p:sldId id="320"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ia Maylen Hurtt" initials="AMH" lastIdx="6" clrIdx="0"/>
  <p:cmAuthor id="2" name="Microsoft Office User" initials="MOU" lastIdx="1" clrIdx="1"/>
  <p:cmAuthor id="3" name="Jill Huynh" initials="JH" lastIdx="1" clrIdx="2">
    <p:extLst>
      <p:ext uri="{19B8F6BF-5375-455C-9EA6-DF929625EA0E}">
        <p15:presenceInfo xmlns:p15="http://schemas.microsoft.com/office/powerpoint/2012/main" userId="S::jilhuy@ucdavis.edu::2220f398-e2ac-4ade-9aa3-3ebdf0a3b46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4B84"/>
    <a:srgbClr val="DFB305"/>
    <a:srgbClr val="929292"/>
    <a:srgbClr val="354369"/>
    <a:srgbClr val="000000"/>
    <a:srgbClr val="FFFFFF"/>
    <a:srgbClr val="E2A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97" autoAdjust="0"/>
    <p:restoredTop sz="85986" autoAdjust="0"/>
  </p:normalViewPr>
  <p:slideViewPr>
    <p:cSldViewPr>
      <p:cViewPr varScale="1">
        <p:scale>
          <a:sx n="109" d="100"/>
          <a:sy n="109" d="100"/>
        </p:scale>
        <p:origin x="1472" y="192"/>
      </p:cViewPr>
      <p:guideLst>
        <p:guide orient="horz" pos="2160"/>
        <p:guide pos="2880"/>
      </p:guideLst>
    </p:cSldViewPr>
  </p:slideViewPr>
  <p:outlineViewPr>
    <p:cViewPr>
      <p:scale>
        <a:sx n="33" d="100"/>
        <a:sy n="33" d="100"/>
      </p:scale>
      <p:origin x="0" y="5952"/>
    </p:cViewPr>
  </p:outlineViewPr>
  <p:notesTextViewPr>
    <p:cViewPr>
      <p:scale>
        <a:sx n="200" d="100"/>
        <a:sy n="200" d="100"/>
      </p:scale>
      <p:origin x="0" y="0"/>
    </p:cViewPr>
  </p:notesTextViewPr>
  <p:sorterViewPr>
    <p:cViewPr>
      <p:scale>
        <a:sx n="100" d="100"/>
        <a:sy n="100" d="100"/>
      </p:scale>
      <p:origin x="0" y="0"/>
    </p:cViewPr>
  </p:sorterViewPr>
  <p:notesViewPr>
    <p:cSldViewPr>
      <p:cViewPr varScale="1">
        <p:scale>
          <a:sx n="41" d="100"/>
          <a:sy n="41" d="100"/>
        </p:scale>
        <p:origin x="-2347"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EC40DAF-C9C3-4514-874B-4535726919A4}" type="datetimeFigureOut">
              <a:rPr lang="en-US" smtClean="0"/>
              <a:pPr/>
              <a:t>3/1/24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A90B27-3B5B-443C-A326-6050820812EE}" type="slidenum">
              <a:rPr lang="en-US" smtClean="0"/>
              <a:pPr/>
              <a:t>‹#›</a:t>
            </a:fld>
            <a:endParaRPr lang="en-US"/>
          </a:p>
        </p:txBody>
      </p:sp>
    </p:spTree>
    <p:extLst>
      <p:ext uri="{BB962C8B-B14F-4D97-AF65-F5344CB8AC3E}">
        <p14:creationId xmlns:p14="http://schemas.microsoft.com/office/powerpoint/2010/main" val="2238079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68A90B27-3B5B-443C-A326-6050820812EE}"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2</a:t>
            </a:fld>
            <a:endParaRPr lang="en-US"/>
          </a:p>
        </p:txBody>
      </p:sp>
    </p:spTree>
    <p:extLst>
      <p:ext uri="{BB962C8B-B14F-4D97-AF65-F5344CB8AC3E}">
        <p14:creationId xmlns:p14="http://schemas.microsoft.com/office/powerpoint/2010/main" val="2489769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3</a:t>
            </a:fld>
            <a:endParaRPr lang="en-US"/>
          </a:p>
        </p:txBody>
      </p:sp>
    </p:spTree>
    <p:extLst>
      <p:ext uri="{BB962C8B-B14F-4D97-AF65-F5344CB8AC3E}">
        <p14:creationId xmlns:p14="http://schemas.microsoft.com/office/powerpoint/2010/main" val="2334163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0" lvl="0" indent="0" algn="l" rtl="0">
              <a:spcBef>
                <a:spcPts val="0"/>
              </a:spcBef>
              <a:spcAft>
                <a:spcPts val="600"/>
              </a:spcAft>
              <a:buClr>
                <a:schemeClr val="dk1"/>
              </a:buClr>
              <a:buSzPts val="1800"/>
              <a:buNone/>
            </a:pPr>
            <a:r>
              <a:rPr lang="en-US" sz="2400" dirty="0">
                <a:solidFill>
                  <a:schemeClr val="dk1"/>
                </a:solidFill>
              </a:rPr>
              <a:t>Students who chose to self describe used a diversity of descriptors</a:t>
            </a:r>
          </a:p>
          <a:p>
            <a:pPr marL="628650" lvl="1" indent="-279400">
              <a:spcBef>
                <a:spcPts val="0"/>
              </a:spcBef>
              <a:spcAft>
                <a:spcPts val="600"/>
              </a:spcAft>
              <a:buClr>
                <a:schemeClr val="dk1"/>
              </a:buClr>
              <a:buSzPts val="1400"/>
            </a:pPr>
            <a:r>
              <a:rPr lang="en-US" sz="2000" dirty="0">
                <a:solidFill>
                  <a:schemeClr val="dk1"/>
                </a:solidFill>
              </a:rPr>
              <a:t>25 unique words to describe gender identities </a:t>
            </a:r>
          </a:p>
          <a:p>
            <a:pPr marL="628650" lvl="1" indent="-279400">
              <a:spcBef>
                <a:spcPts val="0"/>
              </a:spcBef>
              <a:spcAft>
                <a:spcPts val="600"/>
              </a:spcAft>
              <a:buClr>
                <a:schemeClr val="dk1"/>
              </a:buClr>
              <a:buSzPts val="1400"/>
            </a:pPr>
            <a:r>
              <a:rPr lang="en-US" sz="2000" dirty="0">
                <a:solidFill>
                  <a:schemeClr val="dk1"/>
                </a:solidFill>
              </a:rPr>
              <a:t>47 unique words to describe sexual orientations </a:t>
            </a:r>
          </a:p>
          <a:p>
            <a:endParaRPr lang="en-US"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13</a:t>
            </a:fld>
            <a:endParaRPr lang="en-US"/>
          </a:p>
        </p:txBody>
      </p:sp>
    </p:spTree>
    <p:extLst>
      <p:ext uri="{BB962C8B-B14F-4D97-AF65-F5344CB8AC3E}">
        <p14:creationId xmlns:p14="http://schemas.microsoft.com/office/powerpoint/2010/main" val="1497617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14</a:t>
            </a:fld>
            <a:endParaRPr lang="en-US"/>
          </a:p>
        </p:txBody>
      </p:sp>
    </p:spTree>
    <p:extLst>
      <p:ext uri="{BB962C8B-B14F-4D97-AF65-F5344CB8AC3E}">
        <p14:creationId xmlns:p14="http://schemas.microsoft.com/office/powerpoint/2010/main" val="5174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19888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cell size issue for trans women and trans men</a:t>
            </a:r>
          </a:p>
          <a:p>
            <a:r>
              <a:rPr lang="en-US" dirty="0"/>
              <a:t>change the language about being exclusively bullied for gender/so</a:t>
            </a:r>
          </a:p>
          <a:p>
            <a:r>
              <a:rPr lang="en-US" dirty="0"/>
              <a:t>stress long standing partnership with CSAC and they send the survey out</a:t>
            </a:r>
          </a:p>
        </p:txBody>
      </p:sp>
      <p:sp>
        <p:nvSpPr>
          <p:cNvPr id="4" name="Slide Number Placeholder 3"/>
          <p:cNvSpPr>
            <a:spLocks noGrp="1"/>
          </p:cNvSpPr>
          <p:nvPr>
            <p:ph type="sldNum" sz="quarter" idx="5"/>
          </p:nvPr>
        </p:nvSpPr>
        <p:spPr/>
        <p:txBody>
          <a:bodyPr/>
          <a:lstStyle/>
          <a:p>
            <a:fld id="{68A90B27-3B5B-443C-A326-6050820812EE}" type="slidenum">
              <a:rPr lang="en-US" smtClean="0"/>
              <a:pPr/>
              <a:t>21</a:t>
            </a:fld>
            <a:endParaRPr lang="en-US"/>
          </a:p>
        </p:txBody>
      </p:sp>
    </p:spTree>
    <p:extLst>
      <p:ext uri="{BB962C8B-B14F-4D97-AF65-F5344CB8AC3E}">
        <p14:creationId xmlns:p14="http://schemas.microsoft.com/office/powerpoint/2010/main" val="1913811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67958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47534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r>
              <a:rPr lang="en-US" sz="1800" dirty="0"/>
              <a:t>Binary trans: add caveat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8541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C743164-120C-744D-80E9-F21388A20B80}" type="slidenum">
              <a:rPr lang="en-US" smtClean="0"/>
              <a:pPr>
                <a:defRPr/>
              </a:pPr>
              <a:t>31</a:t>
            </a:fld>
            <a:endParaRPr lang="en-US"/>
          </a:p>
        </p:txBody>
      </p:sp>
    </p:spTree>
    <p:extLst>
      <p:ext uri="{BB962C8B-B14F-4D97-AF65-F5344CB8AC3E}">
        <p14:creationId xmlns:p14="http://schemas.microsoft.com/office/powerpoint/2010/main" val="3138081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5562600"/>
          </a:xfrm>
          <a:prstGeom prst="rect">
            <a:avLst/>
          </a:prstGeom>
          <a:solidFill>
            <a:srgbClr val="014B84"/>
          </a:solidFill>
          <a:ln>
            <a:solidFill>
              <a:srgbClr val="014B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cxnSpLocks/>
          </p:cNvCxnSpPr>
          <p:nvPr userDrawn="1"/>
        </p:nvCxnSpPr>
        <p:spPr>
          <a:xfrm>
            <a:off x="-38100" y="5562600"/>
            <a:ext cx="9220200" cy="0"/>
          </a:xfrm>
          <a:prstGeom prst="line">
            <a:avLst/>
          </a:prstGeom>
          <a:ln w="76200">
            <a:solidFill>
              <a:srgbClr val="DFB305"/>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381000"/>
            <a:ext cx="7772400" cy="3352799"/>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2819400" y="5638800"/>
            <a:ext cx="3581400" cy="685800"/>
          </a:xfrm>
        </p:spPr>
        <p:txBody>
          <a:bodyPr>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atin typeface="Calibri" panose="020F0502020204030204" pitchFamily="34" charset="0"/>
                <a:cs typeface="Calibri" panose="020F0502020204030204" pitchFamily="34" charset="0"/>
              </a:defRPr>
            </a:lvl1pPr>
          </a:lstStyle>
          <a:p>
            <a:fld id="{51A25E46-52F7-40D6-80E3-CFC117B222A3}" type="datetime1">
              <a:rPr lang="en-US" smtClean="0"/>
              <a:pPr/>
              <a:t>3/1/24</a:t>
            </a:fld>
            <a:endParaRPr lang="en-US"/>
          </a:p>
        </p:txBody>
      </p:sp>
      <p:sp>
        <p:nvSpPr>
          <p:cNvPr id="5" name="Footer Placeholder 4"/>
          <p:cNvSpPr>
            <a:spLocks noGrp="1"/>
          </p:cNvSpPr>
          <p:nvPr>
            <p:ph type="ftr" sz="quarter" idx="11"/>
          </p:nvPr>
        </p:nvSpPr>
        <p:spPr/>
        <p:txBody>
          <a:bodyPr/>
          <a:lstStyle>
            <a:lvl1pPr>
              <a:defRPr>
                <a:latin typeface="Calibri" panose="020F0502020204030204" pitchFamily="34" charset="0"/>
                <a:cs typeface="Calibri" panose="020F0502020204030204" pitchFamily="34" charset="0"/>
              </a:defRPr>
            </a:lvl1pPr>
          </a:lstStyle>
          <a:p>
            <a:endParaRPr lang="en-US" dirty="0"/>
          </a:p>
        </p:txBody>
      </p:sp>
      <p:sp>
        <p:nvSpPr>
          <p:cNvPr id="6" name="Slide Number Placeholder 5"/>
          <p:cNvSpPr>
            <a:spLocks noGrp="1"/>
          </p:cNvSpPr>
          <p:nvPr>
            <p:ph type="sldNum" sz="quarter" idx="12"/>
          </p:nvPr>
        </p:nvSpPr>
        <p:spPr>
          <a:xfrm>
            <a:off x="6858000" y="6400800"/>
            <a:ext cx="2133600" cy="365125"/>
          </a:xfrm>
        </p:spPr>
        <p:txBody>
          <a:bodyPr/>
          <a:lstStyle>
            <a:lvl1pPr>
              <a:defRPr>
                <a:latin typeface="Calibri" panose="020F0502020204030204" pitchFamily="34" charset="0"/>
                <a:cs typeface="Calibri" panose="020F0502020204030204" pitchFamily="34" charset="0"/>
              </a:defRPr>
            </a:lvl1pPr>
          </a:lstStyle>
          <a:p>
            <a:fld id="{02147839-81A2-46CC-A3B2-864012D7A0C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userDrawn="1"/>
        </p:nvSpPr>
        <p:spPr>
          <a:xfrm>
            <a:off x="-17756" y="0"/>
            <a:ext cx="9189720" cy="1295400"/>
          </a:xfrm>
          <a:prstGeom prst="rect">
            <a:avLst/>
          </a:prstGeom>
          <a:solidFill>
            <a:srgbClr val="014B84"/>
          </a:solidFill>
          <a:ln>
            <a:solidFill>
              <a:srgbClr val="014B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200" y="76200"/>
            <a:ext cx="8229600" cy="1143000"/>
          </a:xfrm>
        </p:spPr>
        <p:txBody>
          <a:bodyPr>
            <a:normAutofit/>
          </a:bodyPr>
          <a:lstStyle>
            <a:lvl1pPr>
              <a:defRPr sz="4000">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8745189" y="-1"/>
            <a:ext cx="426775" cy="316833"/>
          </a:xfrm>
        </p:spPr>
        <p:txBody>
          <a:bodyPr anchor="ctr"/>
          <a:lstStyle>
            <a:lvl1pPr>
              <a:defRPr sz="1600">
                <a:solidFill>
                  <a:schemeClr val="bg1"/>
                </a:solidFill>
                <a:latin typeface="Calibri" panose="020F0502020204030204" pitchFamily="34" charset="0"/>
                <a:cs typeface="Calibri" panose="020F0502020204030204" pitchFamily="34" charset="0"/>
              </a:defRPr>
            </a:lvl1pPr>
          </a:lstStyle>
          <a:p>
            <a:fld id="{80DD8C35-F8B3-4049-95AF-A34E38FBBA50}" type="slidenum">
              <a:rPr lang="en-US" smtClean="0"/>
              <a:pPr/>
              <a:t>‹#›</a:t>
            </a:fld>
            <a:endParaRPr lang="en-US" dirty="0"/>
          </a:p>
        </p:txBody>
      </p:sp>
      <p:cxnSp>
        <p:nvCxnSpPr>
          <p:cNvPr id="9" name="Straight Connector 8"/>
          <p:cNvCxnSpPr>
            <a:cxnSpLocks/>
          </p:cNvCxnSpPr>
          <p:nvPr userDrawn="1"/>
        </p:nvCxnSpPr>
        <p:spPr>
          <a:xfrm>
            <a:off x="-52082" y="1295400"/>
            <a:ext cx="9248164" cy="0"/>
          </a:xfrm>
          <a:prstGeom prst="line">
            <a:avLst/>
          </a:prstGeom>
          <a:ln w="76200">
            <a:solidFill>
              <a:srgbClr val="DFB30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C71AF5-FE43-43B9-8E53-310B985FEDE8}" type="datetime1">
              <a:rPr lang="en-US" smtClean="0"/>
              <a:pPr/>
              <a:t>3/1/24</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129D738-71E1-481C-97EA-92A151452F98}" type="datetime1">
              <a:rPr lang="en-US" smtClean="0"/>
              <a:pPr/>
              <a:t>3/1/24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023547-C15F-4B70-A988-6D925F4ACFE5}" type="datetime1">
              <a:rPr lang="en-US" smtClean="0"/>
              <a:pPr/>
              <a:t>3/1/24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452610B-CD48-4F1A-8B35-484677D1C3E3}" type="datetime1">
              <a:rPr lang="en-US" smtClean="0"/>
              <a:pPr/>
              <a:t>3/1/24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93F1DB-4C02-44F7-BACD-5CFDB2ED6993}" type="datetime1">
              <a:rPr lang="en-US" smtClean="0"/>
              <a:pPr/>
              <a:t>3/1/24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50B4CC-456C-46C7-BE89-CD5460283B1F}" type="datetime1">
              <a:rPr lang="en-US" smtClean="0"/>
              <a:pPr/>
              <a:t>3/1/24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B12A44-1B13-4F82-BC08-BF64F5C0F261}" type="datetime1">
              <a:rPr lang="en-US" smtClean="0"/>
              <a:pPr/>
              <a:t>3/1/24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DD3E60-3331-4986-B797-3EF559A16933}" type="datetime1">
              <a:rPr lang="en-US" smtClean="0"/>
              <a:pPr/>
              <a:t>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08CC57-6400-4AFF-A83A-C347C39AD1CE}" type="datetime1">
              <a:rPr lang="en-US" smtClean="0"/>
              <a:pPr/>
              <a:t>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8522F2-FBF5-4F79-9C82-292EEAF9C382}" type="datetime1">
              <a:rPr lang="en-US" smtClean="0"/>
              <a:pPr/>
              <a:t>3/1/24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147839-81A2-46CC-A3B2-864012D7A0C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914400" rtl="0" eaLnBrk="1" latinLnBrk="0" hangingPunct="1">
        <a:spcBef>
          <a:spcPct val="0"/>
        </a:spcBef>
        <a:buNone/>
        <a:defRPr sz="4400" kern="1200">
          <a:solidFill>
            <a:schemeClr val="tx1"/>
          </a:solidFill>
          <a:latin typeface="Calibri" panose="020F0502020204030204" pitchFamily="34" charset="0"/>
          <a:ea typeface="+mj-ea"/>
          <a:cs typeface="Calibri" panose="020F050202020403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mailto:ucsun@ucdavis.edu"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0668000" y="3124200"/>
            <a:ext cx="2133600" cy="365125"/>
          </a:xfrm>
        </p:spPr>
        <p:txBody>
          <a:bodyPr/>
          <a:lstStyle/>
          <a:p>
            <a:fld id="{02147839-81A2-46CC-A3B2-864012D7A0C6}" type="slidenum">
              <a:rPr lang="en-US" smtClean="0"/>
              <a:pPr/>
              <a:t>1</a:t>
            </a:fld>
            <a:endParaRPr lang="en-US" dirty="0"/>
          </a:p>
        </p:txBody>
      </p:sp>
      <p:sp>
        <p:nvSpPr>
          <p:cNvPr id="5" name="Subtitle 2"/>
          <p:cNvSpPr txBox="1">
            <a:spLocks/>
          </p:cNvSpPr>
          <p:nvPr/>
        </p:nvSpPr>
        <p:spPr>
          <a:xfrm>
            <a:off x="2667000" y="5599386"/>
            <a:ext cx="4191000" cy="457200"/>
          </a:xfrm>
          <a:prstGeom prst="rect">
            <a:avLst/>
          </a:prstGeom>
        </p:spPr>
        <p:txBody>
          <a:bodyPr vert="horz" lIns="91440" tIns="45720" rIns="91440" bIns="45720" rtlCol="0">
            <a:no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Subtitle 2"/>
          <p:cNvSpPr txBox="1">
            <a:spLocks/>
          </p:cNvSpPr>
          <p:nvPr/>
        </p:nvSpPr>
        <p:spPr>
          <a:xfrm>
            <a:off x="1447800" y="6947338"/>
            <a:ext cx="6629400" cy="457200"/>
          </a:xfrm>
          <a:prstGeom prst="rect">
            <a:avLst/>
          </a:prstGeom>
        </p:spPr>
        <p:txBody>
          <a:bodyPr vert="horz" lIns="91440" tIns="45720" rIns="91440" bIns="45720" rtlCol="0">
            <a:no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Subtitle 2"/>
          <p:cNvSpPr txBox="1">
            <a:spLocks/>
          </p:cNvSpPr>
          <p:nvPr/>
        </p:nvSpPr>
        <p:spPr>
          <a:xfrm>
            <a:off x="1637148" y="3733800"/>
            <a:ext cx="5943600" cy="11430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2200" dirty="0"/>
          </a:p>
          <a:p>
            <a:endParaRPr lang="en-US" sz="2200" dirty="0"/>
          </a:p>
          <a:p>
            <a:endParaRPr lang="en-US" dirty="0"/>
          </a:p>
        </p:txBody>
      </p:sp>
      <p:pic>
        <p:nvPicPr>
          <p:cNvPr id="10" name="Picture 9">
            <a:extLst>
              <a:ext uri="{FF2B5EF4-FFF2-40B4-BE49-F238E27FC236}">
                <a16:creationId xmlns:a16="http://schemas.microsoft.com/office/drawing/2014/main" id="{53CE3EA1-96F6-7C41-BEFA-CDC86A1F3B82}"/>
              </a:ext>
            </a:extLst>
          </p:cNvPr>
          <p:cNvPicPr/>
          <p:nvPr/>
        </p:nvPicPr>
        <p:blipFill>
          <a:blip r:embed="rId3">
            <a:extLst>
              <a:ext uri="{28A0092B-C50C-407E-A947-70E740481C1C}">
                <a14:useLocalDpi xmlns:a14="http://schemas.microsoft.com/office/drawing/2010/main" val="0"/>
              </a:ext>
            </a:extLst>
          </a:blip>
          <a:stretch>
            <a:fillRect/>
          </a:stretch>
        </p:blipFill>
        <p:spPr>
          <a:xfrm>
            <a:off x="3543299" y="5663976"/>
            <a:ext cx="2438399" cy="1026768"/>
          </a:xfrm>
          <a:prstGeom prst="rect">
            <a:avLst/>
          </a:prstGeom>
        </p:spPr>
      </p:pic>
      <p:sp>
        <p:nvSpPr>
          <p:cNvPr id="9" name="Rectangle 8">
            <a:extLst>
              <a:ext uri="{FF2B5EF4-FFF2-40B4-BE49-F238E27FC236}">
                <a16:creationId xmlns:a16="http://schemas.microsoft.com/office/drawing/2014/main" id="{04E094FB-470F-D34D-850D-FAE0D60AF14D}"/>
              </a:ext>
            </a:extLst>
          </p:cNvPr>
          <p:cNvSpPr/>
          <p:nvPr/>
        </p:nvSpPr>
        <p:spPr>
          <a:xfrm>
            <a:off x="568389" y="416038"/>
            <a:ext cx="8007222" cy="2492990"/>
          </a:xfrm>
          <a:prstGeom prst="rect">
            <a:avLst/>
          </a:prstGeom>
        </p:spPr>
        <p:txBody>
          <a:bodyPr wrap="square" anchor="ctr">
            <a:spAutoFit/>
          </a:bodyPr>
          <a:lstStyle/>
          <a:p>
            <a:pPr algn="ctr"/>
            <a:r>
              <a:rPr lang="en-US" sz="4400" dirty="0">
                <a:solidFill>
                  <a:schemeClr val="bg1"/>
                </a:solidFill>
                <a:latin typeface="Calibri" panose="020F0502020204030204" pitchFamily="34" charset="0"/>
                <a:cs typeface="Calibri" panose="020F0502020204030204" pitchFamily="34" charset="0"/>
              </a:rPr>
              <a:t>Challenges and Disparities Faced by LGBTQ+ Students in the Transition to College</a:t>
            </a:r>
            <a:br>
              <a:rPr lang="en-US" sz="4400" dirty="0">
                <a:solidFill>
                  <a:schemeClr val="bg1"/>
                </a:solidFill>
                <a:latin typeface="Calibri" panose="020F0502020204030204" pitchFamily="34" charset="0"/>
                <a:cs typeface="Calibri" panose="020F0502020204030204" pitchFamily="34" charset="0"/>
              </a:rPr>
            </a:br>
            <a:r>
              <a:rPr lang="en-US" sz="2400" dirty="0">
                <a:solidFill>
                  <a:schemeClr val="bg1"/>
                </a:solidFill>
                <a:latin typeface="Calibri" panose="020F0502020204030204" pitchFamily="34" charset="0"/>
                <a:cs typeface="Calibri" panose="020F0502020204030204" pitchFamily="34" charset="0"/>
              </a:rPr>
              <a:t>Survey Evidence from the California High School Class of 2023</a:t>
            </a:r>
            <a:endParaRPr lang="en-US" sz="4400" dirty="0">
              <a:solidFill>
                <a:schemeClr val="bg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5CA2BD98-D2B6-7A41-8521-90679348B555}"/>
              </a:ext>
            </a:extLst>
          </p:cNvPr>
          <p:cNvSpPr txBox="1"/>
          <p:nvPr/>
        </p:nvSpPr>
        <p:spPr>
          <a:xfrm>
            <a:off x="1103748" y="3119993"/>
            <a:ext cx="7010400" cy="369332"/>
          </a:xfrm>
          <a:prstGeom prst="rect">
            <a:avLst/>
          </a:prstGeom>
          <a:noFill/>
        </p:spPr>
        <p:txBody>
          <a:bodyPr wrap="square" rtlCol="0">
            <a:spAutoFit/>
          </a:bodyPr>
          <a:lstStyle/>
          <a:p>
            <a:pPr algn="ctr"/>
            <a:r>
              <a:rPr lang="en-US" i="1" spc="50" dirty="0">
                <a:solidFill>
                  <a:schemeClr val="bg1"/>
                </a:solidFill>
                <a:latin typeface="Calibri Light" panose="020F0302020204030204" pitchFamily="34" charset="0"/>
                <a:cs typeface="Calibri Light" panose="020F0302020204030204" pitchFamily="34" charset="0"/>
              </a:rPr>
              <a:t>University of California, Davis</a:t>
            </a:r>
          </a:p>
        </p:txBody>
      </p:sp>
      <p:sp>
        <p:nvSpPr>
          <p:cNvPr id="11" name="Rectangle 10">
            <a:extLst>
              <a:ext uri="{FF2B5EF4-FFF2-40B4-BE49-F238E27FC236}">
                <a16:creationId xmlns:a16="http://schemas.microsoft.com/office/drawing/2014/main" id="{C38E4EAB-A72E-E94E-B1BC-80F1D02515FD}"/>
              </a:ext>
            </a:extLst>
          </p:cNvPr>
          <p:cNvSpPr/>
          <p:nvPr/>
        </p:nvSpPr>
        <p:spPr>
          <a:xfrm>
            <a:off x="379848" y="3987225"/>
            <a:ext cx="8458200" cy="1600438"/>
          </a:xfrm>
          <a:prstGeom prst="rect">
            <a:avLst/>
          </a:prstGeom>
        </p:spPr>
        <p:txBody>
          <a:bodyPr wrap="square">
            <a:spAutoFit/>
          </a:bodyPr>
          <a:lstStyle/>
          <a:p>
            <a:r>
              <a:rPr lang="en-US" sz="1400" i="1" dirty="0">
                <a:solidFill>
                  <a:schemeClr val="bg1"/>
                </a:solidFill>
                <a:latin typeface="Calibri" panose="020F0502020204030204" pitchFamily="34" charset="0"/>
                <a:ea typeface="Calibri Light" charset="0"/>
                <a:cs typeface="Calibri" panose="020F0502020204030204" pitchFamily="34" charset="0"/>
              </a:rPr>
              <a:t>Note: This research was supported by the College Futures Foundation and conducted in partnership with the California Student Aid Commission. The authors are also grateful for ongoing support from the Stuart Foundation to the California Education Lab. The California Education Lab at the University of California, Davis and Policy Analysis for California Education are also thankful for research dissemination support from the Bill &amp; Melinda Gates Foundation. The findings and conclusions here are those of the authors alone and do not necessarily reflect the positions or policies of the funders or of the California Student Aid Commission.</a:t>
            </a:r>
          </a:p>
          <a:p>
            <a:endParaRPr lang="en-US" sz="1400" i="1" dirty="0">
              <a:solidFill>
                <a:schemeClr val="bg1"/>
              </a:solidFill>
              <a:latin typeface="Calibri" panose="020F0502020204030204" pitchFamily="34" charset="0"/>
              <a:ea typeface="Calibri Light"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dirty="0"/>
              <a:t>Overview</a:t>
            </a:r>
          </a:p>
        </p:txBody>
      </p:sp>
      <p:sp>
        <p:nvSpPr>
          <p:cNvPr id="4" name="Slide Number Placeholder 3"/>
          <p:cNvSpPr>
            <a:spLocks noGrp="1"/>
          </p:cNvSpPr>
          <p:nvPr>
            <p:ph type="sldNum" sz="quarter" idx="12"/>
          </p:nvPr>
        </p:nvSpPr>
        <p:spPr>
          <a:xfrm>
            <a:off x="5646563" y="-118270"/>
            <a:ext cx="3487444" cy="388939"/>
          </a:xfrm>
        </p:spPr>
        <p:txBody>
          <a:bodyPr/>
          <a:lstStyle/>
          <a:p>
            <a:endParaRPr lang="en-US" dirty="0"/>
          </a:p>
          <a:p>
            <a:fld id="{80DD8C35-F8B3-4049-95AF-A34E38FBBA50}" type="slidenum">
              <a:rPr lang="en-US" smtClean="0"/>
              <a:pPr/>
              <a:t>2</a:t>
            </a:fld>
            <a:endParaRPr lang="en-US" dirty="0"/>
          </a:p>
        </p:txBody>
      </p:sp>
      <p:sp>
        <p:nvSpPr>
          <p:cNvPr id="5" name="Content Placeholder 8">
            <a:extLst>
              <a:ext uri="{FF2B5EF4-FFF2-40B4-BE49-F238E27FC236}">
                <a16:creationId xmlns:a16="http://schemas.microsoft.com/office/drawing/2014/main" id="{276906DF-AC05-514B-9E11-D88C23D12C5B}"/>
              </a:ext>
            </a:extLst>
          </p:cNvPr>
          <p:cNvSpPr txBox="1">
            <a:spLocks/>
          </p:cNvSpPr>
          <p:nvPr/>
        </p:nvSpPr>
        <p:spPr>
          <a:xfrm>
            <a:off x="152400" y="1524000"/>
            <a:ext cx="8839200" cy="4585871"/>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2800" dirty="0"/>
              <a:t>This project utilizes a large student survey to explore how sexual and gender minority high school students define and express their identities, and the challenges they face in the transition to college.</a:t>
            </a:r>
          </a:p>
          <a:p>
            <a:pPr marL="0" indent="0">
              <a:buNone/>
              <a:defRPr/>
            </a:pPr>
            <a:endParaRPr lang="en-US" sz="1000" dirty="0"/>
          </a:p>
          <a:p>
            <a:pPr marL="288925" indent="-288925">
              <a:defRPr/>
            </a:pPr>
            <a:r>
              <a:rPr lang="en-US" sz="2800" dirty="0"/>
              <a:t>Motivation</a:t>
            </a:r>
          </a:p>
          <a:p>
            <a:pPr marL="288925" indent="-288925">
              <a:defRPr/>
            </a:pPr>
            <a:r>
              <a:rPr lang="en-US" sz="2800" dirty="0"/>
              <a:t>Methodology</a:t>
            </a:r>
          </a:p>
          <a:p>
            <a:pPr marL="288925" indent="-288925">
              <a:defRPr/>
            </a:pPr>
            <a:r>
              <a:rPr lang="en-US" sz="2800" dirty="0"/>
              <a:t>Data</a:t>
            </a:r>
          </a:p>
          <a:p>
            <a:pPr marL="288925" indent="-288925">
              <a:defRPr/>
            </a:pPr>
            <a:r>
              <a:rPr lang="en-US" sz="2800" dirty="0"/>
              <a:t>Results</a:t>
            </a:r>
          </a:p>
          <a:p>
            <a:pPr marL="288925" indent="-288925">
              <a:defRPr/>
            </a:pPr>
            <a:r>
              <a:rPr lang="en-US" sz="2800" dirty="0"/>
              <a:t>Discussion</a:t>
            </a:r>
          </a:p>
        </p:txBody>
      </p:sp>
    </p:spTree>
    <p:extLst>
      <p:ext uri="{BB962C8B-B14F-4D97-AF65-F5344CB8AC3E}">
        <p14:creationId xmlns:p14="http://schemas.microsoft.com/office/powerpoint/2010/main" val="4162196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dirty="0"/>
              <a:t>Motivation</a:t>
            </a:r>
          </a:p>
        </p:txBody>
      </p:sp>
      <p:sp>
        <p:nvSpPr>
          <p:cNvPr id="4" name="Slide Number Placeholder 3"/>
          <p:cNvSpPr>
            <a:spLocks noGrp="1"/>
          </p:cNvSpPr>
          <p:nvPr>
            <p:ph type="sldNum" sz="quarter" idx="12"/>
          </p:nvPr>
        </p:nvSpPr>
        <p:spPr>
          <a:xfrm>
            <a:off x="5646563" y="-118270"/>
            <a:ext cx="3487444" cy="388939"/>
          </a:xfrm>
        </p:spPr>
        <p:txBody>
          <a:bodyPr/>
          <a:lstStyle/>
          <a:p>
            <a:endParaRPr lang="en-US" dirty="0"/>
          </a:p>
          <a:p>
            <a:fld id="{80DD8C35-F8B3-4049-95AF-A34E38FBBA50}" type="slidenum">
              <a:rPr lang="en-US" smtClean="0"/>
              <a:pPr/>
              <a:t>3</a:t>
            </a:fld>
            <a:endParaRPr lang="en-US" dirty="0"/>
          </a:p>
        </p:txBody>
      </p:sp>
      <p:sp>
        <p:nvSpPr>
          <p:cNvPr id="5" name="Content Placeholder 8">
            <a:extLst>
              <a:ext uri="{FF2B5EF4-FFF2-40B4-BE49-F238E27FC236}">
                <a16:creationId xmlns:a16="http://schemas.microsoft.com/office/drawing/2014/main" id="{276906DF-AC05-514B-9E11-D88C23D12C5B}"/>
              </a:ext>
            </a:extLst>
          </p:cNvPr>
          <p:cNvSpPr txBox="1">
            <a:spLocks/>
          </p:cNvSpPr>
          <p:nvPr/>
        </p:nvSpPr>
        <p:spPr>
          <a:xfrm>
            <a:off x="152400" y="1413670"/>
            <a:ext cx="8839200" cy="5176802"/>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2800" dirty="0"/>
              <a:t>The high school to college transition is crucial for young adults (</a:t>
            </a:r>
            <a:r>
              <a:rPr lang="en-US" sz="2800" dirty="0" err="1"/>
              <a:t>Luh</a:t>
            </a:r>
            <a:r>
              <a:rPr lang="en-US" sz="2800" dirty="0"/>
              <a:t> et al., 2023)</a:t>
            </a:r>
          </a:p>
          <a:p>
            <a:pPr>
              <a:defRPr/>
            </a:pPr>
            <a:r>
              <a:rPr lang="en-US" sz="2800" dirty="0"/>
              <a:t>Schools shape students’ perceptions of college and future educational attainment (Lynn et al., 2010; </a:t>
            </a:r>
            <a:r>
              <a:rPr lang="en-US" sz="2800" dirty="0" err="1"/>
              <a:t>Uwah</a:t>
            </a:r>
            <a:r>
              <a:rPr lang="en-US" sz="2800" dirty="0"/>
              <a:t> et al., 2008)</a:t>
            </a:r>
          </a:p>
          <a:p>
            <a:pPr>
              <a:defRPr/>
            </a:pPr>
            <a:r>
              <a:rPr lang="en-US" sz="2800" dirty="0"/>
              <a:t>Existing research documents differences in outcomes among historically underserved groups</a:t>
            </a:r>
          </a:p>
          <a:p>
            <a:pPr lvl="1">
              <a:defRPr/>
            </a:pPr>
            <a:r>
              <a:rPr lang="en-US" sz="2400" dirty="0"/>
              <a:t>Limited evidence regarding LGBTQ+ students</a:t>
            </a:r>
          </a:p>
          <a:p>
            <a:pPr>
              <a:defRPr/>
            </a:pPr>
            <a:r>
              <a:rPr lang="en-US" sz="2800" dirty="0"/>
              <a:t>This study provides direct evidence on LGBTQ+ students’ experiences before college, focusing on supports, challenges, and disparities</a:t>
            </a:r>
          </a:p>
        </p:txBody>
      </p:sp>
    </p:spTree>
    <p:extLst>
      <p:ext uri="{BB962C8B-B14F-4D97-AF65-F5344CB8AC3E}">
        <p14:creationId xmlns:p14="http://schemas.microsoft.com/office/powerpoint/2010/main" val="1392887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327E8-9273-BA49-497A-D35E01CFCC59}"/>
              </a:ext>
            </a:extLst>
          </p:cNvPr>
          <p:cNvSpPr>
            <a:spLocks noGrp="1"/>
          </p:cNvSpPr>
          <p:nvPr>
            <p:ph type="title"/>
          </p:nvPr>
        </p:nvSpPr>
        <p:spPr/>
        <p:txBody>
          <a:bodyPr/>
          <a:lstStyle/>
          <a:p>
            <a:r>
              <a:rPr lang="en-US" dirty="0"/>
              <a:t>Context</a:t>
            </a:r>
          </a:p>
        </p:txBody>
      </p:sp>
      <p:sp>
        <p:nvSpPr>
          <p:cNvPr id="3" name="Content Placeholder 2">
            <a:extLst>
              <a:ext uri="{FF2B5EF4-FFF2-40B4-BE49-F238E27FC236}">
                <a16:creationId xmlns:a16="http://schemas.microsoft.com/office/drawing/2014/main" id="{9AA4CAC7-FEC1-9917-2A76-696FEB589334}"/>
              </a:ext>
            </a:extLst>
          </p:cNvPr>
          <p:cNvSpPr>
            <a:spLocks noGrp="1"/>
          </p:cNvSpPr>
          <p:nvPr>
            <p:ph idx="1"/>
          </p:nvPr>
        </p:nvSpPr>
        <p:spPr>
          <a:xfrm>
            <a:off x="152400" y="1447800"/>
            <a:ext cx="8839200" cy="5410200"/>
          </a:xfrm>
        </p:spPr>
        <p:txBody>
          <a:bodyPr>
            <a:normAutofit fontScale="92500" lnSpcReduction="20000"/>
          </a:bodyPr>
          <a:lstStyle/>
          <a:p>
            <a:r>
              <a:rPr lang="en-US" dirty="0"/>
              <a:t>Pandemic</a:t>
            </a:r>
          </a:p>
          <a:p>
            <a:pPr lvl="1"/>
            <a:r>
              <a:rPr lang="en-US" dirty="0"/>
              <a:t>Remote start to high school</a:t>
            </a:r>
          </a:p>
          <a:p>
            <a:pPr lvl="1"/>
            <a:r>
              <a:rPr lang="en-US" dirty="0"/>
              <a:t>Significant portion of high school was conducted online</a:t>
            </a:r>
          </a:p>
          <a:p>
            <a:pPr lvl="1"/>
            <a:endParaRPr lang="en-US" sz="2100" dirty="0"/>
          </a:p>
          <a:p>
            <a:r>
              <a:rPr lang="en-US" dirty="0"/>
              <a:t>Policy changes in financial aid application submission</a:t>
            </a:r>
          </a:p>
          <a:p>
            <a:pPr lvl="1"/>
            <a:r>
              <a:rPr lang="en-US" dirty="0"/>
              <a:t>AB 469 (2021) mandates graduating high school seniors to complete a FAFSA or CADAA (with opt-out waivers)</a:t>
            </a:r>
          </a:p>
          <a:p>
            <a:pPr lvl="1"/>
            <a:r>
              <a:rPr lang="en-US" dirty="0"/>
              <a:t>Class of 2023 is first cohort </a:t>
            </a:r>
          </a:p>
          <a:p>
            <a:pPr lvl="1"/>
            <a:endParaRPr lang="en-US" sz="2300" dirty="0"/>
          </a:p>
          <a:p>
            <a:r>
              <a:rPr lang="en-US" dirty="0"/>
              <a:t>Heightened visibility of and backlash against LGBTQ+ people</a:t>
            </a:r>
          </a:p>
          <a:p>
            <a:pPr lvl="1"/>
            <a:r>
              <a:rPr lang="en-US" dirty="0"/>
              <a:t>Study conducted in California </a:t>
            </a:r>
          </a:p>
          <a:p>
            <a:pPr lvl="1"/>
            <a:r>
              <a:rPr lang="en-US" dirty="0"/>
              <a:t>Diverse demographic and political leanings</a:t>
            </a:r>
          </a:p>
        </p:txBody>
      </p:sp>
      <p:sp>
        <p:nvSpPr>
          <p:cNvPr id="4" name="Slide Number Placeholder 3">
            <a:extLst>
              <a:ext uri="{FF2B5EF4-FFF2-40B4-BE49-F238E27FC236}">
                <a16:creationId xmlns:a16="http://schemas.microsoft.com/office/drawing/2014/main" id="{21AED131-0CA8-2808-3904-B8E149002F30}"/>
              </a:ext>
            </a:extLst>
          </p:cNvPr>
          <p:cNvSpPr>
            <a:spLocks noGrp="1"/>
          </p:cNvSpPr>
          <p:nvPr>
            <p:ph type="sldNum" sz="quarter" idx="12"/>
          </p:nvPr>
        </p:nvSpPr>
        <p:spPr/>
        <p:txBody>
          <a:bodyPr/>
          <a:lstStyle/>
          <a:p>
            <a:fld id="{80DD8C35-F8B3-4049-95AF-A34E38FBBA50}" type="slidenum">
              <a:rPr lang="en-US" smtClean="0"/>
              <a:pPr/>
              <a:t>4</a:t>
            </a:fld>
            <a:endParaRPr lang="en-US" dirty="0"/>
          </a:p>
        </p:txBody>
      </p:sp>
    </p:spTree>
    <p:extLst>
      <p:ext uri="{BB962C8B-B14F-4D97-AF65-F5344CB8AC3E}">
        <p14:creationId xmlns:p14="http://schemas.microsoft.com/office/powerpoint/2010/main" val="1345612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DB443-F429-E6F5-0426-85EF2492DEAA}"/>
              </a:ext>
            </a:extLst>
          </p:cNvPr>
          <p:cNvSpPr>
            <a:spLocks noGrp="1"/>
          </p:cNvSpPr>
          <p:nvPr>
            <p:ph type="title"/>
          </p:nvPr>
        </p:nvSpPr>
        <p:spPr/>
        <p:txBody>
          <a:bodyPr/>
          <a:lstStyle/>
          <a:p>
            <a:r>
              <a:rPr lang="en-US" dirty="0"/>
              <a:t>Research Questions</a:t>
            </a:r>
          </a:p>
        </p:txBody>
      </p:sp>
      <p:sp>
        <p:nvSpPr>
          <p:cNvPr id="3" name="Content Placeholder 2">
            <a:extLst>
              <a:ext uri="{FF2B5EF4-FFF2-40B4-BE49-F238E27FC236}">
                <a16:creationId xmlns:a16="http://schemas.microsoft.com/office/drawing/2014/main" id="{72A33E6B-EBCC-043F-5F74-93725807FCC2}"/>
              </a:ext>
            </a:extLst>
          </p:cNvPr>
          <p:cNvSpPr>
            <a:spLocks noGrp="1"/>
          </p:cNvSpPr>
          <p:nvPr>
            <p:ph idx="1"/>
          </p:nvPr>
        </p:nvSpPr>
        <p:spPr>
          <a:xfrm>
            <a:off x="304800" y="1600200"/>
            <a:ext cx="8382000" cy="4800600"/>
          </a:xfrm>
        </p:spPr>
        <p:txBody>
          <a:bodyPr>
            <a:normAutofit/>
          </a:bodyPr>
          <a:lstStyle/>
          <a:p>
            <a:pPr>
              <a:spcBef>
                <a:spcPts val="0"/>
              </a:spcBef>
              <a:spcAft>
                <a:spcPts val="600"/>
              </a:spcAft>
            </a:pPr>
            <a:r>
              <a:rPr lang="en-US" dirty="0"/>
              <a:t>How do high school students today define their own gender identity and sexual orientation?</a:t>
            </a:r>
          </a:p>
          <a:p>
            <a:pPr>
              <a:spcBef>
                <a:spcPts val="0"/>
              </a:spcBef>
              <a:spcAft>
                <a:spcPts val="600"/>
              </a:spcAft>
            </a:pPr>
            <a:endParaRPr lang="en-US" sz="900" dirty="0"/>
          </a:p>
          <a:p>
            <a:pPr>
              <a:spcBef>
                <a:spcPts val="0"/>
              </a:spcBef>
              <a:spcAft>
                <a:spcPts val="600"/>
              </a:spcAft>
            </a:pPr>
            <a:r>
              <a:rPr lang="en-US" dirty="0"/>
              <a:t>Are there different patterns in experiences and aspirations among sexual and gender minority students?</a:t>
            </a:r>
          </a:p>
          <a:p>
            <a:pPr>
              <a:spcBef>
                <a:spcPts val="0"/>
              </a:spcBef>
              <a:spcAft>
                <a:spcPts val="600"/>
              </a:spcAft>
            </a:pPr>
            <a:endParaRPr lang="en-US" sz="900" dirty="0"/>
          </a:p>
          <a:p>
            <a:pPr>
              <a:spcBef>
                <a:spcPts val="0"/>
              </a:spcBef>
              <a:spcAft>
                <a:spcPts val="600"/>
              </a:spcAft>
            </a:pPr>
            <a:r>
              <a:rPr lang="en-US" dirty="0"/>
              <a:t>What are the challenges faced by sexual and gender minority students in the transition to college?</a:t>
            </a:r>
          </a:p>
        </p:txBody>
      </p:sp>
      <p:sp>
        <p:nvSpPr>
          <p:cNvPr id="4" name="Slide Number Placeholder 3">
            <a:extLst>
              <a:ext uri="{FF2B5EF4-FFF2-40B4-BE49-F238E27FC236}">
                <a16:creationId xmlns:a16="http://schemas.microsoft.com/office/drawing/2014/main" id="{9632F04E-8E97-8830-F4DF-1FF8C4D9D852}"/>
              </a:ext>
            </a:extLst>
          </p:cNvPr>
          <p:cNvSpPr>
            <a:spLocks noGrp="1"/>
          </p:cNvSpPr>
          <p:nvPr>
            <p:ph type="sldNum" sz="quarter" idx="12"/>
          </p:nvPr>
        </p:nvSpPr>
        <p:spPr/>
        <p:txBody>
          <a:bodyPr/>
          <a:lstStyle/>
          <a:p>
            <a:fld id="{80DD8C35-F8B3-4049-95AF-A34E38FBBA50}" type="slidenum">
              <a:rPr lang="en-US" smtClean="0"/>
              <a:pPr/>
              <a:t>5</a:t>
            </a:fld>
            <a:endParaRPr lang="en-US" dirty="0"/>
          </a:p>
        </p:txBody>
      </p:sp>
    </p:spTree>
    <p:extLst>
      <p:ext uri="{BB962C8B-B14F-4D97-AF65-F5344CB8AC3E}">
        <p14:creationId xmlns:p14="http://schemas.microsoft.com/office/powerpoint/2010/main" val="2940081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379DD-2057-1666-3B6F-D0F3ADF74AB8}"/>
              </a:ext>
            </a:extLst>
          </p:cNvPr>
          <p:cNvSpPr>
            <a:spLocks noGrp="1"/>
          </p:cNvSpPr>
          <p:nvPr>
            <p:ph type="title"/>
          </p:nvPr>
        </p:nvSpPr>
        <p:spPr/>
        <p:txBody>
          <a:bodyPr/>
          <a:lstStyle/>
          <a:p>
            <a:r>
              <a:rPr lang="en-US" dirty="0"/>
              <a:t>Contributions</a:t>
            </a:r>
          </a:p>
        </p:txBody>
      </p:sp>
      <p:sp>
        <p:nvSpPr>
          <p:cNvPr id="3" name="Content Placeholder 2">
            <a:extLst>
              <a:ext uri="{FF2B5EF4-FFF2-40B4-BE49-F238E27FC236}">
                <a16:creationId xmlns:a16="http://schemas.microsoft.com/office/drawing/2014/main" id="{3C947DDA-8364-DCF0-14DD-A5FCE33B0C38}"/>
              </a:ext>
            </a:extLst>
          </p:cNvPr>
          <p:cNvSpPr>
            <a:spLocks noGrp="1"/>
          </p:cNvSpPr>
          <p:nvPr>
            <p:ph idx="1"/>
          </p:nvPr>
        </p:nvSpPr>
        <p:spPr>
          <a:xfrm>
            <a:off x="152400" y="1447800"/>
            <a:ext cx="8623269" cy="5105400"/>
          </a:xfrm>
        </p:spPr>
        <p:txBody>
          <a:bodyPr>
            <a:normAutofit fontScale="85000" lnSpcReduction="20000"/>
          </a:bodyPr>
          <a:lstStyle/>
          <a:p>
            <a:pPr>
              <a:spcBef>
                <a:spcPts val="0"/>
              </a:spcBef>
              <a:spcAft>
                <a:spcPts val="600"/>
              </a:spcAft>
            </a:pPr>
            <a:r>
              <a:rPr lang="en-US" dirty="0"/>
              <a:t>Use validated survey instruments to collect nuanced data on gender identity and sexual orientation from a large sample of high school seniors</a:t>
            </a:r>
          </a:p>
          <a:p>
            <a:pPr>
              <a:spcBef>
                <a:spcPts val="0"/>
              </a:spcBef>
              <a:spcAft>
                <a:spcPts val="600"/>
              </a:spcAft>
            </a:pPr>
            <a:endParaRPr lang="en-US" sz="200" dirty="0"/>
          </a:p>
          <a:p>
            <a:pPr lvl="1">
              <a:spcBef>
                <a:spcPts val="0"/>
              </a:spcBef>
              <a:spcAft>
                <a:spcPts val="600"/>
              </a:spcAft>
            </a:pPr>
            <a:r>
              <a:rPr lang="en-US" sz="2400" dirty="0"/>
              <a:t>Recent surveys tend to draw on a narrow sample of students, students predominantly enrolled in earlier grades, or data collected pre-pandemic (Austin et al., 2023; Horowitz &amp; Graf, 2019; </a:t>
            </a:r>
            <a:r>
              <a:rPr lang="en-US" sz="2400" dirty="0" err="1"/>
              <a:t>Kosciw</a:t>
            </a:r>
            <a:r>
              <a:rPr lang="en-US" sz="2400" dirty="0"/>
              <a:t> et al., 2022; </a:t>
            </a:r>
            <a:r>
              <a:rPr lang="en-US" sz="2400" dirty="0" err="1"/>
              <a:t>Reber</a:t>
            </a:r>
            <a:r>
              <a:rPr lang="en-US" sz="2400" dirty="0"/>
              <a:t> &amp; Smith, 2023; </a:t>
            </a:r>
            <a:r>
              <a:rPr lang="en-US" sz="2400" dirty="0" err="1"/>
              <a:t>YouScience</a:t>
            </a:r>
            <a:r>
              <a:rPr lang="en-US" sz="2400" dirty="0"/>
              <a:t>, 2023)</a:t>
            </a:r>
          </a:p>
          <a:p>
            <a:pPr lvl="1">
              <a:spcBef>
                <a:spcPts val="0"/>
              </a:spcBef>
              <a:spcAft>
                <a:spcPts val="600"/>
              </a:spcAft>
            </a:pPr>
            <a:endParaRPr lang="en-US" sz="400" dirty="0"/>
          </a:p>
          <a:p>
            <a:pPr>
              <a:spcBef>
                <a:spcPts val="0"/>
              </a:spcBef>
              <a:spcAft>
                <a:spcPts val="600"/>
              </a:spcAft>
            </a:pPr>
            <a:r>
              <a:rPr lang="en-US" dirty="0"/>
              <a:t>Add to the growing literature on the academic and social experiences of LGBTQ+ students in high school and college (e.g., Austin et al., 2023; Feldman et al., 2023; </a:t>
            </a:r>
            <a:r>
              <a:rPr lang="en-US" dirty="0" err="1"/>
              <a:t>Kosciw</a:t>
            </a:r>
            <a:r>
              <a:rPr lang="en-US" dirty="0"/>
              <a:t> et al., 2022; </a:t>
            </a:r>
            <a:r>
              <a:rPr lang="en-US" dirty="0" err="1"/>
              <a:t>Reber</a:t>
            </a:r>
            <a:r>
              <a:rPr lang="en-US" dirty="0"/>
              <a:t> &amp; Smith, 2023)</a:t>
            </a:r>
          </a:p>
          <a:p>
            <a:pPr>
              <a:spcBef>
                <a:spcPts val="0"/>
              </a:spcBef>
              <a:spcAft>
                <a:spcPts val="600"/>
              </a:spcAft>
            </a:pPr>
            <a:endParaRPr lang="en-US" sz="700" dirty="0"/>
          </a:p>
          <a:p>
            <a:pPr>
              <a:spcBef>
                <a:spcPts val="0"/>
              </a:spcBef>
              <a:spcAft>
                <a:spcPts val="600"/>
              </a:spcAft>
            </a:pPr>
            <a:r>
              <a:rPr lang="en-US" dirty="0"/>
              <a:t>Contribute to the broader literature on the transition to college by adding new evidence on the experiences of underserved students</a:t>
            </a:r>
          </a:p>
          <a:p>
            <a:endParaRPr lang="en-US" dirty="0"/>
          </a:p>
        </p:txBody>
      </p:sp>
      <p:sp>
        <p:nvSpPr>
          <p:cNvPr id="4" name="Slide Number Placeholder 3">
            <a:extLst>
              <a:ext uri="{FF2B5EF4-FFF2-40B4-BE49-F238E27FC236}">
                <a16:creationId xmlns:a16="http://schemas.microsoft.com/office/drawing/2014/main" id="{A9B025E8-4766-08A0-15F5-DBD89914788B}"/>
              </a:ext>
            </a:extLst>
          </p:cNvPr>
          <p:cNvSpPr>
            <a:spLocks noGrp="1"/>
          </p:cNvSpPr>
          <p:nvPr>
            <p:ph type="sldNum" sz="quarter" idx="12"/>
          </p:nvPr>
        </p:nvSpPr>
        <p:spPr/>
        <p:txBody>
          <a:bodyPr/>
          <a:lstStyle/>
          <a:p>
            <a:fld id="{80DD8C35-F8B3-4049-95AF-A34E38FBBA50}" type="slidenum">
              <a:rPr lang="en-US" smtClean="0"/>
              <a:pPr/>
              <a:t>6</a:t>
            </a:fld>
            <a:endParaRPr lang="en-US" dirty="0"/>
          </a:p>
        </p:txBody>
      </p:sp>
    </p:spTree>
    <p:extLst>
      <p:ext uri="{BB962C8B-B14F-4D97-AF65-F5344CB8AC3E}">
        <p14:creationId xmlns:p14="http://schemas.microsoft.com/office/powerpoint/2010/main" val="4263110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9ED08-44C2-7E6F-B0A1-7FD1EAB7539F}"/>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F711CD9D-1359-73E6-6415-8A8A46985DCF}"/>
              </a:ext>
            </a:extLst>
          </p:cNvPr>
          <p:cNvSpPr>
            <a:spLocks noGrp="1"/>
          </p:cNvSpPr>
          <p:nvPr>
            <p:ph idx="1"/>
          </p:nvPr>
        </p:nvSpPr>
        <p:spPr>
          <a:xfrm>
            <a:off x="237505" y="1371600"/>
            <a:ext cx="8668989" cy="5556504"/>
          </a:xfrm>
        </p:spPr>
        <p:txBody>
          <a:bodyPr>
            <a:normAutofit/>
          </a:bodyPr>
          <a:lstStyle/>
          <a:p>
            <a:pPr marL="457200" lvl="0" indent="-336550" algn="l" rtl="0">
              <a:lnSpc>
                <a:spcPct val="105000"/>
              </a:lnSpc>
              <a:spcBef>
                <a:spcPts val="0"/>
              </a:spcBef>
              <a:spcAft>
                <a:spcPts val="0"/>
              </a:spcAft>
              <a:buClr>
                <a:schemeClr val="dk1"/>
              </a:buClr>
              <a:buSzPts val="1700"/>
              <a:buChar char="●"/>
            </a:pPr>
            <a:r>
              <a:rPr lang="en-US" sz="2000" dirty="0">
                <a:solidFill>
                  <a:schemeClr val="dk1"/>
                </a:solidFill>
              </a:rPr>
              <a:t>Launched an internet-based survey in May 2023 in partnership with the California Student Aid Commission (CSAC)</a:t>
            </a:r>
          </a:p>
          <a:p>
            <a:pPr marL="457200" lvl="0" indent="-336550" algn="l" rtl="0">
              <a:lnSpc>
                <a:spcPct val="105000"/>
              </a:lnSpc>
              <a:spcBef>
                <a:spcPts val="1000"/>
              </a:spcBef>
              <a:spcAft>
                <a:spcPts val="0"/>
              </a:spcAft>
              <a:buClr>
                <a:schemeClr val="dk1"/>
              </a:buClr>
              <a:buSzPts val="1700"/>
              <a:buChar char="●"/>
            </a:pPr>
            <a:r>
              <a:rPr lang="en-US" sz="2000" dirty="0">
                <a:solidFill>
                  <a:schemeClr val="dk1"/>
                </a:solidFill>
              </a:rPr>
              <a:t>Distributed by email to all high school seniors in California that submitted a Free Application for Federal Student Aid (FAFSA) or California Dream Act Application (CADAA) for the 2023-24 academic year</a:t>
            </a:r>
          </a:p>
          <a:p>
            <a:pPr marL="857250" lvl="1" indent="-209550" algn="l" rtl="0">
              <a:lnSpc>
                <a:spcPct val="105000"/>
              </a:lnSpc>
              <a:spcBef>
                <a:spcPts val="1000"/>
              </a:spcBef>
              <a:spcAft>
                <a:spcPts val="0"/>
              </a:spcAft>
              <a:buClr>
                <a:schemeClr val="dk1"/>
              </a:buClr>
              <a:buSzPts val="1500"/>
              <a:buChar char="○"/>
            </a:pPr>
            <a:r>
              <a:rPr lang="en-US" sz="1800" dirty="0">
                <a:solidFill>
                  <a:schemeClr val="dk1"/>
                </a:solidFill>
              </a:rPr>
              <a:t>Response rate of 3.5%, yet the sample represents a diverse group of students from many different backgrounds and geographic regions throughout the state</a:t>
            </a:r>
          </a:p>
          <a:p>
            <a:pPr marL="857250" lvl="1" indent="-209550" algn="l" rtl="0">
              <a:lnSpc>
                <a:spcPct val="105000"/>
              </a:lnSpc>
              <a:spcBef>
                <a:spcPts val="1000"/>
              </a:spcBef>
              <a:spcAft>
                <a:spcPts val="0"/>
              </a:spcAft>
              <a:buClr>
                <a:schemeClr val="dk1"/>
              </a:buClr>
              <a:buSzPts val="1500"/>
              <a:buChar char="○"/>
            </a:pPr>
            <a:r>
              <a:rPr lang="en-US" sz="1800" dirty="0">
                <a:solidFill>
                  <a:schemeClr val="dk1"/>
                </a:solidFill>
              </a:rPr>
              <a:t>Convenience sample but large</a:t>
            </a:r>
          </a:p>
          <a:p>
            <a:pPr marL="457200" lvl="0" indent="-336550" algn="l" rtl="0">
              <a:lnSpc>
                <a:spcPct val="105000"/>
              </a:lnSpc>
              <a:spcBef>
                <a:spcPts val="1000"/>
              </a:spcBef>
              <a:spcAft>
                <a:spcPts val="0"/>
              </a:spcAft>
              <a:buClr>
                <a:schemeClr val="dk1"/>
              </a:buClr>
              <a:buSzPts val="1700"/>
              <a:buChar char="●"/>
            </a:pPr>
            <a:r>
              <a:rPr lang="en-US" sz="2000" dirty="0">
                <a:solidFill>
                  <a:schemeClr val="dk1"/>
                </a:solidFill>
              </a:rPr>
              <a:t>Likert-scale questions </a:t>
            </a:r>
          </a:p>
          <a:p>
            <a:pPr marL="914400" lvl="1" indent="-266700" algn="l" rtl="0">
              <a:lnSpc>
                <a:spcPct val="105000"/>
              </a:lnSpc>
              <a:spcBef>
                <a:spcPts val="1000"/>
              </a:spcBef>
              <a:spcAft>
                <a:spcPts val="0"/>
              </a:spcAft>
              <a:buClr>
                <a:schemeClr val="dk1"/>
              </a:buClr>
              <a:buSzPts val="1500"/>
              <a:buChar char="○"/>
            </a:pPr>
            <a:r>
              <a:rPr lang="en-US" sz="1800" dirty="0">
                <a:solidFill>
                  <a:schemeClr val="dk1"/>
                </a:solidFill>
              </a:rPr>
              <a:t>Students’ high school experiences, college preparation and plans, concerns about college</a:t>
            </a:r>
          </a:p>
          <a:p>
            <a:pPr marL="457200" lvl="0" indent="-336550" algn="l" rtl="0">
              <a:lnSpc>
                <a:spcPct val="105000"/>
              </a:lnSpc>
              <a:spcBef>
                <a:spcPts val="1000"/>
              </a:spcBef>
              <a:spcAft>
                <a:spcPts val="0"/>
              </a:spcAft>
              <a:buClr>
                <a:schemeClr val="dk1"/>
              </a:buClr>
              <a:buSzPts val="1700"/>
              <a:buChar char="●"/>
            </a:pPr>
            <a:r>
              <a:rPr lang="en-US" sz="2000" dirty="0">
                <a:solidFill>
                  <a:schemeClr val="dk1"/>
                </a:solidFill>
              </a:rPr>
              <a:t>Demographic questions </a:t>
            </a:r>
          </a:p>
          <a:p>
            <a:pPr marL="457200" lvl="0" indent="-336550" algn="l" rtl="0">
              <a:lnSpc>
                <a:spcPct val="105000"/>
              </a:lnSpc>
              <a:spcBef>
                <a:spcPts val="1000"/>
              </a:spcBef>
              <a:spcAft>
                <a:spcPts val="0"/>
              </a:spcAft>
              <a:buClr>
                <a:schemeClr val="dk1"/>
              </a:buClr>
              <a:buSzPts val="1700"/>
              <a:buChar char="●"/>
            </a:pPr>
            <a:r>
              <a:rPr lang="en-US" sz="2000" dirty="0">
                <a:solidFill>
                  <a:schemeClr val="dk1"/>
                </a:solidFill>
              </a:rPr>
              <a:t>Open-ended questions</a:t>
            </a:r>
          </a:p>
          <a:p>
            <a:pPr marL="914400" lvl="1" indent="-266700" algn="l" rtl="0">
              <a:lnSpc>
                <a:spcPct val="105000"/>
              </a:lnSpc>
              <a:spcBef>
                <a:spcPts val="1000"/>
              </a:spcBef>
              <a:spcAft>
                <a:spcPts val="1000"/>
              </a:spcAft>
              <a:buClr>
                <a:schemeClr val="dk1"/>
              </a:buClr>
              <a:buSzPts val="1500"/>
              <a:buChar char="○"/>
            </a:pPr>
            <a:r>
              <a:rPr lang="en-US" sz="1800" dirty="0">
                <a:solidFill>
                  <a:schemeClr val="dk1"/>
                </a:solidFill>
              </a:rPr>
              <a:t>Perceived challenges and excitement about college</a:t>
            </a:r>
          </a:p>
          <a:p>
            <a:endParaRPr lang="en-US" sz="4000" dirty="0"/>
          </a:p>
        </p:txBody>
      </p:sp>
      <p:sp>
        <p:nvSpPr>
          <p:cNvPr id="4" name="Slide Number Placeholder 3">
            <a:extLst>
              <a:ext uri="{FF2B5EF4-FFF2-40B4-BE49-F238E27FC236}">
                <a16:creationId xmlns:a16="http://schemas.microsoft.com/office/drawing/2014/main" id="{AB826107-2B71-3A27-ECFD-09BDC567DF48}"/>
              </a:ext>
            </a:extLst>
          </p:cNvPr>
          <p:cNvSpPr>
            <a:spLocks noGrp="1"/>
          </p:cNvSpPr>
          <p:nvPr>
            <p:ph type="sldNum" sz="quarter" idx="12"/>
          </p:nvPr>
        </p:nvSpPr>
        <p:spPr/>
        <p:txBody>
          <a:bodyPr/>
          <a:lstStyle/>
          <a:p>
            <a:fld id="{80DD8C35-F8B3-4049-95AF-A34E38FBBA50}" type="slidenum">
              <a:rPr lang="en-US" smtClean="0"/>
              <a:pPr/>
              <a:t>7</a:t>
            </a:fld>
            <a:endParaRPr lang="en-US" dirty="0"/>
          </a:p>
        </p:txBody>
      </p:sp>
    </p:spTree>
    <p:extLst>
      <p:ext uri="{BB962C8B-B14F-4D97-AF65-F5344CB8AC3E}">
        <p14:creationId xmlns:p14="http://schemas.microsoft.com/office/powerpoint/2010/main" val="825801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2452B-246D-9E1D-7BD1-669988BC6399}"/>
              </a:ext>
            </a:extLst>
          </p:cNvPr>
          <p:cNvSpPr>
            <a:spLocks noGrp="1"/>
          </p:cNvSpPr>
          <p:nvPr>
            <p:ph type="title"/>
          </p:nvPr>
        </p:nvSpPr>
        <p:spPr/>
        <p:txBody>
          <a:bodyPr>
            <a:normAutofit/>
          </a:bodyPr>
          <a:lstStyle/>
          <a:p>
            <a:r>
              <a:rPr lang="en-US" dirty="0"/>
              <a:t>Data</a:t>
            </a:r>
          </a:p>
        </p:txBody>
      </p:sp>
      <p:sp>
        <p:nvSpPr>
          <p:cNvPr id="3" name="Content Placeholder 2">
            <a:extLst>
              <a:ext uri="{FF2B5EF4-FFF2-40B4-BE49-F238E27FC236}">
                <a16:creationId xmlns:a16="http://schemas.microsoft.com/office/drawing/2014/main" id="{653B61DE-228D-44E4-125E-A61489E4E78E}"/>
              </a:ext>
            </a:extLst>
          </p:cNvPr>
          <p:cNvSpPr>
            <a:spLocks noGrp="1"/>
          </p:cNvSpPr>
          <p:nvPr>
            <p:ph idx="1"/>
          </p:nvPr>
        </p:nvSpPr>
        <p:spPr>
          <a:xfrm>
            <a:off x="152400" y="1447800"/>
            <a:ext cx="8839200" cy="5181600"/>
          </a:xfrm>
        </p:spPr>
        <p:txBody>
          <a:bodyPr>
            <a:normAutofit/>
          </a:bodyPr>
          <a:lstStyle/>
          <a:p>
            <a:pPr marL="457200" lvl="0" indent="-342900" algn="l" rtl="0">
              <a:spcBef>
                <a:spcPts val="0"/>
              </a:spcBef>
              <a:spcAft>
                <a:spcPts val="600"/>
              </a:spcAft>
              <a:buClr>
                <a:schemeClr val="dk1"/>
              </a:buClr>
              <a:buSzPts val="1800"/>
              <a:buChar char="●"/>
            </a:pPr>
            <a:r>
              <a:rPr lang="en-US" sz="2800" dirty="0">
                <a:solidFill>
                  <a:schemeClr val="dk1"/>
                </a:solidFill>
              </a:rPr>
              <a:t>The raw sample includes a total of 10,221 responses</a:t>
            </a:r>
          </a:p>
          <a:p>
            <a:pPr marL="457200" lvl="0" indent="-342900" algn="l" rtl="0">
              <a:spcBef>
                <a:spcPts val="0"/>
              </a:spcBef>
              <a:spcAft>
                <a:spcPts val="600"/>
              </a:spcAft>
              <a:buClr>
                <a:schemeClr val="dk1"/>
              </a:buClr>
              <a:buSzPts val="1800"/>
              <a:buChar char="●"/>
            </a:pPr>
            <a:r>
              <a:rPr lang="en-US" sz="2800" dirty="0">
                <a:solidFill>
                  <a:schemeClr val="dk1"/>
                </a:solidFill>
              </a:rPr>
              <a:t>Our sample includes around 9,230 college-bound HS seniors </a:t>
            </a:r>
          </a:p>
          <a:p>
            <a:pPr marL="914400" lvl="1" indent="-317500" algn="l" rtl="0">
              <a:spcBef>
                <a:spcPts val="0"/>
              </a:spcBef>
              <a:spcAft>
                <a:spcPts val="600"/>
              </a:spcAft>
              <a:buClr>
                <a:schemeClr val="dk1"/>
              </a:buClr>
              <a:buSzPts val="1400"/>
              <a:buChar char="○"/>
            </a:pPr>
            <a:r>
              <a:rPr lang="en-US" sz="2400" dirty="0">
                <a:solidFill>
                  <a:schemeClr val="dk1"/>
                </a:solidFill>
              </a:rPr>
              <a:t>7,522 who reported gender identity</a:t>
            </a:r>
          </a:p>
          <a:p>
            <a:pPr marL="914400" lvl="1" indent="-317500" algn="l" rtl="0">
              <a:spcBef>
                <a:spcPts val="0"/>
              </a:spcBef>
              <a:spcAft>
                <a:spcPts val="600"/>
              </a:spcAft>
              <a:buClr>
                <a:schemeClr val="dk1"/>
              </a:buClr>
              <a:buSzPts val="1400"/>
              <a:buChar char="○"/>
            </a:pPr>
            <a:r>
              <a:rPr lang="en-US" sz="2400" dirty="0">
                <a:solidFill>
                  <a:schemeClr val="dk1"/>
                </a:solidFill>
              </a:rPr>
              <a:t>7,481 who reported sexual orientation</a:t>
            </a:r>
          </a:p>
          <a:p>
            <a:pPr marL="457200" lvl="0" indent="-342900" algn="l" rtl="0">
              <a:spcBef>
                <a:spcPts val="0"/>
              </a:spcBef>
              <a:spcAft>
                <a:spcPts val="600"/>
              </a:spcAft>
              <a:buClr>
                <a:schemeClr val="dk1"/>
              </a:buClr>
              <a:buSzPts val="1800"/>
              <a:buChar char="●"/>
            </a:pPr>
            <a:r>
              <a:rPr lang="en-US" sz="2800" dirty="0">
                <a:solidFill>
                  <a:schemeClr val="dk1"/>
                </a:solidFill>
              </a:rPr>
              <a:t>Our sample includes 1,828 LGBTQ+ students (excluding </a:t>
            </a:r>
            <a:r>
              <a:rPr lang="en-US" sz="2800" i="1" dirty="0">
                <a:solidFill>
                  <a:schemeClr val="dk1"/>
                </a:solidFill>
              </a:rPr>
              <a:t>Prefer Not to Say</a:t>
            </a:r>
            <a:r>
              <a:rPr lang="en-US" sz="2800" dirty="0">
                <a:solidFill>
                  <a:schemeClr val="dk1"/>
                </a:solidFill>
              </a:rPr>
              <a:t>)</a:t>
            </a:r>
          </a:p>
          <a:p>
            <a:pPr marL="914400" lvl="1" indent="-317500" algn="l" rtl="0">
              <a:spcBef>
                <a:spcPts val="0"/>
              </a:spcBef>
              <a:spcAft>
                <a:spcPts val="600"/>
              </a:spcAft>
              <a:buClr>
                <a:schemeClr val="dk1"/>
              </a:buClr>
              <a:buSzPts val="1400"/>
              <a:buChar char="○"/>
            </a:pPr>
            <a:r>
              <a:rPr lang="en-US" sz="2400" dirty="0">
                <a:solidFill>
                  <a:schemeClr val="dk1"/>
                </a:solidFill>
              </a:rPr>
              <a:t>417 who we classify as being non-cisgender</a:t>
            </a:r>
          </a:p>
          <a:p>
            <a:pPr marL="914400" lvl="1" indent="-317500" algn="l" rtl="0">
              <a:spcBef>
                <a:spcPts val="0"/>
              </a:spcBef>
              <a:spcAft>
                <a:spcPts val="600"/>
              </a:spcAft>
              <a:buClr>
                <a:schemeClr val="dk1"/>
              </a:buClr>
              <a:buSzPts val="1400"/>
              <a:buChar char="○"/>
            </a:pPr>
            <a:r>
              <a:rPr lang="en-US" sz="2400" dirty="0">
                <a:solidFill>
                  <a:schemeClr val="dk1"/>
                </a:solidFill>
              </a:rPr>
              <a:t>1,782 who we classify as being non-heterosexual </a:t>
            </a:r>
          </a:p>
          <a:p>
            <a:endParaRPr lang="en-US" sz="2800" dirty="0"/>
          </a:p>
        </p:txBody>
      </p:sp>
      <p:sp>
        <p:nvSpPr>
          <p:cNvPr id="4" name="Slide Number Placeholder 3">
            <a:extLst>
              <a:ext uri="{FF2B5EF4-FFF2-40B4-BE49-F238E27FC236}">
                <a16:creationId xmlns:a16="http://schemas.microsoft.com/office/drawing/2014/main" id="{E3D90B5A-980A-F4E4-CECA-584A746C26A7}"/>
              </a:ext>
            </a:extLst>
          </p:cNvPr>
          <p:cNvSpPr>
            <a:spLocks noGrp="1"/>
          </p:cNvSpPr>
          <p:nvPr>
            <p:ph type="sldNum" sz="quarter" idx="12"/>
          </p:nvPr>
        </p:nvSpPr>
        <p:spPr/>
        <p:txBody>
          <a:bodyPr/>
          <a:lstStyle/>
          <a:p>
            <a:fld id="{80DD8C35-F8B3-4049-95AF-A34E38FBBA50}" type="slidenum">
              <a:rPr lang="en-US" smtClean="0"/>
              <a:pPr/>
              <a:t>8</a:t>
            </a:fld>
            <a:endParaRPr lang="en-US" dirty="0"/>
          </a:p>
        </p:txBody>
      </p:sp>
    </p:spTree>
    <p:extLst>
      <p:ext uri="{BB962C8B-B14F-4D97-AF65-F5344CB8AC3E}">
        <p14:creationId xmlns:p14="http://schemas.microsoft.com/office/powerpoint/2010/main" val="2061770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6F999-0646-183B-75EE-070C0905C1C8}"/>
              </a:ext>
            </a:extLst>
          </p:cNvPr>
          <p:cNvSpPr>
            <a:spLocks noGrp="1"/>
          </p:cNvSpPr>
          <p:nvPr>
            <p:ph type="title"/>
          </p:nvPr>
        </p:nvSpPr>
        <p:spPr/>
        <p:txBody>
          <a:bodyPr/>
          <a:lstStyle/>
          <a:p>
            <a:r>
              <a:rPr lang="en-US" dirty="0"/>
              <a:t>Survey Instrument: Gender Identity</a:t>
            </a:r>
          </a:p>
        </p:txBody>
      </p:sp>
      <p:sp>
        <p:nvSpPr>
          <p:cNvPr id="3" name="Content Placeholder 2">
            <a:extLst>
              <a:ext uri="{FF2B5EF4-FFF2-40B4-BE49-F238E27FC236}">
                <a16:creationId xmlns:a16="http://schemas.microsoft.com/office/drawing/2014/main" id="{9C48E90E-9A2F-9871-B9C8-FD6F4E606DE2}"/>
              </a:ext>
            </a:extLst>
          </p:cNvPr>
          <p:cNvSpPr>
            <a:spLocks noGrp="1"/>
          </p:cNvSpPr>
          <p:nvPr>
            <p:ph idx="1"/>
          </p:nvPr>
        </p:nvSpPr>
        <p:spPr/>
        <p:txBody>
          <a:bodyPr/>
          <a:lstStyle/>
          <a:p>
            <a:r>
              <a:rPr lang="en-US" sz="2800" dirty="0">
                <a:solidFill>
                  <a:schemeClr val="dk1"/>
                </a:solidFill>
              </a:rPr>
              <a:t>“Two-Step” Approach recommended by the Williams Institute</a:t>
            </a:r>
          </a:p>
          <a:p>
            <a:endParaRPr lang="en-US" dirty="0"/>
          </a:p>
        </p:txBody>
      </p:sp>
      <p:sp>
        <p:nvSpPr>
          <p:cNvPr id="4" name="Slide Number Placeholder 3">
            <a:extLst>
              <a:ext uri="{FF2B5EF4-FFF2-40B4-BE49-F238E27FC236}">
                <a16:creationId xmlns:a16="http://schemas.microsoft.com/office/drawing/2014/main" id="{7105F230-08DC-023F-A3BC-E81E539C0863}"/>
              </a:ext>
            </a:extLst>
          </p:cNvPr>
          <p:cNvSpPr>
            <a:spLocks noGrp="1"/>
          </p:cNvSpPr>
          <p:nvPr>
            <p:ph type="sldNum" sz="quarter" idx="12"/>
          </p:nvPr>
        </p:nvSpPr>
        <p:spPr/>
        <p:txBody>
          <a:bodyPr/>
          <a:lstStyle/>
          <a:p>
            <a:fld id="{80DD8C35-F8B3-4049-95AF-A34E38FBBA50}" type="slidenum">
              <a:rPr lang="en-US" smtClean="0"/>
              <a:pPr/>
              <a:t>9</a:t>
            </a:fld>
            <a:endParaRPr lang="en-US" dirty="0"/>
          </a:p>
        </p:txBody>
      </p:sp>
      <p:grpSp>
        <p:nvGrpSpPr>
          <p:cNvPr id="5" name="Google Shape;111;p22">
            <a:extLst>
              <a:ext uri="{FF2B5EF4-FFF2-40B4-BE49-F238E27FC236}">
                <a16:creationId xmlns:a16="http://schemas.microsoft.com/office/drawing/2014/main" id="{17D5D725-6FBC-B6D2-314E-41EB9EB6A89E}"/>
              </a:ext>
            </a:extLst>
          </p:cNvPr>
          <p:cNvGrpSpPr/>
          <p:nvPr/>
        </p:nvGrpSpPr>
        <p:grpSpPr>
          <a:xfrm>
            <a:off x="1143000" y="2667000"/>
            <a:ext cx="5638800" cy="3840163"/>
            <a:chOff x="810975" y="1761575"/>
            <a:chExt cx="4598300" cy="3100576"/>
          </a:xfrm>
        </p:grpSpPr>
        <p:pic>
          <p:nvPicPr>
            <p:cNvPr id="6" name="Google Shape;112;p22">
              <a:extLst>
                <a:ext uri="{FF2B5EF4-FFF2-40B4-BE49-F238E27FC236}">
                  <a16:creationId xmlns:a16="http://schemas.microsoft.com/office/drawing/2014/main" id="{94534749-E0A7-FBEC-9BD9-D938B35A8727}"/>
                </a:ext>
              </a:extLst>
            </p:cNvPr>
            <p:cNvPicPr preferRelativeResize="0"/>
            <p:nvPr/>
          </p:nvPicPr>
          <p:blipFill>
            <a:blip r:embed="rId2">
              <a:alphaModFix/>
            </a:blip>
            <a:stretch>
              <a:fillRect/>
            </a:stretch>
          </p:blipFill>
          <p:spPr>
            <a:xfrm>
              <a:off x="810975" y="1761575"/>
              <a:ext cx="4598300" cy="1157191"/>
            </a:xfrm>
            <a:prstGeom prst="rect">
              <a:avLst/>
            </a:prstGeom>
            <a:noFill/>
            <a:ln>
              <a:noFill/>
            </a:ln>
          </p:spPr>
        </p:pic>
        <p:pic>
          <p:nvPicPr>
            <p:cNvPr id="7" name="Google Shape;113;p22">
              <a:extLst>
                <a:ext uri="{FF2B5EF4-FFF2-40B4-BE49-F238E27FC236}">
                  <a16:creationId xmlns:a16="http://schemas.microsoft.com/office/drawing/2014/main" id="{361D95E9-3C10-DEC9-2E65-C229F2BBCDD6}"/>
                </a:ext>
              </a:extLst>
            </p:cNvPr>
            <p:cNvPicPr preferRelativeResize="0"/>
            <p:nvPr/>
          </p:nvPicPr>
          <p:blipFill>
            <a:blip r:embed="rId3">
              <a:alphaModFix/>
            </a:blip>
            <a:stretch>
              <a:fillRect/>
            </a:stretch>
          </p:blipFill>
          <p:spPr>
            <a:xfrm>
              <a:off x="810975" y="2918775"/>
              <a:ext cx="4598299" cy="1943376"/>
            </a:xfrm>
            <a:prstGeom prst="rect">
              <a:avLst/>
            </a:prstGeom>
            <a:noFill/>
            <a:ln>
              <a:noFill/>
            </a:ln>
          </p:spPr>
        </p:pic>
      </p:grpSp>
    </p:spTree>
    <p:extLst>
      <p:ext uri="{BB962C8B-B14F-4D97-AF65-F5344CB8AC3E}">
        <p14:creationId xmlns:p14="http://schemas.microsoft.com/office/powerpoint/2010/main" val="211023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8E4CF-08F9-1C06-C649-DDE03D7BC8D6}"/>
              </a:ext>
            </a:extLst>
          </p:cNvPr>
          <p:cNvSpPr>
            <a:spLocks noGrp="1"/>
          </p:cNvSpPr>
          <p:nvPr>
            <p:ph type="title"/>
          </p:nvPr>
        </p:nvSpPr>
        <p:spPr/>
        <p:txBody>
          <a:bodyPr/>
          <a:lstStyle/>
          <a:p>
            <a:r>
              <a:rPr lang="en-US" dirty="0"/>
              <a:t>How we classify</a:t>
            </a:r>
          </a:p>
        </p:txBody>
      </p:sp>
      <p:sp>
        <p:nvSpPr>
          <p:cNvPr id="3" name="Content Placeholder 2">
            <a:extLst>
              <a:ext uri="{FF2B5EF4-FFF2-40B4-BE49-F238E27FC236}">
                <a16:creationId xmlns:a16="http://schemas.microsoft.com/office/drawing/2014/main" id="{D27A494F-F59F-89F1-8EBA-708BCE59E68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36CF1D45-EDB2-630A-12A4-0123910052A5}"/>
              </a:ext>
            </a:extLst>
          </p:cNvPr>
          <p:cNvSpPr>
            <a:spLocks noGrp="1"/>
          </p:cNvSpPr>
          <p:nvPr>
            <p:ph type="sldNum" sz="quarter" idx="12"/>
          </p:nvPr>
        </p:nvSpPr>
        <p:spPr/>
        <p:txBody>
          <a:bodyPr/>
          <a:lstStyle/>
          <a:p>
            <a:fld id="{80DD8C35-F8B3-4049-95AF-A34E38FBBA50}" type="slidenum">
              <a:rPr lang="en-US" smtClean="0"/>
              <a:pPr/>
              <a:t>10</a:t>
            </a:fld>
            <a:endParaRPr lang="en-US" dirty="0"/>
          </a:p>
        </p:txBody>
      </p:sp>
    </p:spTree>
    <p:extLst>
      <p:ext uri="{BB962C8B-B14F-4D97-AF65-F5344CB8AC3E}">
        <p14:creationId xmlns:p14="http://schemas.microsoft.com/office/powerpoint/2010/main" val="2876456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6F5F4-9660-9C67-A4F8-600F62B661F8}"/>
              </a:ext>
            </a:extLst>
          </p:cNvPr>
          <p:cNvSpPr>
            <a:spLocks noGrp="1"/>
          </p:cNvSpPr>
          <p:nvPr>
            <p:ph type="title"/>
          </p:nvPr>
        </p:nvSpPr>
        <p:spPr/>
        <p:txBody>
          <a:bodyPr/>
          <a:lstStyle/>
          <a:p>
            <a:r>
              <a:rPr lang="en-US" dirty="0"/>
              <a:t>How we define terms</a:t>
            </a:r>
          </a:p>
        </p:txBody>
      </p:sp>
      <p:sp>
        <p:nvSpPr>
          <p:cNvPr id="3" name="Content Placeholder 2">
            <a:extLst>
              <a:ext uri="{FF2B5EF4-FFF2-40B4-BE49-F238E27FC236}">
                <a16:creationId xmlns:a16="http://schemas.microsoft.com/office/drawing/2014/main" id="{311CD424-2FB6-C7DB-9DEA-53DD7D5B561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1B483012-35E0-ED84-8E96-C762C45A4888}"/>
              </a:ext>
            </a:extLst>
          </p:cNvPr>
          <p:cNvSpPr>
            <a:spLocks noGrp="1"/>
          </p:cNvSpPr>
          <p:nvPr>
            <p:ph type="sldNum" sz="quarter" idx="12"/>
          </p:nvPr>
        </p:nvSpPr>
        <p:spPr/>
        <p:txBody>
          <a:bodyPr/>
          <a:lstStyle/>
          <a:p>
            <a:fld id="{80DD8C35-F8B3-4049-95AF-A34E38FBBA50}" type="slidenum">
              <a:rPr lang="en-US" smtClean="0"/>
              <a:pPr/>
              <a:t>11</a:t>
            </a:fld>
            <a:endParaRPr lang="en-US" dirty="0"/>
          </a:p>
        </p:txBody>
      </p:sp>
    </p:spTree>
    <p:extLst>
      <p:ext uri="{BB962C8B-B14F-4D97-AF65-F5344CB8AC3E}">
        <p14:creationId xmlns:p14="http://schemas.microsoft.com/office/powerpoint/2010/main" val="1535933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F7BA0-6789-1E6A-1BEF-A1F7A0EFCEFF}"/>
              </a:ext>
            </a:extLst>
          </p:cNvPr>
          <p:cNvSpPr>
            <a:spLocks noGrp="1"/>
          </p:cNvSpPr>
          <p:nvPr>
            <p:ph type="title"/>
          </p:nvPr>
        </p:nvSpPr>
        <p:spPr/>
        <p:txBody>
          <a:bodyPr/>
          <a:lstStyle/>
          <a:p>
            <a:r>
              <a:rPr lang="en-US" dirty="0"/>
              <a:t>Survey Instrument: Sexual Orientation</a:t>
            </a:r>
          </a:p>
        </p:txBody>
      </p:sp>
      <p:sp>
        <p:nvSpPr>
          <p:cNvPr id="3" name="Content Placeholder 2">
            <a:extLst>
              <a:ext uri="{FF2B5EF4-FFF2-40B4-BE49-F238E27FC236}">
                <a16:creationId xmlns:a16="http://schemas.microsoft.com/office/drawing/2014/main" id="{434E0227-D8EC-5626-FC66-F166C601219B}"/>
              </a:ext>
            </a:extLst>
          </p:cNvPr>
          <p:cNvSpPr>
            <a:spLocks noGrp="1"/>
          </p:cNvSpPr>
          <p:nvPr>
            <p:ph idx="1"/>
          </p:nvPr>
        </p:nvSpPr>
        <p:spPr/>
        <p:txBody>
          <a:bodyPr/>
          <a:lstStyle/>
          <a:p>
            <a:r>
              <a:rPr lang="en-US" sz="2400" dirty="0">
                <a:solidFill>
                  <a:schemeClr val="dk1"/>
                </a:solidFill>
              </a:rPr>
              <a:t>Adapted from recommendations by the Williams Institute to allow for a broader range of expressions</a:t>
            </a:r>
          </a:p>
          <a:p>
            <a:endParaRPr lang="en-US" dirty="0"/>
          </a:p>
        </p:txBody>
      </p:sp>
      <p:sp>
        <p:nvSpPr>
          <p:cNvPr id="4" name="Slide Number Placeholder 3">
            <a:extLst>
              <a:ext uri="{FF2B5EF4-FFF2-40B4-BE49-F238E27FC236}">
                <a16:creationId xmlns:a16="http://schemas.microsoft.com/office/drawing/2014/main" id="{EAF3D81F-3217-7933-44B5-41C244915F41}"/>
              </a:ext>
            </a:extLst>
          </p:cNvPr>
          <p:cNvSpPr>
            <a:spLocks noGrp="1"/>
          </p:cNvSpPr>
          <p:nvPr>
            <p:ph type="sldNum" sz="quarter" idx="12"/>
          </p:nvPr>
        </p:nvSpPr>
        <p:spPr/>
        <p:txBody>
          <a:bodyPr/>
          <a:lstStyle/>
          <a:p>
            <a:fld id="{80DD8C35-F8B3-4049-95AF-A34E38FBBA50}" type="slidenum">
              <a:rPr lang="en-US" smtClean="0"/>
              <a:pPr/>
              <a:t>12</a:t>
            </a:fld>
            <a:endParaRPr lang="en-US" dirty="0"/>
          </a:p>
        </p:txBody>
      </p:sp>
      <p:pic>
        <p:nvPicPr>
          <p:cNvPr id="5" name="Google Shape;120;p23">
            <a:extLst>
              <a:ext uri="{FF2B5EF4-FFF2-40B4-BE49-F238E27FC236}">
                <a16:creationId xmlns:a16="http://schemas.microsoft.com/office/drawing/2014/main" id="{FD87EA75-8CDB-2680-4282-F04B6350B1A7}"/>
              </a:ext>
            </a:extLst>
          </p:cNvPr>
          <p:cNvPicPr preferRelativeResize="0"/>
          <p:nvPr/>
        </p:nvPicPr>
        <p:blipFill>
          <a:blip r:embed="rId2">
            <a:alphaModFix/>
          </a:blip>
          <a:stretch>
            <a:fillRect/>
          </a:stretch>
        </p:blipFill>
        <p:spPr>
          <a:xfrm>
            <a:off x="838200" y="2514600"/>
            <a:ext cx="5910088" cy="3834275"/>
          </a:xfrm>
          <a:prstGeom prst="rect">
            <a:avLst/>
          </a:prstGeom>
          <a:noFill/>
          <a:ln>
            <a:noFill/>
          </a:ln>
        </p:spPr>
      </p:pic>
    </p:spTree>
    <p:extLst>
      <p:ext uri="{BB962C8B-B14F-4D97-AF65-F5344CB8AC3E}">
        <p14:creationId xmlns:p14="http://schemas.microsoft.com/office/powerpoint/2010/main" val="2033512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9A100-D13A-1167-29AF-813D6C3A94A8}"/>
              </a:ext>
            </a:extLst>
          </p:cNvPr>
          <p:cNvSpPr>
            <a:spLocks noGrp="1"/>
          </p:cNvSpPr>
          <p:nvPr>
            <p:ph type="title"/>
          </p:nvPr>
        </p:nvSpPr>
        <p:spPr/>
        <p:txBody>
          <a:bodyPr>
            <a:normAutofit fontScale="90000"/>
          </a:bodyPr>
          <a:lstStyle/>
          <a:p>
            <a:r>
              <a:rPr lang="en-US" dirty="0"/>
              <a:t>Students’ Self Descriptions of Gender and Sexual Orientation</a:t>
            </a:r>
          </a:p>
        </p:txBody>
      </p:sp>
      <p:sp>
        <p:nvSpPr>
          <p:cNvPr id="4" name="Slide Number Placeholder 3">
            <a:extLst>
              <a:ext uri="{FF2B5EF4-FFF2-40B4-BE49-F238E27FC236}">
                <a16:creationId xmlns:a16="http://schemas.microsoft.com/office/drawing/2014/main" id="{B9097EBF-B75E-79FD-F33D-3B1F69BB851E}"/>
              </a:ext>
            </a:extLst>
          </p:cNvPr>
          <p:cNvSpPr>
            <a:spLocks noGrp="1"/>
          </p:cNvSpPr>
          <p:nvPr>
            <p:ph type="sldNum" sz="quarter" idx="12"/>
          </p:nvPr>
        </p:nvSpPr>
        <p:spPr/>
        <p:txBody>
          <a:bodyPr/>
          <a:lstStyle/>
          <a:p>
            <a:fld id="{80DD8C35-F8B3-4049-95AF-A34E38FBBA50}" type="slidenum">
              <a:rPr lang="en-US" smtClean="0"/>
              <a:pPr/>
              <a:t>13</a:t>
            </a:fld>
            <a:endParaRPr lang="en-US" dirty="0"/>
          </a:p>
        </p:txBody>
      </p:sp>
      <p:pic>
        <p:nvPicPr>
          <p:cNvPr id="5" name="Google Shape;127;p24">
            <a:extLst>
              <a:ext uri="{FF2B5EF4-FFF2-40B4-BE49-F238E27FC236}">
                <a16:creationId xmlns:a16="http://schemas.microsoft.com/office/drawing/2014/main" id="{25508AE5-252D-E95B-C353-3D5A19F5BF37}"/>
              </a:ext>
            </a:extLst>
          </p:cNvPr>
          <p:cNvPicPr preferRelativeResize="0"/>
          <p:nvPr/>
        </p:nvPicPr>
        <p:blipFill rotWithShape="1">
          <a:blip r:embed="rId3">
            <a:alphaModFix/>
          </a:blip>
          <a:srcRect r="5767"/>
          <a:stretch/>
        </p:blipFill>
        <p:spPr>
          <a:xfrm>
            <a:off x="4847492" y="1892885"/>
            <a:ext cx="4296508" cy="4010089"/>
          </a:xfrm>
          <a:prstGeom prst="rect">
            <a:avLst/>
          </a:prstGeom>
          <a:noFill/>
          <a:ln>
            <a:noFill/>
          </a:ln>
        </p:spPr>
      </p:pic>
      <p:pic>
        <p:nvPicPr>
          <p:cNvPr id="6" name="Google Shape;128;p24">
            <a:extLst>
              <a:ext uri="{FF2B5EF4-FFF2-40B4-BE49-F238E27FC236}">
                <a16:creationId xmlns:a16="http://schemas.microsoft.com/office/drawing/2014/main" id="{C01B7BE5-3C65-E041-B980-12C4AD2AC3C1}"/>
              </a:ext>
            </a:extLst>
          </p:cNvPr>
          <p:cNvPicPr preferRelativeResize="0"/>
          <p:nvPr/>
        </p:nvPicPr>
        <p:blipFill>
          <a:blip r:embed="rId4">
            <a:alphaModFix/>
          </a:blip>
          <a:stretch>
            <a:fillRect/>
          </a:stretch>
        </p:blipFill>
        <p:spPr>
          <a:xfrm>
            <a:off x="486508" y="2035125"/>
            <a:ext cx="4191000" cy="3911615"/>
          </a:xfrm>
          <a:prstGeom prst="rect">
            <a:avLst/>
          </a:prstGeom>
          <a:noFill/>
          <a:ln>
            <a:noFill/>
          </a:ln>
        </p:spPr>
      </p:pic>
    </p:spTree>
    <p:extLst>
      <p:ext uri="{BB962C8B-B14F-4D97-AF65-F5344CB8AC3E}">
        <p14:creationId xmlns:p14="http://schemas.microsoft.com/office/powerpoint/2010/main" val="854181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1685"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1685"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204299" y="0"/>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8938508" y="0"/>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1485664" y="2971800"/>
            <a:ext cx="6248389" cy="646331"/>
          </a:xfrm>
          <a:prstGeom prst="rect">
            <a:avLst/>
          </a:prstGeom>
          <a:noFill/>
        </p:spPr>
        <p:txBody>
          <a:bodyPr wrap="square" rtlCol="0">
            <a:spAutoFit/>
          </a:bodyPr>
          <a:lstStyle/>
          <a:p>
            <a:pPr algn="ctr"/>
            <a:r>
              <a:rPr lang="en-US" sz="3600" i="1" spc="300" dirty="0">
                <a:solidFill>
                  <a:schemeClr val="bg1"/>
                </a:solidFill>
                <a:latin typeface="Calibri" panose="020F0502020204030204" pitchFamily="34" charset="0"/>
                <a:cs typeface="Calibri" panose="020F0502020204030204" pitchFamily="34" charset="0"/>
              </a:rPr>
              <a:t>High School Experience</a:t>
            </a:r>
          </a:p>
        </p:txBody>
      </p:sp>
    </p:spTree>
    <p:extLst>
      <p:ext uri="{BB962C8B-B14F-4D97-AF65-F5344CB8AC3E}">
        <p14:creationId xmlns:p14="http://schemas.microsoft.com/office/powerpoint/2010/main" val="1481700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5FA85-4D16-0D82-E713-88B2D51AA37D}"/>
              </a:ext>
            </a:extLst>
          </p:cNvPr>
          <p:cNvSpPr>
            <a:spLocks noGrp="1"/>
          </p:cNvSpPr>
          <p:nvPr>
            <p:ph type="title"/>
          </p:nvPr>
        </p:nvSpPr>
        <p:spPr>
          <a:xfrm>
            <a:off x="457200" y="76200"/>
            <a:ext cx="8229600" cy="1143000"/>
          </a:xfrm>
        </p:spPr>
        <p:txBody>
          <a:bodyPr anchor="ctr">
            <a:normAutofit/>
          </a:bodyPr>
          <a:lstStyle/>
          <a:p>
            <a:pPr>
              <a:lnSpc>
                <a:spcPct val="90000"/>
              </a:lnSpc>
            </a:pPr>
            <a:r>
              <a:rPr lang="en-US" sz="2500" dirty="0"/>
              <a:t>Result 1: Transgender students and gender diverse students are more likely to report having a Poor or Fair social experience in high school.</a:t>
            </a:r>
          </a:p>
        </p:txBody>
      </p:sp>
      <p:pic>
        <p:nvPicPr>
          <p:cNvPr id="7" name="Picture 6">
            <a:extLst>
              <a:ext uri="{FF2B5EF4-FFF2-40B4-BE49-F238E27FC236}">
                <a16:creationId xmlns:a16="http://schemas.microsoft.com/office/drawing/2014/main" id="{65856D3E-5F19-B5FE-5B28-B4F240F27F51}"/>
              </a:ext>
            </a:extLst>
          </p:cNvPr>
          <p:cNvPicPr>
            <a:picLocks noChangeAspect="1"/>
          </p:cNvPicPr>
          <p:nvPr/>
        </p:nvPicPr>
        <p:blipFill>
          <a:blip r:embed="rId2"/>
          <a:stretch>
            <a:fillRect/>
          </a:stretch>
        </p:blipFill>
        <p:spPr>
          <a:xfrm>
            <a:off x="457200" y="1621061"/>
            <a:ext cx="8229600" cy="4484240"/>
          </a:xfrm>
          <a:prstGeom prst="rect">
            <a:avLst/>
          </a:prstGeom>
          <a:noFill/>
        </p:spPr>
      </p:pic>
      <p:sp>
        <p:nvSpPr>
          <p:cNvPr id="4" name="Slide Number Placeholder 3">
            <a:extLst>
              <a:ext uri="{FF2B5EF4-FFF2-40B4-BE49-F238E27FC236}">
                <a16:creationId xmlns:a16="http://schemas.microsoft.com/office/drawing/2014/main" id="{6535B22B-7645-AE9B-7AB7-E57DE46AE916}"/>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15</a:t>
            </a:fld>
            <a:endParaRPr lang="en-US"/>
          </a:p>
        </p:txBody>
      </p:sp>
    </p:spTree>
    <p:extLst>
      <p:ext uri="{BB962C8B-B14F-4D97-AF65-F5344CB8AC3E}">
        <p14:creationId xmlns:p14="http://schemas.microsoft.com/office/powerpoint/2010/main" val="751739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A70A97B-198F-8F7F-D542-06F274B72328}"/>
              </a:ext>
            </a:extLst>
          </p:cNvPr>
          <p:cNvSpPr>
            <a:spLocks noGrp="1"/>
          </p:cNvSpPr>
          <p:nvPr>
            <p:ph type="title"/>
          </p:nvPr>
        </p:nvSpPr>
        <p:spPr>
          <a:xfrm>
            <a:off x="381000" y="97455"/>
            <a:ext cx="8382000" cy="1143000"/>
          </a:xfrm>
        </p:spPr>
        <p:txBody>
          <a:bodyPr>
            <a:noAutofit/>
          </a:bodyPr>
          <a:lstStyle/>
          <a:p>
            <a:r>
              <a:rPr lang="en-US" sz="2400" dirty="0"/>
              <a:t>Result 2: Gender and sexual minority students are less likely to report a sense of belonging in their high school community.</a:t>
            </a:r>
          </a:p>
        </p:txBody>
      </p:sp>
      <p:pic>
        <p:nvPicPr>
          <p:cNvPr id="7" name="Picture 6">
            <a:extLst>
              <a:ext uri="{FF2B5EF4-FFF2-40B4-BE49-F238E27FC236}">
                <a16:creationId xmlns:a16="http://schemas.microsoft.com/office/drawing/2014/main" id="{9D39FF1D-103D-EA6A-2FE2-ADC8FB25A845}"/>
              </a:ext>
            </a:extLst>
          </p:cNvPr>
          <p:cNvPicPr>
            <a:picLocks noChangeAspect="1"/>
          </p:cNvPicPr>
          <p:nvPr/>
        </p:nvPicPr>
        <p:blipFill>
          <a:blip r:embed="rId2"/>
          <a:stretch>
            <a:fillRect/>
          </a:stretch>
        </p:blipFill>
        <p:spPr>
          <a:xfrm>
            <a:off x="457200" y="1649463"/>
            <a:ext cx="8229600" cy="4427436"/>
          </a:xfrm>
          <a:prstGeom prst="rect">
            <a:avLst/>
          </a:prstGeom>
          <a:noFill/>
        </p:spPr>
      </p:pic>
      <p:sp>
        <p:nvSpPr>
          <p:cNvPr id="4" name="Slide Number Placeholder 3">
            <a:extLst>
              <a:ext uri="{FF2B5EF4-FFF2-40B4-BE49-F238E27FC236}">
                <a16:creationId xmlns:a16="http://schemas.microsoft.com/office/drawing/2014/main" id="{6613CB27-9F84-6489-0D66-1E3D7317F1A9}"/>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16</a:t>
            </a:fld>
            <a:endParaRPr lang="en-US"/>
          </a:p>
        </p:txBody>
      </p:sp>
    </p:spTree>
    <p:extLst>
      <p:ext uri="{BB962C8B-B14F-4D97-AF65-F5344CB8AC3E}">
        <p14:creationId xmlns:p14="http://schemas.microsoft.com/office/powerpoint/2010/main" val="1176113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83BFF-7510-B29C-647E-645EA0A800A8}"/>
              </a:ext>
            </a:extLst>
          </p:cNvPr>
          <p:cNvSpPr>
            <a:spLocks noGrp="1"/>
          </p:cNvSpPr>
          <p:nvPr>
            <p:ph type="title"/>
          </p:nvPr>
        </p:nvSpPr>
        <p:spPr>
          <a:xfrm>
            <a:off x="457200" y="76200"/>
            <a:ext cx="8229600" cy="1143000"/>
          </a:xfrm>
        </p:spPr>
        <p:txBody>
          <a:bodyPr anchor="ctr">
            <a:normAutofit/>
          </a:bodyPr>
          <a:lstStyle/>
          <a:p>
            <a:pPr>
              <a:lnSpc>
                <a:spcPct val="90000"/>
              </a:lnSpc>
            </a:pPr>
            <a:r>
              <a:rPr lang="en" sz="2500" dirty="0"/>
              <a:t>Result 3: Transgender students are the most likely to have been bullied in the last 12 months. Cisgender and straight students are the least likely to be bullied.</a:t>
            </a:r>
            <a:endParaRPr lang="en-US" sz="2500" dirty="0"/>
          </a:p>
        </p:txBody>
      </p:sp>
      <p:pic>
        <p:nvPicPr>
          <p:cNvPr id="6" name="Picture 5">
            <a:extLst>
              <a:ext uri="{FF2B5EF4-FFF2-40B4-BE49-F238E27FC236}">
                <a16:creationId xmlns:a16="http://schemas.microsoft.com/office/drawing/2014/main" id="{F78F22E0-9A20-7CD5-1A55-FDFCE032AA38}"/>
              </a:ext>
            </a:extLst>
          </p:cNvPr>
          <p:cNvPicPr>
            <a:picLocks noChangeAspect="1"/>
          </p:cNvPicPr>
          <p:nvPr/>
        </p:nvPicPr>
        <p:blipFill>
          <a:blip r:embed="rId2"/>
          <a:stretch>
            <a:fillRect/>
          </a:stretch>
        </p:blipFill>
        <p:spPr>
          <a:xfrm>
            <a:off x="457200" y="1643147"/>
            <a:ext cx="8229600" cy="4440068"/>
          </a:xfrm>
          <a:prstGeom prst="rect">
            <a:avLst/>
          </a:prstGeom>
          <a:noFill/>
        </p:spPr>
      </p:pic>
      <p:sp>
        <p:nvSpPr>
          <p:cNvPr id="4" name="Slide Number Placeholder 3">
            <a:extLst>
              <a:ext uri="{FF2B5EF4-FFF2-40B4-BE49-F238E27FC236}">
                <a16:creationId xmlns:a16="http://schemas.microsoft.com/office/drawing/2014/main" id="{708AED36-6317-78DC-59BA-35F38CEB8342}"/>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17</a:t>
            </a:fld>
            <a:endParaRPr lang="en-US"/>
          </a:p>
        </p:txBody>
      </p:sp>
    </p:spTree>
    <p:extLst>
      <p:ext uri="{BB962C8B-B14F-4D97-AF65-F5344CB8AC3E}">
        <p14:creationId xmlns:p14="http://schemas.microsoft.com/office/powerpoint/2010/main" val="69484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D2C4-F64C-4F53-20B7-5AF9134D19C8}"/>
              </a:ext>
            </a:extLst>
          </p:cNvPr>
          <p:cNvSpPr>
            <a:spLocks noGrp="1"/>
          </p:cNvSpPr>
          <p:nvPr>
            <p:ph type="title"/>
          </p:nvPr>
        </p:nvSpPr>
        <p:spPr>
          <a:xfrm>
            <a:off x="457200" y="76200"/>
            <a:ext cx="8229600" cy="1143000"/>
          </a:xfrm>
        </p:spPr>
        <p:txBody>
          <a:bodyPr anchor="ctr">
            <a:normAutofit/>
          </a:bodyPr>
          <a:lstStyle/>
          <a:p>
            <a:pPr>
              <a:lnSpc>
                <a:spcPct val="90000"/>
              </a:lnSpc>
            </a:pPr>
            <a:r>
              <a:rPr lang="en-US" sz="2500" dirty="0"/>
              <a:t>Result 4: Of the students that reported being bullied, transgender students and almost all gay/lesbian students are exclusively bullied because of gender or sexual orientation. </a:t>
            </a:r>
          </a:p>
        </p:txBody>
      </p:sp>
      <p:pic>
        <p:nvPicPr>
          <p:cNvPr id="6" name="Picture 5">
            <a:extLst>
              <a:ext uri="{FF2B5EF4-FFF2-40B4-BE49-F238E27FC236}">
                <a16:creationId xmlns:a16="http://schemas.microsoft.com/office/drawing/2014/main" id="{F1584F1F-3E3D-5620-C67F-E80E80B3233A}"/>
              </a:ext>
            </a:extLst>
          </p:cNvPr>
          <p:cNvPicPr>
            <a:picLocks noChangeAspect="1"/>
          </p:cNvPicPr>
          <p:nvPr/>
        </p:nvPicPr>
        <p:blipFill>
          <a:blip r:embed="rId2"/>
          <a:stretch>
            <a:fillRect/>
          </a:stretch>
        </p:blipFill>
        <p:spPr>
          <a:xfrm>
            <a:off x="457200" y="1643147"/>
            <a:ext cx="8229600" cy="4440068"/>
          </a:xfrm>
          <a:prstGeom prst="rect">
            <a:avLst/>
          </a:prstGeom>
          <a:noFill/>
        </p:spPr>
      </p:pic>
      <p:sp>
        <p:nvSpPr>
          <p:cNvPr id="4" name="Slide Number Placeholder 3">
            <a:extLst>
              <a:ext uri="{FF2B5EF4-FFF2-40B4-BE49-F238E27FC236}">
                <a16:creationId xmlns:a16="http://schemas.microsoft.com/office/drawing/2014/main" id="{DC9146AD-0370-80A3-2C14-82949BB4B6D8}"/>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18</a:t>
            </a:fld>
            <a:endParaRPr lang="en-US"/>
          </a:p>
        </p:txBody>
      </p:sp>
    </p:spTree>
    <p:extLst>
      <p:ext uri="{BB962C8B-B14F-4D97-AF65-F5344CB8AC3E}">
        <p14:creationId xmlns:p14="http://schemas.microsoft.com/office/powerpoint/2010/main" val="1956644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1685"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1685"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204299" y="0"/>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8938508" y="0"/>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1485664" y="2971800"/>
            <a:ext cx="62483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College Plans</a:t>
            </a:r>
          </a:p>
        </p:txBody>
      </p:sp>
    </p:spTree>
    <p:extLst>
      <p:ext uri="{BB962C8B-B14F-4D97-AF65-F5344CB8AC3E}">
        <p14:creationId xmlns:p14="http://schemas.microsoft.com/office/powerpoint/2010/main" val="2183988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27C2A-5E4D-6150-B905-9991A8D54A3A}"/>
              </a:ext>
            </a:extLst>
          </p:cNvPr>
          <p:cNvSpPr>
            <a:spLocks noGrp="1"/>
          </p:cNvSpPr>
          <p:nvPr>
            <p:ph type="title"/>
          </p:nvPr>
        </p:nvSpPr>
        <p:spPr>
          <a:xfrm>
            <a:off x="457200" y="76200"/>
            <a:ext cx="8229600" cy="1143000"/>
          </a:xfrm>
        </p:spPr>
        <p:txBody>
          <a:bodyPr anchor="ctr">
            <a:normAutofit/>
          </a:bodyPr>
          <a:lstStyle/>
          <a:p>
            <a:r>
              <a:rPr lang="en-US" dirty="0"/>
              <a:t>Highest Degree Aspirations:</a:t>
            </a:r>
          </a:p>
        </p:txBody>
      </p:sp>
      <p:pic>
        <p:nvPicPr>
          <p:cNvPr id="6" name="Picture 5">
            <a:extLst>
              <a:ext uri="{FF2B5EF4-FFF2-40B4-BE49-F238E27FC236}">
                <a16:creationId xmlns:a16="http://schemas.microsoft.com/office/drawing/2014/main" id="{E77053EB-14C9-770A-133E-3D520B11A67D}"/>
              </a:ext>
            </a:extLst>
          </p:cNvPr>
          <p:cNvPicPr>
            <a:picLocks noChangeAspect="1"/>
          </p:cNvPicPr>
          <p:nvPr/>
        </p:nvPicPr>
        <p:blipFill>
          <a:blip r:embed="rId2"/>
          <a:stretch>
            <a:fillRect/>
          </a:stretch>
        </p:blipFill>
        <p:spPr>
          <a:xfrm>
            <a:off x="457200" y="1624478"/>
            <a:ext cx="8229600" cy="4477406"/>
          </a:xfrm>
          <a:prstGeom prst="rect">
            <a:avLst/>
          </a:prstGeom>
          <a:noFill/>
        </p:spPr>
      </p:pic>
      <p:sp>
        <p:nvSpPr>
          <p:cNvPr id="4" name="Slide Number Placeholder 3">
            <a:extLst>
              <a:ext uri="{FF2B5EF4-FFF2-40B4-BE49-F238E27FC236}">
                <a16:creationId xmlns:a16="http://schemas.microsoft.com/office/drawing/2014/main" id="{78A668A1-5984-CFDB-FD9A-4C1E106059B8}"/>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20</a:t>
            </a:fld>
            <a:endParaRPr lang="en-US"/>
          </a:p>
        </p:txBody>
      </p:sp>
    </p:spTree>
    <p:extLst>
      <p:ext uri="{BB962C8B-B14F-4D97-AF65-F5344CB8AC3E}">
        <p14:creationId xmlns:p14="http://schemas.microsoft.com/office/powerpoint/2010/main" val="1958389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DCBFE-8702-BF97-EDC3-7F3DEB822C24}"/>
              </a:ext>
            </a:extLst>
          </p:cNvPr>
          <p:cNvSpPr>
            <a:spLocks noGrp="1"/>
          </p:cNvSpPr>
          <p:nvPr>
            <p:ph type="title"/>
          </p:nvPr>
        </p:nvSpPr>
        <p:spPr>
          <a:xfrm>
            <a:off x="457200" y="76200"/>
            <a:ext cx="8229600" cy="1143000"/>
          </a:xfrm>
        </p:spPr>
        <p:txBody>
          <a:bodyPr anchor="ctr">
            <a:normAutofit/>
          </a:bodyPr>
          <a:lstStyle/>
          <a:p>
            <a:pPr>
              <a:lnSpc>
                <a:spcPct val="90000"/>
              </a:lnSpc>
            </a:pPr>
            <a:r>
              <a:rPr lang="en-US" sz="2500" dirty="0"/>
              <a:t>College Major: There is a significant gender gap in plans to pursue engineering. More trans and gender diverse students plan to major in humanities and arts than any other group.</a:t>
            </a:r>
          </a:p>
        </p:txBody>
      </p:sp>
      <p:pic>
        <p:nvPicPr>
          <p:cNvPr id="7" name="Picture 6">
            <a:extLst>
              <a:ext uri="{FF2B5EF4-FFF2-40B4-BE49-F238E27FC236}">
                <a16:creationId xmlns:a16="http://schemas.microsoft.com/office/drawing/2014/main" id="{4087811F-9EAE-0667-38DD-22DDF1685E55}"/>
              </a:ext>
            </a:extLst>
          </p:cNvPr>
          <p:cNvPicPr>
            <a:picLocks noChangeAspect="1"/>
          </p:cNvPicPr>
          <p:nvPr/>
        </p:nvPicPr>
        <p:blipFill>
          <a:blip r:embed="rId3"/>
          <a:stretch>
            <a:fillRect/>
          </a:stretch>
        </p:blipFill>
        <p:spPr>
          <a:xfrm>
            <a:off x="0" y="2005950"/>
            <a:ext cx="9061734" cy="4090050"/>
          </a:xfrm>
          <a:prstGeom prst="rect">
            <a:avLst/>
          </a:prstGeom>
          <a:noFill/>
        </p:spPr>
      </p:pic>
      <p:sp>
        <p:nvSpPr>
          <p:cNvPr id="4" name="Slide Number Placeholder 3">
            <a:extLst>
              <a:ext uri="{FF2B5EF4-FFF2-40B4-BE49-F238E27FC236}">
                <a16:creationId xmlns:a16="http://schemas.microsoft.com/office/drawing/2014/main" id="{B7193AD5-AC5F-1865-7A67-CD31184ED31C}"/>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21</a:t>
            </a:fld>
            <a:endParaRPr lang="en-US"/>
          </a:p>
        </p:txBody>
      </p:sp>
    </p:spTree>
    <p:extLst>
      <p:ext uri="{BB962C8B-B14F-4D97-AF65-F5344CB8AC3E}">
        <p14:creationId xmlns:p14="http://schemas.microsoft.com/office/powerpoint/2010/main" val="712603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1685"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1685"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204299" y="0"/>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8938508" y="0"/>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1485664" y="2971800"/>
            <a:ext cx="62483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Worries About College</a:t>
            </a:r>
          </a:p>
        </p:txBody>
      </p:sp>
    </p:spTree>
    <p:extLst>
      <p:ext uri="{BB962C8B-B14F-4D97-AF65-F5344CB8AC3E}">
        <p14:creationId xmlns:p14="http://schemas.microsoft.com/office/powerpoint/2010/main" val="2725347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8BB9A-AAA1-6C49-9A2A-9CCB86A1ACAF}"/>
              </a:ext>
            </a:extLst>
          </p:cNvPr>
          <p:cNvSpPr>
            <a:spLocks noGrp="1"/>
          </p:cNvSpPr>
          <p:nvPr>
            <p:ph type="title"/>
          </p:nvPr>
        </p:nvSpPr>
        <p:spPr>
          <a:xfrm>
            <a:off x="210789" y="121839"/>
            <a:ext cx="8534400" cy="1143000"/>
          </a:xfrm>
        </p:spPr>
        <p:txBody>
          <a:bodyPr anchor="ctr">
            <a:noAutofit/>
          </a:bodyPr>
          <a:lstStyle/>
          <a:p>
            <a:r>
              <a:rPr lang="en-US" sz="2400" dirty="0"/>
              <a:t>Result 7: Transgender and gender diverse students report highest levels of worry about discrimination based on gender. </a:t>
            </a:r>
          </a:p>
        </p:txBody>
      </p:sp>
      <p:pic>
        <p:nvPicPr>
          <p:cNvPr id="7" name="Picture 6">
            <a:extLst>
              <a:ext uri="{FF2B5EF4-FFF2-40B4-BE49-F238E27FC236}">
                <a16:creationId xmlns:a16="http://schemas.microsoft.com/office/drawing/2014/main" id="{9E7A9668-246C-22FC-473B-15AD2F9E9FE2}"/>
              </a:ext>
            </a:extLst>
          </p:cNvPr>
          <p:cNvPicPr>
            <a:picLocks noChangeAspect="1"/>
          </p:cNvPicPr>
          <p:nvPr/>
        </p:nvPicPr>
        <p:blipFill>
          <a:blip r:embed="rId2"/>
          <a:stretch>
            <a:fillRect/>
          </a:stretch>
        </p:blipFill>
        <p:spPr>
          <a:xfrm>
            <a:off x="457200" y="1639735"/>
            <a:ext cx="8229600" cy="4446893"/>
          </a:xfrm>
          <a:prstGeom prst="rect">
            <a:avLst/>
          </a:prstGeom>
          <a:noFill/>
        </p:spPr>
      </p:pic>
      <p:sp>
        <p:nvSpPr>
          <p:cNvPr id="4" name="Slide Number Placeholder 3">
            <a:extLst>
              <a:ext uri="{FF2B5EF4-FFF2-40B4-BE49-F238E27FC236}">
                <a16:creationId xmlns:a16="http://schemas.microsoft.com/office/drawing/2014/main" id="{55F3480C-4A0D-768A-264C-B6C4F87A358A}"/>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23</a:t>
            </a:fld>
            <a:endParaRPr lang="en-US"/>
          </a:p>
        </p:txBody>
      </p:sp>
    </p:spTree>
    <p:extLst>
      <p:ext uri="{BB962C8B-B14F-4D97-AF65-F5344CB8AC3E}">
        <p14:creationId xmlns:p14="http://schemas.microsoft.com/office/powerpoint/2010/main" val="1576446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F0CA-B02F-0B45-2972-D96604BE64EC}"/>
              </a:ext>
            </a:extLst>
          </p:cNvPr>
          <p:cNvSpPr>
            <a:spLocks noGrp="1"/>
          </p:cNvSpPr>
          <p:nvPr>
            <p:ph type="title"/>
          </p:nvPr>
        </p:nvSpPr>
        <p:spPr>
          <a:xfrm>
            <a:off x="457200" y="76200"/>
            <a:ext cx="8229600" cy="1143000"/>
          </a:xfrm>
        </p:spPr>
        <p:txBody>
          <a:bodyPr anchor="ctr">
            <a:noAutofit/>
          </a:bodyPr>
          <a:lstStyle/>
          <a:p>
            <a:r>
              <a:rPr lang="en-US" sz="2800" dirty="0"/>
              <a:t>Result 8: Gay and lesbian students report higher levels of worry about discrimination on sexual orientation.</a:t>
            </a:r>
          </a:p>
        </p:txBody>
      </p:sp>
      <p:pic>
        <p:nvPicPr>
          <p:cNvPr id="7" name="Picture 6">
            <a:extLst>
              <a:ext uri="{FF2B5EF4-FFF2-40B4-BE49-F238E27FC236}">
                <a16:creationId xmlns:a16="http://schemas.microsoft.com/office/drawing/2014/main" id="{7EACA165-1D9B-3EC4-D873-BB0C961DB29E}"/>
              </a:ext>
            </a:extLst>
          </p:cNvPr>
          <p:cNvPicPr>
            <a:picLocks noChangeAspect="1"/>
          </p:cNvPicPr>
          <p:nvPr/>
        </p:nvPicPr>
        <p:blipFill>
          <a:blip r:embed="rId2"/>
          <a:stretch>
            <a:fillRect/>
          </a:stretch>
        </p:blipFill>
        <p:spPr>
          <a:xfrm>
            <a:off x="457200" y="1646060"/>
            <a:ext cx="8229600" cy="4434242"/>
          </a:xfrm>
          <a:prstGeom prst="rect">
            <a:avLst/>
          </a:prstGeom>
          <a:noFill/>
        </p:spPr>
      </p:pic>
      <p:sp>
        <p:nvSpPr>
          <p:cNvPr id="4" name="Slide Number Placeholder 3">
            <a:extLst>
              <a:ext uri="{FF2B5EF4-FFF2-40B4-BE49-F238E27FC236}">
                <a16:creationId xmlns:a16="http://schemas.microsoft.com/office/drawing/2014/main" id="{7A39D37F-3D9C-01B8-1AD6-2E1FA217C54E}"/>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24</a:t>
            </a:fld>
            <a:endParaRPr lang="en-US"/>
          </a:p>
        </p:txBody>
      </p:sp>
    </p:spTree>
    <p:extLst>
      <p:ext uri="{BB962C8B-B14F-4D97-AF65-F5344CB8AC3E}">
        <p14:creationId xmlns:p14="http://schemas.microsoft.com/office/powerpoint/2010/main" val="4050266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BC8FC1D-F6CB-C476-BE36-BCDE7874A59C}"/>
              </a:ext>
            </a:extLst>
          </p:cNvPr>
          <p:cNvSpPr>
            <a:spLocks noGrp="1"/>
          </p:cNvSpPr>
          <p:nvPr>
            <p:ph type="title"/>
          </p:nvPr>
        </p:nvSpPr>
        <p:spPr>
          <a:xfrm>
            <a:off x="457200" y="76200"/>
            <a:ext cx="8229600" cy="1143000"/>
          </a:xfrm>
        </p:spPr>
        <p:txBody>
          <a:bodyPr>
            <a:noAutofit/>
          </a:bodyPr>
          <a:lstStyle/>
          <a:p>
            <a:r>
              <a:rPr lang="en-US" sz="3200" dirty="0"/>
              <a:t>Result 9: Cisgender and heterosexual students are the least worried about finding community.</a:t>
            </a:r>
          </a:p>
        </p:txBody>
      </p:sp>
      <p:pic>
        <p:nvPicPr>
          <p:cNvPr id="7" name="Picture 6">
            <a:extLst>
              <a:ext uri="{FF2B5EF4-FFF2-40B4-BE49-F238E27FC236}">
                <a16:creationId xmlns:a16="http://schemas.microsoft.com/office/drawing/2014/main" id="{FA402CA9-3F61-6380-B71D-E36E368CAE30}"/>
              </a:ext>
            </a:extLst>
          </p:cNvPr>
          <p:cNvPicPr>
            <a:picLocks noChangeAspect="1"/>
          </p:cNvPicPr>
          <p:nvPr/>
        </p:nvPicPr>
        <p:blipFill>
          <a:blip r:embed="rId2"/>
          <a:stretch>
            <a:fillRect/>
          </a:stretch>
        </p:blipFill>
        <p:spPr>
          <a:xfrm>
            <a:off x="457200" y="1646060"/>
            <a:ext cx="8229600" cy="4434242"/>
          </a:xfrm>
          <a:prstGeom prst="rect">
            <a:avLst/>
          </a:prstGeom>
          <a:noFill/>
        </p:spPr>
      </p:pic>
      <p:sp>
        <p:nvSpPr>
          <p:cNvPr id="4" name="Slide Number Placeholder 3">
            <a:extLst>
              <a:ext uri="{FF2B5EF4-FFF2-40B4-BE49-F238E27FC236}">
                <a16:creationId xmlns:a16="http://schemas.microsoft.com/office/drawing/2014/main" id="{E5E81443-BDE9-8673-A315-522C739E0690}"/>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25</a:t>
            </a:fld>
            <a:endParaRPr lang="en-US"/>
          </a:p>
        </p:txBody>
      </p:sp>
    </p:spTree>
    <p:extLst>
      <p:ext uri="{BB962C8B-B14F-4D97-AF65-F5344CB8AC3E}">
        <p14:creationId xmlns:p14="http://schemas.microsoft.com/office/powerpoint/2010/main" val="278912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01D6DF0-0A08-3115-96F9-67822E951D47}"/>
              </a:ext>
            </a:extLst>
          </p:cNvPr>
          <p:cNvSpPr>
            <a:spLocks noGrp="1"/>
          </p:cNvSpPr>
          <p:nvPr>
            <p:ph type="title"/>
          </p:nvPr>
        </p:nvSpPr>
        <p:spPr>
          <a:xfrm>
            <a:off x="152400" y="76200"/>
            <a:ext cx="8534400" cy="1143000"/>
          </a:xfrm>
        </p:spPr>
        <p:txBody>
          <a:bodyPr>
            <a:noAutofit/>
          </a:bodyPr>
          <a:lstStyle/>
          <a:p>
            <a:r>
              <a:rPr lang="en-US" sz="2400" dirty="0"/>
              <a:t>Result 10: Sexual and gender minority students are more worried about finding adequate emotional and mental health support.</a:t>
            </a:r>
          </a:p>
        </p:txBody>
      </p:sp>
      <p:pic>
        <p:nvPicPr>
          <p:cNvPr id="6" name="Picture 5">
            <a:extLst>
              <a:ext uri="{FF2B5EF4-FFF2-40B4-BE49-F238E27FC236}">
                <a16:creationId xmlns:a16="http://schemas.microsoft.com/office/drawing/2014/main" id="{114F737F-C899-CD25-F7FE-C4CD868BAEBF}"/>
              </a:ext>
            </a:extLst>
          </p:cNvPr>
          <p:cNvPicPr>
            <a:picLocks noChangeAspect="1"/>
          </p:cNvPicPr>
          <p:nvPr/>
        </p:nvPicPr>
        <p:blipFill>
          <a:blip r:embed="rId2"/>
          <a:stretch>
            <a:fillRect/>
          </a:stretch>
        </p:blipFill>
        <p:spPr>
          <a:xfrm>
            <a:off x="457200" y="1646060"/>
            <a:ext cx="8229600" cy="4434242"/>
          </a:xfrm>
          <a:prstGeom prst="rect">
            <a:avLst/>
          </a:prstGeom>
          <a:noFill/>
        </p:spPr>
      </p:pic>
      <p:sp>
        <p:nvSpPr>
          <p:cNvPr id="4" name="Slide Number Placeholder 3">
            <a:extLst>
              <a:ext uri="{FF2B5EF4-FFF2-40B4-BE49-F238E27FC236}">
                <a16:creationId xmlns:a16="http://schemas.microsoft.com/office/drawing/2014/main" id="{67E2E169-26EE-2BCE-EDDA-BDE3E703EF1E}"/>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26</a:t>
            </a:fld>
            <a:endParaRPr lang="en-US"/>
          </a:p>
        </p:txBody>
      </p:sp>
    </p:spTree>
    <p:extLst>
      <p:ext uri="{BB962C8B-B14F-4D97-AF65-F5344CB8AC3E}">
        <p14:creationId xmlns:p14="http://schemas.microsoft.com/office/powerpoint/2010/main" val="40260644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1685"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1685"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204299" y="0"/>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8938508" y="0"/>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1485664" y="2971800"/>
            <a:ext cx="6248389"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Student Voices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i="1" spc="300" dirty="0">
                <a:solidFill>
                  <a:prstClr val="white"/>
                </a:solidFill>
                <a:latin typeface="Calibri" panose="020F0502020204030204" pitchFamily="34" charset="0"/>
                <a:cs typeface="Calibri" panose="020F0502020204030204" pitchFamily="34" charset="0"/>
              </a:rPr>
              <a:t>CW: Suicide</a:t>
            </a:r>
            <a:endParaRPr kumimoji="0" lang="en-US"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3855987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9CD0-33FC-DDF6-ECCB-868AE2A0CC84}"/>
              </a:ext>
            </a:extLst>
          </p:cNvPr>
          <p:cNvSpPr>
            <a:spLocks noGrp="1"/>
          </p:cNvSpPr>
          <p:nvPr>
            <p:ph type="title"/>
          </p:nvPr>
        </p:nvSpPr>
        <p:spPr/>
        <p:txBody>
          <a:bodyPr>
            <a:normAutofit fontScale="90000"/>
          </a:bodyPr>
          <a:lstStyle/>
          <a:p>
            <a:r>
              <a:rPr lang="en-US" dirty="0"/>
              <a:t>Student Voices: What do you think is the biggest challenge you’ll face in college?</a:t>
            </a:r>
          </a:p>
        </p:txBody>
      </p:sp>
      <p:sp>
        <p:nvSpPr>
          <p:cNvPr id="3" name="Content Placeholder 2">
            <a:extLst>
              <a:ext uri="{FF2B5EF4-FFF2-40B4-BE49-F238E27FC236}">
                <a16:creationId xmlns:a16="http://schemas.microsoft.com/office/drawing/2014/main" id="{A539B00E-0177-8C7A-4050-EDEDB31DB1B5}"/>
              </a:ext>
            </a:extLst>
          </p:cNvPr>
          <p:cNvSpPr>
            <a:spLocks noGrp="1"/>
          </p:cNvSpPr>
          <p:nvPr>
            <p:ph idx="1"/>
          </p:nvPr>
        </p:nvSpPr>
        <p:spPr/>
        <p:txBody>
          <a:bodyPr>
            <a:normAutofit fontScale="62500" lnSpcReduction="20000"/>
          </a:bodyPr>
          <a:lstStyle/>
          <a:p>
            <a:pPr marL="0" indent="0">
              <a:buNone/>
            </a:pPr>
            <a:r>
              <a:rPr lang="en-US" dirty="0"/>
              <a:t>“TRANSPHOBIA”</a:t>
            </a:r>
          </a:p>
          <a:p>
            <a:pPr marL="0" indent="0">
              <a:buNone/>
            </a:pPr>
            <a:r>
              <a:rPr lang="en-US" dirty="0"/>
              <a:t> </a:t>
            </a:r>
          </a:p>
          <a:p>
            <a:pPr marL="0" indent="0">
              <a:buNone/>
            </a:pPr>
            <a:r>
              <a:rPr lang="en-US" dirty="0"/>
              <a:t>“POLITICAL AND SOCIAL CONFLICTS. I COULD DIE FROM HATE CRIMES, BUT IT'S MORE LIKELY THAT I END UP KILLING MYSELF. I STRUGGLE A LOT WITH BEING TRANS AND IF NOT ABLE TO TRANSITION IN COLLEGE, I'M GOING TO GIVE UP ON EVERYTHING. THE POLITICAL CLIMATE IN TAIWAN COULD REACH A TIPPING POINT WHILE I AM IN COLLEGE. IF THAT HAPPENS, I AM LIKELY GOING TO DROP EVERYTHING TO HELP MY FAMILY.”</a:t>
            </a:r>
          </a:p>
          <a:p>
            <a:pPr marL="0" indent="0">
              <a:buNone/>
            </a:pPr>
            <a:r>
              <a:rPr lang="en-US" dirty="0"/>
              <a:t> </a:t>
            </a:r>
          </a:p>
          <a:p>
            <a:pPr marL="0" indent="0">
              <a:buNone/>
            </a:pPr>
            <a:r>
              <a:rPr lang="en-US" dirty="0"/>
              <a:t>“LACK OF COMMUNITY DUE TO DISCRIMINATION”</a:t>
            </a:r>
          </a:p>
          <a:p>
            <a:pPr marL="0" indent="0">
              <a:buNone/>
            </a:pPr>
            <a:br>
              <a:rPr lang="en-US" dirty="0"/>
            </a:br>
            <a:r>
              <a:rPr lang="en-US" dirty="0"/>
              <a:t>“I THINK THE BIGGEST CHALLENGE WILL BE STANDING UP FOR MYSELF.”</a:t>
            </a:r>
          </a:p>
          <a:p>
            <a:pPr marL="0" indent="0">
              <a:buNone/>
            </a:pPr>
            <a:br>
              <a:rPr lang="en-US" dirty="0"/>
            </a:br>
            <a:r>
              <a:rPr lang="en-US" dirty="0"/>
              <a:t>“COMING OUT TO PEOPLE AROUND ME.”</a:t>
            </a:r>
          </a:p>
        </p:txBody>
      </p:sp>
      <p:sp>
        <p:nvSpPr>
          <p:cNvPr id="4" name="Slide Number Placeholder 3">
            <a:extLst>
              <a:ext uri="{FF2B5EF4-FFF2-40B4-BE49-F238E27FC236}">
                <a16:creationId xmlns:a16="http://schemas.microsoft.com/office/drawing/2014/main" id="{D21B305D-EC0E-45E5-AD0A-7FDAA03CCA04}"/>
              </a:ext>
            </a:extLst>
          </p:cNvPr>
          <p:cNvSpPr>
            <a:spLocks noGrp="1"/>
          </p:cNvSpPr>
          <p:nvPr>
            <p:ph type="sldNum" sz="quarter" idx="12"/>
          </p:nvPr>
        </p:nvSpPr>
        <p:spPr/>
        <p:txBody>
          <a:bodyPr/>
          <a:lstStyle/>
          <a:p>
            <a:fld id="{80DD8C35-F8B3-4049-95AF-A34E38FBBA50}" type="slidenum">
              <a:rPr lang="en-US" smtClean="0"/>
              <a:pPr/>
              <a:t>28</a:t>
            </a:fld>
            <a:endParaRPr lang="en-US" dirty="0"/>
          </a:p>
        </p:txBody>
      </p:sp>
    </p:spTree>
    <p:extLst>
      <p:ext uri="{BB962C8B-B14F-4D97-AF65-F5344CB8AC3E}">
        <p14:creationId xmlns:p14="http://schemas.microsoft.com/office/powerpoint/2010/main" val="38186171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D0450-C460-CD18-3FBE-9CDFBEE146E5}"/>
              </a:ext>
            </a:extLst>
          </p:cNvPr>
          <p:cNvSpPr>
            <a:spLocks noGrp="1"/>
          </p:cNvSpPr>
          <p:nvPr>
            <p:ph type="title"/>
          </p:nvPr>
        </p:nvSpPr>
        <p:spPr/>
        <p:txBody>
          <a:bodyPr>
            <a:normAutofit fontScale="90000"/>
          </a:bodyPr>
          <a:lstStyle/>
          <a:p>
            <a:r>
              <a:rPr lang="en-US" dirty="0"/>
              <a:t>Student Voices: What are you most excited about college?</a:t>
            </a:r>
          </a:p>
        </p:txBody>
      </p:sp>
      <p:sp>
        <p:nvSpPr>
          <p:cNvPr id="3" name="Content Placeholder 2">
            <a:extLst>
              <a:ext uri="{FF2B5EF4-FFF2-40B4-BE49-F238E27FC236}">
                <a16:creationId xmlns:a16="http://schemas.microsoft.com/office/drawing/2014/main" id="{4B68379F-85C8-E21F-AA7C-982EC658A91C}"/>
              </a:ext>
            </a:extLst>
          </p:cNvPr>
          <p:cNvSpPr>
            <a:spLocks noGrp="1"/>
          </p:cNvSpPr>
          <p:nvPr>
            <p:ph idx="1"/>
          </p:nvPr>
        </p:nvSpPr>
        <p:spPr/>
        <p:txBody>
          <a:bodyPr>
            <a:normAutofit fontScale="62500" lnSpcReduction="20000"/>
          </a:bodyPr>
          <a:lstStyle/>
          <a:p>
            <a:pPr marL="0" indent="0">
              <a:buNone/>
            </a:pPr>
            <a:r>
              <a:rPr lang="en-US" dirty="0"/>
              <a:t>“BEING ABLE TO BUILD A COMMUNITY FOR MYSELF WHERE I TRULY FEEL THAT I BELONG.”</a:t>
            </a:r>
          </a:p>
          <a:p>
            <a:pPr marL="0" indent="0">
              <a:buNone/>
            </a:pPr>
            <a:br>
              <a:rPr lang="en-US" dirty="0"/>
            </a:br>
            <a:r>
              <a:rPr lang="en-US" dirty="0"/>
              <a:t>“I'M EXCITED TO BE MYSELF. I LIVE IN A HOUSE OF FIVE. I'M THE YOUNGEST OF MY THREE SIBLINGS, MEANING I'VE HAD TO SHARE A ROOM WITH MY 23 YEAR OLD SISTER SINCE I WAS BORN. I'VE NEVER HAD PRIVACY AND I NEVER FELT LIKE I COULD BE MYSELF. TO USE BROAD TERMS, I COULD NEVER PROPERLY EXPRESS MYSELF AS A GAY, TRANS TEEN. I CAN'T WAIT TO MAKE NEW FRIENDS AND ENJOY MY NEW FOUND INDEPENDENCE.</a:t>
            </a:r>
            <a:br>
              <a:rPr lang="en-US" dirty="0"/>
            </a:br>
            <a:br>
              <a:rPr lang="en-US" dirty="0"/>
            </a:br>
            <a:r>
              <a:rPr lang="en-US" dirty="0"/>
              <a:t>“I’M [EXCITED] ABOUT MOVING FROM HOME AND WORKING TO ESTABLISH MY INDEPENDENCE.”</a:t>
            </a:r>
          </a:p>
          <a:p>
            <a:pPr marL="0" indent="0">
              <a:buNone/>
            </a:pPr>
            <a:endParaRPr lang="en-US" dirty="0"/>
          </a:p>
          <a:p>
            <a:pPr marL="0" indent="0">
              <a:buNone/>
            </a:pPr>
            <a:r>
              <a:rPr lang="en-US" dirty="0"/>
              <a:t>“GETTING OUT OF MY SMALL AREA BUBBLE AND LIVING ON MY OWN AS MY OWN PERSON.”</a:t>
            </a:r>
            <a:br>
              <a:rPr lang="en-US" dirty="0"/>
            </a:br>
            <a:br>
              <a:rPr lang="en-US" dirty="0"/>
            </a:br>
            <a:endParaRPr lang="en-US" dirty="0"/>
          </a:p>
        </p:txBody>
      </p:sp>
      <p:sp>
        <p:nvSpPr>
          <p:cNvPr id="4" name="Slide Number Placeholder 3">
            <a:extLst>
              <a:ext uri="{FF2B5EF4-FFF2-40B4-BE49-F238E27FC236}">
                <a16:creationId xmlns:a16="http://schemas.microsoft.com/office/drawing/2014/main" id="{2C17A943-E34F-893A-2828-9E1C1FE7917E}"/>
              </a:ext>
            </a:extLst>
          </p:cNvPr>
          <p:cNvSpPr>
            <a:spLocks noGrp="1"/>
          </p:cNvSpPr>
          <p:nvPr>
            <p:ph type="sldNum" sz="quarter" idx="12"/>
          </p:nvPr>
        </p:nvSpPr>
        <p:spPr/>
        <p:txBody>
          <a:bodyPr/>
          <a:lstStyle/>
          <a:p>
            <a:fld id="{80DD8C35-F8B3-4049-95AF-A34E38FBBA50}" type="slidenum">
              <a:rPr lang="en-US" smtClean="0"/>
              <a:pPr/>
              <a:t>29</a:t>
            </a:fld>
            <a:endParaRPr lang="en-US" dirty="0"/>
          </a:p>
        </p:txBody>
      </p:sp>
    </p:spTree>
    <p:extLst>
      <p:ext uri="{BB962C8B-B14F-4D97-AF65-F5344CB8AC3E}">
        <p14:creationId xmlns:p14="http://schemas.microsoft.com/office/powerpoint/2010/main" val="762873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1685"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1685"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204299" y="0"/>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8938508" y="0"/>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1485664" y="2971800"/>
            <a:ext cx="6248389" cy="193899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Questions and Comments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spc="300" dirty="0">
                <a:solidFill>
                  <a:prstClr val="white"/>
                </a:solidFill>
                <a:latin typeface="Calibri" panose="020F0502020204030204" pitchFamily="34" charset="0"/>
                <a:cs typeface="Calibri" panose="020F0502020204030204" pitchFamily="34" charset="0"/>
                <a:hlinkClick r:id="rId3"/>
              </a:rPr>
              <a:t>ucsun@ucdavis.edu</a:t>
            </a:r>
            <a:endParaRPr lang="en-US" sz="2400" spc="300" dirty="0">
              <a:solidFill>
                <a:prstClr val="white"/>
              </a:solidFill>
              <a:latin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spc="300" dirty="0" err="1">
                <a:solidFill>
                  <a:prstClr val="white"/>
                </a:solidFill>
                <a:latin typeface="Calibri" panose="020F0502020204030204" pitchFamily="34" charset="0"/>
                <a:cs typeface="Calibri" panose="020F0502020204030204" pitchFamily="34" charset="0"/>
              </a:rPr>
              <a:t>christinasun.net</a:t>
            </a:r>
            <a:endParaRPr kumimoji="0" lang="en-US" sz="2000" b="0"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40653041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262251" y="5105400"/>
            <a:ext cx="8696325" cy="1564339"/>
          </a:xfrm>
          <a:prstGeom prst="rect">
            <a:avLst/>
          </a:prstGeom>
          <a:noFill/>
        </p:spPr>
        <p:txBody>
          <a:bodyPr wrap="square" rtlCol="0">
            <a:spAutoFit/>
          </a:bodyPr>
          <a:lstStyle/>
          <a:p>
            <a:pPr marL="0" lvl="0" indent="0" algn="l" rtl="0">
              <a:lnSpc>
                <a:spcPct val="115000"/>
              </a:lnSpc>
              <a:spcBef>
                <a:spcPts val="0"/>
              </a:spcBef>
              <a:spcAft>
                <a:spcPts val="1800"/>
              </a:spcAft>
              <a:buNone/>
            </a:pPr>
            <a:r>
              <a:rPr lang="en-US" sz="1400" i="1" dirty="0">
                <a:solidFill>
                  <a:schemeClr val="dk1"/>
                </a:solidFill>
                <a:latin typeface="Calibri"/>
                <a:ea typeface="Calibri"/>
                <a:cs typeface="Calibri"/>
                <a:sym typeface="Calibri"/>
              </a:rPr>
              <a:t>This research was supported by the College Futures Foundation and conducted in partnership with the California Student Aid Commission. </a:t>
            </a:r>
            <a:r>
              <a:rPr lang="en-US" sz="1400" i="1" dirty="0">
                <a:solidFill>
                  <a:schemeClr val="dk1"/>
                </a:solidFill>
                <a:highlight>
                  <a:srgbClr val="FFFFFF"/>
                </a:highlight>
                <a:latin typeface="Calibri"/>
                <a:ea typeface="Calibri"/>
                <a:cs typeface="Calibri"/>
                <a:sym typeface="Calibri"/>
              </a:rPr>
              <a:t>The authors are also grateful for ongoing support from the Stuart Foundation to the California Education Lab.</a:t>
            </a:r>
            <a:r>
              <a:rPr lang="en-US" sz="1000" dirty="0">
                <a:solidFill>
                  <a:schemeClr val="dk1"/>
                </a:solidFill>
                <a:highlight>
                  <a:srgbClr val="FFFFFF"/>
                </a:highlight>
                <a:latin typeface="Calibri"/>
                <a:ea typeface="Calibri"/>
                <a:cs typeface="Calibri"/>
                <a:sym typeface="Calibri"/>
              </a:rPr>
              <a:t> </a:t>
            </a:r>
            <a:r>
              <a:rPr lang="en-US" sz="1400" i="1" dirty="0">
                <a:solidFill>
                  <a:schemeClr val="dk1"/>
                </a:solidFill>
                <a:latin typeface="Calibri"/>
                <a:ea typeface="Calibri"/>
                <a:cs typeface="Calibri"/>
                <a:sym typeface="Calibri"/>
              </a:rPr>
              <a:t>The California Education Lab at the University of California, Davis and Policy Analysis for California Education are also thankful for research dissemination support from the Bill &amp; Melinda Gates Foundation. The findings and conclusions here are those of the authors alone and do not necessarily reflect the positions or policies of the funders or of the California Student Aid Commission.</a:t>
            </a:r>
          </a:p>
        </p:txBody>
      </p:sp>
      <p:sp>
        <p:nvSpPr>
          <p:cNvPr id="3" name="Rectangle 2"/>
          <p:cNvSpPr/>
          <p:nvPr/>
        </p:nvSpPr>
        <p:spPr>
          <a:xfrm>
            <a:off x="262251" y="1524000"/>
            <a:ext cx="8696325" cy="3877985"/>
          </a:xfrm>
          <a:prstGeom prst="rect">
            <a:avLst/>
          </a:prstGeom>
        </p:spPr>
        <p:txBody>
          <a:bodyPr wrap="square">
            <a:spAutoFit/>
          </a:bodyPr>
          <a:lstStyle/>
          <a:p>
            <a:pPr marL="257175" indent="-257175">
              <a:buFont typeface="Wingdings" charset="2"/>
              <a:buChar char="§"/>
              <a:defRPr/>
            </a:pPr>
            <a:r>
              <a:rPr lang="en-US" sz="2400" dirty="0">
                <a:latin typeface="Calibri" panose="020F0502020204030204" pitchFamily="34" charset="0"/>
                <a:ea typeface="Calibri Light" charset="0"/>
                <a:cs typeface="Calibri" panose="020F0502020204030204" pitchFamily="34" charset="0"/>
              </a:rPr>
              <a:t>California Education Lab</a:t>
            </a:r>
          </a:p>
          <a:p>
            <a:pPr marL="7143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Elizabeth Friedmann</a:t>
            </a:r>
          </a:p>
          <a:p>
            <a:pPr marL="7143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Sherrie Reed</a:t>
            </a:r>
          </a:p>
          <a:p>
            <a:pPr marL="7143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Paco Martorell</a:t>
            </a:r>
          </a:p>
          <a:p>
            <a:pPr marL="7143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Scott Carrell</a:t>
            </a:r>
          </a:p>
          <a:p>
            <a:pPr marL="342900" lvl="1">
              <a:defRPr/>
            </a:pPr>
            <a:endParaRPr lang="en-US" sz="2000" dirty="0">
              <a:latin typeface="Calibri" panose="020F0502020204030204" pitchFamily="34" charset="0"/>
              <a:ea typeface="Calibri Light" charset="0"/>
              <a:cs typeface="Calibri" panose="020F0502020204030204" pitchFamily="34" charset="0"/>
            </a:endParaRPr>
          </a:p>
          <a:p>
            <a:pPr marL="142875" indent="-257175">
              <a:buFont typeface="Wingdings" charset="2"/>
              <a:buChar char="§"/>
              <a:defRPr/>
            </a:pPr>
            <a:r>
              <a:rPr lang="en-US" sz="2400" dirty="0">
                <a:latin typeface="Calibri" panose="020F0502020204030204" pitchFamily="34" charset="0"/>
                <a:ea typeface="Calibri Light" charset="0"/>
                <a:cs typeface="Calibri" panose="020F0502020204030204" pitchFamily="34" charset="0"/>
              </a:rPr>
              <a:t>California Student Aid Commission</a:t>
            </a:r>
          </a:p>
          <a:p>
            <a:pPr marL="6000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Marlene Garcia</a:t>
            </a:r>
          </a:p>
          <a:p>
            <a:pPr marL="6000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Jessica Moldoff</a:t>
            </a:r>
          </a:p>
          <a:p>
            <a:pPr marL="600075" lvl="1" indent="-257175">
              <a:buFont typeface="Wingdings" charset="2"/>
              <a:buChar char="§"/>
              <a:defRPr/>
            </a:pPr>
            <a:r>
              <a:rPr lang="en-US" sz="2000" dirty="0">
                <a:latin typeface="Calibri" panose="020F0502020204030204" pitchFamily="34" charset="0"/>
                <a:ea typeface="Calibri Light" charset="0"/>
                <a:cs typeface="Calibri" panose="020F0502020204030204" pitchFamily="34" charset="0"/>
              </a:rPr>
              <a:t>Ryan Fuller</a:t>
            </a:r>
          </a:p>
          <a:p>
            <a:pPr marL="142875" indent="-257175">
              <a:buFont typeface="Wingdings" charset="2"/>
              <a:buChar char="§"/>
              <a:defRPr/>
            </a:pPr>
            <a:endParaRPr lang="en-US" sz="2000" dirty="0">
              <a:latin typeface="Calibri" panose="020F0502020204030204" pitchFamily="34" charset="0"/>
              <a:ea typeface="Calibri Light" charset="0"/>
              <a:cs typeface="Calibri" panose="020F0502020204030204" pitchFamily="34" charset="0"/>
            </a:endParaRPr>
          </a:p>
          <a:p>
            <a:pPr marL="142875" indent="-257175">
              <a:buFont typeface="Wingdings" charset="2"/>
              <a:buChar char="§"/>
              <a:defRPr/>
            </a:pPr>
            <a:endParaRPr lang="en-US" sz="2000" dirty="0">
              <a:latin typeface="Calibri" panose="020F0502020204030204" pitchFamily="34" charset="0"/>
              <a:ea typeface="Calibri Light" charset="0"/>
              <a:cs typeface="Calibri" panose="020F0502020204030204" pitchFamily="34" charset="0"/>
            </a:endParaRPr>
          </a:p>
        </p:txBody>
      </p:sp>
      <p:sp>
        <p:nvSpPr>
          <p:cNvPr id="2" name="Slide Number Placeholder 1"/>
          <p:cNvSpPr>
            <a:spLocks noGrp="1"/>
          </p:cNvSpPr>
          <p:nvPr>
            <p:ph type="sldNum" sz="quarter" idx="12"/>
          </p:nvPr>
        </p:nvSpPr>
        <p:spPr/>
        <p:txBody>
          <a:bodyPr/>
          <a:lstStyle/>
          <a:p>
            <a:pPr algn="r"/>
            <a:fld id="{E977C9FB-1514-7A49-9A51-0E844952849F}" type="slidenum">
              <a:rPr lang="en-US" smtClean="0"/>
              <a:pPr algn="r"/>
              <a:t>31</a:t>
            </a:fld>
            <a:endParaRPr lang="en-US" dirty="0"/>
          </a:p>
        </p:txBody>
      </p:sp>
      <p:sp>
        <p:nvSpPr>
          <p:cNvPr id="6" name="Title 5">
            <a:extLst>
              <a:ext uri="{FF2B5EF4-FFF2-40B4-BE49-F238E27FC236}">
                <a16:creationId xmlns:a16="http://schemas.microsoft.com/office/drawing/2014/main" id="{7AABD298-2642-4046-B663-0A422FCCD820}"/>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810935489"/>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F271C"/>
      </a:dk2>
      <a:lt2>
        <a:srgbClr val="E7DEC9"/>
      </a:lt2>
      <a:accent1>
        <a:srgbClr val="354369"/>
      </a:accent1>
      <a:accent2>
        <a:srgbClr val="C58C00"/>
      </a:accent2>
      <a:accent3>
        <a:srgbClr val="C32D2E"/>
      </a:accent3>
      <a:accent4>
        <a:srgbClr val="446E27"/>
      </a:accent4>
      <a:accent5>
        <a:srgbClr val="964305"/>
      </a:accent5>
      <a:accent6>
        <a:srgbClr val="3891A7"/>
      </a:accent6>
      <a:hlink>
        <a:srgbClr val="8DC765"/>
      </a:hlink>
      <a:folHlink>
        <a:srgbClr val="AA8A14"/>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2926</TotalTime>
  <Words>1481</Words>
  <Application>Microsoft Macintosh PowerPoint</Application>
  <PresentationFormat>On-screen Show (4:3)</PresentationFormat>
  <Paragraphs>159</Paragraphs>
  <Slides>31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Calibri Light</vt:lpstr>
      <vt:lpstr>Courier New</vt:lpstr>
      <vt:lpstr>Georgia</vt:lpstr>
      <vt:lpstr>Wingdings</vt:lpstr>
      <vt:lpstr>Office Theme</vt:lpstr>
      <vt:lpstr>PowerPoint Presentation</vt:lpstr>
      <vt:lpstr>Overview</vt:lpstr>
      <vt:lpstr>Motivation</vt:lpstr>
      <vt:lpstr>Context</vt:lpstr>
      <vt:lpstr>Research Questions</vt:lpstr>
      <vt:lpstr>Contributions</vt:lpstr>
      <vt:lpstr>Methodology</vt:lpstr>
      <vt:lpstr>Data</vt:lpstr>
      <vt:lpstr>Survey Instrument: Gender Identity</vt:lpstr>
      <vt:lpstr>How we classify</vt:lpstr>
      <vt:lpstr>How we define terms</vt:lpstr>
      <vt:lpstr>Survey Instrument: Sexual Orientation</vt:lpstr>
      <vt:lpstr>Students’ Self Descriptions of Gender and Sexual Orientation</vt:lpstr>
      <vt:lpstr>PowerPoint Presentation</vt:lpstr>
      <vt:lpstr>Result 1: Transgender students and gender diverse students are more likely to report having a Poor or Fair social experience in high school.</vt:lpstr>
      <vt:lpstr>Result 2: Gender and sexual minority students are less likely to report a sense of belonging in their high school community.</vt:lpstr>
      <vt:lpstr>Result 3: Transgender students are the most likely to have been bullied in the last 12 months. Cisgender and straight students are the least likely to be bullied.</vt:lpstr>
      <vt:lpstr>Result 4: Of the students that reported being bullied, transgender students and almost all gay/lesbian students are exclusively bullied because of gender or sexual orientation. </vt:lpstr>
      <vt:lpstr>PowerPoint Presentation</vt:lpstr>
      <vt:lpstr>Highest Degree Aspirations:</vt:lpstr>
      <vt:lpstr>College Major: There is a significant gender gap in plans to pursue engineering. More trans and gender diverse students plan to major in humanities and arts than any other group.</vt:lpstr>
      <vt:lpstr>PowerPoint Presentation</vt:lpstr>
      <vt:lpstr>Result 7: Transgender and gender diverse students report highest levels of worry about discrimination based on gender. </vt:lpstr>
      <vt:lpstr>Result 8: Gay and lesbian students report higher levels of worry about discrimination on sexual orientation.</vt:lpstr>
      <vt:lpstr>Result 9: Cisgender and heterosexual students are the least worried about finding community.</vt:lpstr>
      <vt:lpstr>Result 10: Sexual and gender minority students are more worried about finding adequate emotional and mental health support.</vt:lpstr>
      <vt:lpstr>PowerPoint Presentation</vt:lpstr>
      <vt:lpstr>Student Voices: What do you think is the biggest challenge you’ll face in college?</vt:lpstr>
      <vt:lpstr>Student Voices: What are you most excited about college?</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Pandemic Response in California:  Identifying the Structural &amp; Instructional Changes in K-12 After COVID-19 </dc:title>
  <dc:creator>Alexandria Maylen Hurtt</dc:creator>
  <cp:lastModifiedBy>Christina Sun</cp:lastModifiedBy>
  <cp:revision>70</cp:revision>
  <dcterms:created xsi:type="dcterms:W3CDTF">2020-06-29T15:40:49Z</dcterms:created>
  <dcterms:modified xsi:type="dcterms:W3CDTF">2024-03-01T21:31:36Z</dcterms:modified>
</cp:coreProperties>
</file>